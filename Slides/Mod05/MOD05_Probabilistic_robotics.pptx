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4983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1A4A6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3B276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ROBOTS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MOD-05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Robotics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State Estimation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Dr. Ahmad Abbadi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Probabilistic?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MOD-04's uncertainty to a mathematical framework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Fundamental Question: Where Is the Robot?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(Wrong!)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robot is at (3.2, 5.1)"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Pretends we know exactly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Ignores all sensor noise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wrong reading → total failure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(Correct!)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robot is PROBABLY at (3.2, 5.1) ± 0.3m"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Represents what we actually know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for sensor noise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to individual bad readings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292608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92024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Single point = fragile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743200"/>
            <a:ext cx="1645920" cy="914400"/>
          </a:xfrm>
          <a:prstGeom prst="ellipse">
            <a:avLst/>
          </a:prstGeom>
          <a:solidFill>
            <a:srgbClr val="10B981">
              <a:alpha val="3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Ellipse = honest &amp; robust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8404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MOD-05 builds the mathematical machine that turns noisy sensor data → probability distributions → state estimates.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We Are Building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1600200" cy="1371600"/>
          </a:xfrm>
          <a:prstGeom prst="rect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188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(encoders, IMU)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19659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MOD-03/04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83080" y="1463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65960" y="1097280"/>
            <a:ext cx="1600200" cy="1371600"/>
          </a:xfrm>
          <a:prstGeom prst="rect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1188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bel⁻(x')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19659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uncertainty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1463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49040" y="1097280"/>
            <a:ext cx="1600200" cy="1371600"/>
          </a:xfrm>
          <a:prstGeom prst="rect">
            <a:avLst/>
          </a:prstGeom>
          <a:solidFill>
            <a:srgbClr val="3B82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188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(LiDAR, camera...)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19659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1463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32120" y="1097280"/>
            <a:ext cx="1600200" cy="137160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2120" y="1188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bel(x')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19659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Shrinks uncertainty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1463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15200" y="1097280"/>
            <a:ext cx="1600200" cy="1371600"/>
          </a:xfrm>
          <a:prstGeom prst="rect">
            <a:avLst/>
          </a:prstGeom>
          <a:solidFill>
            <a:srgbClr val="1E3A5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0" y="1188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(where am I?)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19659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module teaches the MATH behind each arrow: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200400"/>
            <a:ext cx="274320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B: Probability foundations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54680" y="3200400"/>
            <a:ext cx="27432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C: Linear algebra for covariance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3200400"/>
            <a:ext cx="27432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D: Motion model as p(x'|x,u)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3657600"/>
            <a:ext cx="27432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E: Sensor model as p(z|x)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154680" y="3657600"/>
            <a:ext cx="274320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324612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F: Bayes filter (general algorithm)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35040" y="3657600"/>
            <a:ext cx="27432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G: Kalman Filter (exact solution!)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Foundations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language we use to describe uncertainty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Variables &amp; Probability Density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random variable X is a quantity whose value is uncertain.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52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(countable values)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coin flip → heads or tails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P(X = heads) = 0.5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 must sum to 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 by: P(X = x) for each 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54864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152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(infinite values)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44475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LiDAR range → 2.31472... 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p(x) = probability DENSITY (not probability!)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= area under curve: P(a&lt;X&lt;b) = ∫p(x)dx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area must equal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055364"/>
            <a:ext cx="237744" cy="59436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15" name="Shape 13"/>
          <p:cNvSpPr/>
          <p:nvPr/>
        </p:nvSpPr>
        <p:spPr>
          <a:xfrm>
            <a:off x="1170432" y="3995928"/>
            <a:ext cx="237744" cy="118872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16" name="Shape 14"/>
          <p:cNvSpPr/>
          <p:nvPr/>
        </p:nvSpPr>
        <p:spPr>
          <a:xfrm>
            <a:off x="1426464" y="3877056"/>
            <a:ext cx="237744" cy="237744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17" name="Shape 15"/>
          <p:cNvSpPr/>
          <p:nvPr/>
        </p:nvSpPr>
        <p:spPr>
          <a:xfrm>
            <a:off x="1682496" y="3698748"/>
            <a:ext cx="237744" cy="416052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18" name="Shape 16"/>
          <p:cNvSpPr/>
          <p:nvPr/>
        </p:nvSpPr>
        <p:spPr>
          <a:xfrm>
            <a:off x="1938528" y="3461004"/>
            <a:ext cx="237744" cy="653796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4560" y="3223260"/>
            <a:ext cx="237744" cy="891540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20" name="Shape 18"/>
          <p:cNvSpPr/>
          <p:nvPr/>
        </p:nvSpPr>
        <p:spPr>
          <a:xfrm>
            <a:off x="2450592" y="3044952"/>
            <a:ext cx="237744" cy="10698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Shape 19"/>
          <p:cNvSpPr/>
          <p:nvPr/>
        </p:nvSpPr>
        <p:spPr>
          <a:xfrm>
            <a:off x="2706624" y="2926080"/>
            <a:ext cx="23774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Shape 20"/>
          <p:cNvSpPr/>
          <p:nvPr/>
        </p:nvSpPr>
        <p:spPr>
          <a:xfrm>
            <a:off x="2962656" y="3044952"/>
            <a:ext cx="237744" cy="10698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3218688" y="3223260"/>
            <a:ext cx="237744" cy="891540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24" name="Shape 22"/>
          <p:cNvSpPr/>
          <p:nvPr/>
        </p:nvSpPr>
        <p:spPr>
          <a:xfrm>
            <a:off x="3474720" y="3461004"/>
            <a:ext cx="237744" cy="653796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25" name="Shape 23"/>
          <p:cNvSpPr/>
          <p:nvPr/>
        </p:nvSpPr>
        <p:spPr>
          <a:xfrm>
            <a:off x="3730752" y="3698748"/>
            <a:ext cx="237744" cy="416052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26" name="Shape 24"/>
          <p:cNvSpPr/>
          <p:nvPr/>
        </p:nvSpPr>
        <p:spPr>
          <a:xfrm>
            <a:off x="3986784" y="3877056"/>
            <a:ext cx="237744" cy="237744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27" name="Shape 25"/>
          <p:cNvSpPr/>
          <p:nvPr/>
        </p:nvSpPr>
        <p:spPr>
          <a:xfrm>
            <a:off x="4242816" y="3995928"/>
            <a:ext cx="237744" cy="118872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28" name="Shape 26"/>
          <p:cNvSpPr/>
          <p:nvPr/>
        </p:nvSpPr>
        <p:spPr>
          <a:xfrm>
            <a:off x="4498848" y="4055364"/>
            <a:ext cx="237744" cy="59436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160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density function p(x)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under curve = probability of being in that range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robotics: almost everything is continuous (positions, angles, distances)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&amp; Variance — Two Numbers That Describe Everything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1887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777240"/>
            <a:ext cx="384048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Mean:  μ = E[X] = ∫ x · p(x) dx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54557"/>
            <a:ext cx="3840480" cy="618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"center of mass" of the distribution.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BEST GUESS of the true value.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average of 100 LiDAR readings.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731520"/>
            <a:ext cx="4206240" cy="11887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777240"/>
            <a:ext cx="393192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Variance:  σ² = E[(X−μ)²]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254557"/>
            <a:ext cx="3931920" cy="618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SPREAD OUT the values are.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σ² → values cluster near μ (confident).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σ² → values spread far (uncertain).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146304" cy="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3657600"/>
            <a:ext cx="146304" cy="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" y="3602736"/>
            <a:ext cx="146304" cy="5486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4" name="Shape 12"/>
          <p:cNvSpPr/>
          <p:nvPr/>
        </p:nvSpPr>
        <p:spPr>
          <a:xfrm>
            <a:off x="950976" y="3438144"/>
            <a:ext cx="146304" cy="2194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568" y="3108960"/>
            <a:ext cx="146304" cy="54864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6" name="Shape 14"/>
          <p:cNvSpPr/>
          <p:nvPr/>
        </p:nvSpPr>
        <p:spPr>
          <a:xfrm>
            <a:off x="1280160" y="2724912"/>
            <a:ext cx="146304" cy="93268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4752" y="2560320"/>
            <a:ext cx="14630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9344" y="2724912"/>
            <a:ext cx="146304" cy="93268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9" name="Shape 17"/>
          <p:cNvSpPr/>
          <p:nvPr/>
        </p:nvSpPr>
        <p:spPr>
          <a:xfrm>
            <a:off x="1773936" y="3108960"/>
            <a:ext cx="146304" cy="54864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0" name="Shape 18"/>
          <p:cNvSpPr/>
          <p:nvPr/>
        </p:nvSpPr>
        <p:spPr>
          <a:xfrm>
            <a:off x="1938528" y="3438144"/>
            <a:ext cx="146304" cy="2194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1" name="Shape 19"/>
          <p:cNvSpPr/>
          <p:nvPr/>
        </p:nvSpPr>
        <p:spPr>
          <a:xfrm>
            <a:off x="2103120" y="3602736"/>
            <a:ext cx="146304" cy="5486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2" name="Shape 20"/>
          <p:cNvSpPr/>
          <p:nvPr/>
        </p:nvSpPr>
        <p:spPr>
          <a:xfrm>
            <a:off x="2267712" y="3657600"/>
            <a:ext cx="146304" cy="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3" name="Shape 21"/>
          <p:cNvSpPr/>
          <p:nvPr/>
        </p:nvSpPr>
        <p:spPr>
          <a:xfrm>
            <a:off x="2432304" y="3657600"/>
            <a:ext cx="146304" cy="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749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σ → narrow → confident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0" y="3493008"/>
            <a:ext cx="237744" cy="164592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6" name="Shape 24"/>
          <p:cNvSpPr/>
          <p:nvPr/>
        </p:nvSpPr>
        <p:spPr>
          <a:xfrm>
            <a:off x="3913632" y="3383280"/>
            <a:ext cx="237744" cy="27432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7" name="Shape 25"/>
          <p:cNvSpPr/>
          <p:nvPr/>
        </p:nvSpPr>
        <p:spPr>
          <a:xfrm>
            <a:off x="4169664" y="3218688"/>
            <a:ext cx="237744" cy="438912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8" name="Shape 26"/>
          <p:cNvSpPr/>
          <p:nvPr/>
        </p:nvSpPr>
        <p:spPr>
          <a:xfrm>
            <a:off x="4425696" y="3054096"/>
            <a:ext cx="237744" cy="60350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9" name="Shape 27"/>
          <p:cNvSpPr/>
          <p:nvPr/>
        </p:nvSpPr>
        <p:spPr>
          <a:xfrm>
            <a:off x="4681728" y="2889504"/>
            <a:ext cx="237744" cy="76809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2724912"/>
            <a:ext cx="237744" cy="932688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1" name="Shape 29"/>
          <p:cNvSpPr/>
          <p:nvPr/>
        </p:nvSpPr>
        <p:spPr>
          <a:xfrm>
            <a:off x="5193792" y="2560320"/>
            <a:ext cx="23774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Shape 30"/>
          <p:cNvSpPr/>
          <p:nvPr/>
        </p:nvSpPr>
        <p:spPr>
          <a:xfrm>
            <a:off x="5449824" y="2724912"/>
            <a:ext cx="237744" cy="932688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3" name="Shape 31"/>
          <p:cNvSpPr/>
          <p:nvPr/>
        </p:nvSpPr>
        <p:spPr>
          <a:xfrm>
            <a:off x="5705856" y="2889504"/>
            <a:ext cx="237744" cy="76809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4" name="Shape 32"/>
          <p:cNvSpPr/>
          <p:nvPr/>
        </p:nvSpPr>
        <p:spPr>
          <a:xfrm>
            <a:off x="5961888" y="3054096"/>
            <a:ext cx="237744" cy="60350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0" y="3218688"/>
            <a:ext cx="237744" cy="438912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6" name="Shape 34"/>
          <p:cNvSpPr/>
          <p:nvPr/>
        </p:nvSpPr>
        <p:spPr>
          <a:xfrm>
            <a:off x="6473952" y="3383280"/>
            <a:ext cx="237744" cy="27432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7" name="Shape 35"/>
          <p:cNvSpPr/>
          <p:nvPr/>
        </p:nvSpPr>
        <p:spPr>
          <a:xfrm>
            <a:off x="6729984" y="3493008"/>
            <a:ext cx="237744" cy="164592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0" y="3749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σ → wide → uncertain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860946" y="3863340"/>
            <a:ext cx="61536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robotics: μ = estimated position, σ = how much we trust it.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MOD-05 is about computing μ and σ correctly.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Probability: Two Variables Together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we have TWO uncertain quantities? (e.g., robot's x AND y position)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7315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43000"/>
            <a:ext cx="832104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probability: P(A and B) = P(A, B)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19149"/>
            <a:ext cx="8321040" cy="380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probability that BOTH A and B occur simultaneously. For robot: P(x=3.2 AND y=5.1) — the 2D position belief.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1168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and B are INDEPENDENT: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35915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P(A, B) = P(A) × P(B)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A tells nothing about 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two separate LiDAR beams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— just multiply!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01168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2066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and B are DEPENDENT: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2359152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P(A, B) ≠ P(A) × P(B)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A changes belief about 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x and y of robot ARE correlated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conditional probability → next slide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robotics, positions are almost always dependent — errors in x affect errors in y (through heading uncertainty).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Probability: P(A | B)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probability of A, GIVEN that we know B is true"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82296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411480" y="1143000"/>
                <a:ext cx="8321040" cy="34564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P(A | B)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fPr>
                      <m:num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𝑷</m:t>
                        </m:r>
                        <m:d>
                          <m:dPr>
                            <m:ctrlP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𝑨</m:t>
                            </m:r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, </m:t>
                            </m:r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𝑩</m:t>
                            </m:r>
                          </m:e>
                        </m:d>
                      </m:num>
                      <m:den>
                        <m:r>
                          <a:rPr lang="en-US" sz="1400" b="1" i="1" dirty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𝑷</m:t>
                        </m:r>
                        <m:d>
                          <m:dPr>
                            <m:ctrlPr>
                              <a:rPr lang="en-US" sz="1400" b="1" i="1" dirty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en-US" sz="1400" b="1" i="1" dirty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𝑩</m:t>
                            </m:r>
                          </m:e>
                        </m:d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143000"/>
                <a:ext cx="8321040" cy="345643"/>
              </a:xfrm>
              <a:prstGeom prst="rect">
                <a:avLst/>
              </a:prstGeom>
              <a:blipFill>
                <a:blip r:embed="rId3"/>
                <a:stretch>
                  <a:fillRect l="-220" b="-1071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411480" y="1459382"/>
            <a:ext cx="8321040" cy="427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as: "probability of A given B." The vertical bar | means "given" or "knowing that."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P(wall at 2m | LiDAR reads 2.1m) — "given this reading, where IS the wall?"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85953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Example: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is near a door or in a hallway (two possible locations).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sensor reads "dark" (low light).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P(dark | at door) = 0.7    (doors are often in dim areas)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P(dark | in hallway) = 0.2  (hallways are usually bright)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sensor reading "dark" makes "at door" MORE likely.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what P(A|B) captures — how evidence changes belief.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 Theorem — The Most Important Equation in Robotics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solidFill>
            <a:srgbClr val="F5F3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097280" y="777240"/>
                <a:ext cx="6949440" cy="5029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𝑷</m:t>
                      </m:r>
                      <m:r>
                        <a:rPr lang="en-US" sz="22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(</m:t>
                      </m:r>
                      <m:r>
                        <a:rPr lang="en-US" sz="22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𝒙</m:t>
                      </m:r>
                      <m:r>
                        <a:rPr lang="en-US" sz="22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| </m:t>
                      </m:r>
                      <m:r>
                        <a:rPr lang="en-US" sz="22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𝒛</m:t>
                      </m:r>
                      <m:r>
                        <a:rPr lang="en-US" sz="22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  =</m:t>
                      </m:r>
                      <m:f>
                        <m:fPr>
                          <m:ctrlPr>
                            <a:rPr lang="en-US" sz="22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fPr>
                        <m:num>
                          <m:r>
                            <a:rPr lang="en-US" sz="22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𝑷</m:t>
                          </m:r>
                          <m:r>
                            <a:rPr lang="en-US" sz="22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(</m:t>
                          </m:r>
                          <m:r>
                            <a:rPr lang="en-US" sz="22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𝒛</m:t>
                          </m:r>
                          <m:r>
                            <a:rPr lang="en-US" sz="22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 </m:t>
                          </m:r>
                          <m:d>
                            <m:dPr>
                              <m:begChr m:val="|"/>
                              <m:ctrlPr>
                                <a:rPr lang="en-US" sz="22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22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 </m:t>
                              </m:r>
                              <m:r>
                                <a:rPr lang="en-US" sz="22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𝒙</m:t>
                              </m:r>
                            </m:e>
                          </m:d>
                          <m:r>
                            <a:rPr lang="en-US" sz="22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2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22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sz="22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2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22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𝒛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777240"/>
                <a:ext cx="6949440" cy="502920"/>
              </a:xfrm>
              <a:prstGeom prst="rect">
                <a:avLst/>
              </a:prstGeom>
              <a:blipFill>
                <a:blip r:embed="rId3"/>
                <a:stretch>
                  <a:fillRect t="-13415" b="-1951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1097280" y="1380744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posterior  =  likelihood × prior  /  evidence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1828800"/>
            <a:ext cx="2103120" cy="209107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828800"/>
            <a:ext cx="54864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P(x | z) — Posterior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217627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WANT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"Where is the robot,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the sensor data?"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updated belief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77440" y="1828800"/>
            <a:ext cx="2103120" cy="209107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77440" y="182880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2542032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P(z | x) — Likelihood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217627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MOD-04 sensors!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robot is at x, how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is reading z?"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sensor model p(z|x)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828800"/>
            <a:ext cx="2103120" cy="209107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82880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736592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P(x) — Prior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36592" y="217627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believed BEFORE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measurement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think I'm near (3,5)"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previous belief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828800"/>
            <a:ext cx="2103120" cy="209107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828800"/>
            <a:ext cx="54864" cy="16459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/>
          <p:nvPr/>
        </p:nvSpPr>
        <p:spPr>
          <a:xfrm>
            <a:off x="6931152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P(z) — Evidence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31152" y="217627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Normalizing constant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probabilities sum to 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written as η (eta)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need to compute 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460" y="4206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 theorem tells us: multiply what you BELIEVED (prior) by what you OBSERVED (likelihood) → get what you SHOULD BELIEVE (posterior).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 Theorem — Worked Example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near a door (D) or hallway (H). Sensor reads "dark."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1371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 (D)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Hallway (H)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 P(x)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Equal chance — no idea which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Likelihood P(dark|x)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Doors are darker than hallways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 × Likelihood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× 0.7 = 0.35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× 0.2 = 0.10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Unnormalized posterior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Normalize (÷ 0.45)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0.35/0.45 = 0.78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0.10/0.45 = 0.22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Posterior: updated belief!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200400"/>
            <a:ext cx="8595360" cy="137160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3246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seeing "dark," belief shifted from 50/50 → 78% door, 22% hallway.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sensor reading didn't TELL us we're at the door — it made it MORE LIKELY.
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how sensor fusion works: each measurement shifts our belief proportionally.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Marginalization: Summing Out Variables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82296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411480" y="777240"/>
                <a:ext cx="8321040" cy="34564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𝑷</m:t>
                    </m:r>
                    <m:d>
                      <m:d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𝑨</m:t>
                        </m:r>
                      </m:e>
                    </m:d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 </m:t>
                    </m:r>
                    <m:sSub>
                      <m:sSubPr>
                        <m:ctrlPr>
                          <a:rPr lang="en-US" sz="1400" b="1" i="1" dirty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0" dirty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𝚺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𝒃</m:t>
                        </m:r>
                      </m:sub>
                    </m:sSub>
                    <m:r>
                      <a:rPr lang="en-US" sz="1400" b="1" i="1" dirty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𝑷</m:t>
                    </m:r>
                    <m:d>
                      <m:dPr>
                        <m:ctrlPr>
                          <a:rPr lang="en-US" sz="1400" b="1" i="1" dirty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r>
                          <a:rPr lang="en-US" sz="1400" b="1" i="1" dirty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𝑨</m:t>
                        </m:r>
                        <m:r>
                          <a:rPr lang="en-US" sz="1400" b="1" i="1" dirty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, </m:t>
                        </m:r>
                        <m:r>
                          <a:rPr lang="en-US" sz="1400" b="1" i="1" dirty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𝑩</m:t>
                        </m:r>
                        <m:r>
                          <a:rPr lang="en-US" sz="1400" b="1" i="1" dirty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=</m:t>
                        </m:r>
                        <m:r>
                          <a:rPr lang="en-US" sz="1400" b="1" i="1" dirty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𝒃</m:t>
                        </m:r>
                      </m:e>
                    </m:d>
                  </m:oMath>
                </a14:m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    or    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𝒑</m:t>
                    </m:r>
                    <m:d>
                      <m:d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𝒙</m:t>
                        </m:r>
                      </m:e>
                    </m:d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 </m:t>
                    </m:r>
                    <m:nary>
                      <m:naryPr>
                        <m:subHide m:val="on"/>
                        <m:supHide m:val="on"/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𝒑</m:t>
                        </m:r>
                        <m:d>
                          <m:dPr>
                            <m:ctrlP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𝒙</m:t>
                            </m:r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, </m:t>
                            </m:r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𝒚</m:t>
                            </m:r>
                          </m:e>
                        </m:d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𝒅𝒚</m:t>
                        </m:r>
                      </m:e>
                    </m:nary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8321040" cy="345643"/>
              </a:xfrm>
              <a:prstGeom prst="rect">
                <a:avLst/>
              </a:prstGeom>
              <a:blipFill>
                <a:blip r:embed="rId3"/>
                <a:stretch>
                  <a:fillRect t="-116071" b="-17321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411480" y="1093622"/>
            <a:ext cx="8321040" cy="427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find the probability of A alone, SUM (or integrate) over all possible values of B.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"removes" B from the joint distribution — we don't care about B, only 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this: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8595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0312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15798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PREDICTION step of the Bayes filter: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45059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bel⁻(x') = ∫ p(x' | x, u) × bel(x) dx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integrate over ALL possible previous positions x to get the predicted new position x'.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marginalization! We "sum out" the previous state to get the new belief.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474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Probability: P(A) = Σ P(A|B=b) × P(B=b) — same idea, using conditional probability.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Multivariate Gaussian — The 2D Bell Curve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7315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411480" y="777240"/>
                <a:ext cx="8321040" cy="30723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𝒑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𝒙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 =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𝑵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𝒙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;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𝝁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</m:t>
                    </m:r>
                    <m:r>
                      <a:rPr lang="en-US" sz="1400" b="1" i="0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𝚺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  </m:t>
                    </m:r>
                  </m:oMath>
                </a14:m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where 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𝝁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[</m:t>
                    </m:r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𝝁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𝒙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</m:t>
                    </m:r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𝝁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𝒚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]ᵀ  </m:t>
                    </m:r>
                  </m:oMath>
                </a14:m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and  Σ = 2×2 covariance matrix</a:t>
                </a:r>
                <a:endParaRPr lang="en-US" sz="1400" dirty="0"/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8321040" cy="307238"/>
              </a:xfrm>
              <a:prstGeom prst="rect">
                <a:avLst/>
              </a:prstGeom>
              <a:blipFill>
                <a:blip r:embed="rId3"/>
                <a:stretch>
                  <a:fillRect t="-8000" b="-16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411480" y="1053389"/>
            <a:ext cx="8321040" cy="380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2D Gaussian is a "hill" in x-y space. The peak is at μ. The shape of the hill is determined by Σ.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2743200" cy="1828800"/>
          </a:xfrm>
          <a:prstGeom prst="ellipse">
            <a:avLst/>
          </a:prstGeom>
          <a:solidFill>
            <a:srgbClr val="3B82F6">
              <a:alpha val="3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103120"/>
            <a:ext cx="1828800" cy="1280160"/>
          </a:xfrm>
          <a:prstGeom prst="ellipse">
            <a:avLst/>
          </a:prstGeom>
          <a:solidFill>
            <a:srgbClr val="3B82F6">
              <a:alpha val="50000"/>
            </a:srgbClr>
          </a:solidFill>
          <a:ln w="25400">
            <a:solidFill>
              <a:srgbClr val="3B82F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874520" y="2423160"/>
            <a:ext cx="822960" cy="548640"/>
          </a:xfrm>
          <a:prstGeom prst="ellipse">
            <a:avLst/>
          </a:prstGeom>
          <a:solidFill>
            <a:srgbClr val="3B82F6">
              <a:alpha val="7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2011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164592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Contour lines = iso-probability curves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ellipse (1σ): 68% chance robot is here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ellipse (2σ): 95% chance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ellipse (3σ): 99.7% chance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Ellipse SHAPE = covariance matrix Σ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diagonal → circular (independent x,y)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off-diagonal → tilted (correlated x,y)
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Algebra for Robotics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matrix tools behind covariance and Kalman Filter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Multiplication — Quick Visual Recap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matrix transforms one vector into another.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182880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411480" y="1051561"/>
                <a:ext cx="3840480" cy="77724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𝒚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𝑨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·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𝒙</m:t>
                      </m:r>
                    </m:oMath>
                  </m:oMathPara>
                </a14:m>
                <a:endParaRPr lang="de-DE" sz="1400" b="1" dirty="0">
                  <a:solidFill>
                    <a:srgbClr val="1E3A5F"/>
                  </a:solidFill>
                  <a:ea typeface="Arial" pitchFamily="34" charset="-122"/>
                  <a:cs typeface="Arial" pitchFamily="34" charset="-120"/>
                </a:endParaRPr>
              </a:p>
              <a:p>
                <a:pPr marL="0" indent="0">
                  <a:buNone/>
                </a:pPr>
                <a:endParaRPr lang="en-US" sz="1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1400" b="1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cs typeface="Arial" pitchFamily="34" charset="-12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1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sz="1400" b="1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1400" b="1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1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sz="1400" b="1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400" b="1" i="1" dirty="0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1400" b="1" i="1" dirty="0" smtClean="0">
                                            <a:solidFill>
                                              <a:srgbClr val="1E3A5F"/>
                                            </a:solidFill>
                                            <a:latin typeface="Cambria Math" panose="02040503050406030204" pitchFamily="18" charset="0"/>
                                            <a:cs typeface="Arial" pitchFamily="34" charset="-12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dirty="0" smtClean="0">
                                            <a:solidFill>
                                              <a:srgbClr val="1E3A5F"/>
                                            </a:solidFill>
                                            <a:latin typeface="Cambria Math" panose="02040503050406030204" pitchFamily="18" charset="0"/>
                                            <a:ea typeface="Arial" pitchFamily="34" charset="-122"/>
                                            <a:cs typeface="Arial" pitchFamily="34" charset="-12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sz="1400" b="1" i="1" dirty="0" smtClean="0">
                                            <a:solidFill>
                                              <a:srgbClr val="1E3A5F"/>
                                            </a:solidFill>
                                            <a:latin typeface="Cambria Math" panose="02040503050406030204" pitchFamily="18" charset="0"/>
                                            <a:ea typeface="Arial" pitchFamily="34" charset="-122"/>
                                            <a:cs typeface="Arial" pitchFamily="34" charset="-120"/>
                                          </a:rPr>
                                          <m:t>𝟏𝟏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de-DE" sz="1400" b="1" i="1" dirty="0" smtClean="0">
                                            <a:solidFill>
                                              <a:srgbClr val="1E3A5F"/>
                                            </a:solidFill>
                                            <a:latin typeface="Cambria Math" panose="02040503050406030204" pitchFamily="18" charset="0"/>
                                            <a:ea typeface="Arial" pitchFamily="34" charset="-122"/>
                                            <a:cs typeface="Arial" pitchFamily="34" charset="-12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dirty="0" smtClean="0">
                                            <a:solidFill>
                                              <a:srgbClr val="1E3A5F"/>
                                            </a:solidFill>
                                            <a:latin typeface="Cambria Math" panose="02040503050406030204" pitchFamily="18" charset="0"/>
                                            <a:ea typeface="Arial" pitchFamily="34" charset="-122"/>
                                            <a:cs typeface="Arial" pitchFamily="34" charset="-12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sz="1400" b="1" i="1" dirty="0" smtClean="0">
                                            <a:solidFill>
                                              <a:srgbClr val="1E3A5F"/>
                                            </a:solidFill>
                                            <a:latin typeface="Cambria Math" panose="02040503050406030204" pitchFamily="18" charset="0"/>
                                            <a:ea typeface="Arial" pitchFamily="34" charset="-122"/>
                                            <a:cs typeface="Arial" pitchFamily="34" charset="-120"/>
                                          </a:rPr>
                                          <m:t>𝟏𝟐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400" b="1" i="1" dirty="0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1400" b="1" i="1" dirty="0" smtClean="0">
                                            <a:solidFill>
                                              <a:srgbClr val="1E3A5F"/>
                                            </a:solidFill>
                                            <a:latin typeface="Cambria Math" panose="02040503050406030204" pitchFamily="18" charset="0"/>
                                            <a:ea typeface="Arial" pitchFamily="34" charset="-122"/>
                                            <a:cs typeface="Arial" pitchFamily="34" charset="-12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dirty="0" smtClean="0">
                                            <a:solidFill>
                                              <a:srgbClr val="1E3A5F"/>
                                            </a:solidFill>
                                            <a:latin typeface="Cambria Math" panose="02040503050406030204" pitchFamily="18" charset="0"/>
                                            <a:ea typeface="Arial" pitchFamily="34" charset="-122"/>
                                            <a:cs typeface="Arial" pitchFamily="34" charset="-12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sz="1400" b="1" i="1" dirty="0" smtClean="0">
                                            <a:solidFill>
                                              <a:srgbClr val="1E3A5F"/>
                                            </a:solidFill>
                                            <a:latin typeface="Cambria Math" panose="02040503050406030204" pitchFamily="18" charset="0"/>
                                            <a:ea typeface="Arial" pitchFamily="34" charset="-122"/>
                                            <a:cs typeface="Arial" pitchFamily="34" charset="-120"/>
                                          </a:rPr>
                                          <m:t>𝟐𝟏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de-DE" sz="1400" b="1" i="1" dirty="0" smtClean="0">
                                            <a:solidFill>
                                              <a:srgbClr val="1E3A5F"/>
                                            </a:solidFill>
                                            <a:latin typeface="Cambria Math" panose="02040503050406030204" pitchFamily="18" charset="0"/>
                                            <a:ea typeface="Arial" pitchFamily="34" charset="-122"/>
                                            <a:cs typeface="Arial" pitchFamily="34" charset="-12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1400" b="1" i="1" dirty="0" smtClean="0">
                                            <a:solidFill>
                                              <a:srgbClr val="1E3A5F"/>
                                            </a:solidFill>
                                            <a:latin typeface="Cambria Math" panose="02040503050406030204" pitchFamily="18" charset="0"/>
                                            <a:ea typeface="Arial" pitchFamily="34" charset="-122"/>
                                            <a:cs typeface="Arial" pitchFamily="34" charset="-12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de-DE" sz="1400" b="1" i="1" dirty="0" smtClean="0">
                                            <a:solidFill>
                                              <a:srgbClr val="1E3A5F"/>
                                            </a:solidFill>
                                            <a:latin typeface="Cambria Math" panose="02040503050406030204" pitchFamily="18" charset="0"/>
                                            <a:ea typeface="Arial" pitchFamily="34" charset="-122"/>
                                            <a:cs typeface="Arial" pitchFamily="34" charset="-120"/>
                                          </a:rPr>
                                          <m:t>𝟐𝟐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1400" b="1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cs typeface="Arial" pitchFamily="34" charset="-12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1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1400" b="1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1400" b="1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1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1400" b="1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b="1" i="1" dirty="0">
                  <a:solidFill>
                    <a:srgbClr val="1E3A5F"/>
                  </a:solidFill>
                  <a:latin typeface="Cambria Math" panose="02040503050406030204" pitchFamily="18" charset="0"/>
                  <a:ea typeface="Arial" pitchFamily="34" charset="-122"/>
                  <a:cs typeface="Arial" pitchFamily="34" charset="-120"/>
                </a:endParaRPr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051561"/>
                <a:ext cx="3840480" cy="777240"/>
              </a:xfrm>
              <a:prstGeom prst="rect">
                <a:avLst/>
              </a:prstGeom>
              <a:blipFill>
                <a:blip r:embed="rId3"/>
                <a:stretch>
                  <a:fillRect b="-2755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365760" y="1965960"/>
                <a:ext cx="3840480" cy="618134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endParaRPr lang="en-US" sz="1200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Each output is dot product of A's row with x.</a:t>
                </a:r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𝑦</m:t>
                      </m:r>
                      <m:r>
                        <a:rPr lang="en-US" sz="1200" i="1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₁ = </m:t>
                      </m:r>
                      <m:r>
                        <a:rPr lang="en-US" sz="1200" i="1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𝑎</m:t>
                      </m:r>
                      <m:r>
                        <a:rPr lang="en-US" sz="1200" i="1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₁₁·</m:t>
                      </m:r>
                      <m:r>
                        <a:rPr lang="en-US" sz="1200" i="1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𝑥</m:t>
                      </m:r>
                      <m:r>
                        <a:rPr lang="en-US" sz="1200" i="1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₁ + </m:t>
                      </m:r>
                      <m:r>
                        <a:rPr lang="en-US" sz="1200" i="1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𝑎</m:t>
                      </m:r>
                      <m:r>
                        <a:rPr lang="en-US" sz="1200" i="1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₁₂·</m:t>
                      </m:r>
                      <m:r>
                        <a:rPr lang="en-US" sz="1200" i="1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𝑥</m:t>
                      </m:r>
                      <m:r>
                        <a:rPr lang="en-US" sz="1200" i="1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₂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965960"/>
                <a:ext cx="3840480" cy="618134"/>
              </a:xfrm>
              <a:prstGeom prst="rect">
                <a:avLst/>
              </a:prstGeom>
              <a:blipFill>
                <a:blip r:embed="rId4"/>
                <a:stretch>
                  <a:fillRect b="-297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4663440" y="105156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robotics, matrices appear everywhere: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state transition matrix (how state evolves)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observation matrix (what sensor measures)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covariance matrix (uncertainty shape)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Kalman gain (how much to trust sensor)
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 multiply matrices and vectors, you can implement the Kalman Filter.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Covariance Matrix — What Each Element Means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11887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411480" y="952529"/>
                <a:ext cx="8321040" cy="30723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Σ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400" b="1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400" b="1" i="1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cs typeface="Arial" pitchFamily="34" charset="-12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sz="1400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cs typeface="Arial" pitchFamily="34" charset="-12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b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x</m:t>
                                  </m:r>
                                </m:sub>
                                <m:sup>
                                  <m:r>
                                    <a:rPr lang="de-DE" sz="1400" b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b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xy</m:t>
                                  </m:r>
                                </m:sub>
                              </m:sSub>
                              <m: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sz="1400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DE" sz="1400" b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y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b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x</m:t>
                                  </m:r>
                                </m:sub>
                                <m:sup>
                                  <m:r>
                                    <a:rPr lang="de-DE" sz="1400" b="1" i="0" dirty="0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 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1400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b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y</m:t>
                                  </m:r>
                                </m:sub>
                                <m:sup>
                                  <m:r>
                                    <a:rPr lang="de-DE" sz="1400" b="1" i="0" dirty="0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variances (how spread in x, y)</a:t>
                </a:r>
                <a:endParaRPr lang="en-US" sz="1400" dirty="0"/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𝝈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𝒙𝒚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= covariance (are x,y linked?)</a:t>
                </a:r>
                <a:endParaRPr lang="en-US" sz="1400" dirty="0"/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952529"/>
                <a:ext cx="8321040" cy="307238"/>
              </a:xfrm>
              <a:prstGeom prst="rect">
                <a:avLst/>
              </a:prstGeom>
              <a:blipFill>
                <a:blip r:embed="rId3"/>
                <a:stretch>
                  <a:fillRect l="-220" t="-62745" b="-9803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411480" y="1527048"/>
            <a:ext cx="8321040" cy="380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 = individual uncertainties. Off-diagonal = correlation between variables.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463040" cy="1463040"/>
          </a:xfrm>
          <a:prstGeom prst="ellipse">
            <a:avLst/>
          </a:prstGeom>
          <a:solidFill>
            <a:srgbClr val="3B82F6">
              <a:alpha val="30000"/>
            </a:srgbClr>
          </a:solidFill>
          <a:ln w="25400">
            <a:solidFill>
              <a:srgbClr val="3B82F6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365760" y="3566160"/>
                <a:ext cx="1828800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𝜎</m:t>
                          </m:r>
                        </m:e>
                        <m:sub>
                          <m:r>
                            <a:rPr lang="en-US" sz="1200" i="1" dirty="0" smtClean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𝑥𝑦</m:t>
                          </m:r>
                        </m:sub>
                      </m:sSub>
                      <m:r>
                        <a:rPr lang="en-US" sz="1200" i="1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r>
                        <a:rPr lang="en-US" sz="1200" i="1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0</m:t>
                      </m:r>
                    </m:oMath>
                  </m:oMathPara>
                </a14:m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Circle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(independent)</a:t>
                </a:r>
                <a:endParaRPr lang="en-US" sz="1200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3566160"/>
                <a:ext cx="1828800" cy="731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3200400" y="2194560"/>
            <a:ext cx="2286000" cy="914400"/>
          </a:xfrm>
          <a:prstGeom prst="ellipse">
            <a:avLst/>
          </a:prstGeom>
          <a:solidFill>
            <a:srgbClr val="F59E0B">
              <a:alpha val="30000"/>
            </a:srgbClr>
          </a:solidFill>
          <a:ln w="25400">
            <a:solidFill>
              <a:srgbClr val="F59E0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3017520" y="3566160"/>
                <a:ext cx="2651760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 dirty="0" smtClean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en-US" sz="1200" i="1" dirty="0" smtClean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𝜎</m:t>
                          </m:r>
                        </m:e>
                        <m:sub>
                          <m:r>
                            <a:rPr lang="en-US" sz="1200" i="1" dirty="0" smtClean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𝑥</m:t>
                          </m:r>
                        </m:sub>
                        <m:sup>
                          <m:r>
                            <a:rPr lang="en-US" sz="1200" i="1" dirty="0" smtClean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en-US" sz="1200" i="1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≫ </m:t>
                      </m:r>
                      <m:sSubSup>
                        <m:sSubSupPr>
                          <m:ctrlPr>
                            <a:rPr lang="en-US" sz="1200" i="1" dirty="0" smtClean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en-US" sz="1200" i="1" dirty="0" smtClean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𝜎</m:t>
                          </m:r>
                        </m:e>
                        <m:sub>
                          <m:r>
                            <a:rPr lang="en-US" sz="1200" i="1" dirty="0" smtClean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𝑦</m:t>
                          </m:r>
                        </m:sub>
                        <m:sup>
                          <m:r>
                            <a:rPr lang="en-US" sz="1200" i="1" dirty="0" smtClean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Wide ellipse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(more uncertain in x)</a:t>
                </a:r>
                <a:endParaRPr lang="en-US" sz="120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3566160"/>
                <a:ext cx="2651760" cy="731520"/>
              </a:xfrm>
              <a:prstGeom prst="rect">
                <a:avLst/>
              </a:prstGeom>
              <a:blipFill>
                <a:blip r:embed="rId5"/>
                <a:stretch>
                  <a:fillRect b="-8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 rot="2100000">
            <a:off x="6411905" y="2335826"/>
            <a:ext cx="2011680" cy="914400"/>
          </a:xfrm>
          <a:prstGeom prst="ellipse">
            <a:avLst/>
          </a:prstGeom>
          <a:solidFill>
            <a:srgbClr val="8B5CF6">
              <a:alpha val="30000"/>
            </a:srgbClr>
          </a:solidFill>
          <a:ln w="25400">
            <a:solidFill>
              <a:srgbClr val="8B5CF6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1"/>
              <p:cNvSpPr/>
              <p:nvPr/>
            </p:nvSpPr>
            <p:spPr>
              <a:xfrm>
                <a:off x="6217920" y="3566160"/>
                <a:ext cx="2377440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𝜎</m:t>
                          </m:r>
                        </m:e>
                        <m:sub>
                          <m:r>
                            <a:rPr lang="en-US" sz="1200" i="1" dirty="0" smtClean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𝑥𝑦</m:t>
                          </m:r>
                        </m:sub>
                      </m:sSub>
                      <m:r>
                        <a:rPr lang="en-US" sz="1200" i="1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≠ </m:t>
                      </m:r>
                      <m:r>
                        <a:rPr lang="en-US" sz="1200" i="1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0</m:t>
                      </m:r>
                    </m:oMath>
                  </m:oMathPara>
                </a14:m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Tilted ellipse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(x and y correlated)</a:t>
                </a:r>
                <a:endParaRPr lang="en-US" sz="1200" dirty="0"/>
              </a:p>
            </p:txBody>
          </p:sp>
        </mc:Choice>
        <mc:Fallback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3566160"/>
                <a:ext cx="2377440" cy="731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Eigenvalues &amp; Eigenvectors — Ellipse Shape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covariance matrix Σ has eigenvalues and eigenvectors. These define the ellipse: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52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Eigenvectors = ellipse DIRECTIONS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axes of the uncertainty ellipse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along the directions of max/min uncertainty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2D covariance: 2 eigenvectors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always perpendicular (orthogonal)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54864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152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Eigenvalues = ellipse LENGTHS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44475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λ₁ = length of major axis (biggest uncertainty)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λ₂ = length of minor axis (smallest uncertainty)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eigenvalue = lots of uncertainty in that direction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must be &gt; 0 (positive-definite)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024608"/>
            <a:ext cx="8595360" cy="144018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063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Positive-definite: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eigenvalues &gt; 0. Means the ellipse is a REAL shape (not collapsed). </a:t>
            </a: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covariance matrix has a zero or negative eigenvalue, your filter is BROKEN.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need to COMPUTE eigenvalues — just understand what they MEAN. The Kalman Filter handles the math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Inverse &amp; Transpose — Tools for KF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Inverse: A⁻¹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"Undoes" the transformation: A⁻¹·A = 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dividing: if y = Ax, then x = A⁻¹y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exists for square, non-singular matrices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KF: used to compute the Kalman gain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Transpose: Aᵀ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rows ↔ columns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property: (AB)ᵀ = BᵀAᵀ (reverse order!)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symmetric matrices: Σ = Σᵀ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Covariance matrices are ALWAYS symmetric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8595360" cy="941832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514600"/>
            <a:ext cx="832104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Quadratic form: xᵀ Σ⁻¹ x = Mahalanobis distance²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790749"/>
            <a:ext cx="8321040" cy="380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Mahalanobis distance from MOD-04! The "distance" that accounts for uncertainty shape.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value → point is close to the center of the ellipse. Large value → point is far away (unlikely).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474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operations are the building blocks of every KF equation. You'll see Aᵀ, A⁻¹, and xᵀΣ⁻¹x in Blocks F and G.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Motion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Wrapping MOD-03/04 kinematics in probability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MOD-03/04 to Probability: p(x' | x, u)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know the pieces. Now we wrap them in probability: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11887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MOD-03: x' = f(x, u)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MOD-04: x' = f(x, u) + noise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74597"/>
            <a:ext cx="3840480" cy="618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Kinematics: given state x and control u,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state is f(x,u).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Noise: Gaussian w ~ N(0, Q)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206240" cy="11887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097280"/>
            <a:ext cx="393192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MOD-05: p(x' | x, u) = N(x’; f(x,u), Q)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574597"/>
            <a:ext cx="3931920" cy="618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probability of ending up at x',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you were at x and applied control u,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Gaussian centered on f(x,u) with spread Q."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8595360" cy="1791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same thing, just written differently: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457200" y="2834640"/>
                <a:ext cx="8229600" cy="9144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MOD-03/04: "After moving, I'm at position (3.2, 5.1) with uncertainty ±0.3m"
</a:t>
                </a:r>
                <a:endParaRPr lang="en-US" sz="1200" dirty="0"/>
              </a:p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8B5CF6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MOD-05: "p(x'|x,u) = N([3.2, 5.1],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200" b="1" i="1" smtClean="0">
                            <a:solidFill>
                              <a:srgbClr val="8B5CF6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200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  <a:cs typeface="Arial" pitchFamily="34" charset="-12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sz="1200" b="1" i="1" smtClean="0">
                                  <a:solidFill>
                                    <a:srgbClr val="8B5CF6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𝟎</m:t>
                              </m:r>
                              <m:r>
                                <a:rPr lang="de-DE" sz="1200" b="1" i="1" smtClean="0">
                                  <a:solidFill>
                                    <a:srgbClr val="8B5CF6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.</m:t>
                              </m:r>
                              <m:r>
                                <a:rPr lang="de-DE" sz="1200" b="1" i="1" smtClean="0">
                                  <a:solidFill>
                                    <a:srgbClr val="8B5CF6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𝟎𝟗</m:t>
                              </m:r>
                            </m:e>
                            <m:e>
                              <m:r>
                                <a:rPr lang="de-DE" sz="1200" b="1" i="1" smtClean="0">
                                  <a:solidFill>
                                    <a:srgbClr val="8B5CF6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de-DE" sz="1200" b="1" i="1" smtClean="0">
                                  <a:solidFill>
                                    <a:srgbClr val="8B5CF6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de-DE" sz="1200" b="1" i="1" smtClean="0">
                                  <a:solidFill>
                                    <a:srgbClr val="8B5CF6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𝟎</m:t>
                              </m:r>
                              <m:r>
                                <a:rPr lang="de-DE" sz="1200" b="1" i="1" smtClean="0">
                                  <a:solidFill>
                                    <a:srgbClr val="8B5CF6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.</m:t>
                              </m:r>
                              <m:r>
                                <a:rPr lang="de-DE" sz="1200" b="1" i="1" smtClean="0">
                                  <a:solidFill>
                                    <a:srgbClr val="8B5CF6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𝟎𝟗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200" b="1" dirty="0">
                    <a:solidFill>
                      <a:srgbClr val="8B5CF6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)"
</a:t>
                </a:r>
                <a:endParaRPr lang="en-US" sz="1200" dirty="0"/>
              </a:p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0B98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Same information, but now in a form Bayes theorem can use!</a:t>
                </a:r>
                <a:endParaRPr lang="en-US" sz="1200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834640"/>
                <a:ext cx="8229600" cy="914400"/>
              </a:xfrm>
              <a:prstGeom prst="rect">
                <a:avLst/>
              </a:prstGeom>
              <a:blipFill>
                <a:blip r:embed="rId3"/>
                <a:stretch>
                  <a:fillRect t="-667" b="-48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= Belief Propagation Through Motion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7315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777240"/>
            <a:ext cx="832104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bel⁻(x') = ∫ p(x' | x, u) × bel(x) dx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53389"/>
            <a:ext cx="8321040" cy="380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possible current position x: multiply "where I might be" × "where I'd end up" → integrate → new belief.</a:t>
            </a:r>
            <a:endParaRPr lang="en-US" sz="1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255A0EB-77D6-4B25-85F3-6EB2D54A60EF}"/>
              </a:ext>
            </a:extLst>
          </p:cNvPr>
          <p:cNvGrpSpPr/>
          <p:nvPr/>
        </p:nvGrpSpPr>
        <p:grpSpPr>
          <a:xfrm>
            <a:off x="457200" y="2377440"/>
            <a:ext cx="5212080" cy="2377440"/>
            <a:chOff x="457200" y="1645920"/>
            <a:chExt cx="5212080" cy="2377440"/>
          </a:xfrm>
        </p:grpSpPr>
        <p:sp>
          <p:nvSpPr>
            <p:cNvPr id="8" name="Shape 6"/>
            <p:cNvSpPr/>
            <p:nvPr/>
          </p:nvSpPr>
          <p:spPr>
            <a:xfrm>
              <a:off x="457200" y="1920240"/>
              <a:ext cx="1280160" cy="1828800"/>
            </a:xfrm>
            <a:prstGeom prst="ellipse">
              <a:avLst/>
            </a:prstGeom>
            <a:solidFill>
              <a:srgbClr val="10B981">
                <a:alpha val="30000"/>
              </a:srgbClr>
            </a:solidFill>
            <a:ln w="25400">
              <a:solidFill>
                <a:srgbClr val="10B981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457200" y="2468880"/>
              <a:ext cx="12801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bel(x)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(before)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011680" y="2560320"/>
              <a:ext cx="1371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 motion →</a:t>
              </a:r>
              <a:endParaRPr lang="en-US" sz="13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657600" y="1645920"/>
              <a:ext cx="2011680" cy="2377440"/>
            </a:xfrm>
            <a:prstGeom prst="ellipse">
              <a:avLst/>
            </a:prstGeom>
            <a:solidFill>
              <a:srgbClr val="F59E0B">
                <a:alpha val="30000"/>
              </a:srgbClr>
            </a:solidFill>
            <a:ln w="25400">
              <a:solidFill>
                <a:srgbClr val="F59E0B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657600" y="2468880"/>
              <a:ext cx="20116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bel⁻(x')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(after predict)</a:t>
              </a:r>
              <a:endParaRPr lang="en-US" sz="1200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5943600" y="15544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predicted belief bel⁻(x') is WIDER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the previous belief bel(x).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ALWAYS increases uncertainty.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adds noise Q → ellipse grows.
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Linear-Gaussian: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bel⁻(x') = N(A·μ + B·u, A·Σ·Aᵀ + Q)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KF Equations 1 &amp; 2 (Block G)!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Observation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MOD-04 sensor models to Bayes theorem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 = h(x) + v to p(z | x)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MOD-04 taught sensor models as equations. Now we rewrite them as probabilities: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128016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39342"/>
            <a:ext cx="3840480" cy="537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MOD-04: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h(x) + v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~ N(0, 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840480" cy="4974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measurement z equals the true value h(x)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Gaussian noise v with covariance 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206240" cy="128016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097280"/>
            <a:ext cx="3931920" cy="537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MOD-05: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p(z | x) = N(z; h(x), 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614830"/>
            <a:ext cx="3931920" cy="6656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probability of observing z,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the robot is at state x,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Gaussian centered on h(x) with spread R."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information, different notation. But now p(z|x) can plug into Bayes theorem!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p(z|x) is the LIKELIHOOD FUNCTION — for each possible position x, how well does the sensor reading z match?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40596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p(z=2.3 | x) for different robot positions x:</a:t>
            </a:r>
            <a:endParaRPr lang="en-US" sz="12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8A81DE-7D80-44F1-B8C3-0153ECF75AE1}"/>
              </a:ext>
            </a:extLst>
          </p:cNvPr>
          <p:cNvGrpSpPr/>
          <p:nvPr/>
        </p:nvGrpSpPr>
        <p:grpSpPr>
          <a:xfrm>
            <a:off x="365760" y="3771723"/>
            <a:ext cx="4370832" cy="914400"/>
            <a:chOff x="457200" y="3566160"/>
            <a:chExt cx="4370832" cy="914400"/>
          </a:xfrm>
        </p:grpSpPr>
        <p:sp>
          <p:nvSpPr>
            <p:cNvPr id="14" name="Shape 12"/>
            <p:cNvSpPr/>
            <p:nvPr/>
          </p:nvSpPr>
          <p:spPr>
            <a:xfrm>
              <a:off x="457200" y="4462272"/>
              <a:ext cx="274320" cy="18288"/>
            </a:xfrm>
            <a:prstGeom prst="rect">
              <a:avLst/>
            </a:prstGeom>
            <a:solidFill>
              <a:srgbClr val="93C5FD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749808" y="4434840"/>
              <a:ext cx="274320" cy="45720"/>
            </a:xfrm>
            <a:prstGeom prst="rect">
              <a:avLst/>
            </a:prstGeom>
            <a:solidFill>
              <a:srgbClr val="93C5FD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1042416" y="4389120"/>
              <a:ext cx="274320" cy="91440"/>
            </a:xfrm>
            <a:prstGeom prst="rect">
              <a:avLst/>
            </a:prstGeom>
            <a:solidFill>
              <a:srgbClr val="93C5FD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1335024" y="4297680"/>
              <a:ext cx="274320" cy="182880"/>
            </a:xfrm>
            <a:prstGeom prst="rect">
              <a:avLst/>
            </a:prstGeom>
            <a:solidFill>
              <a:srgbClr val="93C5FD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1627632" y="4114800"/>
              <a:ext cx="274320" cy="365760"/>
            </a:xfrm>
            <a:prstGeom prst="rect">
              <a:avLst/>
            </a:prstGeom>
            <a:solidFill>
              <a:srgbClr val="93C5FD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1920240" y="3840480"/>
              <a:ext cx="274320" cy="640080"/>
            </a:xfrm>
            <a:prstGeom prst="rect">
              <a:avLst/>
            </a:prstGeom>
            <a:solidFill>
              <a:srgbClr val="93C5FD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2212848" y="3611880"/>
              <a:ext cx="274320" cy="86868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2505456" y="3566160"/>
              <a:ext cx="274320" cy="91440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2798064" y="3611880"/>
              <a:ext cx="274320" cy="86868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3090672" y="3840480"/>
              <a:ext cx="274320" cy="640080"/>
            </a:xfrm>
            <a:prstGeom prst="rect">
              <a:avLst/>
            </a:prstGeom>
            <a:solidFill>
              <a:srgbClr val="93C5FD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3383280" y="4114800"/>
              <a:ext cx="274320" cy="365760"/>
            </a:xfrm>
            <a:prstGeom prst="rect">
              <a:avLst/>
            </a:prstGeom>
            <a:solidFill>
              <a:srgbClr val="93C5FD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3675888" y="4297680"/>
              <a:ext cx="274320" cy="182880"/>
            </a:xfrm>
            <a:prstGeom prst="rect">
              <a:avLst/>
            </a:prstGeom>
            <a:solidFill>
              <a:srgbClr val="93C5FD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3968496" y="4389120"/>
              <a:ext cx="274320" cy="91440"/>
            </a:xfrm>
            <a:prstGeom prst="rect">
              <a:avLst/>
            </a:prstGeom>
            <a:solidFill>
              <a:srgbClr val="93C5FD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4261104" y="4434840"/>
              <a:ext cx="274320" cy="45720"/>
            </a:xfrm>
            <a:prstGeom prst="rect">
              <a:avLst/>
            </a:prstGeom>
            <a:solidFill>
              <a:srgbClr val="93C5FD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4553712" y="4462272"/>
              <a:ext cx="274320" cy="18288"/>
            </a:xfrm>
            <a:prstGeom prst="rect">
              <a:avLst/>
            </a:prstGeom>
            <a:solidFill>
              <a:srgbClr val="93C5FD"/>
            </a:solidFill>
            <a:ln/>
          </p:spPr>
        </p:sp>
      </p:grpSp>
      <p:sp>
        <p:nvSpPr>
          <p:cNvPr id="29" name="Text 27"/>
          <p:cNvSpPr/>
          <p:nvPr/>
        </p:nvSpPr>
        <p:spPr>
          <a:xfrm>
            <a:off x="502920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at x where h(x) = 2.3   "most likely position"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Update Step: Prior × Likelihood → Posterior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CORE of how sensor readings improve our estimate:</a:t>
            </a:r>
            <a:endParaRPr lang="en-US" sz="13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56B97CF-8C4A-48CB-90E9-8147832281D7}"/>
              </a:ext>
            </a:extLst>
          </p:cNvPr>
          <p:cNvGrpSpPr/>
          <p:nvPr/>
        </p:nvGrpSpPr>
        <p:grpSpPr>
          <a:xfrm>
            <a:off x="274320" y="1165860"/>
            <a:ext cx="7040880" cy="1280160"/>
            <a:chOff x="274320" y="1463040"/>
            <a:chExt cx="7040880" cy="1280160"/>
          </a:xfrm>
        </p:grpSpPr>
        <p:sp>
          <p:nvSpPr>
            <p:cNvPr id="6" name="Shape 4"/>
            <p:cNvSpPr/>
            <p:nvPr/>
          </p:nvSpPr>
          <p:spPr>
            <a:xfrm>
              <a:off x="274320" y="1463040"/>
              <a:ext cx="2560320" cy="1280160"/>
            </a:xfrm>
            <a:prstGeom prst="ellipse">
              <a:avLst/>
            </a:prstGeom>
            <a:solidFill>
              <a:srgbClr val="F59E0B">
                <a:alpha val="30000"/>
              </a:srgbClr>
            </a:solidFill>
            <a:ln w="25400">
              <a:solidFill>
                <a:srgbClr val="F59E0B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274320" y="182880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Prior bel⁻(x)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(wide = uncertain)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926080" y="1828800"/>
              <a:ext cx="3657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×</a:t>
              </a:r>
              <a:endParaRPr lang="en-US" sz="22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383280" y="1645920"/>
              <a:ext cx="1463040" cy="914400"/>
            </a:xfrm>
            <a:prstGeom prst="ellipse">
              <a:avLst/>
            </a:prstGeom>
            <a:solidFill>
              <a:srgbClr val="3B82F6">
                <a:alpha val="30000"/>
              </a:srgbClr>
            </a:solidFill>
            <a:ln w="25400">
              <a:solidFill>
                <a:srgbClr val="3B82F6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383280" y="192024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Likelihood p(z|x)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(from sensor)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029200" y="1828800"/>
              <a:ext cx="3657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=</a:t>
              </a:r>
              <a:endParaRPr lang="en-US" sz="22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486400" y="1554480"/>
              <a:ext cx="1828800" cy="1097280"/>
            </a:xfrm>
            <a:prstGeom prst="ellipse">
              <a:avLst/>
            </a:prstGeom>
            <a:solidFill>
              <a:srgbClr val="10B981">
                <a:alpha val="40000"/>
              </a:srgbClr>
            </a:solidFill>
            <a:ln w="38100">
              <a:solidFill>
                <a:srgbClr val="10B981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486400" y="1920240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Posterior bel(x)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(narrower = more certain!)</a:t>
              </a:r>
              <a:endParaRPr lang="en-US" sz="12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274320" y="3017520"/>
            <a:ext cx="8595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posterior is ALWAYS narrower than the prior.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measurement REDUCES uncertainty.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posterior sits BETWEEN the prior and the likelihood: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closer to whichever has SMALLER uncertainty.
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Linear-Gaussian: this gives KF Equations 3, 4, 5 (Block G)!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Bayes Filter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general algorithm that ALL state estimation is based on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Recursive Bayes Filter Algorithm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438061"/>
          </a:xfrm>
          <a:prstGeom prst="rect">
            <a:avLst/>
          </a:prstGeom>
          <a:solidFill>
            <a:srgbClr val="F5F3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time step k: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06741"/>
            <a:ext cx="3931920" cy="1345019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306741"/>
            <a:ext cx="3657600" cy="860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PREDICT: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bel⁻(x') = ∫ p(x'|x,u) · bel(x) dx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3969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motion model to predict.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GROWS.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132588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443901"/>
            <a:ext cx="3657600" cy="7232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UPDATE: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bel(x') = η · p(z|x') · bel⁻(x')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13969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sensor model to correct.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SHRINKS.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8595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971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fundamental algorithm of probabilistic robotics.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822960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repeats: predict → update → predict → update → ...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makes you MORE uncertain (predict step grows the ellipse).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make you LESS uncertain (update step shrinks the ellipse).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Together: uncertainty stays bounded — not perfect, but not lost.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Example: Robot on a Line (Step 1 — Start)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4767" y="69191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is on a 10-meter line. One landmark at position 7m.</a:t>
            </a:r>
            <a:endParaRPr lang="en-US" sz="13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D51FB83-5D67-462C-A70F-FFE456EBEEE7}"/>
              </a:ext>
            </a:extLst>
          </p:cNvPr>
          <p:cNvGrpSpPr/>
          <p:nvPr/>
        </p:nvGrpSpPr>
        <p:grpSpPr>
          <a:xfrm>
            <a:off x="344920" y="1011156"/>
            <a:ext cx="8503920" cy="1371600"/>
            <a:chOff x="338328" y="1027105"/>
            <a:chExt cx="8503920" cy="1371600"/>
          </a:xfrm>
        </p:grpSpPr>
        <p:sp>
          <p:nvSpPr>
            <p:cNvPr id="6" name="Shape 4"/>
            <p:cNvSpPr/>
            <p:nvPr/>
          </p:nvSpPr>
          <p:spPr>
            <a:xfrm>
              <a:off x="475488" y="2032945"/>
              <a:ext cx="8229600" cy="0"/>
            </a:xfrm>
            <a:prstGeom prst="line">
              <a:avLst/>
            </a:prstGeom>
            <a:noFill/>
            <a:ln w="25400">
              <a:solidFill>
                <a:srgbClr val="1F2937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475488" y="1895785"/>
              <a:ext cx="0" cy="274320"/>
            </a:xfrm>
            <a:prstGeom prst="line">
              <a:avLst/>
            </a:prstGeom>
            <a:noFill/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38328" y="2170105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</a:t>
              </a:r>
              <a:endParaRPr lang="en-US" sz="12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1298448" y="1895785"/>
              <a:ext cx="0" cy="274320"/>
            </a:xfrm>
            <a:prstGeom prst="line">
              <a:avLst/>
            </a:prstGeom>
            <a:noFill/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1161288" y="2170105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12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121408" y="1895785"/>
              <a:ext cx="0" cy="274320"/>
            </a:xfrm>
            <a:prstGeom prst="line">
              <a:avLst/>
            </a:prstGeom>
            <a:noFill/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1984248" y="2170105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1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944368" y="1895785"/>
              <a:ext cx="0" cy="274320"/>
            </a:xfrm>
            <a:prstGeom prst="line">
              <a:avLst/>
            </a:prstGeom>
            <a:noFill/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2807208" y="2170105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12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767328" y="1895785"/>
              <a:ext cx="0" cy="274320"/>
            </a:xfrm>
            <a:prstGeom prst="line">
              <a:avLst/>
            </a:prstGeom>
            <a:noFill/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630168" y="2170105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12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590288" y="1895785"/>
              <a:ext cx="0" cy="274320"/>
            </a:xfrm>
            <a:prstGeom prst="line">
              <a:avLst/>
            </a:prstGeom>
            <a:noFill/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453128" y="2170105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</a:t>
              </a:r>
              <a:endParaRPr lang="en-US" sz="12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413248" y="1895785"/>
              <a:ext cx="0" cy="274320"/>
            </a:xfrm>
            <a:prstGeom prst="line">
              <a:avLst/>
            </a:prstGeom>
            <a:noFill/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276088" y="2170105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</a:t>
              </a:r>
              <a:endParaRPr lang="en-US" sz="12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236208" y="1895785"/>
              <a:ext cx="0" cy="274320"/>
            </a:xfrm>
            <a:prstGeom prst="line">
              <a:avLst/>
            </a:prstGeom>
            <a:noFill/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6099048" y="2170105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</a:t>
              </a:r>
              <a:endParaRPr lang="en-US" sz="12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059168" y="1895785"/>
              <a:ext cx="0" cy="274320"/>
            </a:xfrm>
            <a:prstGeom prst="line">
              <a:avLst/>
            </a:prstGeom>
            <a:noFill/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922008" y="2170105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</a:t>
              </a:r>
              <a:endParaRPr lang="en-US" sz="12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882128" y="1895785"/>
              <a:ext cx="0" cy="274320"/>
            </a:xfrm>
            <a:prstGeom prst="line">
              <a:avLst/>
            </a:prstGeom>
            <a:noFill/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744968" y="2170105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</a:t>
              </a:r>
              <a:endParaRPr lang="en-US" sz="12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8705088" y="1895785"/>
              <a:ext cx="0" cy="274320"/>
            </a:xfrm>
            <a:prstGeom prst="line">
              <a:avLst/>
            </a:prstGeom>
            <a:noFill/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8567928" y="2170105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</a:t>
              </a:r>
              <a:endParaRPr lang="en-US" sz="12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6163056" y="1575745"/>
              <a:ext cx="146304" cy="457200"/>
            </a:xfrm>
            <a:prstGeom prst="rect">
              <a:avLst/>
            </a:prstGeom>
            <a:solidFill>
              <a:srgbClr val="EF4444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5769864" y="1130773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Landmark</a:t>
              </a:r>
              <a:endParaRPr lang="en-US" sz="12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47548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749808" y="1356289"/>
              <a:ext cx="256032" cy="219456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1024128" y="1301425"/>
              <a:ext cx="256032" cy="274320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1298448" y="1246561"/>
              <a:ext cx="256032" cy="329184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1572768" y="1191697"/>
              <a:ext cx="256032" cy="384048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1847088" y="1136833"/>
              <a:ext cx="256032" cy="43891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2121408" y="1081969"/>
              <a:ext cx="256032" cy="493776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2395728" y="1027105"/>
              <a:ext cx="256032" cy="54864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2670048" y="1081969"/>
              <a:ext cx="256032" cy="493776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2944368" y="1136833"/>
              <a:ext cx="256032" cy="43891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3218688" y="1191697"/>
              <a:ext cx="256032" cy="384048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3493008" y="1246561"/>
              <a:ext cx="256032" cy="329184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3767328" y="1301425"/>
              <a:ext cx="256032" cy="274320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4041648" y="1356289"/>
              <a:ext cx="256032" cy="219456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431596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459028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486460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513892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541324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568756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596188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623620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651052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678484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705916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733348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760780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788212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815644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8430768" y="1411153"/>
              <a:ext cx="256032" cy="164592"/>
            </a:xfrm>
            <a:prstGeom prst="rect">
              <a:avLst/>
            </a:prstGeom>
            <a:solidFill>
              <a:srgbClr val="FDE68A"/>
            </a:solidFill>
            <a:ln/>
          </p:spPr>
        </p:sp>
      </p:grpSp>
      <p:sp>
        <p:nvSpPr>
          <p:cNvPr id="61" name="Text 59"/>
          <p:cNvSpPr/>
          <p:nvPr/>
        </p:nvSpPr>
        <p:spPr>
          <a:xfrm>
            <a:off x="36576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belief: very uncertain — robot could be almost anywhere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365760" y="28346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State: x = position on the line (1D)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u = "move 0.5m right" (but noisy!)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Sensor: measures distance to landmark (noisy, σ = 0.5m)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step through predict → update → predict → update...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Example: Predict → Update → Predict → Update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4297680" cy="164592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3152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PREDICT (move right 0.5m)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 shifts right by 0.5m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GROWS (motion noise Q)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μ: 5.0 → 5.5,  σ: 2.0 → 2.1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97680" cy="164592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UPDATE (sensor reads d=1.8m to landmark)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0972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7m, reads 1.8m → robot ≈ 5.2m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SHRINKS (sensor corrects)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μ: 5.5 → 5.25,  σ: 2.1 → 0.45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2560320"/>
            <a:ext cx="4297680" cy="128016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56032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606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PREDICT again (move 0.5m)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μ: 5.25 → 5.75,  σ: 0.45 → 0.48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Slightly wider but still tight!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560320"/>
            <a:ext cx="4297680" cy="128016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560320"/>
            <a:ext cx="54864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606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UPDATE again (reads d=1.1m)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μ: 5.75 → 5.88,  σ: 0.48 → 0.33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tighter! Converging on truth.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0233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predict grows uncertainty, each update shrinks it. Over time, belief converges to the true position!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General Bayes Filter Is Intractable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365760" y="685800"/>
                <a:ext cx="841248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EF444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integral </a:t>
                </a:r>
                <a14:m>
                  <m:oMath xmlns:m="http://schemas.openxmlformats.org/officeDocument/2006/math">
                    <m:r>
                      <a:rPr lang="en-US" sz="1300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∫ </m:t>
                    </m:r>
                    <m:r>
                      <a:rPr lang="en-US" sz="1300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𝒑</m:t>
                    </m:r>
                    <m:r>
                      <a:rPr lang="en-US" sz="1300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r>
                      <a:rPr lang="en-US" sz="1300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𝒙</m:t>
                    </m:r>
                    <m:r>
                      <a:rPr lang="en-US" sz="1300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′|</m:t>
                    </m:r>
                    <m:r>
                      <a:rPr lang="en-US" sz="1300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𝒙</m:t>
                    </m:r>
                    <m:r>
                      <a:rPr lang="en-US" sz="1300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</m:t>
                    </m:r>
                    <m:r>
                      <a:rPr lang="en-US" sz="1300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𝒖</m:t>
                    </m:r>
                    <m:r>
                      <a:rPr lang="en-US" sz="1300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 × </m:t>
                    </m:r>
                    <m:r>
                      <a:rPr lang="en-US" sz="1300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𝒃𝒆𝒍</m:t>
                    </m:r>
                    <m:r>
                      <a:rPr lang="en-US" sz="1300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r>
                      <a:rPr lang="en-US" sz="1300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𝒙</m:t>
                    </m:r>
                    <m:r>
                      <a:rPr lang="en-US" sz="1300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 </m:t>
                    </m:r>
                    <m:r>
                      <a:rPr lang="en-US" sz="1300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𝒅𝒙</m:t>
                    </m:r>
                    <m:r>
                      <a:rPr lang="en-US" sz="1300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1300" b="1" dirty="0">
                    <a:solidFill>
                      <a:srgbClr val="EF444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has NO closed-form solution in general.</a:t>
                </a:r>
                <a:endParaRPr lang="en-US" sz="1300" dirty="0"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685800"/>
                <a:ext cx="8412480" cy="274320"/>
              </a:xfrm>
              <a:prstGeom prst="rect">
                <a:avLst/>
              </a:prstGeom>
              <a:blipFill>
                <a:blip r:embed="rId3"/>
                <a:stretch>
                  <a:fillRect l="-72" t="-4444" b="-2222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36576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APPROXIMATIONS. Three families: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1417320"/>
            <a:ext cx="28346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417320"/>
            <a:ext cx="54864" cy="228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4721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Approximation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764792"/>
            <a:ext cx="25603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belief is ALWAYS Gaussian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Kalman Filter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Integral becomes matrix algebra!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for linear + Gaussian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MODULE (Block G)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417320"/>
            <a:ext cx="28346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41732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319272" y="14721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 Approximation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1764792"/>
            <a:ext cx="25603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space into grid cells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probability per cell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for any distribution shape!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But: exponential in dimensions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MOD-06 (Histogram Filter)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8346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17320"/>
            <a:ext cx="54864" cy="2286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14721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Approximation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1072" y="1764792"/>
            <a:ext cx="25603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 belief with N particles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particle = one possible position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for any shape!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better than histograms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MOD-06 (Particle Filter / MCL)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39319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Gaussian assumption is the KEY that makes Kalman Filter possible — and it's remarkably powerful for most robotics applications.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Kalman Filter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solution to Bayes filtering under linear-Gaussian assumptions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Linear-Gaussian Assumptions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28016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411480" y="777240"/>
                <a:ext cx="3840480" cy="49926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State transition (linear):</a:t>
                </a: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𝑨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·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𝒙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𝒌</m:t>
                              </m:r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−</m:t>
                              </m:r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𝟏</m:t>
                              </m:r>
                            </m:e>
                          </m:d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+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𝑩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·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𝒖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+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~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𝑵</m:t>
                      </m:r>
                      <m:d>
                        <m:d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d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𝟎</m:t>
                          </m:r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, </m:t>
                          </m:r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3840480" cy="499262"/>
              </a:xfrm>
              <a:prstGeom prst="rect">
                <a:avLst/>
              </a:prstGeom>
              <a:blipFill>
                <a:blip r:embed="rId3"/>
                <a:stretch>
                  <a:fillRect l="-476" t="-28395" b="-3086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411480" y="1344848"/>
            <a:ext cx="3840480" cy="618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state transition matrix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= control input matrix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process noise covariance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731520"/>
            <a:ext cx="4206240" cy="128016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4800600" y="777240"/>
                <a:ext cx="3931920" cy="49926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Observation (linear):</a:t>
                </a: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𝑯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·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+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𝒗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𝒗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~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𝑵</m:t>
                      </m:r>
                      <m:d>
                        <m:d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d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𝟎</m:t>
                          </m:r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, </m:t>
                          </m:r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777240"/>
                <a:ext cx="3931920" cy="499262"/>
              </a:xfrm>
              <a:prstGeom prst="rect">
                <a:avLst/>
              </a:prstGeom>
              <a:blipFill>
                <a:blip r:embed="rId4"/>
                <a:stretch>
                  <a:fillRect l="-465" t="-25926" b="-2222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4800600" y="1339120"/>
            <a:ext cx="3931920" cy="618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observation matrix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measurement noise covariance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sensor noise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103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these assumptions, the Bayes filter has an EXACT closed-form solution: the Kalman Filter.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227910"/>
              </p:ext>
            </p:extLst>
          </p:nvPr>
        </p:nvGraphicFramePr>
        <p:xfrm>
          <a:off x="269358" y="2468880"/>
          <a:ext cx="8600322" cy="1645920"/>
        </p:xfrm>
        <a:graphic>
          <a:graphicData uri="http://schemas.openxmlformats.org/drawingml/2006/table">
            <a:tbl>
              <a:tblPr/>
              <a:tblGrid>
                <a:gridCol w="914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26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Robot Example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n×n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state evolves in one 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 update from velocity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n×m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control affects 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Steering command → position change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k×n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sensor measures from 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measures distance from position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n×n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noise (motion uncertainty)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Wheel slip, motor noise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k×k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Measurement noise (sensor uncertainty)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noise σ_r, GPS noise σ_gps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 Equation 1: State Prediction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371600" y="731520"/>
            <a:ext cx="6400800" cy="7315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554480" y="777240"/>
                <a:ext cx="6035040" cy="6400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0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accPr>
                            <m:e>
                              <m:r>
                                <a:rPr lang="en-US" sz="20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−</m:t>
                          </m:r>
                        </m:sup>
                      </m:sSubSup>
                      <m:r>
                        <a:rPr lang="en-US" sz="20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r>
                        <a:rPr lang="en-US" sz="20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𝑨</m:t>
                      </m:r>
                      <m:r>
                        <a:rPr lang="en-US" sz="20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· </m:t>
                      </m:r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accPr>
                            <m:e>
                              <m:r>
                                <a:rPr lang="en-US" sz="20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20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𝒌</m:t>
                              </m:r>
                              <m:r>
                                <a:rPr lang="en-US" sz="20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−</m:t>
                              </m:r>
                              <m:r>
                                <a:rPr lang="en-US" sz="20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𝟏</m:t>
                              </m:r>
                            </m:e>
                          </m:d>
                        </m:sub>
                      </m:sSub>
                      <m:r>
                        <a:rPr lang="en-US" sz="20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+ </m:t>
                      </m:r>
                      <m:r>
                        <a:rPr lang="en-US" sz="20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𝑩</m:t>
                      </m:r>
                      <m:r>
                        <a:rPr lang="en-US" sz="20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· </m:t>
                      </m:r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𝒖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77240"/>
                <a:ext cx="6035040" cy="64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365760" y="1645920"/>
                <a:ext cx="8412480" cy="29260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0F4C8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"Where do I THINK I am, based on motion?"
</a:t>
                </a:r>
                <a:endParaRPr lang="en-US" sz="1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300" b="1" i="1" dirty="0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300" b="1" i="1" dirty="0" smtClean="0">
                                <a:solidFill>
                                  <a:srgbClr val="F59E0B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accPr>
                          <m:e>
                            <m:r>
                              <a:rPr lang="en-US" sz="1300" b="1" i="1" dirty="0" smtClean="0">
                                <a:solidFill>
                                  <a:srgbClr val="F59E0B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sz="1300" b="1" i="1" dirty="0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𝒌</m:t>
                        </m:r>
                      </m:sub>
                      <m:sup>
                        <m:r>
                          <a:rPr lang="en-US" sz="1300" b="1" i="1" dirty="0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13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= predicted state (before sensor correction)
</a:t>
                </a:r>
                <a:endParaRPr lang="en-US" sz="1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300" b="1" i="1" dirty="0" smtClean="0">
                        <a:solidFill>
                          <a:srgbClr val="3B82F6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𝑨</m:t>
                    </m:r>
                    <m:r>
                      <a:rPr lang="en-US" sz="1300" b="1" i="1" dirty="0" smtClean="0">
                        <a:solidFill>
                          <a:srgbClr val="3B82F6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· </m:t>
                    </m:r>
                    <m:sSub>
                      <m:sSubPr>
                        <m:ctrlPr>
                          <a:rPr lang="en-US" sz="1300" b="1" i="1" dirty="0" smtClean="0">
                            <a:solidFill>
                              <a:srgbClr val="3B82F6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300" b="1" i="1" dirty="0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accPr>
                          <m:e>
                            <m:r>
                              <a:rPr lang="en-US" sz="1300" b="1" i="1" dirty="0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𝒙</m:t>
                            </m:r>
                          </m:e>
                        </m:acc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1300" b="1" i="1" dirty="0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en-US" sz="1300" b="1" i="1" dirty="0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𝒌</m:t>
                            </m:r>
                            <m:r>
                              <a:rPr lang="en-US" sz="1300" b="1" i="1" dirty="0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−</m:t>
                            </m:r>
                            <m:r>
                              <a:rPr lang="en-US" sz="1300" b="1" i="1" dirty="0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𝟏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13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= propagate previous state through the motion model
</a:t>
                </a:r>
                <a:endParaRPr lang="en-US" sz="1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300" b="1" i="1" dirty="0" smtClean="0">
                        <a:solidFill>
                          <a:srgbClr val="8B5CF6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𝑩</m:t>
                    </m:r>
                    <m:r>
                      <a:rPr lang="en-US" sz="1300" b="1" i="1" dirty="0" smtClean="0">
                        <a:solidFill>
                          <a:srgbClr val="8B5CF6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· </m:t>
                    </m:r>
                    <m:sSub>
                      <m:sSubPr>
                        <m:ctrlPr>
                          <a:rPr lang="en-US" sz="1300" b="1" i="1" dirty="0" smtClean="0">
                            <a:solidFill>
                              <a:srgbClr val="8B5CF6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300" b="1" i="1" dirty="0" smtClean="0">
                            <a:solidFill>
                              <a:srgbClr val="8B5CF6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𝒖</m:t>
                        </m:r>
                      </m:e>
                      <m:sub>
                        <m:r>
                          <a:rPr lang="en-US" sz="1300" b="1" i="1" dirty="0" smtClean="0">
                            <a:solidFill>
                              <a:srgbClr val="8B5CF6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13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effect of the control input (e.g., motor command)
</a:t>
                </a:r>
                <a:endParaRPr lang="en-US" sz="1400" dirty="0"/>
              </a:p>
              <a:p>
                <a:pPr marL="0" indent="0">
                  <a:buNone/>
                </a:pPr>
                <a:r>
                  <a:rPr lang="en-US" sz="1200" i="1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This is the SAME as MOD-03/04 kinematics, but in matrix form.</a:t>
                </a:r>
                <a:endParaRPr lang="en-US" sz="14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645920"/>
                <a:ext cx="8412480" cy="2926080"/>
              </a:xfrm>
              <a:prstGeom prst="rect">
                <a:avLst/>
              </a:prstGeom>
              <a:blipFill>
                <a:blip r:embed="rId4"/>
                <a:stretch>
                  <a:fillRect l="-217" t="-4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 Equation 2: Covariance Prediction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371600" y="731520"/>
            <a:ext cx="6400800" cy="7315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554480" y="777240"/>
                <a:ext cx="6035040" cy="6400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𝑷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−</m:t>
                          </m:r>
                        </m:sup>
                      </m:sSubSup>
                      <m:r>
                        <a:rPr lang="en-US" sz="20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r>
                        <a:rPr lang="en-US" sz="20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𝑨</m:t>
                      </m:r>
                      <m:r>
                        <a:rPr lang="en-US" sz="20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· </m:t>
                      </m:r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𝑷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20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𝒌</m:t>
                              </m:r>
                              <m:r>
                                <a:rPr lang="en-US" sz="20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−</m:t>
                              </m:r>
                              <m:r>
                                <a:rPr lang="en-US" sz="20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𝟏</m:t>
                              </m:r>
                            </m:e>
                          </m:d>
                        </m:sub>
                      </m:sSub>
                      <m:r>
                        <a:rPr lang="en-US" sz="20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 </m:t>
                      </m:r>
                      <m:r>
                        <a:rPr lang="en-US" sz="20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𝑨</m:t>
                      </m:r>
                      <m:r>
                        <a:rPr lang="en-US" sz="20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ᵀ + </m:t>
                      </m:r>
                      <m:r>
                        <a:rPr lang="en-US" sz="20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𝑸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77240"/>
                <a:ext cx="6035040" cy="64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365760" y="1645920"/>
                <a:ext cx="8412480" cy="29260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0F4C8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"How uncertain am I after moving?"
</a:t>
                </a:r>
                <a:endParaRPr lang="en-US" sz="1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300" b="1" i="1" dirty="0" smtClean="0">
                        <a:solidFill>
                          <a:srgbClr val="3B82F6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𝑨</m:t>
                    </m:r>
                    <m:r>
                      <a:rPr lang="en-US" sz="1300" b="1" i="1" dirty="0" smtClean="0">
                        <a:solidFill>
                          <a:srgbClr val="3B82F6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· </m:t>
                    </m:r>
                    <m:sSub>
                      <m:sSubPr>
                        <m:ctrlPr>
                          <a:rPr lang="en-US" sz="1300" b="1" i="1" dirty="0" smtClean="0">
                            <a:solidFill>
                              <a:srgbClr val="3B82F6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300" b="1" i="1" dirty="0" smtClean="0">
                            <a:solidFill>
                              <a:srgbClr val="3B82F6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𝑷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1300" b="1" i="1" dirty="0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en-US" sz="1300" b="1" i="1" dirty="0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𝒌</m:t>
                            </m:r>
                            <m:r>
                              <a:rPr lang="en-US" sz="1300" b="1" i="1" dirty="0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−</m:t>
                            </m:r>
                            <m:r>
                              <a:rPr lang="en-US" sz="1300" b="1" i="1" dirty="0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𝟏</m:t>
                            </m:r>
                          </m:e>
                        </m:d>
                      </m:sub>
                    </m:sSub>
                    <m:r>
                      <a:rPr lang="en-US" sz="1300" b="1" i="1" dirty="0" smtClean="0">
                        <a:solidFill>
                          <a:srgbClr val="3B82F6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· </m:t>
                    </m:r>
                    <m:r>
                      <a:rPr lang="en-US" sz="1300" b="1" i="1" dirty="0" smtClean="0">
                        <a:solidFill>
                          <a:srgbClr val="3B82F6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𝑨</m:t>
                    </m:r>
                    <m:r>
                      <a:rPr lang="en-US" sz="1300" b="1" i="1" dirty="0" smtClean="0">
                        <a:solidFill>
                          <a:srgbClr val="3B82F6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ᵀ</m:t>
                    </m:r>
                    <m:r>
                      <a:rPr lang="en-US" sz="13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13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= stretch the old uncertainty through the motion model
</a:t>
                </a:r>
                <a:endParaRPr lang="en-US" sz="1400" dirty="0"/>
              </a:p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EF444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+ Q</a:t>
                </a:r>
                <a:r>
                  <a:rPr lang="en-US" sz="13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add NEW uncertainty from motion noise
</a:t>
                </a:r>
                <a:endParaRPr lang="en-US" sz="1400" dirty="0"/>
              </a:p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EF444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Result: P⁻ is ALWAYS bigger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300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𝑷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1300" b="1" i="1" dirty="0" smtClean="0">
                                <a:solidFill>
                                  <a:srgbClr val="EF4444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en-US" sz="1300" b="1" i="1" dirty="0" smtClean="0">
                                <a:solidFill>
                                  <a:srgbClr val="EF4444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𝒌</m:t>
                            </m:r>
                            <m:r>
                              <a:rPr lang="en-US" sz="1300" b="1" i="1" dirty="0" smtClean="0">
                                <a:solidFill>
                                  <a:srgbClr val="EF4444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−</m:t>
                            </m:r>
                            <m:r>
                              <a:rPr lang="en-US" sz="1300" b="1" i="1" dirty="0" smtClean="0">
                                <a:solidFill>
                                  <a:srgbClr val="EF4444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𝟏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1300" b="1" dirty="0">
                    <a:solidFill>
                      <a:srgbClr val="EF444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→  uncertainty GROWS
</a:t>
                </a:r>
                <a:endParaRPr lang="en-US" sz="14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645920"/>
                <a:ext cx="8412480" cy="2926080"/>
              </a:xfrm>
              <a:prstGeom prst="rect">
                <a:avLst/>
              </a:prstGeom>
              <a:blipFill>
                <a:blip r:embed="rId4"/>
                <a:stretch>
                  <a:fillRect l="-217" t="-4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 Equation 3: The Kalman Gain (Most Important!)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solidFill>
            <a:srgbClr val="F5F3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914400" y="777240"/>
                <a:ext cx="7315200" cy="6400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</m:sSub>
                      <m:r>
                        <a:rPr lang="en-US" sz="18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sSubSup>
                        <m:sSubSupPr>
                          <m:ctrlP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𝑷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  <m:sup>
                          <m: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−</m:t>
                          </m:r>
                        </m:sup>
                      </m:sSubSup>
                      <m:r>
                        <a:rPr lang="en-US" sz="18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 </m:t>
                      </m:r>
                      <m:r>
                        <a:rPr lang="en-US" sz="18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𝑯</m:t>
                      </m:r>
                      <m:r>
                        <a:rPr lang="en-US" sz="18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ᵀ · </m:t>
                      </m:r>
                      <m:sSup>
                        <m:sSupPr>
                          <m:ctrlP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𝑯</m:t>
                              </m:r>
                              <m: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 · </m:t>
                              </m:r>
                              <m:sSubSup>
                                <m:sSubSupPr>
                                  <m:ctrlPr>
                                    <a:rPr lang="en-US" sz="1800" b="1" i="1" dirty="0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1" i="1" dirty="0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1800" b="1" i="1" dirty="0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𝒌</m:t>
                                  </m:r>
                                </m:sub>
                                <m:sup>
                                  <m:r>
                                    <a:rPr lang="en-US" sz="1800" b="1" i="1" dirty="0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−</m:t>
                                  </m:r>
                                </m:sup>
                              </m:sSubSup>
                              <m: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· </m:t>
                              </m:r>
                              <m: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𝑯</m:t>
                              </m:r>
                              <m: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ᵀ + </m:t>
                              </m:r>
                              <m: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𝑹</m:t>
                              </m:r>
                            </m:e>
                          </m:d>
                        </m:e>
                        <m:sup>
                          <m: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777240"/>
                <a:ext cx="7315200" cy="64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365760" y="1600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much should I trust the measurement vs. my prediction?"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13716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03120"/>
            <a:ext cx="41148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19659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PREDICTION more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SENSOR more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4320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798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 is small (sensor is precise):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09067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→ large (closer to 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the sensor more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is large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pulls estimate toward its reading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74320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798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P⁻ is small (prediction is confident):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309067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→ small (closer to 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the prediction more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is small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 the sensor, keep prediction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 Equation 4: State Update (Correction)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097280" y="777240"/>
                <a:ext cx="6949440" cy="6400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accPr>
                            <m:e>
                              <m: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</m:sSub>
                      <m:r>
                        <a:rPr lang="en-US" sz="18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sSubSup>
                        <m:sSubSupPr>
                          <m:ctrlP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accPr>
                            <m:e>
                              <m: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  <m:sup>
                          <m: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−</m:t>
                          </m:r>
                        </m:sup>
                      </m:sSubSup>
                      <m:r>
                        <a:rPr lang="en-US" sz="18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+ </m:t>
                      </m:r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</m:sSub>
                      <m:r>
                        <a:rPr lang="en-US" sz="18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 </m:t>
                      </m:r>
                      <m:d>
                        <m:dPr>
                          <m:ctrlP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− </m:t>
                          </m:r>
                          <m: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𝑯</m:t>
                          </m:r>
                          <m:r>
                            <a:rPr lang="en-US" sz="18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 · </m:t>
                          </m:r>
                          <m:sSubSup>
                            <m:sSubSupPr>
                              <m:ctrlP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800" b="1" i="1" dirty="0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1" i="1" dirty="0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𝒌</m:t>
                              </m:r>
                            </m:sub>
                            <m:sup>
                              <m:r>
                                <a:rPr lang="en-US" sz="18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−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777240"/>
                <a:ext cx="6949440" cy="64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365760" y="1645920"/>
                <a:ext cx="8412480" cy="27432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0F4C8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Three components:
</a:t>
                </a:r>
                <a:endParaRPr lang="en-US" sz="13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300" b="1" i="1" dirty="0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300" b="1" i="1" dirty="0" smtClean="0">
                                <a:solidFill>
                                  <a:srgbClr val="F59E0B"/>
                                </a:solidFill>
                                <a:latin typeface="Cambria Math" panose="02040503050406030204" pitchFamily="18" charset="0"/>
                                <a:cs typeface="Arial" pitchFamily="34" charset="-12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n-US" sz="1300" b="1" dirty="0">
                                <a:solidFill>
                                  <a:srgbClr val="F59E0B"/>
                                </a:solidFill>
                                <a:latin typeface="Arial" pitchFamily="34" charset="0"/>
                                <a:ea typeface="Arial" pitchFamily="34" charset="-122"/>
                                <a:cs typeface="Arial" pitchFamily="34" charset="-120"/>
                              </a:rPr>
                              <m:t>x</m:t>
                            </m:r>
                          </m:e>
                        </m:acc>
                      </m:e>
                      <m:sub>
                        <m:r>
                          <a:rPr lang="en-US" sz="1300" b="1" i="1" dirty="0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𝒌</m:t>
                        </m:r>
                      </m:sub>
                      <m:sup>
                        <m:r>
                          <a:rPr lang="en-US" sz="1300" b="1" i="1" dirty="0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13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"where I thought I was" (prediction)
</a:t>
                </a:r>
                <a:endParaRPr lang="en-US" sz="13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300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1" i="1" dirty="0" smtClean="0">
                                <a:solidFill>
                                  <a:srgbClr val="EF4444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sSubPr>
                          <m:e>
                            <m:r>
                              <a:rPr lang="en-US" sz="1300" b="1" i="1" dirty="0" smtClean="0">
                                <a:solidFill>
                                  <a:srgbClr val="EF4444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1300" b="1" i="1" dirty="0" smtClean="0">
                                <a:solidFill>
                                  <a:srgbClr val="EF4444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𝒌</m:t>
                            </m:r>
                          </m:sub>
                        </m:sSub>
                        <m:r>
                          <a:rPr lang="en-US" sz="1300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− </m:t>
                        </m:r>
                        <m:r>
                          <a:rPr lang="en-US" sz="1300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𝑯</m:t>
                        </m:r>
                        <m:r>
                          <a:rPr lang="en-US" sz="1300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 · </m:t>
                        </m:r>
                        <m:sSubSup>
                          <m:sSubSupPr>
                            <m:ctrlPr>
                              <a:rPr lang="en-US" sz="1300" b="1" i="1" dirty="0" smtClean="0">
                                <a:solidFill>
                                  <a:srgbClr val="EF4444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1300" b="1" i="1" dirty="0" smtClean="0">
                                    <a:solidFill>
                                      <a:srgbClr val="EF4444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</m:ctrlPr>
                              </m:accPr>
                              <m:e>
                                <m:r>
                                  <a:rPr lang="en-US" sz="1300" b="1" i="1" dirty="0" smtClean="0">
                                    <a:solidFill>
                                      <a:srgbClr val="EF4444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1" i="1" dirty="0" smtClean="0">
                                <a:solidFill>
                                  <a:srgbClr val="EF4444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𝒌</m:t>
                            </m:r>
                          </m:sub>
                          <m:sup>
                            <m:r>
                              <a:rPr lang="en-US" sz="1300" b="1" i="1" dirty="0" smtClean="0">
                                <a:solidFill>
                                  <a:srgbClr val="EF4444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−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13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= INNOVATION = "how surprised I am"
</a:t>
                </a:r>
                <a:endParaRPr lang="en-US" sz="1300" dirty="0"/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  (actual measurement − predicted measurement)
</a:t>
                </a:r>
                <a:endParaRPr lang="en-US" sz="13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300" b="1" i="1" dirty="0" smtClean="0">
                            <a:solidFill>
                              <a:srgbClr val="10B98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300" b="1" i="1" dirty="0" smtClean="0">
                            <a:solidFill>
                              <a:srgbClr val="10B98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𝑲</m:t>
                        </m:r>
                      </m:e>
                      <m:sub>
                        <m:r>
                          <a:rPr lang="en-US" sz="1300" b="1" i="1" dirty="0" smtClean="0">
                            <a:solidFill>
                              <a:srgbClr val="10B98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𝒌</m:t>
                        </m:r>
                      </m:sub>
                    </m:sSub>
                    <m:r>
                      <a:rPr lang="en-US" sz="1300" b="1" i="1" dirty="0" smtClean="0">
                        <a:solidFill>
                          <a:srgbClr val="10B98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× </m:t>
                    </m:r>
                    <m:r>
                      <a:rPr lang="en-US" sz="1300" b="1" i="1" dirty="0" smtClean="0">
                        <a:solidFill>
                          <a:srgbClr val="10B98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𝒊𝒏𝒏𝒐𝒗𝒂𝒕𝒊𝒐𝒏</m:t>
                    </m:r>
                    <m:r>
                      <a:rPr lang="en-US" sz="130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13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= "correction proportional to surprise, weighted by trust"
</a:t>
                </a:r>
                <a:endParaRPr lang="en-US" sz="1300" dirty="0"/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Corrected estimate = prediction + gain × surprise</a:t>
                </a:r>
                <a:endParaRPr lang="en-US" sz="13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645920"/>
                <a:ext cx="8412480" cy="2743200"/>
              </a:xfrm>
              <a:prstGeom prst="rect">
                <a:avLst/>
              </a:prstGeom>
              <a:blipFill>
                <a:blip r:embed="rId4"/>
                <a:stretch>
                  <a:fillRect l="-217" t="-222" b="-12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 Equation 5: Covariance Update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371600" y="731520"/>
            <a:ext cx="6400800" cy="73152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554480" y="777240"/>
                <a:ext cx="6035040" cy="6400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𝑷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</m:sSub>
                      <m:r>
                        <a:rPr lang="en-US" sz="20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d>
                        <m:dPr>
                          <m:ctrlP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dPr>
                        <m:e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𝑰</m:t>
                          </m:r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20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20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US" sz="20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· </m:t>
                          </m:r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𝑯</m:t>
                          </m:r>
                        </m:e>
                      </m:d>
                      <m:r>
                        <a:rPr lang="en-US" sz="20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 </m:t>
                      </m:r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𝑷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77240"/>
                <a:ext cx="6035040" cy="64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365760" y="1645920"/>
                <a:ext cx="8412480" cy="27432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0F4C8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"How uncertain am I after the correction?"
</a:t>
                </a:r>
                <a:endParaRPr lang="en-US" sz="1400" dirty="0"/>
              </a:p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10B98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(I − K · H)</a:t>
                </a:r>
                <a:r>
                  <a:rPr lang="en-US" sz="13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shrinks the predicted covariance P⁻.
</a:t>
                </a:r>
                <a:endParaRPr lang="en-US" sz="1400" dirty="0"/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If K is large (trust sensor) → shrinks a lot → very confident after update.
</a:t>
                </a:r>
                <a:endParaRPr lang="en-US" sz="1400" dirty="0"/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If K is small (trust prediction) → shrinks little → stays near P⁻.
</a:t>
                </a:r>
                <a:endParaRPr lang="en-US" sz="1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300" b="1" i="1" dirty="0" smtClean="0">
                            <a:solidFill>
                              <a:srgbClr val="10B98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300" b="1" i="1" dirty="0" smtClean="0">
                            <a:solidFill>
                              <a:srgbClr val="10B98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𝑷</m:t>
                        </m:r>
                      </m:e>
                      <m:sub>
                        <m:r>
                          <a:rPr lang="en-US" sz="1300" b="1" i="1" dirty="0" smtClean="0">
                            <a:solidFill>
                              <a:srgbClr val="10B98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1300" b="1" dirty="0">
                    <a:solidFill>
                      <a:srgbClr val="10B98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is ALWAYS smaller than or equal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300" b="1" i="1" dirty="0" smtClean="0">
                            <a:solidFill>
                              <a:srgbClr val="10B98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SupPr>
                      <m:e>
                        <m:r>
                          <a:rPr lang="en-US" sz="1300" b="1" i="1" dirty="0" smtClean="0">
                            <a:solidFill>
                              <a:srgbClr val="10B98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𝑷</m:t>
                        </m:r>
                      </m:e>
                      <m:sub>
                        <m:r>
                          <a:rPr lang="en-US" sz="1300" b="1" i="1" dirty="0" smtClean="0">
                            <a:solidFill>
                              <a:srgbClr val="10B98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𝒌</m:t>
                        </m:r>
                      </m:sub>
                      <m:sup>
                        <m:r>
                          <a:rPr lang="en-US" sz="1300" b="1" i="1" dirty="0" smtClean="0">
                            <a:solidFill>
                              <a:srgbClr val="10B98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1300" b="1" dirty="0">
                    <a:solidFill>
                      <a:srgbClr val="10B98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
</a:t>
                </a:r>
                <a:endParaRPr lang="en-US" sz="1400" dirty="0"/>
              </a:p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10B98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EVERY measurement reduces uncertainty. Always.</a:t>
                </a:r>
                <a:endParaRPr lang="en-US" sz="14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645920"/>
                <a:ext cx="8412480" cy="2743200"/>
              </a:xfrm>
              <a:prstGeom prst="rect">
                <a:avLst/>
              </a:prstGeom>
              <a:blipFill>
                <a:blip r:embed="rId4"/>
                <a:stretch>
                  <a:fillRect l="-217" t="-444" b="-511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Kalman Filter — All 5 Equations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4297680" cy="182880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31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365760" y="1051560"/>
                <a:ext cx="3931920" cy="12801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1.  </a:t>
                </a:r>
                <a14:m>
                  <m:oMath xmlns:m="http://schemas.openxmlformats.org/officeDocument/2006/math"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𝒙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̂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⁻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𝑨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· 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𝒙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̂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+ 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𝑩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· 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𝒖</m:t>
                    </m:r>
                  </m:oMath>
                </a14:m>
                <a:endParaRPr lang="en-US" sz="1500" dirty="0"/>
              </a:p>
              <a:p>
                <a:pPr marL="0" indent="0">
                  <a:buNone/>
                </a:pPr>
                <a:r>
                  <a:rPr lang="en-US" sz="15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2.  </a:t>
                </a:r>
                <a14:m>
                  <m:oMath xmlns:m="http://schemas.openxmlformats.org/officeDocument/2006/math"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𝑷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⁻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𝑨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· 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𝑷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· 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𝑨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ᵀ + </m:t>
                    </m:r>
                    <m:r>
                      <a:rPr lang="en-US" sz="15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𝑸</m:t>
                    </m:r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051560"/>
                <a:ext cx="3931920" cy="1280160"/>
              </a:xfrm>
              <a:prstGeom prst="rect">
                <a:avLst/>
              </a:prstGeom>
              <a:blipFill>
                <a:blip r:embed="rId3"/>
                <a:stretch>
                  <a:fillRect l="-62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4663440" y="685800"/>
            <a:ext cx="4297680" cy="182880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68580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731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846320" y="1051560"/>
                <a:ext cx="3931920" cy="12801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3. 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𝑲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𝑷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⁻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·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ᵀ · (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·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𝑷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⁻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·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ᵀ +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𝑹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⁻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¹</m:t>
                    </m:r>
                  </m:oMath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4.  x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̂ =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𝒙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̂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⁻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+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𝑲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· (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𝒛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−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·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𝒙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̂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⁻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</m:t>
                    </m:r>
                  </m:oMath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5. 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𝑷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(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𝑰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−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𝑲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·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 ·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𝑷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⁻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1051560"/>
                <a:ext cx="3931920" cy="1280160"/>
              </a:xfrm>
              <a:prstGeom prst="rect">
                <a:avLst/>
              </a:prstGeom>
              <a:blipFill>
                <a:blip r:embed="rId4"/>
                <a:stretch>
                  <a:fillRect l="-46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365760" y="26517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5 equations are the ENTIRE Kalman Filter. Repeat predict → update at each timestep.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Q and R — What Happens When You Get It Wrong?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21031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31520"/>
            <a:ext cx="54864" cy="2286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786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too large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078992"/>
            <a:ext cx="1828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trust my motion"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ignored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jumps with each sensor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→ JERKY motion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is too REACTIVE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731520"/>
            <a:ext cx="21031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731520"/>
            <a:ext cx="54864" cy="228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542032" y="786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just right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42032" y="1078992"/>
            <a:ext cx="1828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predictions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corrections are gradual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follows truth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smoothly and accurately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731520"/>
            <a:ext cx="21031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73152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736592" y="786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too large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1078992"/>
            <a:ext cx="1828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trust my sensors"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Corrections are tiny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follows prediction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DRIFTS like pure odometry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is too SLUGGISH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731520"/>
            <a:ext cx="21031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731520"/>
            <a:ext cx="54864" cy="2286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931152" y="786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too small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31152" y="1078992"/>
            <a:ext cx="1828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fully trust my sensors"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Corrections are huge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copies raw sensor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NOISY estimate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is too TRUSTING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3291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 of Kalman filtering: set Q and R to MATCH the actual noise levels of your robot and sensors (from MOD-04!).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MOD-04's sensor datasheets give you the numbers for R. Motion experiments give you Q.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 Assumptions &amp; Limitations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KF works perfectly vs. when it breaks: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8321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Linear motion model (x' = Ax + Bu + w) — works if motion is approximately linear over one timestep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Linear observation model (z = Hx + v) — works for range sensors measuring distance directly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Gaussian noise — works for most well-calibrated sensors 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Nonlinear models (e.g., differential drive kinematics: sin/cos) → need EKF (MOD-06)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Multi-modal beliefs ("I might be in room A OR room B") → need particle filter (MOD-06)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468880"/>
            <a:ext cx="8595360" cy="1888236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514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 in MOD-06: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EKF: linearize nonlinear models using Jacobians → apply KF to real robots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 Filter (MCL): handle multi-modal beliefs using random samples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 Filter: discretize space into grid cells for exact (but expensive) solutions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Localization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what MOD-06 will solve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Flavors of Localization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2834640" cy="267798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31520"/>
            <a:ext cx="54864" cy="2560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786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Tracking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078992"/>
            <a:ext cx="2560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roughly know where I started"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how I move over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Gaussian belief works!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KF / EKF can handle this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MediBot starts at the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 — track from there.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731520"/>
            <a:ext cx="2834640" cy="267798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731520"/>
            <a:ext cx="54864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786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Localization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1078992"/>
            <a:ext cx="2560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have NO idea where I am"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figure it out from scratch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 is multi-modal (many peaks!)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KF CANNOT handle this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Need particle filter or histogram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robot powered 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unknown location.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731519"/>
            <a:ext cx="2834640" cy="267798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731520"/>
            <a:ext cx="54864" cy="2560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786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Kidnapped Robot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1078992"/>
            <a:ext cx="2560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THOUGHT I knew, but I'm wrong"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tracking correctly, then teleported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detect failure AND re-localize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Hardest problem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Need MCL with random particles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someone picks up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moves the robot.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566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MOD-05 gave you the tools. MOD-06 applies them to solve each flavor of localization.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to MOD-06: What You Now Have vs. What Comes Next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228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MOD-05 gave you (TOOLS):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Probability: P(A|B), Bayes theorem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algebra: covariance, eigenvalues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model as p(x'|x,u)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model as p(z|x)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 filter: predict-update algorithm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Filter: 5 equations, tuning Q/R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problem: 3 types defined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2286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 MOD-06 will give you (ALGORITHMS):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EKF: linearize with Jacobians → apply 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real nonlinear robot models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 Filter: discrete grid approach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 Filter / MCL: sample-based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approach for global localization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AMCL: adaptive MCL (used in ROS Nav2)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Compare: which algorithm for which problem?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200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MOD-05 = mathematical foundations. MOD-06 = practical algorithms. Together = complete localization toolkit.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88696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9052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probabilistically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= distribution, not point. μ ± σ, not just μ.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88696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9052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 is the key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posterior = likelihood × prior / evidence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7772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0488" y="88696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9052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grows uncertainty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0488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adds noise Q → ellipse expands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246888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" y="257860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" y="25968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shrinks uncertainty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corrects → ellipse contracts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54680" y="246888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57860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7" name="Text 25"/>
          <p:cNvSpPr/>
          <p:nvPr/>
        </p:nvSpPr>
        <p:spPr>
          <a:xfrm>
            <a:off x="3264408" y="25968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4904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 = 5 equations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64408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+ Gaussian → exact solution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246888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0488" y="257860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2" name="Text 30"/>
          <p:cNvSpPr/>
          <p:nvPr/>
        </p:nvSpPr>
        <p:spPr>
          <a:xfrm>
            <a:off x="6190488" y="25968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12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matters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90488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Q, R must match real noise. Wrong = bad filter.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Thrun, Burgard &amp; Fox (2005). Probabilistic Robotics. MIT Press. Ch. 2–3, 7.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Siegwart, Nourbakhsh &amp; Scaramuzza (2011). Intro Autonomous Mobile Robots. Ch. 5.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F3045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A104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9144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4727</Words>
  <Application>Microsoft Office PowerPoint</Application>
  <PresentationFormat>On-screen Show (16:9)</PresentationFormat>
  <Paragraphs>668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MOD-05: Probabilistic Robotics &amp; State Estimation</dc:title>
  <dc:subject>PptxGenJS Presentation</dc:subject>
  <dc:creator>Dr. Ahmad Abbadi</dc:creator>
  <cp:lastModifiedBy>Ahmad Abbadi</cp:lastModifiedBy>
  <cp:revision>35</cp:revision>
  <dcterms:created xsi:type="dcterms:W3CDTF">2026-03-11T05:30:12Z</dcterms:created>
  <dcterms:modified xsi:type="dcterms:W3CDTF">2026-04-20T12:54:21Z</dcterms:modified>
</cp:coreProperties>
</file>