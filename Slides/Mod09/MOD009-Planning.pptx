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3" r:id="rId48"/>
    <p:sldId id="304" r:id="rId4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049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A4A6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3B276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ROBOTS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MOD-09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Dr. Ahmad Abbadi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Planning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obstacles and a goal — find a safe path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PBL: MediBot Knows Where It Is and What's Around 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987552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 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is localized (MOD-06) at the pharmacy.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(MOD-07) has detected: walls, 2 wheelchairs, 1 cart, and an open door to corridor B.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reach Ward B. The map is known.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MediBot plan a path that avoids all obstacles and reaches the goal?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9796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PLANNING problem: find a collision-free path from start to goal.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209442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09442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26430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planner HAS: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556914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position (from MOD-06 localization)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map (from MOD-07 perception)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position (Ward B entrance)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kinematics (from MOD-03)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209442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209442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226430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planner must PRODUCE: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2556914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sequence of waypoints from start to goal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avoids ALL known obstacles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the robot can physically follow (kinematic feasibility)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adapt if new obstacles appear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vs. Local Planning — Why You Need BOTH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Planner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the OVERALL route on the full map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A*, RRT, Dijkstra (this module)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at 1-5 Hz (slow but complete)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optimal or near-optimal path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see "around corners" on the map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can't react to sudden obstacles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Planner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Reacts to IMMEDIATE surroundings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DWA, TEB (this module)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at 10-20 Hz (fast, reactive)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dynamic obstacles (people, carts)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the global path approximately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can get stuck in dead ends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8595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TOGETHER on the same robot: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73152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3152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path (A*): planned route across entire map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3832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439093" y="3776261"/>
            <a:ext cx="8817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Person!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06240" y="3200400"/>
            <a:ext cx="1336867" cy="864107"/>
          </a:xfrm>
          <a:prstGeom prst="ellipse">
            <a:avLst/>
          </a:prstGeom>
          <a:solidFill>
            <a:srgbClr val="10B981">
              <a:alpha val="20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845599" y="4229100"/>
            <a:ext cx="596486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planner (DWA): deviates around person, returns to global path</a:t>
            </a:r>
            <a:endParaRPr lang="en-US" sz="1200" dirty="0"/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8FAC89C1-0B38-4D7D-997A-D66C5EEDDF91}"/>
              </a:ext>
            </a:extLst>
          </p:cNvPr>
          <p:cNvCxnSpPr>
            <a:cxnSpLocks/>
          </p:cNvCxnSpPr>
          <p:nvPr/>
        </p:nvCxnSpPr>
        <p:spPr>
          <a:xfrm>
            <a:off x="3848986" y="3657600"/>
            <a:ext cx="1180214" cy="457200"/>
          </a:xfrm>
          <a:prstGeom prst="curvedConnector3">
            <a:avLst>
              <a:gd name="adj1" fmla="val 337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CDIO Framework for This Module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10649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structure: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1430664"/>
            <a:ext cx="1325880" cy="5486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144895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C-Space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19072" y="1430664"/>
            <a:ext cx="132588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719072" y="144895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Pot. Fields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63824" y="1430664"/>
            <a:ext cx="132588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3163824" y="144895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08576" y="1430664"/>
            <a:ext cx="132588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608576" y="144895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53328" y="1430664"/>
            <a:ext cx="132588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6053328" y="144895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RRT Family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98080" y="1430664"/>
            <a:ext cx="1325880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0" y="144895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Kinematic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070744"/>
            <a:ext cx="132588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208903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Costmaps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19072" y="2070744"/>
            <a:ext cx="132588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1719072" y="208903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63824" y="2070744"/>
            <a:ext cx="1325880" cy="5486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5" name="Text 33"/>
          <p:cNvSpPr/>
          <p:nvPr/>
        </p:nvSpPr>
        <p:spPr>
          <a:xfrm>
            <a:off x="3163824" y="208903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Splines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08576" y="2070744"/>
            <a:ext cx="132588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4608576" y="208903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53328" y="2070744"/>
            <a:ext cx="132588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9" name="Text 37"/>
          <p:cNvSpPr/>
          <p:nvPr/>
        </p:nvSpPr>
        <p:spPr>
          <a:xfrm>
            <a:off x="6053328" y="208903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98080" y="2070744"/>
            <a:ext cx="1325880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0" y="208903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Space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 the robot to a point by growing obstacles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PBL: Does MediBot Fit Through the Door?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749808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1"/>
            <a:ext cx="8275320" cy="516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 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is 0.4m wide. The doorway to corridor B is 0.9m wide.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map, the path looks clear — but will MediBot actually FIT with safety margin?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to account for the robot's physical size.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796189"/>
            <a:ext cx="8595360" cy="804672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841909"/>
            <a:ext cx="832104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Idea: Grow every obstacle by the robot radius r. Then treat the robot as a POINT.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118058"/>
            <a:ext cx="8321040" cy="380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obstacle boundary + r in all directions = C-space obstacle.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POINT can pass through, the REAL robot can pass through. Planning becomes easier!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710589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710589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765453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(real world):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058061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has physical size (0.4m diameter)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Obstacles have real boundaries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check robot footprint vs. obstacles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Complex: rotations, shapes, clearances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710589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710589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828032" y="276545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C-Space (planning world):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3058061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is a dimensionless POINT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Obstacles grown by robot radius (0.2m)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Doorway: 0.9m → 0.9−0.4 = 0.5m in C-space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Simple: just check if point is in free space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265069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planning algorithms in this module operate in C-space, not workspace.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C-Space for Different Robot DOFs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31520"/>
          <a:ext cx="8778240" cy="13716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Robot 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DOFs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C-Space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 robot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(x, 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2D plane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Easy — same as workspace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Circular mobile robot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(x, 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2D (grow obstacles by 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— what we 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Non-circular robot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(x, y, θ)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 (different shape at each θ)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Rotation matters!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Robot arm (6-DOF)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(θ₁...θ₆)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6D hypercube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= 10¹⁸ cells → RRT needed!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MediBot (circular): C-space = 2D.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StreetBot (rectangular): C-space = 3D (orientation matters).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3108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High-dimensional C-spaces (robot arms, multi-robot) → grids are impossible → sampling-based planners (RRT).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Fields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naive approach — and why it fails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Idea: Attract to Goal, Repel from Obstacles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5992662" cy="127590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164592" y="1165678"/>
                <a:ext cx="2968964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𝑼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𝒕𝒐𝒕𝒂𝒍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sSub>
                        <m:sSubPr>
                          <m:ctrlPr>
                            <a:rPr lang="en-US" sz="1400" b="1" i="1" dirty="0" err="1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err="1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𝑼</m:t>
                          </m:r>
                        </m:e>
                        <m:sub>
                          <m:r>
                            <a:rPr lang="en-US" sz="1400" b="1" i="1" dirty="0" err="1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𝒂𝒕𝒕𝒓𝒂𝒄𝒕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+ </m:t>
                      </m:r>
                      <m:sSub>
                        <m:sSubPr>
                          <m:ctrlPr>
                            <a:rPr lang="en-US" sz="1400" b="1" i="1" dirty="0" err="1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err="1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𝑼</m:t>
                          </m:r>
                        </m:e>
                        <m:sub>
                          <m:r>
                            <a:rPr lang="en-US" sz="1400" b="1" i="1" dirty="0" err="1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𝒓𝒆𝒑𝒆𝒍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𝑼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𝒂𝒕𝒕𝒓𝒂𝒄𝒕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½ ·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𝒂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 </m:t>
                      </m:r>
                      <m:sSubSup>
                        <m:sSubSup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𝒅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𝒈𝒐𝒂𝒍</m:t>
                          </m:r>
                        </m:sub>
                        <m:sup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𝑼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𝒓𝒆𝒑𝒆𝒍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½ ·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𝒓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 </m:t>
                      </m:r>
                      <m:sSup>
                        <m:sSup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b="1" i="1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1" i="1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𝟏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1" i="1" dirty="0" smtClean="0">
                                          <a:solidFill>
                                            <a:srgbClr val="1E3A5F"/>
                                          </a:solidFill>
                                          <a:latin typeface="Cambria Math" panose="02040503050406030204" pitchFamily="18" charset="0"/>
                                          <a:ea typeface="Arial" pitchFamily="34" charset="-122"/>
                                          <a:cs typeface="Arial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 dirty="0" smtClean="0">
                                          <a:solidFill>
                                            <a:srgbClr val="1E3A5F"/>
                                          </a:solidFill>
                                          <a:latin typeface="Cambria Math" panose="02040503050406030204" pitchFamily="18" charset="0"/>
                                          <a:ea typeface="Arial" pitchFamily="34" charset="-122"/>
                                          <a:cs typeface="Arial" pitchFamily="34" charset="-120"/>
                                        </a:rPr>
                                        <m:t>𝒅</m:t>
                                      </m:r>
                                    </m:e>
                                    <m:sub>
                                      <m:r>
                                        <a:rPr lang="en-US" sz="1400" b="1" i="1" dirty="0" smtClean="0">
                                          <a:solidFill>
                                            <a:srgbClr val="1E3A5F"/>
                                          </a:solidFill>
                                          <a:latin typeface="Cambria Math" panose="02040503050406030204" pitchFamily="18" charset="0"/>
                                          <a:ea typeface="Arial" pitchFamily="34" charset="-122"/>
                                          <a:cs typeface="Arial" pitchFamily="34" charset="-120"/>
                                        </a:rPr>
                                        <m:t>𝒐𝒃𝒔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b="1" i="1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1" i="1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𝟏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b="1" i="1" dirty="0" smtClean="0">
                                          <a:solidFill>
                                            <a:srgbClr val="1E3A5F"/>
                                          </a:solidFill>
                                          <a:latin typeface="Cambria Math" panose="02040503050406030204" pitchFamily="18" charset="0"/>
                                          <a:cs typeface="Arial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b="1" i="1" dirty="0">
                                          <a:solidFill>
                                            <a:srgbClr val="1E3A5F"/>
                                          </a:solidFill>
                                          <a:latin typeface="Cambria Math" panose="02040503050406030204" pitchFamily="18" charset="0"/>
                                          <a:ea typeface="Arial" pitchFamily="34" charset="-122"/>
                                          <a:cs typeface="Arial" pitchFamily="34" charset="-120"/>
                                        </a:rPr>
                                        <m:t>𝒅</m:t>
                                      </m:r>
                                    </m:e>
                                    <m:sub>
                                      <m:r>
                                        <a:rPr lang="de-DE" sz="1400" b="1" i="1" dirty="0" smtClean="0">
                                          <a:solidFill>
                                            <a:srgbClr val="1E3A5F"/>
                                          </a:solidFill>
                                          <a:latin typeface="Cambria Math" panose="02040503050406030204" pitchFamily="18" charset="0"/>
                                          <a:cs typeface="Arial" pitchFamily="34" charset="-120"/>
                                        </a:rPr>
                                        <m:t>𝒓𝒐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" y="1165678"/>
                <a:ext cx="2968964" cy="384048"/>
              </a:xfrm>
              <a:prstGeom prst="rect">
                <a:avLst/>
              </a:prstGeom>
              <a:blipFill>
                <a:blip r:embed="rId3"/>
                <a:stretch>
                  <a:fillRect t="-74603" b="-8095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3133556" y="840774"/>
                <a:ext cx="3840480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𝑈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𝑎𝑡𝑡𝑟𝑎𝑐𝑡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pulls robot toward goal (quadratic).</a:t>
                </a:r>
                <a:endParaRPr lang="en-US" sz="12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𝑈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𝑟𝑒𝑝𝑒𝑙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pushes robot away from obstacles.</a:t>
                </a:r>
                <a:endParaRPr lang="en-US" sz="1200" dirty="0"/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Robot follows negative gradient: F = −∇U</a:t>
                </a:r>
                <a:endParaRPr lang="en-US" sz="12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556" y="840774"/>
                <a:ext cx="3840480" cy="475488"/>
              </a:xfrm>
              <a:prstGeom prst="rect">
                <a:avLst/>
              </a:prstGeom>
              <a:blipFill>
                <a:blip r:embed="rId4"/>
                <a:stretch>
                  <a:fillRect t="-2564" b="-474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FACFF51C-250A-4855-B7F3-559CD8EBA828}"/>
              </a:ext>
            </a:extLst>
          </p:cNvPr>
          <p:cNvGrpSpPr/>
          <p:nvPr/>
        </p:nvGrpSpPr>
        <p:grpSpPr>
          <a:xfrm>
            <a:off x="6386622" y="731519"/>
            <a:ext cx="2483057" cy="1275901"/>
            <a:chOff x="4663440" y="731519"/>
            <a:chExt cx="4206240" cy="1275901"/>
          </a:xfrm>
        </p:grpSpPr>
        <p:sp>
          <p:nvSpPr>
            <p:cNvPr id="8" name="Shape 6"/>
            <p:cNvSpPr/>
            <p:nvPr/>
          </p:nvSpPr>
          <p:spPr>
            <a:xfrm>
              <a:off x="4663440" y="731519"/>
              <a:ext cx="4206240" cy="1275901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4663440" y="731520"/>
              <a:ext cx="54864" cy="914400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4828032" y="786384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Advantages: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828032" y="1078992"/>
              <a:ext cx="3931920" cy="5029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Simple, intuitive, real-time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Smooth trajectories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 graph/tree construction needed</a:t>
              </a:r>
              <a:endParaRPr lang="en-US" sz="12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274320" y="2116674"/>
            <a:ext cx="8595360" cy="800887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179262"/>
            <a:ext cx="8321040" cy="268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velocity:  v = −α · ∇U(x)   →   "roll downhill" on the potential surface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2471936"/>
            <a:ext cx="8321040" cy="332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step: compute gradient of total potential → move in opposite direction. Like a ball rolling downhill toward the goal.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013260"/>
            <a:ext cx="8595360" cy="2111951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13261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5898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 FLAW: Local Minima!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58457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U-shaped obstacle: attractive force pulls toward goal, repulsive force pushes away from walls.
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CANCEL in the concavity → robot gets STUCK forever.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 information can tell the robot to go AROUND the obstacle.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We need GLOBAL planning: algorithms that consider the ENTIRE map, not just local gradients.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Next: Dijkstra and A* (graph search on the full map).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Dijkstra's Algorithm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shortest path — guaranteed optimal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Dijkstra: Expand in All Directions Until You Reach the Goal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79"/>
            <a:ext cx="8595360" cy="1523501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5214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(simplified):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Create a priority queue. Add start node with cost = 0.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Pop the node with LOWEST cost from the queue.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If it's the goal → DONE! Trace back the path.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Otherwise: for each neighbor, compute cost. If cheaper than known, update and add to queue.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Repeat from step 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013973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OPTIMAL: always finds the shortest path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COMPLETE: if a path exists, it will find it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SLOW: explores in ALL directions (doesn't know where goal is)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Complexity: O(V log V) with binary heap, where V = number of grid cells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 Pseudocode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5890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DIJKSTRA(start, goal, grid):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0241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cost[start] =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22529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parent[start] = None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4264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openSet = PriorityQueue()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62763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openSet.push(start, priority=0)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openSet is not empty: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02996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= openSet.pop()  // lowest cost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23113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current == goal: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43230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RECONSTRUCT_PATH(parent, goal)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6334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neighbor of current: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8346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neighbor is obstacle: continue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03580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newCost = cost[current] + edgeCost(current, neighbor)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23697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newCost &lt; cost[neighbor]: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343814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cost[neighbor] = newCost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363931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parent[neighbor] = current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84048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openSet.push(neighbor, priority=newCost)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0416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FAILURE  // no path exists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425269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same structure becomes A* with ONE change: the priority function.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Algorithm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 + a smart heuristic = much faster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A*: The Key Idea — Use a Heuristic to Guide Search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19"/>
            <a:ext cx="8595360" cy="1189429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777240"/>
            <a:ext cx="832104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f(n) = g(n) + h(n)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93622"/>
            <a:ext cx="8321040" cy="427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g(n) = actual cost from start to n (same as Dijkstra)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h(n) = ESTIMATED cost from n to goal (the heuristic — NEW!)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f(n) = total estimated cost through n → prioritize nodes with low 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75313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375313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2430177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Dijkstra: priority = g(n) only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722785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far have I come?"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Expands in ALL directions equally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goal eventually but explores too much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flooding water — slow!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5313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375313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2430177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A*: priority = g(n) + h(n)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722785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far have I come + how far to go?"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Prefers nodes that are CLOSER to the goal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 mostly TOWARD the goal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GPS navigation — efficient!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" y="391271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good heuristic, A* explores 5-50× fewer nodes than Dijkstra on typical robot maps.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Heuristics: What Makes a Good h(n)?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Admissible Heuristic (required for optimality)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h(n) must NEVER overestimate true cost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h(n) ≤ actual_cost(n → goal) always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"Optimistic" estimate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admissible: A* is OPTIMAL (finds shortest path)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not: A* may find suboptimal paths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heuristics for grid maps: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Euclidean: h = √((x−gx)²+(y−gy)²)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always admissible (straight line)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Manhattan: h = |x−gx| + |y−gy|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admissible for 4-connected grids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Diagonal: max(|Δx|,|Δy|) + (√2−1)·min(|Δx|,|Δy|)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admissible for 8-connected grids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heuristic = closer to true cost = fewer nodes explored = faster planning.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Pseudocode (One Change from Dijkstra)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3558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A_STAR(start, goal, grid):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0058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g[start] =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f[start] = h(start, goal)  // ← THE ONLY CHANGE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openSet = PriorityQueue()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openSet.push(start, priority=f[start])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openSet is not empty: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= openSet.pop()  // lowest f = g + 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1031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current == goal: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28600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RECONSTRUCT_PATH(parent, goal)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4688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neighbor of current: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6517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neighbor is obstacle: continue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8346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newG = g[current] + edgeCost(current, neighbor)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0175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newG &lt; g[neighbor]: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320040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g[neighbor] = newG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33832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f[neighbor] = newG + h(neighbor, goal)  // ← ADD HEURISTIC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5661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parent[neighbor] = current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3749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openSet.push(neighbor, priority=f[neighbor])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114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TWO lines different from Dijkstra! The heuristic h() is the entire difference.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RRT Family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Sampling-based planning for complex spaces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PBL: 6-DOF Robot Arm — Grid Is Impossible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7315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 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6-DOF robot arm needs to reach into a shelf. C-space is 6-dimensional. A grid with 100 bins per DOF = 100⁶ = 10¹² cells! A* on a trillion-cell grid? Impossible. We need algorithms that DON'T discretize the space.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Sampling-based planners: explore C-space by taking RANDOM samples.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1168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Grid-based (A*, Dijkstra):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35915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Discretize space into cells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Exhaustive: check every cell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Optimal: finds shortest path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in high dimensions (curse of dimensionality)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2D mobile robots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011680"/>
            <a:ext cx="54864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2066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Sampling-based (RRT, PRM):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235915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random samples in C-space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tree/graph incrementally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Probabilistically complete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high dimensions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arms, multi-robot, complex geometry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RRT: Rapidly-Exploring Random Tree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165859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RRT Algorithm: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438912" y="1078991"/>
                <a:ext cx="8321040" cy="1245281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1. Start with tree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𝑇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𝑠𝑡𝑎𝑟𝑡</m:t>
                        </m:r>
                      </m:e>
                    </m:d>
                  </m:oMath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2. Sample a RANDOM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𝑟𝑎𝑛𝑑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in C-space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3. Find the NEAREST node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𝑛𝑒𝑎𝑟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in 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𝑟𝑎𝑛𝑑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4. Extend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𝑛𝑒𝑎𝑟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𝑟𝑎𝑛𝑑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by step size δ →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𝑛𝑒𝑤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5. If the 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𝑛𝑒𝑎𝑟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→ 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is collision-free: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to T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6.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is near the goal: connect and DONE! Otherwise: repeat from 2.</a:t>
                </a:r>
                <a:endParaRPr lang="en-US" sz="120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078991"/>
                <a:ext cx="8321040" cy="1245281"/>
              </a:xfrm>
              <a:prstGeom prst="rect">
                <a:avLst/>
              </a:prstGeom>
              <a:blipFill>
                <a:blip r:embed="rId3"/>
                <a:stretch>
                  <a:fillRect t="-49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301752" y="2571750"/>
            <a:ext cx="8595360" cy="77724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411480" y="2461432"/>
                <a:ext cx="8321040" cy="46238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𝒏𝒆𝒘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sSub>
                        <m:sSubPr>
                          <m:ctrlPr>
                            <a:rPr lang="en-US" sz="1400" b="1" i="1" dirty="0" err="1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err="1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𝒙</m:t>
                          </m:r>
                        </m:e>
                        <m:sub>
                          <m:r>
                            <a:rPr lang="en-US" sz="1400" b="1" i="1" dirty="0" err="1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𝒏𝒆𝒂𝒓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+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𝜹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·</m:t>
                      </m:r>
                      <m:f>
                        <m:f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 dirty="0" err="1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dirty="0" err="1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b="1" i="1" dirty="0" err="1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𝒓𝒂𝒏𝒅</m:t>
                                  </m:r>
                                </m:sub>
                              </m:sSub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1400" b="1" i="1" dirty="0" err="1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dirty="0" err="1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b="1" i="1" dirty="0" err="1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𝒏𝒆𝒂𝒓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 dirty="0" err="1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dirty="0" err="1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b="1" i="1" dirty="0" err="1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𝒓𝒂𝒏𝒅</m:t>
                                  </m:r>
                                </m:sub>
                              </m:sSub>
                              <m: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1400" b="1" i="1" dirty="0" err="1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dirty="0" err="1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b="1" i="1" dirty="0" err="1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𝒏𝒆𝒂𝒓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461432"/>
                <a:ext cx="8321040" cy="462383"/>
              </a:xfrm>
              <a:prstGeom prst="rect">
                <a:avLst/>
              </a:prstGeom>
              <a:blipFill>
                <a:blip r:embed="rId4"/>
                <a:stretch>
                  <a:fillRect b="-78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411480" y="2923816"/>
            <a:ext cx="8321040" cy="332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nearest node TOWARD random sample by fixed step size δ. Check collision along the way.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3587517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Properties: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Probabilistically complete: will find a path if one exists (given enough time)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NOT optimal: path is random, often jagged and suboptimal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bias: random sampling naturally explores unexplored areas (Voronoi bias)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RRT*: Rewiring for Optimality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RRT* adds TWO operations to basic RRT: choose-parent and rewire.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06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Choose-Parent (before adding x_new):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39903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just connect to NEAREST node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ALL nodes within radius 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x_new to the one that gives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LOWEST total cost from start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parent → shorter path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106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Rewire (after adding x_new):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1"/>
              <p:cNvSpPr/>
              <p:nvPr/>
            </p:nvSpPr>
            <p:spPr>
              <a:xfrm>
                <a:off x="4828032" y="1399032"/>
                <a:ext cx="3931920" cy="14173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Check if nearby nodes would benefit from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 routing THROUGH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instead of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 their current parent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If yes: rewire their parent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𝑛𝑒𝑤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Tree continuously improves over time!</a:t>
                </a:r>
                <a:endParaRPr lang="en-US" sz="1200" dirty="0"/>
              </a:p>
            </p:txBody>
          </p:sp>
        </mc:Choice>
        <mc:Fallback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032" y="1399032"/>
                <a:ext cx="3931920" cy="1417320"/>
              </a:xfrm>
              <a:prstGeom prst="rect">
                <a:avLst/>
              </a:prstGeom>
              <a:blipFill>
                <a:blip r:embed="rId3"/>
                <a:stretch>
                  <a:fillRect t="-86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12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RRT* is asymptotically optimal — given enough samples, the path converges to the true shortest path. RRT does not.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RRT-Connect: Bidirectional Growth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TWO trees: one from start, one from goal. Meet in the middle.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064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RRT-Connect Algorithm: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399032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Grow tree A from start toward random sample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Grow tree B from goal toward the NEW node in tree A (greedily!)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If trees connect: path found!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Alternate: next iteration, swap roles (B random, A greedy toward 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faster than single-tree RRT because BOTH ends explore toward each other.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107740"/>
              </p:ext>
            </p:extLst>
          </p:nvPr>
        </p:nvGraphicFramePr>
        <p:xfrm>
          <a:off x="182880" y="2794943"/>
          <a:ext cx="877824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RRT*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RRT-Connect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Optimal?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(asymptotic)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Slower (rewiring)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quality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(jagged)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(converges)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Quick feasibility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matters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solution needed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F2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Kinematic Feasibility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robot actually DRIVE the planned path?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PBL: A* Path Has 90° Turns — MediBot Can't Do That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7315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 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produced a grid path with sharp 90° corners. But MediBot is a diff-drive robot — it can't teleport sideways! It must follow smooth curves respecting its minimum turning radius. The path is mathematically shortest but physically IMPOSSIBLE.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0020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655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Holonomic Robot (omnidirectional)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94767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move in ANY direction instantly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constraints on velocity direction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Omni-wheels, mecanum wheels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grid path IS feasible!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60020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655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Non-Holonomic Robot (diff-drive, car)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94767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move sideways!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constrained: v = f(x, 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respect turning radius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grid path is NOT directly feasible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mobile robots are NON-HOLONOMIC. The planner must respect kinematic constraints.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Non-Holonomic Constraints: The Pfaffian Form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91440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7772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Constraint:  ẋ·sin(θ) − ẏ·cos(θ) = 0     (Pfaffian form: A(q)·q̇ = 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133856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says: the robot's velocity must be aligned with its heading θ. It CANNOT slide sideways.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integrable → non-holonomic → reduces the space of reachable motions.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28799"/>
            <a:ext cx="4114800" cy="180044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2880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883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planning: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438912" y="2176272"/>
                <a:ext cx="3840480" cy="10515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Robot at (x,y,θ) can only move FORWARD/BACK and ROTATE — never sideways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Turning requires a minimum radius: r = v/ω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Path must have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𝑐𝑢𝑟𝑣𝑎𝑡𝑢𝑟𝑒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≤</m:t>
                    </m:r>
                    <m:f>
                      <m:f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fPr>
                      <m:num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sSubPr>
                          <m:e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𝑟</m:t>
                            </m:r>
                          </m:e>
                          <m:sub>
                            <m:func>
                              <m:funcPr>
                                <m:ctrlPr>
                                  <a:rPr lang="en-US" sz="1200" i="1" dirty="0" smtClean="0">
                                    <a:solidFill>
                                      <a:srgbClr val="6B7280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200" i="0" dirty="0" smtClean="0">
                                    <a:solidFill>
                                      <a:srgbClr val="6B7280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min</m:t>
                                </m:r>
                              </m:fName>
                              <m:e/>
                            </m:func>
                          </m:sub>
                        </m:sSub>
                      </m:den>
                    </m:f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everywhere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Sharp corners are IMPOSSIBLE</a:t>
                </a:r>
                <a:endParaRPr lang="en-US" sz="120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2176272"/>
                <a:ext cx="3840480" cy="1051560"/>
              </a:xfrm>
              <a:prstGeom prst="rect">
                <a:avLst/>
              </a:prstGeom>
              <a:blipFill>
                <a:blip r:embed="rId3"/>
                <a:stretch>
                  <a:fillRect t="-578" b="-2659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14"/>
          <p:cNvSpPr/>
          <p:nvPr/>
        </p:nvSpPr>
        <p:spPr>
          <a:xfrm>
            <a:off x="329184" y="373532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Diff-drive, bicycle, car: all non-holonomic. Omni-wheel, mecanum: holonomic.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Kinematic RRT: Planning Feasible Paths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RRT extends in straight lines → infeasible for non-holonomic robots.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Kinematic RRT samples CONTROL INPUTS instead of straight-line extensions.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8595360" cy="1676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54864" cy="1280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4264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Kinematic RRT — Modified Step: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438912" y="1719072"/>
                <a:ext cx="8321040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Standard RRT: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𝑛𝑒𝑤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 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𝑛𝑒𝑎𝑟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+ 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𝛿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· direction  → straight line (may be infeasible)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Kinematic RRT: sample control (v, ω) → simulate forward dynamics for Δt →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𝑛𝑒𝑤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en-US" sz="1200" i="1" dirty="0" smtClean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𝑛𝑒𝑤</m:t>
                          </m:r>
                        </m:sub>
                      </m:sSub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sSub>
                        <m:sSubPr>
                          <m:ctrlPr>
                            <a:rPr lang="en-US" sz="1200" i="1" dirty="0" smtClean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en-US" sz="1200" i="1" dirty="0" smtClean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𝑛𝑒𝑎𝑟</m:t>
                          </m:r>
                        </m:sub>
                      </m:sSub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+ 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𝑣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func>
                        <m:funcPr>
                          <m:ctrlPr>
                            <a:rPr lang="en-US" sz="1200" i="1" dirty="0" smtClean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0" dirty="0" smtClean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dirty="0" smtClean="0">
                                  <a:solidFill>
                                    <a:srgbClr val="6B7280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200" i="1" dirty="0" smtClean="0">
                                  <a:solidFill>
                                    <a:srgbClr val="6B7280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sz="1200" i="0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Δ</m:t>
                      </m:r>
                      <m:r>
                        <a:rPr lang="en-US" sz="1200" i="1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𝑡</m:t>
                      </m:r>
                      <m:r>
                        <a:rPr lang="en-US" sz="1200" i="1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,  </m:t>
                      </m:r>
                    </m:oMath>
                  </m:oMathPara>
                </a14:m>
                <a:endParaRPr lang="de-DE" sz="1200" i="1" dirty="0">
                  <a:solidFill>
                    <a:srgbClr val="6B7280"/>
                  </a:solidFill>
                  <a:latin typeface="Cambria Math" panose="02040503050406030204" pitchFamily="18" charset="0"/>
                  <a:ea typeface="Arial" pitchFamily="34" charset="-122"/>
                  <a:cs typeface="Arial" pitchFamily="34" charset="-120"/>
                </a:endParaRPr>
              </a:p>
              <a:p>
                <a:pP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𝑦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𝑛𝑒𝑤</m:t>
                          </m:r>
                        </m:sub>
                      </m:sSub>
                      <m:r>
                        <a:rPr lang="en-US" sz="1200" i="1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sSub>
                        <m:sSubPr>
                          <m:ctrlPr>
                            <a:rPr lang="en-US" sz="1200" i="1" dirty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𝑦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𝑛𝑒𝑎𝑟</m:t>
                          </m:r>
                        </m:sub>
                      </m:sSub>
                      <m:r>
                        <a:rPr lang="en-US" sz="1200" i="1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+ </m:t>
                      </m:r>
                      <m:r>
                        <a:rPr lang="en-US" sz="1200" i="1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𝑣</m:t>
                      </m:r>
                      <m:r>
                        <a:rPr lang="en-US" sz="1200" i="1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func>
                        <m:funcPr>
                          <m:ctrlPr>
                            <a:rPr lang="en-US" sz="1200" i="1" dirty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0" dirty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dirty="0">
                                  <a:solidFill>
                                    <a:srgbClr val="6B7280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200" i="1" dirty="0">
                                  <a:solidFill>
                                    <a:srgbClr val="6B7280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sz="1200" i="1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sz="1200" i="0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Δ</m:t>
                      </m:r>
                      <m:r>
                        <a:rPr lang="en-US" sz="1200" i="1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𝑡</m:t>
                      </m:r>
                      <m:r>
                        <a:rPr lang="en-US" sz="1200" i="1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,  </m:t>
                      </m:r>
                    </m:oMath>
                  </m:oMathPara>
                </a14:m>
                <a:endParaRPr lang="de-DE" sz="1200" i="1" dirty="0">
                  <a:solidFill>
                    <a:srgbClr val="6B7280"/>
                  </a:solidFill>
                  <a:latin typeface="Cambria Math" panose="02040503050406030204" pitchFamily="18" charset="0"/>
                  <a:ea typeface="Arial" pitchFamily="34" charset="-122"/>
                  <a:cs typeface="Arial" pitchFamily="34" charset="-120"/>
                </a:endParaRPr>
              </a:p>
              <a:p>
                <a:pP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𝜃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𝑛𝑒𝑤</m:t>
                          </m:r>
                        </m:sub>
                      </m:sSub>
                      <m:r>
                        <a:rPr lang="en-US" sz="1200" i="1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sSub>
                        <m:sSubPr>
                          <m:ctrlPr>
                            <a:rPr lang="en-US" sz="1200" i="1" dirty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𝜃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𝑛𝑒𝑎𝑟</m:t>
                          </m:r>
                        </m:sub>
                      </m:sSub>
                      <m:r>
                        <a:rPr lang="en-US" sz="1200" i="1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+ </m:t>
                      </m:r>
                      <m:r>
                        <a:rPr lang="en-US" sz="1200" i="1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𝜔</m:t>
                      </m:r>
                      <m:r>
                        <a:rPr lang="en-US" sz="1200" i="1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sz="1200" i="0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Δ</m:t>
                      </m:r>
                      <m:r>
                        <a:rPr lang="en-US" sz="1200" i="1" dirty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resulting path segments are arcs, not lines → always feasible for the robot!</a:t>
                </a:r>
                <a:endParaRPr lang="en-US" sz="12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719072"/>
                <a:ext cx="8321040" cy="868680"/>
              </a:xfrm>
              <a:prstGeom prst="rect">
                <a:avLst/>
              </a:prstGeom>
              <a:blipFill>
                <a:blip r:embed="rId3"/>
                <a:stretch>
                  <a:fillRect t="-699" b="-4125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365760" y="3302463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approaches to feasible planning: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Plan with kinematics (Kinematic RRT): paths are feasible by construction.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Plan without kinematics (A*) + post-process (cubic splines, Dubins curves): faster but may fail in tight spaces.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Nav2 uses approach 2: A*/NavFn for global path + DWA/TEB controller respects kinematics locally.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Costmaps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binary free/occupied to continuous costs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PBL: Path Clips Wall by 2cm — Legal but Unsafe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749808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 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found a path that passes 2cm from a wall corner. In the binary map (free/occupied), this is technically legal. But in reality, 2cm clearance is DANGEROUS — any localization error and MediBot hits the wall. We need GRADED costs: closer to obstacles = higher cost.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Costmap: every cell has a COST value, not just free/occupied.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182880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82880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8836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Lethal (cost = 254)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217627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an obstacle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WILL collide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MUST avoid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static map + live sensors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182880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82880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319272" y="18836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Inscribed (cost = 253)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9272" y="217627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footprint touches obstacle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certain for this robot size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C-space obstacle boundary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Radius = robot inscribed radius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82880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18836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Inflation (cost = 1–252)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 18"/>
              <p:cNvSpPr/>
              <p:nvPr/>
            </p:nvSpPr>
            <p:spPr>
              <a:xfrm>
                <a:off x="6291072" y="2176272"/>
                <a:ext cx="2560320" cy="14173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Near obstacle but not colliding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Cost decreases with distance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Exponential decay:</a:t>
                </a:r>
              </a:p>
              <a:p>
                <a:pPr>
                  <a:buSzPct val="100000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𝑐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253·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p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𝑒</m:t>
                        </m:r>
                      </m:e>
                      <m:sup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−</m:t>
                        </m:r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𝑘</m:t>
                        </m:r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·</m:t>
                        </m:r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𝑑</m:t>
                        </m:r>
                      </m:sup>
                    </m:sSup>
                  </m:oMath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Planner prefers to stay far away</a:t>
                </a:r>
                <a:endParaRPr lang="en-US" sz="1200" dirty="0"/>
              </a:p>
            </p:txBody>
          </p:sp>
        </mc:Choice>
        <mc:Fallback>
          <p:sp>
            <p:nvSpPr>
              <p:cNvPr id="20" name="Tex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072" y="2176272"/>
                <a:ext cx="2560320" cy="1417320"/>
              </a:xfrm>
              <a:prstGeom prst="rect">
                <a:avLst/>
              </a:prstGeom>
              <a:blipFill>
                <a:blip r:embed="rId3"/>
                <a:stretch>
                  <a:fillRect t="-42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19"/>
          <p:cNvSpPr/>
          <p:nvPr/>
        </p:nvSpPr>
        <p:spPr>
          <a:xfrm>
            <a:off x="365760" y="3840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minimizes TOTAL path cost → naturally keeps distance from obstacles.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Costmap Layers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20116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Static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pre-built map (SLAM output)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Walls, permanent obstacles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once, rarely changes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map_server in Nav2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73152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731520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786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Obstacle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4992" y="1078992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LIVE sensors (LiDAR, camera)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obstacles (people, carts)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at sensor rate (10 Hz)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MOD-07 perception output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73152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731520"/>
            <a:ext cx="54864" cy="2011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786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Inflation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1078992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from lethal cells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cost gradient around obstacles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Configurable: inflation_radius, cost_scaling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planner prefer open space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are STACKED: static + obstacle + inflation = combined costmap used by planners.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separate costmaps in Nav2: global_costmap (full map, for A*) and local_costmap (small window, for DWA).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 — Dynamic Window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planning: react to immediate obstacles in real-time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PBL: Person Steps into the Corridor — React NOW!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723156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 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is following the global A* path when a patient steps into the corridor 2m ahead. The global planner runs at 1 Hz — next replan is 0.8 seconds away. At 0.5 m/s, MediBot will travel 0.4m before replanning. We need a FAST local planner running at 20 Hz.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DWA: search the velocity space for the best (v, ω) to execute RIGHT NOW.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8595360" cy="145311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2880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8836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 Algorithm (simplified):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17627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Generate candidate velocities (v, ω) within the DYNAMIC WINDOW (reachable given acceleration limits)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For each (v, ω): simulate forward trajectory for T seconds using robot kinematics (MOD-03)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Score each trajectory: heading_to_goal × clearance × speed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Select the (v, ω) with HIGHEST score → send to motors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Repeat at 20 Hz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DWA: The Dynamic Window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1318434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457200" y="906760"/>
                <a:ext cx="8321040" cy="30723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Dynamic Window = reachable velocities in one timestep:</a:t>
                </a: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𝒗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∈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𝒄𝒖𝒓</m:t>
                              </m:r>
                            </m:sub>
                          </m:s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𝒂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max</m:t>
                              </m:r>
                            </m:sub>
                          </m:s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·</m:t>
                          </m:r>
                          <m:r>
                            <a:rPr lang="en-US" sz="1400" b="1" i="0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𝚫</m:t>
                          </m:r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𝒕</m:t>
                          </m:r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,  </m:t>
                          </m:r>
                          <m:sSub>
                            <m:sSubPr>
                              <m:ctrlP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𝒄𝒖𝒓</m:t>
                              </m:r>
                            </m:sub>
                          </m:sSub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𝒂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max</m:t>
                              </m:r>
                            </m:sub>
                          </m:sSub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·</m:t>
                          </m:r>
                          <m:r>
                            <a:rPr lang="en-US" sz="1400" b="1" i="0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𝚫</m:t>
                          </m:r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𝝎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∈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𝒄𝒖𝒓</m:t>
                              </m:r>
                            </m:sub>
                          </m:s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𝜶</m:t>
                              </m:r>
                              <m:r>
                                <a:rPr lang="de-DE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max</m:t>
                              </m:r>
                            </m:sub>
                          </m:s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·</m:t>
                          </m:r>
                          <m:r>
                            <a:rPr lang="en-US" sz="1400" b="1" i="0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𝚫</m:t>
                          </m:r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𝒕</m:t>
                          </m:r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,  </m:t>
                          </m:r>
                          <m:sSub>
                            <m:sSubPr>
                              <m:ctrlP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𝒄𝒖𝒓</m:t>
                              </m:r>
                            </m:sub>
                          </m:sSub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𝜶</m:t>
                              </m:r>
                              <m:r>
                                <a:rPr lang="de-DE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max</m:t>
                              </m:r>
                            </m:sub>
                          </m:sSub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·</m:t>
                          </m:r>
                          <m:r>
                            <a:rPr lang="en-US" sz="1400" b="1" i="0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𝚫</m:t>
                          </m:r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06760"/>
                <a:ext cx="8321040" cy="307238"/>
              </a:xfrm>
              <a:prstGeom prst="rect">
                <a:avLst/>
              </a:prstGeom>
              <a:blipFill>
                <a:blip r:embed="rId3"/>
                <a:stretch>
                  <a:fillRect l="-220" t="-74000" b="-62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557784" y="1447932"/>
                <a:ext cx="8321040" cy="38039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Only velocities the robot can PHYSICALLY reach from its current velocity are considered.</a:t>
                </a:r>
                <a:endParaRPr lang="en-US" sz="1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𝑎</m:t>
                        </m:r>
                      </m:e>
                      <m:sub>
                        <m:r>
                          <a:rPr lang="de-DE" sz="1200" b="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𝑚𝑎𝑥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 </m:t>
                    </m:r>
                  </m:oMath>
                </a14:m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max linear acceleration,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𝛼</m:t>
                        </m:r>
                        <m:r>
                          <a:rPr lang="de-DE" sz="1200" b="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max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</m:t>
                    </m:r>
                    <m:func>
                      <m:funcPr>
                        <m:ctrlP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i="0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max</m:t>
                        </m:r>
                      </m:fName>
                      <m:e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F2937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m:t>angular</m:t>
                        </m:r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F2937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F2937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m:t>acceleration</m:t>
                        </m:r>
                      </m:e>
                    </m:func>
                  </m:oMath>
                </a14:m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, Δt = control period.</a:t>
                </a:r>
                <a:endParaRPr lang="en-US" sz="120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4" y="1447932"/>
                <a:ext cx="8321040" cy="380390"/>
              </a:xfrm>
              <a:prstGeom prst="rect">
                <a:avLst/>
              </a:prstGeom>
              <a:blipFill>
                <a:blip r:embed="rId4"/>
                <a:stretch>
                  <a:fillRect l="-73" t="-3226" b="-3225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365760" y="2305137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constrains the search to kinematically feasible motions — DWA naturally respects non-holonomic constraints!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670896"/>
            <a:ext cx="4114800" cy="1603391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670897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7257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function: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38912" y="3018369"/>
                <a:ext cx="3840480" cy="10515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𝑠𝑐𝑜𝑟𝑒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𝛼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h𝑒𝑎𝑑𝑖𝑛𝑔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+ 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𝛽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𝑐𝑙𝑒𝑎𝑟𝑎𝑛𝑐𝑒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+ 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𝛾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𝑣𝑒𝑙𝑜𝑐𝑖𝑡𝑦</m:t>
                      </m:r>
                    </m:oMath>
                  </m:oMathPara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heading: angle to goal (prefer facing goal)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clearance: distance to nearest obstacle (prefer far)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velocity: forward speed (prefer fast)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α, β, γ: tunable weights</a:t>
                </a:r>
                <a:endParaRPr lang="en-US" sz="1200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3018369"/>
                <a:ext cx="3840480" cy="1051560"/>
              </a:xfrm>
              <a:prstGeom prst="rect">
                <a:avLst/>
              </a:prstGeom>
              <a:blipFill>
                <a:blip r:embed="rId5"/>
                <a:stretch>
                  <a:fillRect b="-1676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4663440" y="2670897"/>
            <a:ext cx="4206240" cy="160339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670897"/>
            <a:ext cx="54864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272576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simulation: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4828032" y="3018369"/>
                <a:ext cx="3931920" cy="10515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 each candidate (v, ω):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 Simulate using diff-drive model (MOD-03):</a:t>
                </a:r>
                <a:endParaRPr lang="en-US" sz="1200" dirty="0"/>
              </a:p>
              <a:p>
                <a:pP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𝑥</m:t>
                      </m:r>
                      <m:d>
                        <m:dPr>
                          <m:ctrlPr>
                            <a:rPr lang="en-US" sz="1200" i="1" dirty="0" smtClean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dPr>
                        <m:e>
                          <m:r>
                            <a:rPr lang="en-US" sz="1200" i="1" dirty="0" smtClean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𝑡</m:t>
                          </m:r>
                        </m:e>
                      </m:d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𝑥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+ 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𝑣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func>
                        <m:funcPr>
                          <m:ctrlPr>
                            <a:rPr lang="en-US" sz="1200" i="1" dirty="0" smtClean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0" dirty="0" smtClean="0">
                              <a:solidFill>
                                <a:srgbClr val="6B7280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dirty="0" smtClean="0">
                                  <a:solidFill>
                                    <a:srgbClr val="6B7280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200" i="1" dirty="0" smtClean="0">
                                  <a:solidFill>
                                    <a:srgbClr val="6B7280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𝑡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,  </m:t>
                      </m:r>
                    </m:oMath>
                  </m:oMathPara>
                </a14:m>
                <a:endParaRPr lang="de-DE" sz="1200" i="1" dirty="0">
                  <a:solidFill>
                    <a:srgbClr val="6B7280"/>
                  </a:solidFill>
                  <a:latin typeface="Cambria Math" panose="02040503050406030204" pitchFamily="18" charset="0"/>
                  <a:ea typeface="Arial" pitchFamily="34" charset="-122"/>
                  <a:cs typeface="Arial" pitchFamily="34" charset="-120"/>
                </a:endParaRPr>
              </a:p>
              <a:p>
                <a:pP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𝑦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(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𝑡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 = 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𝑦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+ 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𝑣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sin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⁡(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𝜃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)·</m:t>
                      </m:r>
                      <m:r>
                        <a:rPr lang="en-US" sz="1200" i="1" dirty="0" smtClean="0">
                          <a:solidFill>
                            <a:srgbClr val="6B728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𝑡</m:t>
                      </m:r>
                    </m:oMath>
                  </m:oMathPara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 Check trajectory against LOCAL costmap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 If any point in trajectory hits obstacle: discard</a:t>
                </a:r>
                <a:endParaRPr lang="en-US" sz="1200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032" y="3018369"/>
                <a:ext cx="3931920" cy="1051560"/>
              </a:xfrm>
              <a:prstGeom prst="rect">
                <a:avLst/>
              </a:prstGeom>
              <a:blipFill>
                <a:blip r:embed="rId6"/>
                <a:stretch>
                  <a:fillRect t="-578" b="-1676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DWA: Strengths &amp; Limitations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DWA Strengths: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Fast: runs at 20 Hz (real-time)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Naturally respects kinematics (dynamic window)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dynamic obstacles (re-evaluates each cycle)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implement and tune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local planner in Nav2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DWA Limitations: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horizon (only looks 1-2 seconds ahead)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get stuck in local minima (U-shapes)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needs global planner to guide 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Oscillation: may switch between (v,ω) rapidly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Tuning: α, β, γ require careful calibration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 is the LOCAL planner. A*/RRT is the GLOBAL planner. Together: global finds the route, local navigates safely.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Smoothing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jagged grid paths to smooth, feasible trajectories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Cubic Spline Smoothing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713232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 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produces waypoints on a grid: sharp corners, straight segments. MediBot's diff-drive needs SMOOTH curves with bounded curvature. Cubic splines interpolate through waypoints with continuous first and second derivatives.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33920"/>
            <a:ext cx="8595360" cy="103783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411480" y="1508760"/>
                <a:ext cx="8321040" cy="30723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Cubic spline between waypoints: 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𝑺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𝒕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 =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𝒂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+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𝒃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·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𝒕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+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𝒄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·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𝒕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² +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𝒅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·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𝒕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³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508760"/>
                <a:ext cx="8321040" cy="307238"/>
              </a:xfrm>
              <a:prstGeom prst="rect">
                <a:avLst/>
              </a:prstGeom>
              <a:blipFill>
                <a:blip r:embed="rId3"/>
                <a:stretch>
                  <a:fillRect l="-220" t="-4000" b="-20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411480" y="1784908"/>
            <a:ext cx="8321040" cy="786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coefficients per segment.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conditions</a:t>
            </a: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positions match at waypoints, first and second derivatives continuous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smooth C² curve (continuous position, velocity, and acceleration).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838179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838179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893043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smoothing (A* output):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185651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 90° and 45° turns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Grid-aligned segments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 curvature at corners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would need to STOP and rotate at each turn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8179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838179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828032" y="289304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smoothing (cubic spline):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3185651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curves through waypoints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curvature everywhere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can follow at constant speed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Curvature ≤ 1/r_min enforced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314689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Nav2: the Smac planner produces smooth paths directly. Alternatively: plan with A* then smooth post-process.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J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path actually safe?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Collision Checking Matters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planner must verify: "Does this path/trajectory collide with any obstacle?"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06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A* / Grid planners: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39903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each cell: is it in C-space obstacle?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lookup: costmap(x,y) &lt; threshold?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fast: O(1) per cell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 grid resolution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54864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106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RRT / Sampling planners: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1"/>
              <p:cNvSpPr/>
              <p:nvPr/>
            </p:nvSpPr>
            <p:spPr>
              <a:xfrm>
                <a:off x="4828032" y="1399032"/>
                <a:ext cx="3931920" cy="10515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Check each path SEGMENT: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𝑛𝑒𝑎𝑟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→ 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𝑛𝑒𝑤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Sample points along segment at small intervals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Check each point against obstacle map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Critical: RRT generates random paths that could</a:t>
                </a:r>
                <a:r>
                  <a:rPr lang="en-US" sz="1200" dirty="0"/>
                  <a:t> </a:t>
                </a: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pass through narrow gaps or obstacles</a:t>
                </a:r>
                <a:endParaRPr lang="en-US" sz="1200" dirty="0"/>
              </a:p>
            </p:txBody>
          </p:sp>
        </mc:Choice>
        <mc:Fallback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032" y="1399032"/>
                <a:ext cx="3931920" cy="1051560"/>
              </a:xfrm>
              <a:prstGeom prst="rect">
                <a:avLst/>
              </a:prstGeom>
              <a:blipFill>
                <a:blip r:embed="rId3"/>
                <a:stretch>
                  <a:fillRect t="-116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12"/>
          <p:cNvSpPr/>
          <p:nvPr/>
        </p:nvSpPr>
        <p:spPr>
          <a:xfrm>
            <a:off x="365760" y="2743199"/>
            <a:ext cx="8412480" cy="1119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methods: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Point-in-polygon (is point inside obstacle?),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Line-segment intersection (does path cross obstacle boundary?),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Swept volume (does robot body sweep through obstacle along path?).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costmaps: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check costmap cell value at each point.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Nav2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ROS 2 navigation stack — wiring everything together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Nav2: The Full Picture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Nav2 is the standard navigation framework in ROS 2.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188720"/>
            <a:ext cx="3657600" cy="640080"/>
          </a:xfrm>
          <a:prstGeom prst="rect">
            <a:avLst/>
          </a:prstGeom>
          <a:solidFill>
            <a:srgbClr val="1E3A5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207008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Tree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(BT Navigator)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2560320" cy="640080"/>
          </a:xfrm>
          <a:prstGeom prst="rect">
            <a:avLst/>
          </a:prstGeom>
          <a:solidFill>
            <a:srgbClr val="3B82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12140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Server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(Global: A*, NavFn, Smac)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560320" cy="64008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12140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Server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(Local: DWA, TEB, RPP)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2560320" cy="640080"/>
          </a:xfrm>
          <a:prstGeom prst="rect">
            <a:avLst/>
          </a:prstGeom>
          <a:solidFill>
            <a:srgbClr val="F9731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12140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Server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(Spin, BackUp, Wait)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2560320" cy="54864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03580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Costmap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3017520"/>
            <a:ext cx="2560320" cy="54864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303580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Costmap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017520"/>
            <a:ext cx="1188720" cy="548640"/>
          </a:xfrm>
          <a:prstGeom prst="rect">
            <a:avLst/>
          </a:prstGeom>
          <a:solidFill>
            <a:srgbClr val="6B728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303580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Server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3017520"/>
            <a:ext cx="1188720" cy="548640"/>
          </a:xfrm>
          <a:prstGeom prst="rect">
            <a:avLst/>
          </a:prstGeom>
          <a:solidFill>
            <a:srgbClr val="8B5C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303580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BT Navigator ORCHESTRATES everything. It decides: plan → follow → stuck? → recover → replan.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023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server is a lifecycle node: can be configured, activated, deactivated independently.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FAD425-5C1B-41CF-8F31-99370D0CE0AC}"/>
              </a:ext>
            </a:extLst>
          </p:cNvPr>
          <p:cNvSpPr txBox="1"/>
          <p:nvPr/>
        </p:nvSpPr>
        <p:spPr>
          <a:xfrm>
            <a:off x="274320" y="4681133"/>
            <a:ext cx="733859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 err="1"/>
              <a:t>Smac</a:t>
            </a:r>
            <a:r>
              <a:rPr lang="en-US" sz="1050" dirty="0"/>
              <a:t>: Search-based Motion Aware Control.</a:t>
            </a:r>
          </a:p>
          <a:p>
            <a:r>
              <a:rPr lang="en-US" sz="1050" dirty="0"/>
              <a:t>DWA: Dynamic Window Approach ;TEB: Timed Elastic Band; RPP: Regulated Pure Pursuit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Trees: The Brain of Nav2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Behavior Tree (BT) decides WHAT to do at each moment. Like a flowchart but more flexible.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051559"/>
            <a:ext cx="2834640" cy="2591863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5156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1064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Node (→)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39903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children LEFT to RIGHT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one FAILS: stop, report failure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all SUCCEED: report success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Plan → Follow → Done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Plan fails: don't try to Follow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834640" cy="259186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5156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1064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Node (?)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9272" y="139903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children LEFT to RIGHT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one SUCCEEDS: stop, report success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all FAIL: report failure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Follow → Spin → BackUp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Follow works: great. If not: try Spin.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834640" cy="259186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5156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11064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Nodes (leaves)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139903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ComputePathToPose → call planner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FollowPath → call controller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 → recovery: rotate in place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→ recovery: drive backward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→ recovery: pause and retry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ClearCostmap → reset obstacle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" y="4180545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Nav2's default BT: NavigateToPose → Sequence[ComputePath, FollowPath] with Fallback[Spin, BackUp, Wait] recovery.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Nav2 Planner &amp; Controller Options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029614"/>
              </p:ext>
            </p:extLst>
          </p:nvPr>
        </p:nvGraphicFramePr>
        <p:xfrm>
          <a:off x="182880" y="731520"/>
          <a:ext cx="8778240" cy="2377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Options in Nav2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Planner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NavFn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A* / Dijkstra on costmap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2D navigation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SmacPlanner2D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A* with Smac optimizations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maps, faster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SmacPlannerHybrid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A* (kinematic-aware)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Car-like robots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SmacPlannerLattice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Precomputed feasible movements (kinematic-aware)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cars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3440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Controller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 Window Approach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Diff-drive robots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Timed Elastic Band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Smooth, time-optimal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Regulated Pure Pursuit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Simple, robust tracking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474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MediBot (diff-drive, hospital): what is the best planner?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38587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planner+controller combination based on your robot type. Configure via Nav2 YAML parameters.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Environments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Replanning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world changes — adapt or fail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PBL: Spill Blocks Corridor C — Original Path Is Dead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7315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 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planned a path through corridor C. Halfway there, a cleaning crew blocks corridor C with a wet floor sign and mop bucket. The global path is now blocked. MediBot must DETECT the blockage, REPLAN through corridor D, and CONTINUE without human intervention.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REPLANNING: the ability to adapt when the environment changes.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4114800" cy="158531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6596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020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triggers replanning?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31343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 controller reports: path blocked (can't follow)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Costmap updated: new obstacle on global path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fails: no local deviation possible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failed: spin/backup didn't help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changed: new destination requested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965960"/>
            <a:ext cx="4206240" cy="158531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96596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2020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Nav2 handles this automatically: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231343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 detects FollowPath failure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recovery: Spin, BackUp, ClearCostmap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recovery succeeds: re-attempt FollowPath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recovery fails: BT requests NEW global plan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plan computed on UPDATED costmap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Sense-Plan-Act-Replan Cycle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286000" cy="1097280"/>
          </a:xfrm>
          <a:prstGeom prst="rect">
            <a:avLst/>
          </a:prstGeom>
          <a:solidFill>
            <a:srgbClr val="3B82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(perception updates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costmap)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286000" cy="1097280"/>
          </a:xfrm>
          <a:prstGeom prst="rect">
            <a:avLst/>
          </a:prstGeom>
          <a:solidFill>
            <a:srgbClr val="8B5C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430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(global path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costmap)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43600" y="1097280"/>
            <a:ext cx="2286000" cy="109728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11430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(DWA follows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locally)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7772400" cy="45720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5146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REPLAN: if ACT fails (obstacle blocks path) → return to SENSE → update costmap → new PLAN → retry 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1089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cycle runs CONTINUOUSLY at different rates:
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SENSE: 10-30 Hz (sensor rate → costmap update rate)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PLAN: 1-5 Hz (global replanning rate, or on-demand when path blocked)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ACT: 10-20 Hz (DWA local controller rate)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rates → different response times. DWA avoids people instantly. Global replan avoids blocked corridors.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Costmap: Remembering and Forgetting Obstacles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should the costmap remember a dynamic obstacle after the sensor stops seeing it?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06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forget (infinite persistence):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39903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stays in costmap forever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person walks away, but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costmap still shows them there!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avoids empty space → inefficient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becomes cluttered with ghosts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106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clearing (configured decay):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39903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fades from costmap after T seconds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Nav2: observation_persistence parameter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Typical: 2-5 seconds for dynamic obstacles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re-observes → obstacle refreshed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seen again → obstacle disappears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Nav2 costmap parameters for dynamic environments: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observation_persistence: how long to keep obstacle after last observation (seconds)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raytrace_range: how far sensor can clear (mark free) behind detected obstacles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obstacle_range: how far sensor can mark new obstacles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connect directly to MOD-04 sensor models: range, FoV, reliability determine costmap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88696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9052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C-space simplifies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obstacles by robot radius → robot becomes a point.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88696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9052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 = gold standard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 + heuristic = fast, optimal global planning.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7772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0488" y="88696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9052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RRT for complex spaces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0488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Sampling-based: handles high-DOF, non-holonomic.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246888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" y="257860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" y="25968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Costmaps add safety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layers: static + obstacle + inflation. Graded costs.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54680" y="246888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57860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7" name="Text 25"/>
          <p:cNvSpPr/>
          <p:nvPr/>
        </p:nvSpPr>
        <p:spPr>
          <a:xfrm>
            <a:off x="3264408" y="25968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4904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 reacts locally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64408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space search at 20 Hz. Avoids dynamic obstacles.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246888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0488" y="257860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2" name="Text 30"/>
          <p:cNvSpPr/>
          <p:nvPr/>
        </p:nvSpPr>
        <p:spPr>
          <a:xfrm>
            <a:off x="6190488" y="25968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Nav2 wires it all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90488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 + planner + controller + costmap + recovery.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LaValle, S. (2006). Planning Algorithms. Cambridge University Press. Ch. 5, 14.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Hart, Nilsson &amp; Raphael (1968). A* algorithm. IEEE Trans. SSC.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LaValle &amp; Kuffner (2001). Rapidly-Exploring Random Trees. IJRR.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Karaman &amp; Frazzoli (2011). Sampling-based Optimal Motion Planning (RRT*). IJRR.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Fox, Burgard &amp; Thrun (1997). The Dynamic Window Approach. IEEE RAM.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Khatib, O. (1986). Real-Time Obstacle Avoidance. IJRR.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Lu &amp; Smart (2013). NavFn: A Global Planner for ROS. github.com/ros-navigation.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Nav2 documentation: docs.nav2.org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Macenski et al. (2023). Nav2: The ROS 2 Navigation Framework. JOSS.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MOD-09 — Mapping &amp; SLAM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F3045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104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9144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5074</Words>
  <Application>Microsoft Office PowerPoint</Application>
  <PresentationFormat>On-screen Show (16:9)</PresentationFormat>
  <Paragraphs>698</Paragraphs>
  <Slides>48</Slides>
  <Notes>48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MOD-08: Planning &amp; Navigation</dc:title>
  <dc:subject>PptxGenJS Presentation</dc:subject>
  <dc:creator>Dr. Ahmad Abbadi</dc:creator>
  <cp:lastModifiedBy>Ahmad Abbadi</cp:lastModifiedBy>
  <cp:revision>39</cp:revision>
  <dcterms:created xsi:type="dcterms:W3CDTF">2026-03-17T14:11:02Z</dcterms:created>
  <dcterms:modified xsi:type="dcterms:W3CDTF">2026-06-10T08:26:59Z</dcterms:modified>
</cp:coreProperties>
</file>