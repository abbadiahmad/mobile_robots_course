
<file path=[Content_Types].xml><?xml version="1.0" encoding="utf-8"?>
<Types xmlns="http://schemas.openxmlformats.org/package/2006/content-types">
  <Default Extension="gif" ContentType="image/gif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61"/>
  </p:notesMasterIdLst>
  <p:sldIdLst>
    <p:sldId id="256" r:id="rId2"/>
    <p:sldId id="277" r:id="rId3"/>
    <p:sldId id="292" r:id="rId4"/>
    <p:sldId id="280" r:id="rId5"/>
    <p:sldId id="293" r:id="rId6"/>
    <p:sldId id="291" r:id="rId7"/>
    <p:sldId id="295" r:id="rId8"/>
    <p:sldId id="294" r:id="rId9"/>
    <p:sldId id="296" r:id="rId10"/>
    <p:sldId id="297" r:id="rId11"/>
    <p:sldId id="309" r:id="rId12"/>
    <p:sldId id="298" r:id="rId13"/>
    <p:sldId id="301" r:id="rId14"/>
    <p:sldId id="299" r:id="rId15"/>
    <p:sldId id="307" r:id="rId16"/>
    <p:sldId id="308" r:id="rId17"/>
    <p:sldId id="300" r:id="rId18"/>
    <p:sldId id="302" r:id="rId19"/>
    <p:sldId id="303" r:id="rId20"/>
    <p:sldId id="304" r:id="rId21"/>
    <p:sldId id="306" r:id="rId22"/>
    <p:sldId id="305" r:id="rId23"/>
    <p:sldId id="283" r:id="rId24"/>
    <p:sldId id="310" r:id="rId25"/>
    <p:sldId id="313" r:id="rId26"/>
    <p:sldId id="312" r:id="rId27"/>
    <p:sldId id="311" r:id="rId28"/>
    <p:sldId id="315" r:id="rId29"/>
    <p:sldId id="316" r:id="rId30"/>
    <p:sldId id="322" r:id="rId31"/>
    <p:sldId id="320" r:id="rId32"/>
    <p:sldId id="319" r:id="rId33"/>
    <p:sldId id="318" r:id="rId34"/>
    <p:sldId id="287" r:id="rId35"/>
    <p:sldId id="323" r:id="rId36"/>
    <p:sldId id="284" r:id="rId37"/>
    <p:sldId id="346" r:id="rId38"/>
    <p:sldId id="286" r:id="rId39"/>
    <p:sldId id="328" r:id="rId40"/>
    <p:sldId id="329" r:id="rId41"/>
    <p:sldId id="330" r:id="rId42"/>
    <p:sldId id="331" r:id="rId43"/>
    <p:sldId id="332" r:id="rId44"/>
    <p:sldId id="324" r:id="rId45"/>
    <p:sldId id="325" r:id="rId46"/>
    <p:sldId id="334" r:id="rId47"/>
    <p:sldId id="343" r:id="rId48"/>
    <p:sldId id="326" r:id="rId49"/>
    <p:sldId id="337" r:id="rId50"/>
    <p:sldId id="327" r:id="rId51"/>
    <p:sldId id="338" r:id="rId52"/>
    <p:sldId id="339" r:id="rId53"/>
    <p:sldId id="340" r:id="rId54"/>
    <p:sldId id="341" r:id="rId55"/>
    <p:sldId id="344" r:id="rId56"/>
    <p:sldId id="345" r:id="rId57"/>
    <p:sldId id="333" r:id="rId58"/>
    <p:sldId id="290" r:id="rId59"/>
    <p:sldId id="278" r:id="rId6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C8CBB36-18E1-48AA-92FA-2B96311379CC}">
          <p14:sldIdLst>
            <p14:sldId id="256"/>
            <p14:sldId id="277"/>
            <p14:sldId id="292"/>
            <p14:sldId id="280"/>
            <p14:sldId id="293"/>
            <p14:sldId id="291"/>
            <p14:sldId id="295"/>
            <p14:sldId id="294"/>
            <p14:sldId id="296"/>
            <p14:sldId id="297"/>
            <p14:sldId id="309"/>
            <p14:sldId id="298"/>
            <p14:sldId id="301"/>
            <p14:sldId id="299"/>
            <p14:sldId id="307"/>
            <p14:sldId id="308"/>
            <p14:sldId id="300"/>
            <p14:sldId id="302"/>
            <p14:sldId id="303"/>
            <p14:sldId id="304"/>
            <p14:sldId id="306"/>
            <p14:sldId id="305"/>
            <p14:sldId id="283"/>
            <p14:sldId id="310"/>
            <p14:sldId id="313"/>
            <p14:sldId id="312"/>
            <p14:sldId id="311"/>
            <p14:sldId id="315"/>
            <p14:sldId id="316"/>
            <p14:sldId id="322"/>
            <p14:sldId id="320"/>
            <p14:sldId id="319"/>
            <p14:sldId id="318"/>
            <p14:sldId id="287"/>
            <p14:sldId id="323"/>
            <p14:sldId id="284"/>
            <p14:sldId id="346"/>
            <p14:sldId id="286"/>
            <p14:sldId id="328"/>
            <p14:sldId id="329"/>
            <p14:sldId id="330"/>
            <p14:sldId id="331"/>
            <p14:sldId id="332"/>
            <p14:sldId id="324"/>
            <p14:sldId id="325"/>
            <p14:sldId id="334"/>
            <p14:sldId id="343"/>
            <p14:sldId id="326"/>
            <p14:sldId id="337"/>
            <p14:sldId id="327"/>
            <p14:sldId id="338"/>
            <p14:sldId id="339"/>
            <p14:sldId id="340"/>
            <p14:sldId id="341"/>
            <p14:sldId id="344"/>
            <p14:sldId id="345"/>
            <p14:sldId id="333"/>
            <p14:sldId id="290"/>
            <p14:sldId id="278"/>
          </p14:sldIdLst>
        </p14:section>
        <p14:section name="Archive" id="{7CB32F54-8726-4B93-8058-66F37DFC0B9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9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7405" autoAdjust="0"/>
  </p:normalViewPr>
  <p:slideViewPr>
    <p:cSldViewPr snapToGrid="0" snapToObjects="1">
      <p:cViewPr varScale="1">
        <p:scale>
          <a:sx n="93" d="100"/>
          <a:sy n="93" d="100"/>
        </p:scale>
        <p:origin x="1090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 Abbadi" userId="c3f6ef8ec7554d92" providerId="LiveId" clId="{909A8593-8EFD-422D-9313-D88731AF288A}"/>
    <pc:docChg chg="undo custSel addSld delSld modSld sldOrd">
      <pc:chgData name="Ahmad Abbadi" userId="c3f6ef8ec7554d92" providerId="LiveId" clId="{909A8593-8EFD-422D-9313-D88731AF288A}" dt="2026-02-23T18:17:43.209" v="237" actId="1076"/>
      <pc:docMkLst>
        <pc:docMk/>
      </pc:docMkLst>
      <pc:sldChg chg="delSp mod">
        <pc:chgData name="Ahmad Abbadi" userId="c3f6ef8ec7554d92" providerId="LiveId" clId="{909A8593-8EFD-422D-9313-D88731AF288A}" dt="2026-02-21T11:46:41.220" v="9" actId="478"/>
        <pc:sldMkLst>
          <pc:docMk/>
          <pc:sldMk cId="0" sldId="256"/>
        </pc:sldMkLst>
        <pc:spChg chg="del">
          <ac:chgData name="Ahmad Abbadi" userId="c3f6ef8ec7554d92" providerId="LiveId" clId="{909A8593-8EFD-422D-9313-D88731AF288A}" dt="2026-02-20T11:30:15.455" v="1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06.620" v="0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20.968" v="2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8" creationId="{00000000-0000-0000-0000-000000000000}"/>
          </ac:spMkLst>
        </pc:spChg>
      </pc:sldChg>
      <pc:sldChg chg="addSp delSp modSp del mod">
        <pc:chgData name="Ahmad Abbadi" userId="c3f6ef8ec7554d92" providerId="LiveId" clId="{909A8593-8EFD-422D-9313-D88731AF288A}" dt="2026-02-21T12:20:14.238" v="12" actId="47"/>
        <pc:sldMkLst>
          <pc:docMk/>
          <pc:sldMk cId="0" sldId="257"/>
        </pc:sldMkLst>
        <pc:spChg chg="mod">
          <ac:chgData name="Ahmad Abbadi" userId="c3f6ef8ec7554d92" providerId="LiveId" clId="{909A8593-8EFD-422D-9313-D88731AF288A}" dt="2026-02-20T11:32:06.796" v="8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0T11:31:58.117" v="7" actId="6549"/>
          <ac:spMkLst>
            <pc:docMk/>
            <pc:sldMk cId="0" sldId="257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12:42.268" v="11" actId="6549"/>
          <ac:spMkLst>
            <pc:docMk/>
            <pc:sldMk cId="0" sldId="257"/>
            <ac:spMk id="5" creationId="{00000000-0000-0000-0000-000000000000}"/>
          </ac:spMkLst>
        </pc:spChg>
        <pc:spChg chg="add del">
          <ac:chgData name="Ahmad Abbadi" userId="c3f6ef8ec7554d92" providerId="LiveId" clId="{909A8593-8EFD-422D-9313-D88731AF288A}" dt="2026-02-20T11:31:46.237" v="4" actId="47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Ahmad Abbadi" userId="c3f6ef8ec7554d92" providerId="LiveId" clId="{909A8593-8EFD-422D-9313-D88731AF288A}" dt="2026-02-20T11:31:53.175" v="6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1T11:47:00.799" v="10" actId="1076"/>
          <ac:spMkLst>
            <pc:docMk/>
            <pc:sldMk cId="0" sldId="257"/>
            <ac:spMk id="9" creationId="{00000000-0000-0000-0000-000000000000}"/>
          </ac:spMkLst>
        </pc:spChg>
      </pc:sldChg>
      <pc:sldChg chg="delSp modSp mod modNotesTx">
        <pc:chgData name="Ahmad Abbadi" userId="c3f6ef8ec7554d92" providerId="LiveId" clId="{909A8593-8EFD-422D-9313-D88731AF288A}" dt="2026-02-22T11:21:01.578" v="187" actId="14100"/>
        <pc:sldMkLst>
          <pc:docMk/>
          <pc:sldMk cId="0" sldId="258"/>
        </pc:sldMkLst>
        <pc:spChg chg="mod">
          <ac:chgData name="Ahmad Abbadi" userId="c3f6ef8ec7554d92" providerId="LiveId" clId="{909A8593-8EFD-422D-9313-D88731AF288A}" dt="2026-02-21T12:20:51.974" v="16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46.548" v="15" actId="6549"/>
          <ac:spMkLst>
            <pc:docMk/>
            <pc:sldMk cId="0" sldId="258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38.089" v="13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17.240" v="177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01.578" v="187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51.443" v="186" actId="403"/>
          <ac:spMkLst>
            <pc:docMk/>
            <pc:sldMk cId="0" sldId="258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11.010" v="176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0:42.519" v="14" actId="478"/>
          <ac:spMkLst>
            <pc:docMk/>
            <pc:sldMk cId="0" sldId="258"/>
            <ac:spMk id="15" creationId="{00000000-0000-0000-0000-000000000000}"/>
          </ac:spMkLst>
        </pc:spChg>
      </pc:sldChg>
      <pc:sldChg chg="addSp delSp modSp mod modNotesTx">
        <pc:chgData name="Ahmad Abbadi" userId="c3f6ef8ec7554d92" providerId="LiveId" clId="{909A8593-8EFD-422D-9313-D88731AF288A}" dt="2026-02-22T11:30:34.569" v="228" actId="20577"/>
        <pc:sldMkLst>
          <pc:docMk/>
          <pc:sldMk cId="0" sldId="259"/>
        </pc:sldMkLst>
        <pc:spChg chg="del">
          <ac:chgData name="Ahmad Abbadi" userId="c3f6ef8ec7554d92" providerId="LiveId" clId="{909A8593-8EFD-422D-9313-D88731AF288A}" dt="2026-02-21T12:24:48.247" v="167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4:51.981" v="168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5:03.346" v="170" actId="113"/>
          <ac:spMkLst>
            <pc:docMk/>
            <pc:sldMk cId="0" sldId="259"/>
            <ac:spMk id="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34.569" v="228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21.522" v="211" actId="478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4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38.330" v="212" actId="478"/>
          <ac:spMkLst>
            <pc:docMk/>
            <pc:sldMk cId="0" sldId="259"/>
            <ac:spMk id="3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6.867" v="217" actId="107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8.080" v="219" actId="1076"/>
          <ac:spMkLst>
            <pc:docMk/>
            <pc:sldMk cId="0" sldId="259"/>
            <ac:spMk id="37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1T12:24:52.725" v="169"/>
          <ac:spMkLst>
            <pc:docMk/>
            <pc:sldMk cId="0" sldId="259"/>
            <ac:spMk id="39" creationId="{91F4A016-7261-4C57-98F5-45E0DEE2274D}"/>
          </ac:spMkLst>
        </pc:spChg>
        <pc:grpChg chg="add mod">
          <ac:chgData name="Ahmad Abbadi" userId="c3f6ef8ec7554d92" providerId="LiveId" clId="{909A8593-8EFD-422D-9313-D88731AF288A}" dt="2026-02-22T11:28:08.014" v="209" actId="164"/>
          <ac:grpSpMkLst>
            <pc:docMk/>
            <pc:sldMk cId="0" sldId="259"/>
            <ac:grpSpMk id="40" creationId="{7938D465-6794-4F10-B94B-23188E9A2352}"/>
          </ac:grpSpMkLst>
        </pc:grpChg>
        <pc:grpChg chg="add mod">
          <ac:chgData name="Ahmad Abbadi" userId="c3f6ef8ec7554d92" providerId="LiveId" clId="{909A8593-8EFD-422D-9313-D88731AF288A}" dt="2026-02-22T11:29:41.421" v="221" actId="164"/>
          <ac:grpSpMkLst>
            <pc:docMk/>
            <pc:sldMk cId="0" sldId="259"/>
            <ac:grpSpMk id="41" creationId="{9FDBA570-880F-48B3-9EE3-55142FADBBCA}"/>
          </ac:grpSpMkLst>
        </pc:grpChg>
        <pc:grpChg chg="add mod">
          <ac:chgData name="Ahmad Abbadi" userId="c3f6ef8ec7554d92" providerId="LiveId" clId="{909A8593-8EFD-422D-9313-D88731AF288A}" dt="2026-02-22T11:29:48.748" v="222" actId="164"/>
          <ac:grpSpMkLst>
            <pc:docMk/>
            <pc:sldMk cId="0" sldId="259"/>
            <ac:grpSpMk id="42" creationId="{D1758BD6-2FAE-400E-A832-13F5166890D5}"/>
          </ac:grpSpMkLst>
        </pc:grpChg>
        <pc:grpChg chg="add mod">
          <ac:chgData name="Ahmad Abbadi" userId="c3f6ef8ec7554d92" providerId="LiveId" clId="{909A8593-8EFD-422D-9313-D88731AF288A}" dt="2026-02-22T11:29:56.133" v="223" actId="164"/>
          <ac:grpSpMkLst>
            <pc:docMk/>
            <pc:sldMk cId="0" sldId="259"/>
            <ac:grpSpMk id="43" creationId="{AA9AFE94-9A24-48CB-889F-700E9E7063D4}"/>
          </ac:grpSpMkLst>
        </pc:grpChg>
        <pc:grpChg chg="add mod">
          <ac:chgData name="Ahmad Abbadi" userId="c3f6ef8ec7554d92" providerId="LiveId" clId="{909A8593-8EFD-422D-9313-D88731AF288A}" dt="2026-02-22T11:30:01.708" v="224" actId="164"/>
          <ac:grpSpMkLst>
            <pc:docMk/>
            <pc:sldMk cId="0" sldId="259"/>
            <ac:grpSpMk id="44" creationId="{07E71E48-FF98-41A6-9817-CB35A4C7D9B1}"/>
          </ac:grpSpMkLst>
        </pc:grpChg>
        <pc:grpChg chg="add mod">
          <ac:chgData name="Ahmad Abbadi" userId="c3f6ef8ec7554d92" providerId="LiveId" clId="{909A8593-8EFD-422D-9313-D88731AF288A}" dt="2026-02-22T11:30:10.431" v="225" actId="164"/>
          <ac:grpSpMkLst>
            <pc:docMk/>
            <pc:sldMk cId="0" sldId="259"/>
            <ac:grpSpMk id="45" creationId="{D2734ABE-5FB2-40C8-93EF-AD31E5CC6B53}"/>
          </ac:grpSpMkLst>
        </pc:grpChg>
      </pc:sldChg>
      <pc:sldChg chg="modSp mod">
        <pc:chgData name="Ahmad Abbadi" userId="c3f6ef8ec7554d92" providerId="LiveId" clId="{909A8593-8EFD-422D-9313-D88731AF288A}" dt="2026-02-22T11:27:37.691" v="206" actId="403"/>
        <pc:sldMkLst>
          <pc:docMk/>
          <pc:sldMk cId="0" sldId="269"/>
        </pc:sldMkLst>
        <pc:spChg chg="mod">
          <ac:chgData name="Ahmad Abbadi" userId="c3f6ef8ec7554d92" providerId="LiveId" clId="{909A8593-8EFD-422D-9313-D88731AF288A}" dt="2026-02-22T11:27:37.691" v="206" actId="403"/>
          <ac:spMkLst>
            <pc:docMk/>
            <pc:sldMk cId="0" sldId="269"/>
            <ac:spMk id="8" creationId="{00000000-0000-0000-0000-000000000000}"/>
          </ac:spMkLst>
        </pc:spChg>
      </pc:sldChg>
      <pc:sldChg chg="modSp mod">
        <pc:chgData name="Ahmad Abbadi" userId="c3f6ef8ec7554d92" providerId="LiveId" clId="{909A8593-8EFD-422D-9313-D88731AF288A}" dt="2026-02-22T11:27:25.476" v="203" actId="403"/>
        <pc:sldMkLst>
          <pc:docMk/>
          <pc:sldMk cId="0" sldId="270"/>
        </pc:sldMkLst>
        <pc:graphicFrameChg chg="modGraphic">
          <ac:chgData name="Ahmad Abbadi" userId="c3f6ef8ec7554d92" providerId="LiveId" clId="{909A8593-8EFD-422D-9313-D88731AF288A}" dt="2026-02-22T11:27:25.476" v="203" actId="403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delSp modSp add mod ord modNotesTx">
        <pc:chgData name="Ahmad Abbadi" userId="c3f6ef8ec7554d92" providerId="LiveId" clId="{909A8593-8EFD-422D-9313-D88731AF288A}" dt="2026-02-22T11:24:14.267" v="197"/>
        <pc:sldMkLst>
          <pc:docMk/>
          <pc:sldMk cId="4008793743" sldId="277"/>
        </pc:sldMkLst>
        <pc:spChg chg="del">
          <ac:chgData name="Ahmad Abbadi" userId="c3f6ef8ec7554d92" providerId="LiveId" clId="{909A8593-8EFD-422D-9313-D88731AF288A}" dt="2026-02-22T11:22:47.567" v="191" actId="478"/>
          <ac:spMkLst>
            <pc:docMk/>
            <pc:sldMk cId="4008793743" sldId="277"/>
            <ac:spMk id="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2:31.709" v="50" actId="14100"/>
          <ac:spMkLst>
            <pc:docMk/>
            <pc:sldMk cId="4008793743" sldId="277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3:55.517" v="160" actId="20577"/>
          <ac:spMkLst>
            <pc:docMk/>
            <pc:sldMk cId="4008793743" sldId="277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14.662" v="189" actId="255"/>
          <ac:spMkLst>
            <pc:docMk/>
            <pc:sldMk cId="4008793743" sldId="277"/>
            <ac:spMk id="13" creationId="{00000000-0000-0000-0000-000000000000}"/>
          </ac:spMkLst>
        </pc:spChg>
      </pc:sldChg>
      <pc:sldChg chg="addSp delSp modSp add mod">
        <pc:chgData name="Ahmad Abbadi" userId="c3f6ef8ec7554d92" providerId="LiveId" clId="{909A8593-8EFD-422D-9313-D88731AF288A}" dt="2026-02-23T18:17:43.209" v="237" actId="1076"/>
        <pc:sldMkLst>
          <pc:docMk/>
          <pc:sldMk cId="84338291" sldId="278"/>
        </pc:sldMkLst>
        <pc:spChg chg="mod">
          <ac:chgData name="Ahmad Abbadi" userId="c3f6ef8ec7554d92" providerId="LiveId" clId="{909A8593-8EFD-422D-9313-D88731AF288A}" dt="2026-02-23T18:14:45.528" v="231" actId="1076"/>
          <ac:spMkLst>
            <pc:docMk/>
            <pc:sldMk cId="84338291" sldId="278"/>
            <ac:spMk id="8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3T18:15:05.924" v="234" actId="14100"/>
          <ac:spMkLst>
            <pc:docMk/>
            <pc:sldMk cId="84338291" sldId="278"/>
            <ac:spMk id="46" creationId="{F95B1EDB-9EEE-4DCC-9D52-39026B5DAA1C}"/>
          </ac:spMkLst>
        </pc:spChg>
        <pc:spChg chg="add mod">
          <ac:chgData name="Ahmad Abbadi" userId="c3f6ef8ec7554d92" providerId="LiveId" clId="{909A8593-8EFD-422D-9313-D88731AF288A}" dt="2026-02-23T18:17:43.209" v="237" actId="1076"/>
          <ac:spMkLst>
            <pc:docMk/>
            <pc:sldMk cId="84338291" sldId="278"/>
            <ac:spMk id="47" creationId="{99FC5AC3-290D-4D2C-8297-680F149F4FCD}"/>
          </ac:spMkLst>
        </pc:spChg>
        <pc:grpChg chg="mod">
          <ac:chgData name="Ahmad Abbadi" userId="c3f6ef8ec7554d92" providerId="LiveId" clId="{909A8593-8EFD-422D-9313-D88731AF288A}" dt="2026-02-23T18:14:58.755" v="232" actId="1076"/>
          <ac:grpSpMkLst>
            <pc:docMk/>
            <pc:sldMk cId="84338291" sldId="278"/>
            <ac:grpSpMk id="40" creationId="{7938D465-6794-4F10-B94B-23188E9A2352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1" creationId="{9FDBA570-880F-48B3-9EE3-55142FADBBCA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2" creationId="{D1758BD6-2FAE-400E-A832-13F5166890D5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3" creationId="{AA9AFE94-9A24-48CB-889F-700E9E7063D4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4" creationId="{07E71E48-FF98-41A6-9817-CB35A4C7D9B1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5" creationId="{D2734ABE-5FB2-40C8-93EF-AD31E5CC6B53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37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999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022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336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Is a human walking holonomic or nonholonomic?</a:t>
            </a:r>
          </a:p>
        </p:txBody>
      </p:sp>
    </p:spTree>
    <p:extLst>
      <p:ext uri="{BB962C8B-B14F-4D97-AF65-F5344CB8AC3E}">
        <p14:creationId xmlns:p14="http://schemas.microsoft.com/office/powerpoint/2010/main" val="1465903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18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759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Forklifts must: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Turn in very narrow aisles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Precisely position loads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Approach shelves head-on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Carry heavy weight in the front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Rear-Wheel Steering (Forklifts)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Rotation center moves closer to the load.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Vehicle pivots around the front axle.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Much smaller turning radius.</a:t>
            </a:r>
          </a:p>
          <a:p>
            <a:r>
              <a:rPr lang="en-US" dirty="0"/>
              <a:t>This allows forklifts to:</a:t>
            </a:r>
          </a:p>
          <a:p>
            <a:r>
              <a:rPr lang="en-US" dirty="0"/>
              <a:t>✅ Turn inside narrow aisles</a:t>
            </a:r>
            <a:br>
              <a:rPr lang="en-US" dirty="0"/>
            </a:br>
            <a:r>
              <a:rPr lang="en-US" dirty="0"/>
              <a:t>✅ Align precisely with shelves</a:t>
            </a:r>
            <a:br>
              <a:rPr lang="en-US" dirty="0"/>
            </a:br>
            <a:r>
              <a:rPr lang="en-US" dirty="0"/>
              <a:t>✅ Rotate almost around their own footprint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This leads to a key design requirement:</a:t>
            </a:r>
          </a:p>
          <a:p>
            <a:r>
              <a:rPr lang="en-US" b="1" dirty="0"/>
              <a:t>Minimize turning radius while maintaining stability under load.</a:t>
            </a:r>
          </a:p>
          <a:p>
            <a:endParaRPr lang="en-US" dirty="0"/>
          </a:p>
          <a:p>
            <a:r>
              <a:rPr lang="en-US" dirty="0"/>
              <a:t>Rear steering </a:t>
            </a:r>
            <a:r>
              <a:rPr lang="en-US" b="1" dirty="0"/>
              <a:t>disadvantages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Less stable at high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Harder for human drivers to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Oversteer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safe for highways</a:t>
            </a:r>
          </a:p>
          <a:p>
            <a:r>
              <a:rPr lang="en-US" dirty="0"/>
              <a:t>Forklifts operate at low speed, so this is acceptable.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60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207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https://www.researchgate.net/figure/DOFs-universal-joint_fig4_281621219</a:t>
            </a:r>
          </a:p>
        </p:txBody>
      </p:sp>
    </p:spTree>
    <p:extLst>
      <p:ext uri="{BB962C8B-B14F-4D97-AF65-F5344CB8AC3E}">
        <p14:creationId xmlns:p14="http://schemas.microsoft.com/office/powerpoint/2010/main" val="1949585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42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372350" cy="2001062"/>
          </a:xfrm>
        </p:spPr>
        <p:txBody>
          <a:bodyPr anchor="b">
            <a:normAutofit/>
          </a:bodyPr>
          <a:lstStyle>
            <a:lvl1pPr algn="l">
              <a:defRPr sz="36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0B747-1E9B-418F-BD4C-A890709F0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2900397"/>
            <a:ext cx="7372350" cy="1241425"/>
          </a:xfr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D898A-680F-4A81-AF4C-0DF24DB25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5FE3-F39A-4FC1-A134-D55872A714C4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2EC4E-0CEB-432B-A976-B507074EE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D65BC-DA62-4EE7-8E14-F84B3E93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09D04FC-C427-40D0-A7EC-9DA3F3764224}"/>
              </a:ext>
            </a:extLst>
          </p:cNvPr>
          <p:cNvSpPr/>
          <p:nvPr userDrawn="1"/>
        </p:nvSpPr>
        <p:spPr>
          <a:xfrm>
            <a:off x="1143000" y="394335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90CF695-D7BC-4223-8199-225C7AAFBE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1613"/>
            <a:ext cx="5829300" cy="569912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4031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389E-BDF8-4DC1-B3B8-3299FDDB0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274205" cy="3645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48484-E906-470D-9255-69402523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455E-D75D-4448-AB96-FF30CF63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60CE-E86B-4D9B-A004-AC643EDD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C2EB668-D005-4D04-96A4-05B5D84B2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975" y="4552950"/>
            <a:ext cx="8289925" cy="328613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2073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72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64" userDrawn="1">
          <p15:clr>
            <a:srgbClr val="FBAE40"/>
          </p15:clr>
        </p15:guide>
        <p15:guide id="5" orient="horz" pos="2868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90C313C-7C45-4B69-BE3A-22C140B6915D}"/>
              </a:ext>
            </a:extLst>
          </p:cNvPr>
          <p:cNvSpPr/>
          <p:nvPr userDrawn="1"/>
        </p:nvSpPr>
        <p:spPr>
          <a:xfrm>
            <a:off x="434898" y="4587211"/>
            <a:ext cx="8290002" cy="294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200" dirty="0"/>
              <a:t>Click to edit Master text styles</a:t>
            </a: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D25AC82-7D6E-45BB-93A7-D82E6F205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6534" y="835296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611B8244-4911-49E3-9349-21D1B96E0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6604" y="835295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D0AF24AD-3916-4FDD-AB0A-429EB878A8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422965C9-543D-431C-B847-0F5CFF32AC2B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2E443A4-237A-487E-B5A3-E348B5E5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43FD89E-5E17-478C-9F81-DE66E9C5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000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64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24" userDrawn="1">
          <p15:clr>
            <a:srgbClr val="FBAE40"/>
          </p15:clr>
        </p15:guide>
        <p15:guide id="5" orient="horz" pos="288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608038" cy="3657600"/>
          </a:xfrm>
        </p:spPr>
        <p:txBody>
          <a:bodyPr anchor="ctr">
            <a:normAutofit/>
          </a:bodyPr>
          <a:lstStyle>
            <a:lvl1pPr algn="ctr">
              <a:defRPr sz="24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735760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47834-38CD-48BA-8AE6-E5C9DD9A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28134-E7B7-4C74-9984-9CBF52304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F2F31-5424-47E1-8064-89881EE11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5A575-5E82-4CCC-864E-34B7DD910810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A8D97-5F56-440E-8DBB-2300C11FE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2DFCD-2930-4EEF-9547-FA8276ABD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2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3" r:id="rId3"/>
    <p:sldLayoutId id="2147483665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UyU3lKzoio?feature=oembed" TargetMode="External"/><Relationship Id="rId5" Type="http://schemas.openxmlformats.org/officeDocument/2006/relationships/image" Target="../media/image21.jpeg"/><Relationship Id="rId4" Type="http://schemas.openxmlformats.org/officeDocument/2006/relationships/hyperlink" Target="https://www.youtube.com/watch?v=fUyU3lKzoio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1BD510-DDFE-4B2A-BEA1-5787F95E1D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MOD-02  </a:t>
            </a:r>
            <a:b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Mobile Robots</a:t>
            </a:r>
            <a:endParaRPr lang="en-US" sz="3600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CBCA2C0-0393-4349-A62F-290977BAA3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By Dr. Ahmad Abbadi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E1CB0E-536E-42D9-8C75-240F6DBFD6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ROBOTS</a:t>
            </a:r>
            <a:endParaRPr lang="en-US" sz="1300" dirty="0"/>
          </a:p>
        </p:txBody>
      </p:sp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ocomotion meaning and types</a:t>
            </a:r>
            <a:endParaRPr lang="en-US" sz="2400" dirty="0"/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holonomic from non-holonomic robots; apply morphology selection criteria</a:t>
            </a:r>
            <a:endParaRPr lang="en-US" sz="2400" dirty="0"/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DOF; apply </a:t>
            </a:r>
            <a:r>
              <a:rPr lang="en-US" sz="2400" dirty="0" err="1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Grübler's</a:t>
            </a:r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formula; distinguish total DOF from controllable DOF</a:t>
            </a:r>
            <a:endParaRPr lang="en-US" sz="2400" dirty="0"/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sensors as proprioceptive/exteroceptive and active/passive; select sensors for a mission</a:t>
            </a:r>
            <a:endParaRPr lang="en-US" sz="2400" dirty="0"/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80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Focus:</a:t>
            </a:r>
            <a:endParaRPr lang="en-US" sz="2400" dirty="0">
              <a:solidFill>
                <a:srgbClr val="021C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capability</a:t>
            </a:r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trade-offs</a:t>
            </a:r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 making</a:t>
            </a:r>
          </a:p>
          <a:p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C7802D-1680-45AD-957D-3D64DC3B8FA0}"/>
              </a:ext>
            </a:extLst>
          </p:cNvPr>
          <p:cNvSpPr/>
          <p:nvPr/>
        </p:nvSpPr>
        <p:spPr>
          <a:xfrm>
            <a:off x="4966659" y="1731669"/>
            <a:ext cx="2281806" cy="9982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Locomotion means?</a:t>
            </a:r>
          </a:p>
        </p:txBody>
      </p:sp>
    </p:spTree>
    <p:extLst>
      <p:ext uri="{BB962C8B-B14F-4D97-AF65-F5344CB8AC3E}">
        <p14:creationId xmlns:p14="http://schemas.microsoft.com/office/powerpoint/2010/main" val="298354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Locomotion</a:t>
            </a:r>
            <a:r>
              <a:rPr lang="en-US" dirty="0"/>
              <a:t> is </a:t>
            </a:r>
          </a:p>
          <a:p>
            <a:r>
              <a:rPr lang="en-US" b="1" dirty="0"/>
              <a:t>Physical interaction </a:t>
            </a:r>
            <a:r>
              <a:rPr lang="en-US" dirty="0"/>
              <a:t>between a body and its environment, and</a:t>
            </a:r>
          </a:p>
          <a:p>
            <a:r>
              <a:rPr lang="en-US" dirty="0"/>
              <a:t>the </a:t>
            </a:r>
            <a:r>
              <a:rPr lang="en-US" b="1" dirty="0"/>
              <a:t>interaction forces, </a:t>
            </a:r>
            <a:r>
              <a:rPr lang="en-US" dirty="0"/>
              <a:t>including 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mechanisms and actuators </a:t>
            </a:r>
            <a:r>
              <a:rPr lang="en-US" dirty="0"/>
              <a:t>that generate them.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kinematics</a:t>
            </a:r>
            <a:r>
              <a:rPr lang="en-US" dirty="0"/>
              <a:t> means describing </a:t>
            </a:r>
          </a:p>
          <a:p>
            <a:r>
              <a:rPr lang="en-US" dirty="0"/>
              <a:t>robot’s motion geometrically</a:t>
            </a:r>
          </a:p>
          <a:p>
            <a:r>
              <a:rPr lang="en-US" dirty="0"/>
              <a:t>The relation between the robot variables and the robot state (position, speed, heading,…)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D25AC0-141F-45A1-AC52-756A55B1F0FD}"/>
              </a:ext>
            </a:extLst>
          </p:cNvPr>
          <p:cNvSpPr/>
          <p:nvPr/>
        </p:nvSpPr>
        <p:spPr>
          <a:xfrm>
            <a:off x="6736737" y="2230814"/>
            <a:ext cx="2281806" cy="9982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are the Locomotion types?</a:t>
            </a:r>
          </a:p>
        </p:txBody>
      </p:sp>
    </p:spTree>
    <p:extLst>
      <p:ext uri="{BB962C8B-B14F-4D97-AF65-F5344CB8AC3E}">
        <p14:creationId xmlns:p14="http://schemas.microsoft.com/office/powerpoint/2010/main" val="1745796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solidFill>
                <a:srgbClr val="021C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5469C2-C047-4A37-91A2-1DFE80FD7CD6}"/>
              </a:ext>
            </a:extLst>
          </p:cNvPr>
          <p:cNvSpPr txBox="1"/>
          <p:nvPr/>
        </p:nvSpPr>
        <p:spPr>
          <a:xfrm>
            <a:off x="6134578" y="1490211"/>
            <a:ext cx="80502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Wheel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BFBD2E-A77C-4BCB-A8BF-2072BDDCD300}"/>
              </a:ext>
            </a:extLst>
          </p:cNvPr>
          <p:cNvSpPr txBox="1"/>
          <p:nvPr/>
        </p:nvSpPr>
        <p:spPr>
          <a:xfrm>
            <a:off x="6950279" y="1249851"/>
            <a:ext cx="24034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Differential Drive</a:t>
            </a:r>
          </a:p>
          <a:p>
            <a:r>
              <a:rPr lang="en-US" dirty="0"/>
              <a:t>Ackermann Steering</a:t>
            </a:r>
          </a:p>
          <a:p>
            <a:r>
              <a:rPr lang="en-US" dirty="0"/>
              <a:t>Omnidirectional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7FAF71-24FB-46F8-B966-AECB22D1C239}"/>
              </a:ext>
            </a:extLst>
          </p:cNvPr>
          <p:cNvSpPr txBox="1"/>
          <p:nvPr/>
        </p:nvSpPr>
        <p:spPr>
          <a:xfrm>
            <a:off x="1743577" y="2273003"/>
            <a:ext cx="109728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Tracked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7B9646-9865-4DF3-A0FF-28A253C76BEB}"/>
              </a:ext>
            </a:extLst>
          </p:cNvPr>
          <p:cNvSpPr txBox="1"/>
          <p:nvPr/>
        </p:nvSpPr>
        <p:spPr>
          <a:xfrm>
            <a:off x="1795807" y="3662841"/>
            <a:ext cx="109728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Legged</a:t>
            </a:r>
            <a:r>
              <a:rPr lang="en-US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B186A0-DB61-4E10-B347-6F40F9428B8F}"/>
              </a:ext>
            </a:extLst>
          </p:cNvPr>
          <p:cNvSpPr txBox="1"/>
          <p:nvPr/>
        </p:nvSpPr>
        <p:spPr>
          <a:xfrm>
            <a:off x="5419119" y="3637275"/>
            <a:ext cx="109728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Hybrid</a:t>
            </a:r>
            <a:r>
              <a:rPr lang="en-US" dirty="0"/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9997C3-57F5-4C55-9E1D-35C8833B5AE4}"/>
              </a:ext>
            </a:extLst>
          </p:cNvPr>
          <p:cNvSpPr txBox="1"/>
          <p:nvPr/>
        </p:nvSpPr>
        <p:spPr>
          <a:xfrm>
            <a:off x="3318460" y="2333700"/>
            <a:ext cx="2522954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Locomotion types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3D52F2-B798-4674-AA61-D4E01FFEEB63}"/>
              </a:ext>
            </a:extLst>
          </p:cNvPr>
          <p:cNvSpPr txBox="1"/>
          <p:nvPr/>
        </p:nvSpPr>
        <p:spPr>
          <a:xfrm>
            <a:off x="5442066" y="3975595"/>
            <a:ext cx="1891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Combine different</a:t>
            </a:r>
            <a:br>
              <a:rPr lang="en-US" dirty="0"/>
            </a:br>
            <a:r>
              <a:rPr lang="en-US" dirty="0"/>
              <a:t> model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D3D432-BA74-4C9A-9C21-3CE341BEEADD}"/>
              </a:ext>
            </a:extLst>
          </p:cNvPr>
          <p:cNvSpPr txBox="1"/>
          <p:nvPr/>
        </p:nvSpPr>
        <p:spPr>
          <a:xfrm>
            <a:off x="1423830" y="2927036"/>
            <a:ext cx="644728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Slide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5C6BB4E-7569-4418-8B0A-218DBD1BA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10000"/>
          </a:blip>
          <a:srcRect l="762" t="2287"/>
          <a:stretch>
            <a:fillRect/>
          </a:stretch>
        </p:blipFill>
        <p:spPr bwMode="auto">
          <a:xfrm>
            <a:off x="147827" y="4038534"/>
            <a:ext cx="2287733" cy="7797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8D5B410-B3F4-43F4-B014-249881C975D0}"/>
              </a:ext>
            </a:extLst>
          </p:cNvPr>
          <p:cNvSpPr txBox="1"/>
          <p:nvPr/>
        </p:nvSpPr>
        <p:spPr>
          <a:xfrm>
            <a:off x="2246777" y="1141167"/>
            <a:ext cx="744114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Flying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C59D66-2968-4347-A6EA-5F4CD0C82669}"/>
              </a:ext>
            </a:extLst>
          </p:cNvPr>
          <p:cNvSpPr txBox="1"/>
          <p:nvPr/>
        </p:nvSpPr>
        <p:spPr>
          <a:xfrm>
            <a:off x="3706462" y="3374741"/>
            <a:ext cx="1182824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Swimming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77E5779-8A17-4F12-923D-FD767DB29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54" y="2729959"/>
            <a:ext cx="852420" cy="1136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5D03504-5C87-4E8C-B41C-47F5CBDED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1" y="1490211"/>
            <a:ext cx="1418154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File:Epson micro flying robot - Flickr ...">
            <a:extLst>
              <a:ext uri="{FF2B5EF4-FFF2-40B4-BE49-F238E27FC236}">
                <a16:creationId xmlns:a16="http://schemas.microsoft.com/office/drawing/2014/main" id="{9A673D3A-DF1C-40A8-A323-6940A5C7A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566" y="882997"/>
            <a:ext cx="1524584" cy="1152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9F33E1F5-43A0-427C-8D3C-C0CF9D432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610" y="3898918"/>
            <a:ext cx="1259685" cy="782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0">
            <a:extLst>
              <a:ext uri="{FF2B5EF4-FFF2-40B4-BE49-F238E27FC236}">
                <a16:creationId xmlns:a16="http://schemas.microsoft.com/office/drawing/2014/main" id="{284DF87B-38D5-4DEB-85AC-0D9F155FD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843" y="2218460"/>
            <a:ext cx="2097332" cy="157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FEDFE70-FA08-4D0A-8159-1F059DB7BC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8169" y="3949156"/>
            <a:ext cx="1103245" cy="68446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93D35CD-DECC-4FED-894E-25C990240F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2512" y="3872490"/>
            <a:ext cx="809738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59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– Design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Design a hospital delivery robot that must:</a:t>
            </a:r>
          </a:p>
          <a:p>
            <a:r>
              <a:rPr lang="en-US" dirty="0"/>
              <a:t>Navigate narrow corridors (≈ 1.2 m)</a:t>
            </a:r>
          </a:p>
          <a:p>
            <a:r>
              <a:rPr lang="en-US" dirty="0"/>
              <a:t>Approach beds from the side</a:t>
            </a:r>
          </a:p>
          <a:p>
            <a:r>
              <a:rPr lang="en-US" dirty="0"/>
              <a:t>Carry payload</a:t>
            </a:r>
          </a:p>
          <a:p>
            <a:r>
              <a:rPr lang="en-US" dirty="0"/>
              <a:t>Operate efficiently on battery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Question:</a:t>
            </a:r>
          </a:p>
          <a:p>
            <a:pPr marL="0" indent="0">
              <a:buNone/>
            </a:pPr>
            <a:r>
              <a:rPr lang="en-US" dirty="0"/>
              <a:t>Which locomotion system should we choose?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200" i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Siegwart et al., Intro to Autonomous Mobile Robots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178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– Design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Is you solution </a:t>
            </a:r>
          </a:p>
          <a:p>
            <a:r>
              <a:rPr lang="en-US" dirty="0"/>
              <a:t>Can it move sideways?</a:t>
            </a:r>
          </a:p>
          <a:p>
            <a:r>
              <a:rPr lang="en-US" dirty="0"/>
              <a:t>Can it align without rotation?</a:t>
            </a:r>
          </a:p>
          <a:p>
            <a:r>
              <a:rPr lang="en-US" dirty="0"/>
              <a:t>Is turning space always available?</a:t>
            </a:r>
          </a:p>
          <a:p>
            <a:r>
              <a:rPr lang="en-US" dirty="0"/>
              <a:t>How complex it is to control the movement?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 need to make </a:t>
            </a:r>
            <a:r>
              <a:rPr lang="en-US" b="1" dirty="0"/>
              <a:t>engineering decisions</a:t>
            </a:r>
            <a:r>
              <a:rPr lang="en-US" dirty="0"/>
              <a:t> based on </a:t>
            </a:r>
            <a:r>
              <a:rPr lang="en-US" b="1" dirty="0"/>
              <a:t>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200" i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Siegwart et al., Intro to Autonomous Mobile Robots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56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Locomotion determines:</a:t>
            </a:r>
          </a:p>
          <a:p>
            <a:r>
              <a:rPr lang="en-US" dirty="0"/>
              <a:t>Mechanical complexity</a:t>
            </a:r>
          </a:p>
          <a:p>
            <a:r>
              <a:rPr lang="en-US" dirty="0"/>
              <a:t>Control difficulty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Degrees of freedom of motion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Maneuverability</a:t>
            </a:r>
          </a:p>
          <a:p>
            <a:r>
              <a:rPr lang="en-US" dirty="0"/>
              <a:t>Terrain capability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Energy consumption</a:t>
            </a:r>
          </a:p>
          <a:p>
            <a:r>
              <a:rPr lang="en-US" dirty="0"/>
              <a:t>robot weight and complexity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200" i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Siegwart et al., Intro to Autonomous Mobile Robots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52953-13B9-41FA-AE2C-D598BD50D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34523" y="906967"/>
            <a:ext cx="2814525" cy="3950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50276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B711C-5200-451C-B0AB-01FF624A2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0F7B4-1BC9-43DD-AFEE-0F22609E2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AAC32-B220-47F4-9262-9E41AD13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864D41-4496-4D77-94BD-77D042C759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https://learning.edx.org/course/course-v1:ETHx+AMRx+2T2020/home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32BAC3-FF75-49BD-A352-174B3A819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14" y="759097"/>
            <a:ext cx="7399090" cy="32371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C4A1D4-7659-44CC-B250-D7EF37C4E224}"/>
              </a:ext>
            </a:extLst>
          </p:cNvPr>
          <p:cNvSpPr txBox="1"/>
          <p:nvPr/>
        </p:nvSpPr>
        <p:spPr>
          <a:xfrm>
            <a:off x="989531" y="4145732"/>
            <a:ext cx="7270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Insects can gait directly, Mammals need few hours, Humans need one year</a:t>
            </a:r>
          </a:p>
        </p:txBody>
      </p:sp>
    </p:spTree>
    <p:extLst>
      <p:ext uri="{BB962C8B-B14F-4D97-AF65-F5344CB8AC3E}">
        <p14:creationId xmlns:p14="http://schemas.microsoft.com/office/powerpoint/2010/main" val="3363976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AF0D-9E8D-41C2-A94F-4768303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– Legged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42A2-FE01-4EEF-8353-2BBFADDD5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7181960" cy="3645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Characteristics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Complex mechanics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control</a:t>
            </a:r>
            <a:endParaRPr lang="en-US" sz="2400" dirty="0"/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can be intensive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Advantage</a:t>
            </a:r>
          </a:p>
          <a:p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to move on </a:t>
            </a:r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Stairs/rubble/slopes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D187-9C77-4EFD-8DB4-CF95BA02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67AB1-F45A-46C8-9A1C-A84525D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91E6D-AB28-4866-BC78-69A6B0839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https://learning.edx.org/course/course-v1:ETHx+AMRx+2T2020/home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2B85DB-CC31-4323-845D-0518B7C87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679" y="1071053"/>
            <a:ext cx="4865351" cy="227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26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AF0D-9E8D-41C2-A94F-4768303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Differential Drive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42A2-FE01-4EEF-8353-2BBFADDD5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4363605" cy="36459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Characteristics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mechanics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rotate in place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Cannot move sideways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Motion constrained to circular arcs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Applications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Indoor service robots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Educational robots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Cleaning robots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D187-9C77-4EFD-8DB4-CF95BA02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67AB1-F45A-46C8-9A1C-A84525D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91E6D-AB28-4866-BC78-69A6B0839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4" name="Picture 4" descr="E-puck">
            <a:extLst>
              <a:ext uri="{FF2B5EF4-FFF2-40B4-BE49-F238E27FC236}">
                <a16:creationId xmlns:a16="http://schemas.microsoft.com/office/drawing/2014/main" id="{FDBD71EF-BFDF-4D62-B3A4-384ACFCC5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503" y="781750"/>
            <a:ext cx="4229727" cy="242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6D3387-CB60-4D3D-BCCE-0455E6C06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061" y="3104949"/>
            <a:ext cx="1829055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964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AF0D-9E8D-41C2-A94F-4768303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Car-Like (Ackermann Steering)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42A2-FE01-4EEF-8353-2BBFADDD5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4363605" cy="36459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Characteristics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 wheel steering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Stable at high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Efficient energy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turning radius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Applications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Autonomous cars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Outdoor delivery robots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D187-9C77-4EFD-8DB4-CF95BA02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67AB1-F45A-46C8-9A1C-A84525D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91E6D-AB28-4866-BC78-69A6B0839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B7E8AE-14E0-4C78-9479-56E0DE858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366" y="2931204"/>
            <a:ext cx="1844404" cy="1950359"/>
          </a:xfrm>
          <a:prstGeom prst="rect">
            <a:avLst/>
          </a:prstGeom>
        </p:spPr>
      </p:pic>
      <p:pic>
        <p:nvPicPr>
          <p:cNvPr id="6147" name="Picture 3">
            <a:extLst>
              <a:ext uri="{FF2B5EF4-FFF2-40B4-BE49-F238E27FC236}">
                <a16:creationId xmlns:a16="http://schemas.microsoft.com/office/drawing/2014/main" id="{73DD7269-7E74-4287-9611-2E21A94DE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898" y="1416958"/>
            <a:ext cx="2381250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90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AF0D-9E8D-41C2-A94F-4768303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– Tracked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42A2-FE01-4EEF-8353-2BBFADDD5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5420618" cy="36459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Characteristics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contact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Good for rough terrain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energy consumption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Slow turning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00" dirty="0"/>
              <a:t>Kinematics similar to differential drive</a:t>
            </a:r>
          </a:p>
          <a:p>
            <a:pPr marL="0" indent="0">
              <a:buNone/>
            </a:pPr>
            <a:r>
              <a:rPr lang="en-US" sz="2600" dirty="0"/>
              <a:t>Difference is in physics (traction, friction).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D187-9C77-4EFD-8DB4-CF95BA02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67AB1-F45A-46C8-9A1C-A84525D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91E6D-AB28-4866-BC78-69A6B0839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910D4945-72C2-4109-9035-3E13A51DB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686" y="1200967"/>
            <a:ext cx="2877954" cy="187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1456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AF0D-9E8D-41C2-A94F-4768303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Omnidirectional (</a:t>
            </a:r>
            <a:r>
              <a:rPr lang="en-US" dirty="0" err="1"/>
              <a:t>Mecanum</a:t>
            </a:r>
            <a:r>
              <a:rPr lang="en-US" dirty="0"/>
              <a:t> / Omni Wheels)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42A2-FE01-4EEF-8353-2BBFADDD5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4363605" cy="364598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Characteristics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Forward/backward motion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Sideways motion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Rotation simultaneously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Full planar mobility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Advantages:</a:t>
            </a:r>
          </a:p>
          <a:p>
            <a:r>
              <a:rPr lang="en-US" dirty="0"/>
              <a:t>Maximum maneuverability</a:t>
            </a:r>
          </a:p>
          <a:p>
            <a:r>
              <a:rPr lang="en-US" dirty="0"/>
              <a:t>Precise positioning</a:t>
            </a:r>
          </a:p>
          <a:p>
            <a:pPr marL="0" indent="0">
              <a:buNone/>
            </a:pPr>
            <a:r>
              <a:rPr lang="en-US" b="1" dirty="0"/>
              <a:t>Disadvantages:</a:t>
            </a:r>
          </a:p>
          <a:p>
            <a:r>
              <a:rPr lang="en-US" dirty="0"/>
              <a:t>Higher energy consumption</a:t>
            </a:r>
          </a:p>
          <a:p>
            <a:r>
              <a:rPr lang="en-US" dirty="0"/>
              <a:t>More complex control</a:t>
            </a:r>
          </a:p>
          <a:p>
            <a:r>
              <a:rPr lang="en-US" dirty="0"/>
              <a:t>Lower traction efficiency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D187-9C77-4EFD-8DB4-CF95BA02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67AB1-F45A-46C8-9A1C-A84525D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91E6D-AB28-4866-BC78-69A6B0839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locusrobotics.com</a:t>
            </a:r>
            <a:br>
              <a:rPr lang="en-US" dirty="0"/>
            </a:br>
            <a:r>
              <a:rPr lang="en-US" dirty="0"/>
              <a:t>https://www.researchgate.net/figure/Omnidirectional-robot-with-three-omni-wheels_fig1_279244619</a:t>
            </a:r>
          </a:p>
        </p:txBody>
      </p:sp>
      <p:pic>
        <p:nvPicPr>
          <p:cNvPr id="7170" name="Picture 2" descr="Omnidirectional robot with three omni-wheels | Download ...">
            <a:extLst>
              <a:ext uri="{FF2B5EF4-FFF2-40B4-BE49-F238E27FC236}">
                <a16:creationId xmlns:a16="http://schemas.microsoft.com/office/drawing/2014/main" id="{3C2A65E1-90FA-4738-8B5B-0AFD91725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468" y="3153627"/>
            <a:ext cx="1761689" cy="138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EA3A4D-57BC-4984-B99A-4638AEFF8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064" y="1265270"/>
            <a:ext cx="2980791" cy="267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329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AF0D-9E8D-41C2-A94F-4768303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</a:t>
            </a:r>
            <a:r>
              <a:rPr lang="en-US" dirty="0">
                <a:solidFill>
                  <a:srgbClr val="FF0000"/>
                </a:solidFill>
              </a:rPr>
              <a:t>off course </a:t>
            </a:r>
            <a:r>
              <a:rPr lang="en-US" dirty="0"/>
              <a:t>-&gt; Motion Constraints and Holonomy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42A2-FE01-4EEF-8353-2BBFADDD5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431259" cy="3645984"/>
          </a:xfrm>
        </p:spPr>
        <p:txBody>
          <a:bodyPr>
            <a:normAutofit/>
          </a:bodyPr>
          <a:lstStyle/>
          <a:p>
            <a:r>
              <a:rPr lang="en-US" sz="1800" dirty="0"/>
              <a:t>Some robots can move in any direction instantly.</a:t>
            </a:r>
            <a:br>
              <a:rPr lang="en-US" sz="1800" dirty="0"/>
            </a:br>
            <a:r>
              <a:rPr lang="en-US" sz="1800" dirty="0"/>
              <a:t>Others must follow constrained paths.</a:t>
            </a:r>
          </a:p>
          <a:p>
            <a:r>
              <a:rPr lang="en-US" sz="1800" dirty="0"/>
              <a:t>This difference is called </a:t>
            </a:r>
            <a:r>
              <a:rPr lang="en-US" sz="1800" b="1" dirty="0"/>
              <a:t>holonomy</a:t>
            </a:r>
            <a:r>
              <a:rPr lang="en-US" sz="1800" dirty="0"/>
              <a:t>.</a:t>
            </a:r>
          </a:p>
          <a:p>
            <a:r>
              <a:rPr lang="en-US" sz="1800" dirty="0"/>
              <a:t>Car</a:t>
            </a:r>
          </a:p>
          <a:p>
            <a:pPr lvl="1"/>
            <a:r>
              <a:rPr lang="en-US" sz="1600" dirty="0"/>
              <a:t>cannot move sideways without turning first.</a:t>
            </a:r>
          </a:p>
          <a:p>
            <a:pPr lvl="1"/>
            <a:r>
              <a:rPr lang="en-US" sz="1600" dirty="0"/>
              <a:t>It must follow a curved path.</a:t>
            </a:r>
          </a:p>
          <a:p>
            <a:pPr lvl="1"/>
            <a:r>
              <a:rPr lang="en-US" sz="1600" dirty="0"/>
              <a:t>It is not Nonholonomic Robots</a:t>
            </a:r>
          </a:p>
          <a:p>
            <a:r>
              <a:rPr lang="en-US" sz="1800" dirty="0"/>
              <a:t>Holonomic Robots</a:t>
            </a:r>
          </a:p>
          <a:p>
            <a:pPr lvl="1"/>
            <a:r>
              <a:rPr lang="en-US" sz="1600" dirty="0"/>
              <a:t>A robot that can move forward, </a:t>
            </a:r>
          </a:p>
          <a:p>
            <a:pPr lvl="1"/>
            <a:r>
              <a:rPr lang="en-US" sz="1600" dirty="0"/>
              <a:t>sideways, and </a:t>
            </a:r>
          </a:p>
          <a:p>
            <a:pPr lvl="1"/>
            <a:r>
              <a:rPr lang="en-US" sz="1600" dirty="0"/>
              <a:t>rotate simultaneously.</a:t>
            </a:r>
          </a:p>
          <a:p>
            <a:pPr lvl="1"/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D187-9C77-4EFD-8DB4-CF95BA02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67AB1-F45A-46C8-9A1C-A84525D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91E6D-AB28-4866-BC78-69A6B0839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https://www.researchgate.net/figure/Omnidirectional-robot-with-three-omni-wheels_fig1_279244619</a:t>
            </a:r>
          </a:p>
        </p:txBody>
      </p:sp>
      <p:pic>
        <p:nvPicPr>
          <p:cNvPr id="7170" name="Picture 2" descr="Omnidirectional robot with three omni-wheels | Download ...">
            <a:extLst>
              <a:ext uri="{FF2B5EF4-FFF2-40B4-BE49-F238E27FC236}">
                <a16:creationId xmlns:a16="http://schemas.microsoft.com/office/drawing/2014/main" id="{3C2A65E1-90FA-4738-8B5B-0AFD91725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591" y="2729959"/>
            <a:ext cx="1761689" cy="138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047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AF0D-9E8D-41C2-A94F-4768303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off course -&gt; Motion Constraints and Holonomy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42A2-FE01-4EEF-8353-2BBFADDD5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431259" cy="36459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Holonomic robots:</a:t>
            </a:r>
          </a:p>
          <a:p>
            <a:r>
              <a:rPr lang="en-US" sz="1600" dirty="0"/>
              <a:t>✅ Maximum maneuverability</a:t>
            </a:r>
            <a:br>
              <a:rPr lang="en-US" sz="1600" dirty="0"/>
            </a:br>
            <a:r>
              <a:rPr lang="en-US" sz="1600" dirty="0"/>
              <a:t>❌ Higher complexity and energy cost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Golden Rule</a:t>
            </a:r>
          </a:p>
          <a:p>
            <a:r>
              <a:rPr lang="en-US" sz="1600" dirty="0"/>
              <a:t>More freedom of motion always comes with higher cost and complexity.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can a car reach any position even though it is nonholonomic?</a:t>
            </a:r>
            <a:endParaRPr lang="pt-BR" sz="1600" dirty="0"/>
          </a:p>
          <a:p>
            <a:r>
              <a:rPr lang="en-US" sz="1600" dirty="0"/>
              <a:t>It can still reach any position by combining motions. Forward/ + turn + forward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Nonholonomic does NOT mean incapable. It means constrained instantaneous motion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D187-9C77-4EFD-8DB4-CF95BA02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67AB1-F45A-46C8-9A1C-A84525D6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91E6D-AB28-4866-BC78-69A6B0839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https://www.researchgate.net/figure/Omnidirectional-robot-with-three-omni-wheels_fig1_279244619</a:t>
            </a:r>
          </a:p>
        </p:txBody>
      </p:sp>
      <p:pic>
        <p:nvPicPr>
          <p:cNvPr id="7170" name="Picture 2" descr="Omnidirectional robot with three omni-wheels | Download ...">
            <a:extLst>
              <a:ext uri="{FF2B5EF4-FFF2-40B4-BE49-F238E27FC236}">
                <a16:creationId xmlns:a16="http://schemas.microsoft.com/office/drawing/2014/main" id="{3C2A65E1-90FA-4738-8B5B-0AFD91725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2768" y="3719806"/>
            <a:ext cx="1318929" cy="1033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990B2D-402E-463A-8ED2-CC93181E2051}"/>
              </a:ext>
            </a:extLst>
          </p:cNvPr>
          <p:cNvSpPr txBox="1"/>
          <p:nvPr/>
        </p:nvSpPr>
        <p:spPr>
          <a:xfrm>
            <a:off x="4812383" y="906967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/>
              <a:t>Nonholonomic robots:</a:t>
            </a:r>
          </a:p>
          <a:p>
            <a:r>
              <a:rPr lang="en-US" sz="1600" dirty="0"/>
              <a:t>✅ Simpler and more efficient</a:t>
            </a:r>
            <a:br>
              <a:rPr lang="en-US" sz="1600" dirty="0"/>
            </a:br>
            <a:r>
              <a:rPr lang="en-US" sz="1600" dirty="0"/>
              <a:t>❌ Limited motion flexibility</a:t>
            </a:r>
          </a:p>
        </p:txBody>
      </p:sp>
    </p:spTree>
    <p:extLst>
      <p:ext uri="{BB962C8B-B14F-4D97-AF65-F5344CB8AC3E}">
        <p14:creationId xmlns:p14="http://schemas.microsoft.com/office/powerpoint/2010/main" val="1108685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8727C-B284-44B8-990C-3CBD417D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Engineering Comparison Summary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C7154D6-18E4-42A2-962A-6799DF5DF6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8459521"/>
              </p:ext>
            </p:extLst>
          </p:nvPr>
        </p:nvGraphicFramePr>
        <p:xfrm>
          <a:off x="434897" y="1644650"/>
          <a:ext cx="82740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810">
                  <a:extLst>
                    <a:ext uri="{9D8B030D-6E8A-4147-A177-3AD203B41FA5}">
                      <a16:colId xmlns:a16="http://schemas.microsoft.com/office/drawing/2014/main" val="3274506933"/>
                    </a:ext>
                  </a:extLst>
                </a:gridCol>
                <a:gridCol w="1920153">
                  <a:extLst>
                    <a:ext uri="{9D8B030D-6E8A-4147-A177-3AD203B41FA5}">
                      <a16:colId xmlns:a16="http://schemas.microsoft.com/office/drawing/2014/main" val="2376769539"/>
                    </a:ext>
                  </a:extLst>
                </a:gridCol>
                <a:gridCol w="1389467">
                  <a:extLst>
                    <a:ext uri="{9D8B030D-6E8A-4147-A177-3AD203B41FA5}">
                      <a16:colId xmlns:a16="http://schemas.microsoft.com/office/drawing/2014/main" val="1560939225"/>
                    </a:ext>
                  </a:extLst>
                </a:gridCol>
                <a:gridCol w="1654810">
                  <a:extLst>
                    <a:ext uri="{9D8B030D-6E8A-4147-A177-3AD203B41FA5}">
                      <a16:colId xmlns:a16="http://schemas.microsoft.com/office/drawing/2014/main" val="4226800225"/>
                    </a:ext>
                  </a:extLst>
                </a:gridCol>
                <a:gridCol w="1654810">
                  <a:extLst>
                    <a:ext uri="{9D8B030D-6E8A-4147-A177-3AD203B41FA5}">
                      <a16:colId xmlns:a16="http://schemas.microsoft.com/office/drawing/2014/main" val="2437960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Maneuverability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Terrain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4129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Differential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519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Car-like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Low (tight spaces)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9392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Omni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182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Tracked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Very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30123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4BF9A-C9C0-4479-9396-51E4A0CE0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F27AD-3CE2-4EB2-B90D-5CA231856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C3F27C-BB91-472A-B10C-DE689E27F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0F5BE-843F-41A7-8E28-779C4E57729D}"/>
              </a:ext>
            </a:extLst>
          </p:cNvPr>
          <p:cNvSpPr txBox="1"/>
          <p:nvPr/>
        </p:nvSpPr>
        <p:spPr>
          <a:xfrm>
            <a:off x="434975" y="369299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 system is universally best.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0F1DAF-3C00-4A7D-ACAA-CA7833B888B3}"/>
              </a:ext>
            </a:extLst>
          </p:cNvPr>
          <p:cNvSpPr txBox="1"/>
          <p:nvPr/>
        </p:nvSpPr>
        <p:spPr>
          <a:xfrm>
            <a:off x="434974" y="1017545"/>
            <a:ext cx="7744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Which Locomotion system is the best for hospital delivery robot?</a:t>
            </a:r>
          </a:p>
        </p:txBody>
      </p:sp>
    </p:spTree>
    <p:extLst>
      <p:ext uri="{BB962C8B-B14F-4D97-AF65-F5344CB8AC3E}">
        <p14:creationId xmlns:p14="http://schemas.microsoft.com/office/powerpoint/2010/main" val="1247558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8727C-B284-44B8-990C-3CBD417D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Engineering Comparison Summary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4BF9A-C9C0-4479-9396-51E4A0CE0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F27AD-3CE2-4EB2-B90D-5CA231856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C3F27C-BB91-472A-B10C-DE689E27F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DA369B-A7E7-42E4-BE78-4AA9E0AFE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338" y="906967"/>
            <a:ext cx="8356765" cy="364598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Which Locomotion system is the best for hospital delivery robot?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Golden rule:</a:t>
            </a:r>
          </a:p>
          <a:p>
            <a:pPr marL="0" indent="0">
              <a:buNone/>
            </a:pPr>
            <a:r>
              <a:rPr lang="en-US" dirty="0"/>
              <a:t>Choose the simplest locomotion system that satisfies mission requirements.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Engineering = trade-offs between: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Energy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Reliability</a:t>
            </a:r>
          </a:p>
          <a:p>
            <a:endParaRPr lang="en-US" dirty="0"/>
          </a:p>
        </p:txBody>
      </p:sp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52E5A87A-5215-44F3-BBF5-C5D19A885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464738"/>
              </p:ext>
            </p:extLst>
          </p:nvPr>
        </p:nvGraphicFramePr>
        <p:xfrm>
          <a:off x="4446165" y="2391364"/>
          <a:ext cx="4522016" cy="2161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504">
                  <a:extLst>
                    <a:ext uri="{9D8B030D-6E8A-4147-A177-3AD203B41FA5}">
                      <a16:colId xmlns:a16="http://schemas.microsoft.com/office/drawing/2014/main" val="752485869"/>
                    </a:ext>
                  </a:extLst>
                </a:gridCol>
                <a:gridCol w="1130504">
                  <a:extLst>
                    <a:ext uri="{9D8B030D-6E8A-4147-A177-3AD203B41FA5}">
                      <a16:colId xmlns:a16="http://schemas.microsoft.com/office/drawing/2014/main" val="1579803635"/>
                    </a:ext>
                  </a:extLst>
                </a:gridCol>
                <a:gridCol w="1130504">
                  <a:extLst>
                    <a:ext uri="{9D8B030D-6E8A-4147-A177-3AD203B41FA5}">
                      <a16:colId xmlns:a16="http://schemas.microsoft.com/office/drawing/2014/main" val="87942124"/>
                    </a:ext>
                  </a:extLst>
                </a:gridCol>
                <a:gridCol w="1130504">
                  <a:extLst>
                    <a:ext uri="{9D8B030D-6E8A-4147-A177-3AD203B41FA5}">
                      <a16:colId xmlns:a16="http://schemas.microsoft.com/office/drawing/2014/main" val="3969777351"/>
                    </a:ext>
                  </a:extLst>
                </a:gridCol>
              </a:tblGrid>
              <a:tr h="311797">
                <a:tc>
                  <a:txBody>
                    <a:bodyPr/>
                    <a:lstStyle/>
                    <a:p>
                      <a:r>
                        <a:rPr lang="en-US" sz="1200" dirty="0"/>
                        <a:t>Criterion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Importance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 Go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913086"/>
                  </a:ext>
                </a:extLst>
              </a:tr>
              <a:tr h="311797">
                <a:tc>
                  <a:txBody>
                    <a:bodyPr/>
                    <a:lstStyle/>
                    <a:p>
                      <a:r>
                        <a:rPr lang="en-US" sz="1200" dirty="0"/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1–5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053718"/>
                  </a:ext>
                </a:extLst>
              </a:tr>
              <a:tr h="311797">
                <a:tc>
                  <a:txBody>
                    <a:bodyPr/>
                    <a:lstStyle/>
                    <a:p>
                      <a:r>
                        <a:rPr lang="en-US" sz="1200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1–5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954986"/>
                  </a:ext>
                </a:extLst>
              </a:tr>
              <a:tr h="384407">
                <a:tc>
                  <a:txBody>
                    <a:bodyPr/>
                    <a:lstStyle/>
                    <a:p>
                      <a:r>
                        <a:rPr lang="en-US" sz="1200" dirty="0"/>
                        <a:t>Energy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1–5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196036"/>
                  </a:ext>
                </a:extLst>
              </a:tr>
              <a:tr h="311797">
                <a:tc>
                  <a:txBody>
                    <a:bodyPr/>
                    <a:lstStyle/>
                    <a:p>
                      <a:r>
                        <a:rPr lang="en-US" sz="1200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1–5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985967"/>
                  </a:ext>
                </a:extLst>
              </a:tr>
              <a:tr h="384407">
                <a:tc>
                  <a:txBody>
                    <a:bodyPr/>
                    <a:lstStyle/>
                    <a:p>
                      <a:r>
                        <a:rPr lang="en-US" sz="1200"/>
                        <a:t>Terrain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1–5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605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6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36C1-E870-4B68-9819-AB56FB8B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</a:t>
            </a:r>
            <a:r>
              <a:rPr lang="en-US" b="1" dirty="0"/>
              <a:t>Advanced Thinking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B56F6-E6EC-45C6-8AD9-99E0FD4F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locomotion is best for Mars exploration?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735E8-EDFB-413E-A7A0-68C1DD93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233E2-3AC7-4B03-974A-0729657D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96E623-582E-4B50-B1A3-5ACFB35D68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NASA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E6D1E9-1E92-4CF1-A1B6-A56A3C32A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809" y="1685675"/>
            <a:ext cx="4168256" cy="253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35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36C1-E870-4B68-9819-AB56FB8B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</a:t>
            </a:r>
            <a:r>
              <a:rPr lang="en-US" b="1" dirty="0"/>
              <a:t>Advanced Thinking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B56F6-E6EC-45C6-8AD9-99E0FD4F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locomotion is best for Mars exploration?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735E8-EDFB-413E-A7A0-68C1DD93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233E2-3AC7-4B03-974A-0729657D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96E623-582E-4B50-B1A3-5ACFB35D68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https://science.nasa.gov/mission/mars-exploration-rovers-spirit-and-opportunity/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7E1FA9-FF6B-470A-B9F1-2527F006A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291" y="1649190"/>
            <a:ext cx="3156474" cy="276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06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36C1-E870-4B68-9819-AB56FB8B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</a:t>
            </a:r>
            <a:r>
              <a:rPr lang="en-US" b="1" dirty="0"/>
              <a:t>Advanced Thinking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B56F6-E6EC-45C6-8AD9-99E0FD4F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 forklifts use rear-wheel steering?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735E8-EDFB-413E-A7A0-68C1DD93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233E2-3AC7-4B03-974A-0729657D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96E623-582E-4B50-B1A3-5ACFB35D68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6" name="Picture 6" descr="Man riding on red and gray forklift ...">
            <a:extLst>
              <a:ext uri="{FF2B5EF4-FFF2-40B4-BE49-F238E27FC236}">
                <a16:creationId xmlns:a16="http://schemas.microsoft.com/office/drawing/2014/main" id="{9B396BC1-F002-406C-9FFC-8DB6F9F23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8649" y="1700213"/>
            <a:ext cx="4074705" cy="271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561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36C1-E870-4B68-9819-AB56FB8B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Locomotion - </a:t>
            </a:r>
            <a:r>
              <a:rPr lang="en-US" b="1" dirty="0"/>
              <a:t>Advanced Thinking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B56F6-E6EC-45C6-8AD9-99E0FD4F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Watch Boston Dynamics Robots, and think if the leg robots is the best option for opening the door (in house, outdoor)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735E8-EDFB-413E-A7A0-68C1DD93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233E2-3AC7-4B03-974A-0729657D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96E623-582E-4B50-B1A3-5ACFB35D68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4"/>
              </a:rPr>
              <a:t>https://www.youtube.com/watch?v=fUyU3lKzoio</a:t>
            </a:r>
            <a:endParaRPr lang="en-US" dirty="0"/>
          </a:p>
        </p:txBody>
      </p:sp>
      <p:pic>
        <p:nvPicPr>
          <p:cNvPr id="7" name="Online Media 6" title="Hey Buddy, Can You Give Me a Hand?">
            <a:hlinkClick r:id="" action="ppaction://media"/>
            <a:extLst>
              <a:ext uri="{FF2B5EF4-FFF2-40B4-BE49-F238E27FC236}">
                <a16:creationId xmlns:a16="http://schemas.microsoft.com/office/drawing/2014/main" id="{02D592F2-3EED-425F-95B2-7A6AED8204A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836540" y="1741115"/>
            <a:ext cx="5470918" cy="309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1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 and Controllability in Mobile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DOF?</a:t>
            </a:r>
          </a:p>
          <a:p>
            <a:r>
              <a:rPr lang="en-US" sz="2400" dirty="0" err="1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Grübler's</a:t>
            </a:r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formula</a:t>
            </a:r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total DOF and controllable DOF</a:t>
            </a:r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256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9" y="906967"/>
            <a:ext cx="5046406" cy="3645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Assuming an object on the floor.</a:t>
            </a:r>
          </a:p>
          <a:p>
            <a:r>
              <a:rPr lang="en-US" dirty="0"/>
              <a:t>How many motions possibility can it has?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24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830ACA-E70A-451F-A255-DC5463A64E7D}"/>
              </a:ext>
            </a:extLst>
          </p:cNvPr>
          <p:cNvGrpSpPr/>
          <p:nvPr/>
        </p:nvGrpSpPr>
        <p:grpSpPr>
          <a:xfrm>
            <a:off x="5085378" y="1722636"/>
            <a:ext cx="3535818" cy="2690698"/>
            <a:chOff x="4901938" y="1400535"/>
            <a:chExt cx="3535818" cy="2690698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8" name="3D Model 7" descr="Light Gray Cuboid">
                  <a:extLst>
                    <a:ext uri="{FF2B5EF4-FFF2-40B4-BE49-F238E27FC236}">
                      <a16:creationId xmlns:a16="http://schemas.microsoft.com/office/drawing/2014/main" id="{8D739287-9F96-42EB-B8E3-DB7D12334B5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85321995"/>
                    </p:ext>
                  </p:extLst>
                </p:nvPr>
              </p:nvGraphicFramePr>
              <p:xfrm>
                <a:off x="5545824" y="1486013"/>
                <a:ext cx="2312974" cy="1959250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2312974" cy="1959250"/>
                      </a:xfrm>
                      <a:prstGeom prst="rect">
                        <a:avLst/>
                      </a:prstGeom>
                    </am3d:spPr>
                    <am3d:camera>
                      <am3d:pos x="0" y="0" z="57664451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361393" d="1000000"/>
                      <am3d:preTrans dx="0" dy="-6493603" dz="0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2153724" ay="2625824" az="1595608"/>
                      <am3d:postTrans dx="0" dy="0" dz="0"/>
                    </am3d:trans>
                    <am3d:raster rName="Office3DRenderer" rVer="16.0.8326">
                      <am3d:blip r:embed="rId3"/>
                    </am3d:raster>
                    <am3d:objViewport viewportSz="2389826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8" name="3D Model 7" descr="Light Gray Cuboid">
                  <a:extLst>
                    <a:ext uri="{FF2B5EF4-FFF2-40B4-BE49-F238E27FC236}">
                      <a16:creationId xmlns:a16="http://schemas.microsoft.com/office/drawing/2014/main" id="{8D739287-9F96-42EB-B8E3-DB7D12334B5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29264" y="1808114"/>
                  <a:ext cx="2312974" cy="195925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5D14812-CD3A-4F0F-8A55-D404AA904BC6}"/>
                </a:ext>
              </a:extLst>
            </p:cNvPr>
            <p:cNvCxnSpPr>
              <a:cxnSpLocks/>
            </p:cNvCxnSpPr>
            <p:nvPr/>
          </p:nvCxnSpPr>
          <p:spPr>
            <a:xfrm>
              <a:off x="4901938" y="3780148"/>
              <a:ext cx="35358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F765074-B935-4CC8-BC5A-9378C18D052A}"/>
                </a:ext>
              </a:extLst>
            </p:cNvPr>
            <p:cNvCxnSpPr/>
            <p:nvPr/>
          </p:nvCxnSpPr>
          <p:spPr>
            <a:xfrm flipV="1">
              <a:off x="5297864" y="1400535"/>
              <a:ext cx="0" cy="26906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ED8DA7F-C6D7-4231-A117-E8CBAFA96146}"/>
                </a:ext>
              </a:extLst>
            </p:cNvPr>
            <p:cNvCxnSpPr/>
            <p:nvPr/>
          </p:nvCxnSpPr>
          <p:spPr>
            <a:xfrm flipV="1">
              <a:off x="6853287" y="1486013"/>
              <a:ext cx="0" cy="7104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Arrow: Curved Up 17">
              <a:extLst>
                <a:ext uri="{FF2B5EF4-FFF2-40B4-BE49-F238E27FC236}">
                  <a16:creationId xmlns:a16="http://schemas.microsoft.com/office/drawing/2014/main" id="{19A4AA1A-36EA-4A5D-A2AF-09881D0C8B09}"/>
                </a:ext>
              </a:extLst>
            </p:cNvPr>
            <p:cNvSpPr/>
            <p:nvPr/>
          </p:nvSpPr>
          <p:spPr>
            <a:xfrm>
              <a:off x="6702311" y="2092750"/>
              <a:ext cx="362526" cy="20738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3042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6962075" cy="3645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Assuming an object on the floor.</a:t>
            </a:r>
          </a:p>
          <a:p>
            <a:r>
              <a:rPr lang="en-US" dirty="0"/>
              <a:t>How many motions can it has?</a:t>
            </a:r>
          </a:p>
          <a:p>
            <a:pPr marL="0" indent="0">
              <a:buNone/>
            </a:pPr>
            <a:r>
              <a:rPr lang="en-US" b="1" dirty="0"/>
              <a:t>A rigid body in a plane can:</a:t>
            </a:r>
          </a:p>
          <a:p>
            <a:pPr lvl="1"/>
            <a:r>
              <a:rPr lang="en-US" dirty="0"/>
              <a:t>Move in x direction</a:t>
            </a:r>
          </a:p>
          <a:p>
            <a:pPr lvl="1"/>
            <a:r>
              <a:rPr lang="en-US" dirty="0"/>
              <a:t>Move in y direction</a:t>
            </a:r>
          </a:p>
          <a:p>
            <a:pPr lvl="1"/>
            <a:r>
              <a:rPr lang="en-US" dirty="0"/>
              <a:t>Rotate</a:t>
            </a:r>
          </a:p>
          <a:p>
            <a:r>
              <a:rPr lang="en-US" dirty="0"/>
              <a:t>Therefore:</a:t>
            </a:r>
          </a:p>
          <a:p>
            <a:pPr lvl="1"/>
            <a:r>
              <a:rPr lang="en-US" dirty="0"/>
              <a:t>DOF in plane = 3</a:t>
            </a:r>
          </a:p>
          <a:p>
            <a:pPr marL="0" indent="0">
              <a:buNone/>
            </a:pPr>
            <a:r>
              <a:rPr lang="en-US" dirty="0"/>
              <a:t>How many motions can you control?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830ACA-E70A-451F-A255-DC5463A64E7D}"/>
              </a:ext>
            </a:extLst>
          </p:cNvPr>
          <p:cNvGrpSpPr/>
          <p:nvPr/>
        </p:nvGrpSpPr>
        <p:grpSpPr>
          <a:xfrm>
            <a:off x="5481305" y="927410"/>
            <a:ext cx="3535818" cy="2690698"/>
            <a:chOff x="4901938" y="1400535"/>
            <a:chExt cx="3535818" cy="2690698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8" name="3D Model 7" descr="Light Gray Cuboid">
                  <a:extLst>
                    <a:ext uri="{FF2B5EF4-FFF2-40B4-BE49-F238E27FC236}">
                      <a16:creationId xmlns:a16="http://schemas.microsoft.com/office/drawing/2014/main" id="{8D739287-9F96-42EB-B8E3-DB7D12334B5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61458553"/>
                    </p:ext>
                  </p:extLst>
                </p:nvPr>
              </p:nvGraphicFramePr>
              <p:xfrm>
                <a:off x="5545824" y="1486013"/>
                <a:ext cx="2312974" cy="1959250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2312974" cy="1959250"/>
                      </a:xfrm>
                      <a:prstGeom prst="rect">
                        <a:avLst/>
                      </a:prstGeom>
                    </am3d:spPr>
                    <am3d:camera>
                      <am3d:pos x="0" y="0" z="57664451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361393" d="1000000"/>
                      <am3d:preTrans dx="0" dy="-6493603" dz="0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2153724" ay="2625824" az="1595608"/>
                      <am3d:postTrans dx="0" dy="0" dz="0"/>
                    </am3d:trans>
                    <am3d:raster rName="Office3DRenderer" rVer="16.0.8326">
                      <am3d:blip r:embed="rId3"/>
                    </am3d:raster>
                    <am3d:objViewport viewportSz="2389826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8" name="3D Model 7" descr="Light Gray Cuboid">
                  <a:extLst>
                    <a:ext uri="{FF2B5EF4-FFF2-40B4-BE49-F238E27FC236}">
                      <a16:creationId xmlns:a16="http://schemas.microsoft.com/office/drawing/2014/main" id="{8D739287-9F96-42EB-B8E3-DB7D12334B5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25191" y="1012888"/>
                  <a:ext cx="2312974" cy="195925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5D14812-CD3A-4F0F-8A55-D404AA904BC6}"/>
                </a:ext>
              </a:extLst>
            </p:cNvPr>
            <p:cNvCxnSpPr>
              <a:cxnSpLocks/>
            </p:cNvCxnSpPr>
            <p:nvPr/>
          </p:nvCxnSpPr>
          <p:spPr>
            <a:xfrm>
              <a:off x="4901938" y="3780148"/>
              <a:ext cx="35358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F765074-B935-4CC8-BC5A-9378C18D052A}"/>
                </a:ext>
              </a:extLst>
            </p:cNvPr>
            <p:cNvCxnSpPr/>
            <p:nvPr/>
          </p:nvCxnSpPr>
          <p:spPr>
            <a:xfrm flipV="1">
              <a:off x="5297864" y="1400535"/>
              <a:ext cx="0" cy="26906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ED8DA7F-C6D7-4231-A117-E8CBAFA96146}"/>
                </a:ext>
              </a:extLst>
            </p:cNvPr>
            <p:cNvCxnSpPr/>
            <p:nvPr/>
          </p:nvCxnSpPr>
          <p:spPr>
            <a:xfrm flipV="1">
              <a:off x="6853287" y="1486013"/>
              <a:ext cx="0" cy="7104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Arrow: Curved Up 17">
              <a:extLst>
                <a:ext uri="{FF2B5EF4-FFF2-40B4-BE49-F238E27FC236}">
                  <a16:creationId xmlns:a16="http://schemas.microsoft.com/office/drawing/2014/main" id="{19A4AA1A-36EA-4A5D-A2AF-09881D0C8B09}"/>
                </a:ext>
              </a:extLst>
            </p:cNvPr>
            <p:cNvSpPr/>
            <p:nvPr/>
          </p:nvSpPr>
          <p:spPr>
            <a:xfrm>
              <a:off x="6702311" y="2092750"/>
              <a:ext cx="362526" cy="207389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0325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534" y="906967"/>
            <a:ext cx="7763365" cy="364598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Why a rigid object can move sideways but cars cannot?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Does a car has 3 DOF?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should predict the object motion capability before using it for movement.</a:t>
            </a:r>
          </a:p>
          <a:p>
            <a:pPr marL="0" indent="0">
              <a:buNone/>
            </a:pPr>
            <a:r>
              <a:rPr lang="en-US" b="1" dirty="0"/>
              <a:t>We need a tool to answer:</a:t>
            </a:r>
          </a:p>
          <a:p>
            <a:r>
              <a:rPr lang="en-US" dirty="0"/>
              <a:t>How many independent motions does this system have?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11" name="Graphic 10" descr="Warning with solid fill">
            <a:extLst>
              <a:ext uri="{FF2B5EF4-FFF2-40B4-BE49-F238E27FC236}">
                <a16:creationId xmlns:a16="http://schemas.microsoft.com/office/drawing/2014/main" id="{A9FAC9A7-F44E-4554-9DEB-8CBB8902F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091" y="754996"/>
            <a:ext cx="598602" cy="59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736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 - </a:t>
            </a:r>
            <a:r>
              <a:rPr lang="en-US" dirty="0" err="1"/>
              <a:t>Grübler’s</a:t>
            </a:r>
            <a:r>
              <a:rPr lang="en-US" dirty="0"/>
              <a:t>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DAA73-0D0F-4A89-823B-FFE32D26BF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8" y="906967"/>
                <a:ext cx="8290001" cy="364598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Let’s try </a:t>
                </a:r>
                <a:r>
                  <a:rPr lang="en-US" dirty="0" err="1"/>
                  <a:t>Grübler’s</a:t>
                </a:r>
                <a:r>
                  <a:rPr lang="en-US" dirty="0"/>
                  <a:t> Formula that describe the DOF for a robot</a:t>
                </a: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>
                          <a:latin typeface="Cambria Math" panose="02040503050406030204" pitchFamily="18" charset="0"/>
                        </a:rPr>
                        <m:t>𝐷𝑂𝐹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𝛴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ᵢ</m:t>
                      </m:r>
                    </m:oMath>
                  </m:oMathPara>
                </a14:m>
              </a:p>
              <a:p>
                <a:pPr marL="0" indent="0">
                  <a:buNone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M = body freedom (3 planar / 6 spatial)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N = number of links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J = number of joints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f = joints DOF  (e.g. revolute/prismatic = 1 DOF)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Conceptually:</a:t>
                </a:r>
              </a:p>
              <a:p>
                <a:r>
                  <a:rPr lang="en-US" dirty="0"/>
                  <a:t>Links add freedom.</a:t>
                </a:r>
              </a:p>
              <a:p>
                <a:r>
                  <a:rPr lang="en-US" dirty="0"/>
                  <a:t>Joints remove freedom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DAA73-0D0F-4A89-823B-FFE32D26BF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8" y="906967"/>
                <a:ext cx="8290001" cy="3645984"/>
              </a:xfrm>
              <a:blipFill>
                <a:blip r:embed="rId3"/>
                <a:stretch>
                  <a:fillRect l="-662" t="-2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01E810-07FB-4BBC-9587-1DE5E7EFC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748" y="2273164"/>
            <a:ext cx="920375" cy="8406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6BE88A-81BA-41BA-AA25-AF5356B034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748" y="3046703"/>
            <a:ext cx="920375" cy="7587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176628D-82CB-4C75-A886-5D9D0CE54C56}"/>
              </a:ext>
            </a:extLst>
          </p:cNvPr>
          <p:cNvSpPr txBox="1"/>
          <p:nvPr/>
        </p:nvSpPr>
        <p:spPr>
          <a:xfrm>
            <a:off x="8204433" y="1927889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DOF</a:t>
            </a:r>
          </a:p>
        </p:txBody>
      </p:sp>
      <p:pic>
        <p:nvPicPr>
          <p:cNvPr id="13314" name="Picture 2" descr="2 DOFs universal joint. | Download Scientific Diagram">
            <a:extLst>
              <a:ext uri="{FF2B5EF4-FFF2-40B4-BE49-F238E27FC236}">
                <a16:creationId xmlns:a16="http://schemas.microsoft.com/office/drawing/2014/main" id="{444A5F26-BCDE-4B11-9C21-1B178A41B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924" y="2251899"/>
            <a:ext cx="1138955" cy="84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6F5C7BA-7780-4821-A264-DC4DBF905D05}"/>
              </a:ext>
            </a:extLst>
          </p:cNvPr>
          <p:cNvSpPr txBox="1"/>
          <p:nvPr/>
        </p:nvSpPr>
        <p:spPr>
          <a:xfrm>
            <a:off x="6915852" y="1930036"/>
            <a:ext cx="830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 DOF</a:t>
            </a:r>
          </a:p>
        </p:txBody>
      </p:sp>
    </p:spTree>
    <p:extLst>
      <p:ext uri="{BB962C8B-B14F-4D97-AF65-F5344CB8AC3E}">
        <p14:creationId xmlns:p14="http://schemas.microsoft.com/office/powerpoint/2010/main" val="18202214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 - </a:t>
            </a:r>
            <a:r>
              <a:rPr lang="en-US" dirty="0" err="1"/>
              <a:t>Grübler’s</a:t>
            </a:r>
            <a:r>
              <a:rPr lang="en-US" dirty="0"/>
              <a:t>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DAA73-0D0F-4A89-823B-FFE32D26BF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8" y="906967"/>
                <a:ext cx="6962075" cy="364598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A differential-drive robot:</a:t>
                </a:r>
              </a:p>
              <a:p>
                <a:r>
                  <a:rPr lang="en-US" dirty="0"/>
                  <a:t>m=3 (planar).​</a:t>
                </a:r>
              </a:p>
              <a:p>
                <a:r>
                  <a:rPr lang="en-US" dirty="0"/>
                  <a:t>Links N=4: ground (1) + chassis (1) + left wheel (1) + right wheel (1).</a:t>
                </a:r>
              </a:p>
              <a:p>
                <a:r>
                  <a:rPr lang="en-US" dirty="0"/>
                  <a:t>Joints J=2: each wheel connected to chassis by a revolute joint (axle bearing).​</a:t>
                </a:r>
              </a:p>
              <a:p>
                <a:r>
                  <a:rPr lang="en-US" dirty="0"/>
                  <a:t>Joint freedoms: f1=1, f2=1 (revolute joints are 1-DOF)</a:t>
                </a:r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𝐷𝑂𝐹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=3</m:t>
                    </m:r>
                    <m:d>
                      <m:dPr>
                        <m:ctrlPr>
                          <a:rPr lang="pt-B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 – 1 –</m:t>
                        </m:r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pt-BR" dirty="0"/>
                  <a:t>   </a:t>
                </a:r>
                <a:r>
                  <a:rPr lang="pt-BR" dirty="0">
                    <a:solidFill>
                      <a:srgbClr val="FF0000"/>
                    </a:solidFill>
                  </a:rPr>
                  <a:t>??? Some thing wrong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DAA73-0D0F-4A89-823B-FFE32D26BF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8" y="906967"/>
                <a:ext cx="6962075" cy="3645984"/>
              </a:xfrm>
              <a:blipFill>
                <a:blip r:embed="rId2"/>
                <a:stretch>
                  <a:fillRect l="-1138" t="-2174" r="-963" b="-1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1899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 - </a:t>
            </a:r>
            <a:r>
              <a:rPr lang="en-US" dirty="0" err="1"/>
              <a:t>Grübler’s</a:t>
            </a:r>
            <a:r>
              <a:rPr lang="en-US" dirty="0"/>
              <a:t>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290002" cy="36459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 differential-drive robot:</a:t>
            </a:r>
            <a:endParaRPr lang="de-DE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r>
              <a:rPr lang="pt-BR" dirty="0">
                <a:latin typeface="Cambria Math" panose="02040503050406030204" pitchFamily="18" charset="0"/>
              </a:rPr>
              <a:t>The connection between the ground and the platform is not  representable by</a:t>
            </a:r>
            <a:r>
              <a:rPr lang="en-US" dirty="0"/>
              <a:t> </a:t>
            </a:r>
            <a:r>
              <a:rPr lang="en-US" dirty="0" err="1"/>
              <a:t>Grübler’s</a:t>
            </a:r>
            <a:r>
              <a:rPr lang="en-US" dirty="0"/>
              <a:t> Formula. </a:t>
            </a:r>
          </a:p>
          <a:p>
            <a:r>
              <a:rPr lang="en-US" dirty="0"/>
              <a:t>Classical </a:t>
            </a:r>
            <a:r>
              <a:rPr lang="en-US" dirty="0" err="1"/>
              <a:t>Grübler</a:t>
            </a:r>
            <a:r>
              <a:rPr lang="en-US" dirty="0"/>
              <a:t> assumes:</a:t>
            </a:r>
          </a:p>
          <a:p>
            <a:pPr lvl="1"/>
            <a:r>
              <a:rPr lang="en-US" dirty="0"/>
              <a:t>Rigid links</a:t>
            </a:r>
          </a:p>
          <a:p>
            <a:pPr lvl="1"/>
            <a:r>
              <a:rPr lang="en-US" dirty="0"/>
              <a:t>Ideal joints</a:t>
            </a:r>
          </a:p>
          <a:p>
            <a:pPr lvl="1"/>
            <a:r>
              <a:rPr lang="en-US" dirty="0"/>
              <a:t>No rolling constraints</a:t>
            </a:r>
          </a:p>
          <a:p>
            <a:r>
              <a:rPr lang="en-US" dirty="0"/>
              <a:t>Mobile robots violate this assumption.</a:t>
            </a:r>
          </a:p>
          <a:p>
            <a:r>
              <a:rPr lang="en-US" dirty="0"/>
              <a:t>So we use an extended interpretation:</a:t>
            </a:r>
          </a:p>
          <a:p>
            <a:r>
              <a:rPr lang="en-US" dirty="0"/>
              <a:t>Mobility = Body DOF − Nonholonomic Constraints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1369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DF0939-D99A-4C44-A5A1-48EBAB21A6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F64787-3380-42E8-B4E3-59035BA6A29D}"/>
              </a:ext>
            </a:extLst>
          </p:cNvPr>
          <p:cNvSpPr txBox="1"/>
          <p:nvPr/>
        </p:nvSpPr>
        <p:spPr>
          <a:xfrm>
            <a:off x="434975" y="906966"/>
            <a:ext cx="827412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How to apply the general equation: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how many DOF the rigid body has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</a:t>
            </a:r>
            <a:r>
              <a:rPr lang="en-US" sz="1800" dirty="0"/>
              <a:t>touch points of the mobile robot body with the ground.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where you can change the velocity on each DOF components.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other consider as non-</a:t>
            </a:r>
            <a:r>
              <a:rPr lang="en-US" dirty="0" err="1"/>
              <a:t>holomnomic</a:t>
            </a:r>
            <a:r>
              <a:rPr lang="en-US" dirty="0"/>
              <a:t> constrains. </a:t>
            </a:r>
          </a:p>
          <a:p>
            <a:endParaRPr lang="en-US" sz="1800" dirty="0"/>
          </a:p>
          <a:p>
            <a:r>
              <a:rPr lang="en-US" b="1" dirty="0"/>
              <a:t>Degrees of Freedom:</a:t>
            </a:r>
            <a:r>
              <a:rPr lang="en-US" dirty="0"/>
              <a:t> is the number of independent parameters required to uniquely define the configuration (position and orientation) of a mechanical system.</a:t>
            </a:r>
          </a:p>
          <a:p>
            <a:r>
              <a:rPr lang="en-US" b="1" dirty="0"/>
              <a:t>Controlled DOF </a:t>
            </a:r>
            <a:r>
              <a:rPr lang="en-US" dirty="0"/>
              <a:t>are the movements you can directly change using motors or actuators.</a:t>
            </a:r>
          </a:p>
          <a:p>
            <a:endParaRPr lang="en-US" dirty="0"/>
          </a:p>
          <a:p>
            <a:r>
              <a:rPr lang="en-US" dirty="0"/>
              <a:t>In simple words:</a:t>
            </a:r>
          </a:p>
          <a:p>
            <a:r>
              <a:rPr lang="en-US" dirty="0"/>
              <a:t>DOF = all possible independent movements</a:t>
            </a:r>
          </a:p>
          <a:p>
            <a:r>
              <a:rPr lang="en-US" dirty="0"/>
              <a:t>Controlled DOF = the movements you can actively command</a:t>
            </a:r>
          </a:p>
        </p:txBody>
      </p:sp>
    </p:spTree>
    <p:extLst>
      <p:ext uri="{BB962C8B-B14F-4D97-AF65-F5344CB8AC3E}">
        <p14:creationId xmlns:p14="http://schemas.microsoft.com/office/powerpoint/2010/main" val="682435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2C098-7E74-4E80-88FC-6BDA35EB2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 - </a:t>
            </a:r>
            <a:r>
              <a:rPr lang="en-US" dirty="0" err="1"/>
              <a:t>Grübler’s</a:t>
            </a:r>
            <a:r>
              <a:rPr lang="en-US" dirty="0"/>
              <a:t> Formula – Differential drive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FA6D9-A4E0-4300-B748-1DAEEB4E1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Differential drive robot body has:</a:t>
            </a:r>
          </a:p>
          <a:p>
            <a:pPr lvl="1"/>
            <a:r>
              <a:rPr lang="en-US" dirty="0"/>
              <a:t>DOF: X,Y, Heading on plain</a:t>
            </a:r>
          </a:p>
          <a:p>
            <a:pPr lvl="1"/>
            <a:r>
              <a:rPr lang="en-US" dirty="0"/>
              <a:t>2 driven wheels</a:t>
            </a:r>
          </a:p>
          <a:p>
            <a:r>
              <a:rPr lang="en-US" dirty="0"/>
              <a:t>Controllable DOF = 2 (forward and Angular velocities)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39824-DAA8-40FD-9391-D7AD7004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31B20-352E-4F08-BC74-F4031B5A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ABDCB7-5476-4EC0-8E54-BE0281AAD3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88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 -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6962075" cy="3645984"/>
          </a:xfrm>
        </p:spPr>
        <p:txBody>
          <a:bodyPr>
            <a:normAutofit/>
          </a:bodyPr>
          <a:lstStyle/>
          <a:p>
            <a:r>
              <a:rPr lang="en-US" dirty="0"/>
              <a:t>More controllable DOF:</a:t>
            </a:r>
          </a:p>
          <a:p>
            <a:pPr lvl="1"/>
            <a:r>
              <a:rPr lang="en-US" dirty="0"/>
              <a:t>Higher maneuverability</a:t>
            </a:r>
            <a:br>
              <a:rPr lang="en-US" dirty="0"/>
            </a:br>
            <a:r>
              <a:rPr lang="en-US" dirty="0"/>
              <a:t>− Higher complexity</a:t>
            </a:r>
            <a:br>
              <a:rPr lang="en-US" dirty="0"/>
            </a:br>
            <a:r>
              <a:rPr lang="en-US" dirty="0"/>
              <a:t>− Higher energy consumption</a:t>
            </a:r>
          </a:p>
          <a:p>
            <a:r>
              <a:rPr lang="en-US" dirty="0"/>
              <a:t>Fewer controllable DOF:</a:t>
            </a:r>
          </a:p>
          <a:p>
            <a:pPr lvl="1"/>
            <a:r>
              <a:rPr lang="en-US" dirty="0"/>
              <a:t>Simpler</a:t>
            </a:r>
          </a:p>
          <a:p>
            <a:pPr lvl="1"/>
            <a:r>
              <a:rPr lang="en-US" dirty="0"/>
              <a:t>Efficient</a:t>
            </a:r>
            <a:br>
              <a:rPr lang="en-US" dirty="0"/>
            </a:br>
            <a:r>
              <a:rPr lang="en-US" dirty="0"/>
              <a:t>− Limited motion capability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2107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Degrees of Freedom - </a:t>
            </a:r>
            <a:r>
              <a:rPr lang="en-US" b="1" dirty="0"/>
              <a:t>Takeaways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6962075" cy="3645984"/>
          </a:xfrm>
        </p:spPr>
        <p:txBody>
          <a:bodyPr>
            <a:normAutofit/>
          </a:bodyPr>
          <a:lstStyle/>
          <a:p>
            <a:r>
              <a:rPr lang="en-US" b="1" dirty="0"/>
              <a:t>Key Takeaways</a:t>
            </a:r>
          </a:p>
          <a:p>
            <a:r>
              <a:rPr lang="en-US" dirty="0"/>
              <a:t>DOF describes motion possibilities.</a:t>
            </a:r>
          </a:p>
          <a:p>
            <a:r>
              <a:rPr lang="en-US" dirty="0" err="1"/>
              <a:t>Grübler’s</a:t>
            </a:r>
            <a:r>
              <a:rPr lang="en-US" dirty="0"/>
              <a:t> formula computes mechanism DOF.</a:t>
            </a:r>
          </a:p>
          <a:p>
            <a:r>
              <a:rPr lang="en-US" dirty="0"/>
              <a:t>Controllable DOF determines locomotion capability.</a:t>
            </a:r>
          </a:p>
          <a:p>
            <a:r>
              <a:rPr lang="en-US" dirty="0"/>
              <a:t>Engineering design depends on controllable DOF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3708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274205" cy="401248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differential-drive exploration robot moves in a completely dark straight corridor. The Robot has:</a:t>
            </a:r>
          </a:p>
          <a:p>
            <a:pPr lvl="1"/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wheels (radius r)</a:t>
            </a:r>
          </a:p>
          <a:p>
            <a:pPr lvl="1"/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encoders</a:t>
            </a:r>
          </a:p>
          <a:p>
            <a:pPr lvl="1"/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IMU (gyro)</a:t>
            </a:r>
          </a:p>
          <a:p>
            <a:pPr lvl="1"/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</a:p>
          <a:p>
            <a:pPr lvl="1"/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</a:p>
          <a:p>
            <a:pPr lvl="1"/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</a:t>
            </a:r>
          </a:p>
          <a:p>
            <a:pPr lvl="1"/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5 meters forward and stop exactly before hitting a wall.</a:t>
            </a:r>
          </a:p>
          <a:p>
            <a:pPr lvl="1"/>
            <a:r>
              <a:rPr lang="en-US" i="1" dirty="0"/>
              <a:t>Which sensor type is necessary for which decision?</a:t>
            </a:r>
            <a:endParaRPr lang="en-US" dirty="0">
              <a:solidFill>
                <a:srgbClr val="021C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17413" name="Picture 5" descr="Understanding Inertial Measurement Unit ...">
            <a:extLst>
              <a:ext uri="{FF2B5EF4-FFF2-40B4-BE49-F238E27FC236}">
                <a16:creationId xmlns:a16="http://schemas.microsoft.com/office/drawing/2014/main" id="{560FFD94-F290-4BD6-B083-2B0D0B36B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498" y="1776282"/>
            <a:ext cx="2364432" cy="1013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5" name="Picture 7" descr="Ultrasonic Sensor HC-SR04 Distance ...">
            <a:extLst>
              <a:ext uri="{FF2B5EF4-FFF2-40B4-BE49-F238E27FC236}">
                <a16:creationId xmlns:a16="http://schemas.microsoft.com/office/drawing/2014/main" id="{6F941B8B-8E6F-4B7C-AB9B-8EC1E28B2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647" y="1776283"/>
            <a:ext cx="1351649" cy="1351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3" descr="7 a Optical wheel encoder. b Encoding disk | Download Scientific Diagram">
            <a:extLst>
              <a:ext uri="{FF2B5EF4-FFF2-40B4-BE49-F238E27FC236}">
                <a16:creationId xmlns:a16="http://schemas.microsoft.com/office/drawing/2014/main" id="{A7390550-227B-4678-88C0-C58AC0E62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602" y="1791012"/>
            <a:ext cx="2883284" cy="1013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8B2BEF-2571-4246-AF1B-70C4D83BFB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3361" y="2788598"/>
            <a:ext cx="942169" cy="1020683"/>
          </a:xfrm>
          <a:prstGeom prst="rect">
            <a:avLst/>
          </a:prstGeom>
        </p:spPr>
      </p:pic>
      <p:pic>
        <p:nvPicPr>
          <p:cNvPr id="17417" name="Picture 9" descr="Continental Expands LiDAR Technology ...">
            <a:extLst>
              <a:ext uri="{FF2B5EF4-FFF2-40B4-BE49-F238E27FC236}">
                <a16:creationId xmlns:a16="http://schemas.microsoft.com/office/drawing/2014/main" id="{3574702B-894A-4AE5-9C2F-1CF81C375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472" y="2953227"/>
            <a:ext cx="1771424" cy="96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9949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274205" cy="4012482"/>
          </a:xfrm>
        </p:spPr>
        <p:txBody>
          <a:bodyPr>
            <a:normAutofit/>
          </a:bodyPr>
          <a:lstStyle/>
          <a:p>
            <a:pPr lvl="1"/>
            <a:r>
              <a:rPr lang="en-US" i="1" dirty="0"/>
              <a:t>Which sensor type is necessary for which decision?</a:t>
            </a:r>
          </a:p>
          <a:p>
            <a:pPr lvl="1"/>
            <a:endParaRPr lang="en-US" dirty="0">
              <a:solidFill>
                <a:srgbClr val="021C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is inside the robot?</a:t>
            </a:r>
          </a:p>
          <a:p>
            <a:pPr lvl="1"/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is about the environment?</a:t>
            </a:r>
          </a:p>
          <a:p>
            <a:pPr lvl="1"/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requires emitting energy?</a:t>
            </a:r>
          </a:p>
          <a:p>
            <a:pPr lvl="1"/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is just sensed passively?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17413" name="Picture 5" descr="Understanding Inertial Measurement Unit ...">
            <a:extLst>
              <a:ext uri="{FF2B5EF4-FFF2-40B4-BE49-F238E27FC236}">
                <a16:creationId xmlns:a16="http://schemas.microsoft.com/office/drawing/2014/main" id="{560FFD94-F290-4BD6-B083-2B0D0B36B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350" y="2079416"/>
            <a:ext cx="1834163" cy="786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5" name="Picture 7" descr="Ultrasonic Sensor HC-SR04 Distance ...">
            <a:extLst>
              <a:ext uri="{FF2B5EF4-FFF2-40B4-BE49-F238E27FC236}">
                <a16:creationId xmlns:a16="http://schemas.microsoft.com/office/drawing/2014/main" id="{6F941B8B-8E6F-4B7C-AB9B-8EC1E28B2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413" y="3831367"/>
            <a:ext cx="1048516" cy="104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3" descr="7 a Optical wheel encoder. b Encoding disk | Download Scientific Diagram">
            <a:extLst>
              <a:ext uri="{FF2B5EF4-FFF2-40B4-BE49-F238E27FC236}">
                <a16:creationId xmlns:a16="http://schemas.microsoft.com/office/drawing/2014/main" id="{A7390550-227B-4678-88C0-C58AC0E62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929" y="1272183"/>
            <a:ext cx="2236653" cy="786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8B2BEF-2571-4246-AF1B-70C4D83BFB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7745" y="3887890"/>
            <a:ext cx="942169" cy="1020683"/>
          </a:xfrm>
          <a:prstGeom prst="rect">
            <a:avLst/>
          </a:prstGeom>
        </p:spPr>
      </p:pic>
      <p:pic>
        <p:nvPicPr>
          <p:cNvPr id="17417" name="Picture 9" descr="Continental Expands LiDAR Technology ...">
            <a:extLst>
              <a:ext uri="{FF2B5EF4-FFF2-40B4-BE49-F238E27FC236}">
                <a16:creationId xmlns:a16="http://schemas.microsoft.com/office/drawing/2014/main" id="{3574702B-894A-4AE5-9C2F-1CF81C375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472" y="2953227"/>
            <a:ext cx="1771424" cy="96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436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36</a:t>
            </a:fld>
            <a:endParaRPr lang="en-US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B90403D-521B-417D-B770-EFAACB53AAA6}"/>
              </a:ext>
            </a:extLst>
          </p:cNvPr>
          <p:cNvGrpSpPr/>
          <p:nvPr/>
        </p:nvGrpSpPr>
        <p:grpSpPr>
          <a:xfrm>
            <a:off x="256032" y="1005673"/>
            <a:ext cx="4251960" cy="1572768"/>
            <a:chOff x="164592" y="1170432"/>
            <a:chExt cx="4343400" cy="1572768"/>
          </a:xfrm>
        </p:grpSpPr>
        <p:sp>
          <p:nvSpPr>
            <p:cNvPr id="49" name="Shape 6">
              <a:extLst>
                <a:ext uri="{FF2B5EF4-FFF2-40B4-BE49-F238E27FC236}">
                  <a16:creationId xmlns:a16="http://schemas.microsoft.com/office/drawing/2014/main" id="{CE8AE8E1-17BE-43BE-BAEE-C09200CD38C4}"/>
                </a:ext>
              </a:extLst>
            </p:cNvPr>
            <p:cNvSpPr/>
            <p:nvPr/>
          </p:nvSpPr>
          <p:spPr>
            <a:xfrm>
              <a:off x="164592" y="1170432"/>
              <a:ext cx="4343400" cy="1572768"/>
            </a:xfrm>
            <a:prstGeom prst="rect">
              <a:avLst/>
            </a:prstGeom>
            <a:solidFill>
              <a:srgbClr val="F8FBFF"/>
            </a:solidFill>
            <a:ln w="19050">
              <a:solidFill>
                <a:srgbClr val="065A82"/>
              </a:solidFill>
              <a:prstDash val="solid"/>
            </a:ln>
          </p:spPr>
        </p:sp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95213F75-E2B0-4618-8F55-9D00D7DF05FF}"/>
                </a:ext>
              </a:extLst>
            </p:cNvPr>
            <p:cNvSpPr/>
            <p:nvPr/>
          </p:nvSpPr>
          <p:spPr>
            <a:xfrm>
              <a:off x="164592" y="1170432"/>
              <a:ext cx="4343400" cy="329184"/>
            </a:xfrm>
            <a:prstGeom prst="rect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</p:spPr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7BCB679E-4AB7-48F1-B25E-08AE0C1FFBD1}"/>
                </a:ext>
              </a:extLst>
            </p:cNvPr>
            <p:cNvSpPr/>
            <p:nvPr/>
          </p:nvSpPr>
          <p:spPr>
            <a:xfrm>
              <a:off x="164592" y="1170432"/>
              <a:ext cx="4343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Proprioceptive + Active</a:t>
              </a:r>
              <a:endParaRPr lang="en-US" sz="1100" dirty="0"/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04336285-A691-4F01-BD33-31F96655BDE6}"/>
                </a:ext>
              </a:extLst>
            </p:cNvPr>
            <p:cNvSpPr/>
            <p:nvPr/>
          </p:nvSpPr>
          <p:spPr>
            <a:xfrm>
              <a:off x="256032" y="1554480"/>
              <a:ext cx="41605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Encoder (optical disc, internal pulse count)</a:t>
              </a:r>
              <a:endParaRPr lang="en-US" sz="1400" dirty="0"/>
            </a:p>
          </p:txBody>
        </p:sp>
        <p:sp>
          <p:nvSpPr>
            <p:cNvPr id="53" name="Text 10">
              <a:extLst>
                <a:ext uri="{FF2B5EF4-FFF2-40B4-BE49-F238E27FC236}">
                  <a16:creationId xmlns:a16="http://schemas.microsoft.com/office/drawing/2014/main" id="{D5C6EAEB-9DD7-4F76-9BE2-7C15DAFB936F}"/>
                </a:ext>
              </a:extLst>
            </p:cNvPr>
            <p:cNvSpPr/>
            <p:nvPr/>
          </p:nvSpPr>
          <p:spPr>
            <a:xfrm>
              <a:off x="256032" y="1901952"/>
              <a:ext cx="416052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A65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Measures wheel rotation internally — no external energy</a:t>
              </a:r>
              <a:endParaRPr lang="en-US" sz="1200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D6F1879-56F8-453F-BD68-5835AA706070}"/>
              </a:ext>
            </a:extLst>
          </p:cNvPr>
          <p:cNvGrpSpPr/>
          <p:nvPr/>
        </p:nvGrpSpPr>
        <p:grpSpPr>
          <a:xfrm>
            <a:off x="4663440" y="1005673"/>
            <a:ext cx="4343400" cy="1572768"/>
            <a:chOff x="4663440" y="1170432"/>
            <a:chExt cx="4343400" cy="1572768"/>
          </a:xfrm>
        </p:grpSpPr>
        <p:sp>
          <p:nvSpPr>
            <p:cNvPr id="54" name="Shape 11">
              <a:extLst>
                <a:ext uri="{FF2B5EF4-FFF2-40B4-BE49-F238E27FC236}">
                  <a16:creationId xmlns:a16="http://schemas.microsoft.com/office/drawing/2014/main" id="{BD6FA7AF-21AA-4274-905B-C6777187D49B}"/>
                </a:ext>
              </a:extLst>
            </p:cNvPr>
            <p:cNvSpPr/>
            <p:nvPr/>
          </p:nvSpPr>
          <p:spPr>
            <a:xfrm>
              <a:off x="4663440" y="1170432"/>
              <a:ext cx="4343400" cy="1572768"/>
            </a:xfrm>
            <a:prstGeom prst="rect">
              <a:avLst/>
            </a:prstGeom>
            <a:solidFill>
              <a:srgbClr val="F8FBFF"/>
            </a:solidFill>
            <a:ln w="19050">
              <a:solidFill>
                <a:srgbClr val="00A896"/>
              </a:solidFill>
              <a:prstDash val="solid"/>
            </a:ln>
          </p:spPr>
        </p:sp>
        <p:sp>
          <p:nvSpPr>
            <p:cNvPr id="55" name="Shape 12">
              <a:extLst>
                <a:ext uri="{FF2B5EF4-FFF2-40B4-BE49-F238E27FC236}">
                  <a16:creationId xmlns:a16="http://schemas.microsoft.com/office/drawing/2014/main" id="{6B5B38DD-2B4A-493D-941E-B798074BC846}"/>
                </a:ext>
              </a:extLst>
            </p:cNvPr>
            <p:cNvSpPr/>
            <p:nvPr/>
          </p:nvSpPr>
          <p:spPr>
            <a:xfrm>
              <a:off x="4663440" y="1170432"/>
              <a:ext cx="4343400" cy="329184"/>
            </a:xfrm>
            <a:prstGeom prst="rect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B38D4117-D5D0-4F5E-A9F1-3282CA1C7A39}"/>
                </a:ext>
              </a:extLst>
            </p:cNvPr>
            <p:cNvSpPr/>
            <p:nvPr/>
          </p:nvSpPr>
          <p:spPr>
            <a:xfrm>
              <a:off x="4663440" y="1170432"/>
              <a:ext cx="4343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Exteroceptive + Active</a:t>
              </a:r>
              <a:endParaRPr lang="en-US" sz="1100" dirty="0"/>
            </a:p>
          </p:txBody>
        </p:sp>
        <p:sp>
          <p:nvSpPr>
            <p:cNvPr id="57" name="Text 14">
              <a:extLst>
                <a:ext uri="{FF2B5EF4-FFF2-40B4-BE49-F238E27FC236}">
                  <a16:creationId xmlns:a16="http://schemas.microsoft.com/office/drawing/2014/main" id="{C9F15197-FB0E-462C-9241-CE4824704F21}"/>
                </a:ext>
              </a:extLst>
            </p:cNvPr>
            <p:cNvSpPr/>
            <p:nvPr/>
          </p:nvSpPr>
          <p:spPr>
            <a:xfrm>
              <a:off x="4754880" y="1554480"/>
              <a:ext cx="41605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LIDAR, Sonar, Time-of-flight</a:t>
              </a:r>
              <a:endParaRPr lang="en-US" sz="1400" dirty="0"/>
            </a:p>
          </p:txBody>
        </p:sp>
        <p:sp>
          <p:nvSpPr>
            <p:cNvPr id="58" name="Text 15">
              <a:extLst>
                <a:ext uri="{FF2B5EF4-FFF2-40B4-BE49-F238E27FC236}">
                  <a16:creationId xmlns:a16="http://schemas.microsoft.com/office/drawing/2014/main" id="{BC206563-29FB-4382-A3D9-E9CD47265E7E}"/>
                </a:ext>
              </a:extLst>
            </p:cNvPr>
            <p:cNvSpPr/>
            <p:nvPr/>
          </p:nvSpPr>
          <p:spPr>
            <a:xfrm>
              <a:off x="4754880" y="1901952"/>
              <a:ext cx="416052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A65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Emits laser/sound, measures return time → range</a:t>
              </a:r>
              <a:endParaRPr lang="en-US" sz="1200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3232AE5-0B41-49B7-BE45-AE4F90F5A16C}"/>
              </a:ext>
            </a:extLst>
          </p:cNvPr>
          <p:cNvGrpSpPr/>
          <p:nvPr/>
        </p:nvGrpSpPr>
        <p:grpSpPr>
          <a:xfrm>
            <a:off x="256032" y="2743033"/>
            <a:ext cx="4251960" cy="1572768"/>
            <a:chOff x="164592" y="2907792"/>
            <a:chExt cx="4343400" cy="1572768"/>
          </a:xfrm>
        </p:grpSpPr>
        <p:sp>
          <p:nvSpPr>
            <p:cNvPr id="59" name="Shape 16">
              <a:extLst>
                <a:ext uri="{FF2B5EF4-FFF2-40B4-BE49-F238E27FC236}">
                  <a16:creationId xmlns:a16="http://schemas.microsoft.com/office/drawing/2014/main" id="{110B706F-1C84-4654-AD14-6373DD170E7D}"/>
                </a:ext>
              </a:extLst>
            </p:cNvPr>
            <p:cNvSpPr/>
            <p:nvPr/>
          </p:nvSpPr>
          <p:spPr>
            <a:xfrm>
              <a:off x="164592" y="2907792"/>
              <a:ext cx="4343400" cy="1572768"/>
            </a:xfrm>
            <a:prstGeom prst="rect">
              <a:avLst/>
            </a:prstGeom>
            <a:solidFill>
              <a:srgbClr val="F8FBFF"/>
            </a:solidFill>
            <a:ln w="19050">
              <a:solidFill>
                <a:srgbClr val="1C7293"/>
              </a:solidFill>
              <a:prstDash val="solid"/>
            </a:ln>
          </p:spPr>
        </p:sp>
        <p:sp>
          <p:nvSpPr>
            <p:cNvPr id="60" name="Shape 17">
              <a:extLst>
                <a:ext uri="{FF2B5EF4-FFF2-40B4-BE49-F238E27FC236}">
                  <a16:creationId xmlns:a16="http://schemas.microsoft.com/office/drawing/2014/main" id="{CB3C5925-5410-457C-A535-5C354190A3F9}"/>
                </a:ext>
              </a:extLst>
            </p:cNvPr>
            <p:cNvSpPr/>
            <p:nvPr/>
          </p:nvSpPr>
          <p:spPr>
            <a:xfrm>
              <a:off x="164592" y="2907792"/>
              <a:ext cx="4343400" cy="329184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</p:sp>
        <p:sp>
          <p:nvSpPr>
            <p:cNvPr id="61" name="Text 18">
              <a:extLst>
                <a:ext uri="{FF2B5EF4-FFF2-40B4-BE49-F238E27FC236}">
                  <a16:creationId xmlns:a16="http://schemas.microsoft.com/office/drawing/2014/main" id="{46CD0E80-8C83-4DE9-ABF9-7F04808D0170}"/>
                </a:ext>
              </a:extLst>
            </p:cNvPr>
            <p:cNvSpPr/>
            <p:nvPr/>
          </p:nvSpPr>
          <p:spPr>
            <a:xfrm>
              <a:off x="164592" y="2907792"/>
              <a:ext cx="4343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Proprioceptive + Passive</a:t>
              </a:r>
              <a:endParaRPr lang="en-US" sz="1100" dirty="0"/>
            </a:p>
          </p:txBody>
        </p:sp>
        <p:sp>
          <p:nvSpPr>
            <p:cNvPr id="62" name="Text 19">
              <a:extLst>
                <a:ext uri="{FF2B5EF4-FFF2-40B4-BE49-F238E27FC236}">
                  <a16:creationId xmlns:a16="http://schemas.microsoft.com/office/drawing/2014/main" id="{A7F44171-CA74-4CA1-8441-3FFD7DD88456}"/>
                </a:ext>
              </a:extLst>
            </p:cNvPr>
            <p:cNvSpPr/>
            <p:nvPr/>
          </p:nvSpPr>
          <p:spPr>
            <a:xfrm>
              <a:off x="256032" y="3291840"/>
              <a:ext cx="41605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IMU (gyroscope, accelerometer)</a:t>
              </a:r>
              <a:endParaRPr lang="en-US" sz="1400" dirty="0"/>
            </a:p>
          </p:txBody>
        </p:sp>
        <p:sp>
          <p:nvSpPr>
            <p:cNvPr id="63" name="Text 20">
              <a:extLst>
                <a:ext uri="{FF2B5EF4-FFF2-40B4-BE49-F238E27FC236}">
                  <a16:creationId xmlns:a16="http://schemas.microsoft.com/office/drawing/2014/main" id="{0DA0D928-78EE-4266-BDF3-1A8264A25687}"/>
                </a:ext>
              </a:extLst>
            </p:cNvPr>
            <p:cNvSpPr/>
            <p:nvPr/>
          </p:nvSpPr>
          <p:spPr>
            <a:xfrm>
              <a:off x="256032" y="3639312"/>
              <a:ext cx="416052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A65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Measures internal inertial forces — no energy emitted</a:t>
              </a:r>
              <a:endParaRPr lang="en-US" sz="120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90DB629-9833-40F7-9B85-539CB34BF6A8}"/>
              </a:ext>
            </a:extLst>
          </p:cNvPr>
          <p:cNvGrpSpPr/>
          <p:nvPr/>
        </p:nvGrpSpPr>
        <p:grpSpPr>
          <a:xfrm>
            <a:off x="4663440" y="2743033"/>
            <a:ext cx="4343400" cy="1572768"/>
            <a:chOff x="4663440" y="2907792"/>
            <a:chExt cx="4343400" cy="1572768"/>
          </a:xfrm>
        </p:grpSpPr>
        <p:sp>
          <p:nvSpPr>
            <p:cNvPr id="64" name="Shape 21">
              <a:extLst>
                <a:ext uri="{FF2B5EF4-FFF2-40B4-BE49-F238E27FC236}">
                  <a16:creationId xmlns:a16="http://schemas.microsoft.com/office/drawing/2014/main" id="{943848F6-9A0E-4D5F-A7F6-B5668F4401B2}"/>
                </a:ext>
              </a:extLst>
            </p:cNvPr>
            <p:cNvSpPr/>
            <p:nvPr/>
          </p:nvSpPr>
          <p:spPr>
            <a:xfrm>
              <a:off x="4663440" y="2907792"/>
              <a:ext cx="4343400" cy="1572768"/>
            </a:xfrm>
            <a:prstGeom prst="rect">
              <a:avLst/>
            </a:prstGeom>
            <a:solidFill>
              <a:srgbClr val="F8FBFF"/>
            </a:solidFill>
            <a:ln w="19050">
              <a:solidFill>
                <a:srgbClr val="8E44AD"/>
              </a:solidFill>
              <a:prstDash val="solid"/>
            </a:ln>
          </p:spPr>
        </p:sp>
        <p:sp>
          <p:nvSpPr>
            <p:cNvPr id="65" name="Shape 22">
              <a:extLst>
                <a:ext uri="{FF2B5EF4-FFF2-40B4-BE49-F238E27FC236}">
                  <a16:creationId xmlns:a16="http://schemas.microsoft.com/office/drawing/2014/main" id="{25CFD43A-AF7F-4EA7-AEB4-3C0A975F2FE3}"/>
                </a:ext>
              </a:extLst>
            </p:cNvPr>
            <p:cNvSpPr/>
            <p:nvPr/>
          </p:nvSpPr>
          <p:spPr>
            <a:xfrm>
              <a:off x="4663440" y="2907792"/>
              <a:ext cx="4343400" cy="329184"/>
            </a:xfrm>
            <a:prstGeom prst="rect">
              <a:avLst/>
            </a:prstGeom>
            <a:solidFill>
              <a:srgbClr val="8E44AD"/>
            </a:solidFill>
            <a:ln w="12700">
              <a:solidFill>
                <a:srgbClr val="8E44AD"/>
              </a:solidFill>
              <a:prstDash val="solid"/>
            </a:ln>
          </p:spPr>
        </p:sp>
        <p:sp>
          <p:nvSpPr>
            <p:cNvPr id="66" name="Text 23">
              <a:extLst>
                <a:ext uri="{FF2B5EF4-FFF2-40B4-BE49-F238E27FC236}">
                  <a16:creationId xmlns:a16="http://schemas.microsoft.com/office/drawing/2014/main" id="{2F8B9919-2C39-4DF5-8DCA-9A1A8C150383}"/>
                </a:ext>
              </a:extLst>
            </p:cNvPr>
            <p:cNvSpPr/>
            <p:nvPr/>
          </p:nvSpPr>
          <p:spPr>
            <a:xfrm>
              <a:off x="4663440" y="2907792"/>
              <a:ext cx="4343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Exteroceptive + Passive</a:t>
              </a:r>
              <a:endParaRPr lang="en-US" sz="1100" dirty="0"/>
            </a:p>
          </p:txBody>
        </p:sp>
        <p:sp>
          <p:nvSpPr>
            <p:cNvPr id="67" name="Text 24">
              <a:extLst>
                <a:ext uri="{FF2B5EF4-FFF2-40B4-BE49-F238E27FC236}">
                  <a16:creationId xmlns:a16="http://schemas.microsoft.com/office/drawing/2014/main" id="{2BFB7E6B-8AFE-49AB-A6DC-AD66646D4457}"/>
                </a:ext>
              </a:extLst>
            </p:cNvPr>
            <p:cNvSpPr/>
            <p:nvPr/>
          </p:nvSpPr>
          <p:spPr>
            <a:xfrm>
              <a:off x="4754880" y="3291840"/>
              <a:ext cx="41605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Camera, thermopile</a:t>
              </a:r>
              <a:endParaRPr lang="en-US" sz="1400" dirty="0"/>
            </a:p>
          </p:txBody>
        </p:sp>
        <p:sp>
          <p:nvSpPr>
            <p:cNvPr id="68" name="Text 25">
              <a:extLst>
                <a:ext uri="{FF2B5EF4-FFF2-40B4-BE49-F238E27FC236}">
                  <a16:creationId xmlns:a16="http://schemas.microsoft.com/office/drawing/2014/main" id="{A01CE146-007D-48BB-930A-66909AF59D46}"/>
                </a:ext>
              </a:extLst>
            </p:cNvPr>
            <p:cNvSpPr/>
            <p:nvPr/>
          </p:nvSpPr>
          <p:spPr>
            <a:xfrm>
              <a:off x="4754880" y="3639312"/>
              <a:ext cx="416052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A65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Detects ambient light/heat — no energy emitted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563428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BCCE-26DA-45EA-B049-9AA4F9787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C899F-286A-4D1B-82D1-2142AC7C5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Let’s think about autonomous vehicle.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Do we need all sensors? </a:t>
            </a:r>
          </a:p>
          <a:p>
            <a:r>
              <a:rPr lang="en-US" dirty="0"/>
              <a:t>Why there are many?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CE1F0-9AAA-4855-B55C-C5480ECA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05002-64C7-4DEB-9DA3-218BBFFC0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DC4C09-061D-4FC1-BA97-B0188BC1F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810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</a:t>
            </a:r>
          </a:p>
          <a:p>
            <a:r>
              <a:rPr lang="en-US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/ </a:t>
            </a:r>
            <a:r>
              <a:rPr lang="en-US" sz="2400" dirty="0" err="1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Webpot</a:t>
            </a:r>
            <a:endParaRPr lang="en-US" sz="2400" dirty="0">
              <a:solidFill>
                <a:srgbClr val="021C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5030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989E1-6655-4F64-93D3-B114EC94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 architecture – Robot SW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7EB3F-FAFF-4DF5-A671-1ECE66955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7EEAC-363E-40C4-95F7-52AC73597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5C52AC-F5EB-4750-A6F1-107998EB43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BED569F-2F3B-4FA3-9676-DC135EA57C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4898" y="1021799"/>
            <a:ext cx="819974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Imagine we are building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warehouse mobile robot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has: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Lidar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Camera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Obstacle avoidance algorithm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Localization algorithm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Path planner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Motor controller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Battery monitor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running as separate software modules.”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If one module needs information from another, how should they communicate?</a:t>
            </a:r>
          </a:p>
        </p:txBody>
      </p:sp>
    </p:spTree>
    <p:extLst>
      <p:ext uri="{BB962C8B-B14F-4D97-AF65-F5344CB8AC3E}">
        <p14:creationId xmlns:p14="http://schemas.microsoft.com/office/powerpoint/2010/main" val="40849889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CADDA-0A8D-4796-A83A-90A1E6BB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 architecture – Robot SW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7982E-0F29-48B9-8F7F-99E8DC932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happens if we add a new module?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if two modules want the same data?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if the lidar updates 10 times per second?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if one module crashes?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90F46-C688-42DB-A8D2-AA7966990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6CD88-737E-4EC9-847C-86C5BE0AB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740A67-87D0-44A9-B5FC-AC0EF7BE7D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261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95422-74CB-4533-A3BB-71E8429A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 architecture – Robot SW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5CD4E-610E-436A-B563-A3102E065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 many connections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Tight coupling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 to scale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clear data flow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⚠️ Conclusion: We need structured communication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5D07B-D400-4E2E-8721-F7D96810F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948D5-4AFE-41D7-8254-420CF520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5C35CA-5390-482C-AE4C-61942C72F1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36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D05D2-FBE9-4C00-BF23-B534E83E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 architecture – Communication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A9CBA-C96B-4E19-8672-C24635273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Type A: Continuous Information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Lidar continuously publishes scans.</a:t>
            </a:r>
          </a:p>
          <a:p>
            <a:r>
              <a:rPr lang="en-US" dirty="0"/>
              <a:t>Battery continuously reports level.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Does the obstacle avoidance module need to ask every time for lidar data?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CFFD-D252-48BE-B19E-5A0EB230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3FA56-5D79-48AA-AC49-812E2CD0C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77CD0B-2514-42FF-8A5B-1A06D26C23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864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D05D2-FBE9-4C00-BF23-B534E83E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 architecture – Communication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A9CBA-C96B-4E19-8672-C24635273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Type B: On-Demand Request</a:t>
            </a:r>
          </a:p>
          <a:p>
            <a:pPr marL="0" indent="0">
              <a:buNone/>
            </a:pPr>
            <a:r>
              <a:rPr lang="en-US" dirty="0"/>
              <a:t>Example: </a:t>
            </a:r>
          </a:p>
          <a:p>
            <a:r>
              <a:rPr lang="en-US" dirty="0"/>
              <a:t>“Reset odometry”</a:t>
            </a:r>
          </a:p>
          <a:p>
            <a:r>
              <a:rPr lang="en-US" dirty="0"/>
              <a:t>“Give me current robot pose”</a:t>
            </a:r>
          </a:p>
          <a:p>
            <a:r>
              <a:rPr lang="en-US" dirty="0"/>
              <a:t>“Compute path to goal”</a:t>
            </a:r>
          </a:p>
          <a:p>
            <a:pPr marL="0" indent="0">
              <a:buNone/>
            </a:pPr>
            <a:r>
              <a:rPr lang="en-US" dirty="0"/>
              <a:t>Should this run continuously? Or only when requested?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CFFD-D252-48BE-B19E-5A0EB230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3FA56-5D79-48AA-AC49-812E2CD0C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77CD0B-2514-42FF-8A5B-1A06D26C23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3945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8218B-47CC-46E2-AE34-901C6F86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Architecture: Nodes, Topics, Messages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6BB6C-776E-4BD1-BB02-F2E63A1B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D90D5-06F6-4025-B8F9-87C25E74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6FEFF8-7F1C-4901-A427-9F1F9CCEA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docs.ros.org/</a:t>
            </a: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BD3AA651-303C-43F1-A691-1ADAD4D5A0D2}"/>
              </a:ext>
            </a:extLst>
          </p:cNvPr>
          <p:cNvSpPr/>
          <p:nvPr/>
        </p:nvSpPr>
        <p:spPr>
          <a:xfrm>
            <a:off x="5120640" y="1170432"/>
            <a:ext cx="164592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978F02E5-7BE1-4407-86CB-969332CB62B1}"/>
              </a:ext>
            </a:extLst>
          </p:cNvPr>
          <p:cNvSpPr/>
          <p:nvPr/>
        </p:nvSpPr>
        <p:spPr>
          <a:xfrm>
            <a:off x="5120640" y="117043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(عقدة)</a:t>
            </a:r>
            <a:endParaRPr lang="en-US" sz="95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8823CC8-966C-4615-8814-F94F881A348B}"/>
              </a:ext>
            </a:extLst>
          </p:cNvPr>
          <p:cNvSpPr/>
          <p:nvPr/>
        </p:nvSpPr>
        <p:spPr>
          <a:xfrm>
            <a:off x="6803136" y="1170432"/>
            <a:ext cx="2139696" cy="438912"/>
          </a:xfrm>
          <a:prstGeom prst="rect">
            <a:avLst/>
          </a:prstGeom>
          <a:solidFill>
            <a:srgbClr val="EBF5FF"/>
          </a:solidFill>
          <a:ln w="12700">
            <a:solidFill>
              <a:srgbClr val="BBDDFF"/>
            </a:solidFill>
            <a:prstDash val="solid"/>
          </a:ln>
        </p:spPr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B4B58F60-A914-4423-ADAA-D164A7BA46CB}"/>
              </a:ext>
            </a:extLst>
          </p:cNvPr>
          <p:cNvSpPr/>
          <p:nvPr/>
        </p:nvSpPr>
        <p:spPr>
          <a:xfrm>
            <a:off x="6858000" y="1188720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process — one responsibility (e.g., /lidar_driver, /navigation_node)</a:t>
            </a:r>
            <a:endParaRPr lang="en-US" sz="90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5F21DF1E-2962-4564-A77B-1310F9BBF169}"/>
              </a:ext>
            </a:extLst>
          </p:cNvPr>
          <p:cNvSpPr/>
          <p:nvPr/>
        </p:nvSpPr>
        <p:spPr>
          <a:xfrm>
            <a:off x="5120640" y="1719072"/>
            <a:ext cx="164592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5856657B-C322-489D-A80E-14505555DAD2}"/>
              </a:ext>
            </a:extLst>
          </p:cNvPr>
          <p:cNvSpPr/>
          <p:nvPr/>
        </p:nvSpPr>
        <p:spPr>
          <a:xfrm>
            <a:off x="5120640" y="171907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(موضوع)</a:t>
            </a:r>
            <a:endParaRPr lang="en-US" sz="95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61335505-6B5F-4017-9EC6-0E9BE2AE263D}"/>
              </a:ext>
            </a:extLst>
          </p:cNvPr>
          <p:cNvSpPr/>
          <p:nvPr/>
        </p:nvSpPr>
        <p:spPr>
          <a:xfrm>
            <a:off x="6803136" y="1719072"/>
            <a:ext cx="2139696" cy="438912"/>
          </a:xfrm>
          <a:prstGeom prst="rect">
            <a:avLst/>
          </a:prstGeom>
          <a:solidFill>
            <a:srgbClr val="EBF5FF"/>
          </a:solidFill>
          <a:ln w="12700">
            <a:solidFill>
              <a:srgbClr val="BBDDFF"/>
            </a:solidFill>
            <a:prstDash val="solid"/>
          </a:ln>
        </p:spPr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A8238F27-A865-4601-A64D-1300483E4469}"/>
              </a:ext>
            </a:extLst>
          </p:cNvPr>
          <p:cNvSpPr/>
          <p:nvPr/>
        </p:nvSpPr>
        <p:spPr>
          <a:xfrm>
            <a:off x="6858000" y="1737360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async channel — /scan, /odom, /cmd_vel, /path</a:t>
            </a:r>
            <a:endParaRPr lang="en-US" sz="90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FC170E29-2337-4F52-ACD3-653B29585FAF}"/>
              </a:ext>
            </a:extLst>
          </p:cNvPr>
          <p:cNvSpPr/>
          <p:nvPr/>
        </p:nvSpPr>
        <p:spPr>
          <a:xfrm>
            <a:off x="5120640" y="2267712"/>
            <a:ext cx="164592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004CE2A3-FCA4-429C-B770-8BE765626606}"/>
              </a:ext>
            </a:extLst>
          </p:cNvPr>
          <p:cNvSpPr/>
          <p:nvPr/>
        </p:nvSpPr>
        <p:spPr>
          <a:xfrm>
            <a:off x="5120640" y="226771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(رسالة)</a:t>
            </a:r>
            <a:endParaRPr lang="en-US" sz="95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8078E533-CE27-4796-AE27-408644AC5718}"/>
              </a:ext>
            </a:extLst>
          </p:cNvPr>
          <p:cNvSpPr/>
          <p:nvPr/>
        </p:nvSpPr>
        <p:spPr>
          <a:xfrm>
            <a:off x="6803136" y="2267712"/>
            <a:ext cx="2139696" cy="438912"/>
          </a:xfrm>
          <a:prstGeom prst="rect">
            <a:avLst/>
          </a:prstGeom>
          <a:solidFill>
            <a:srgbClr val="EBF5FF"/>
          </a:solidFill>
          <a:ln w="12700">
            <a:solidFill>
              <a:srgbClr val="BBDDFF"/>
            </a:solidFill>
            <a:prstDash val="solid"/>
          </a:ln>
        </p:spPr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FBF110D6-13A6-46E0-B8B7-0883C658EF09}"/>
              </a:ext>
            </a:extLst>
          </p:cNvPr>
          <p:cNvSpPr/>
          <p:nvPr/>
        </p:nvSpPr>
        <p:spPr>
          <a:xfrm>
            <a:off x="6858000" y="2286000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data struct — sensor_msgs/LaserScan, geometry_msgs/Twist</a:t>
            </a:r>
            <a:endParaRPr lang="en-US" sz="90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9B091DF8-0BEB-45C2-AF51-279105869FC4}"/>
              </a:ext>
            </a:extLst>
          </p:cNvPr>
          <p:cNvSpPr/>
          <p:nvPr/>
        </p:nvSpPr>
        <p:spPr>
          <a:xfrm>
            <a:off x="5120640" y="2816352"/>
            <a:ext cx="164592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7729622E-F6B0-4F41-81E3-F8A952B9C916}"/>
              </a:ext>
            </a:extLst>
          </p:cNvPr>
          <p:cNvSpPr/>
          <p:nvPr/>
        </p:nvSpPr>
        <p:spPr>
          <a:xfrm>
            <a:off x="5120640" y="28163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(خدمة)</a:t>
            </a:r>
            <a:endParaRPr lang="en-US" sz="95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BBD12DDE-CDB8-462B-83D7-120344BB0808}"/>
              </a:ext>
            </a:extLst>
          </p:cNvPr>
          <p:cNvSpPr/>
          <p:nvPr/>
        </p:nvSpPr>
        <p:spPr>
          <a:xfrm>
            <a:off x="6803136" y="2816352"/>
            <a:ext cx="2139696" cy="438912"/>
          </a:xfrm>
          <a:prstGeom prst="rect">
            <a:avLst/>
          </a:prstGeom>
          <a:solidFill>
            <a:srgbClr val="EBF5FF"/>
          </a:solidFill>
          <a:ln w="12700">
            <a:solidFill>
              <a:srgbClr val="BBDDFF"/>
            </a:solidFill>
            <a:prstDash val="solid"/>
          </a:ln>
        </p:spPr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473C324E-C198-498C-9B95-854CF8A9305D}"/>
              </a:ext>
            </a:extLst>
          </p:cNvPr>
          <p:cNvSpPr/>
          <p:nvPr/>
        </p:nvSpPr>
        <p:spPr>
          <a:xfrm>
            <a:off x="6858000" y="2834640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request-response — emergency stop, mode change</a:t>
            </a:r>
            <a:endParaRPr lang="en-US" sz="900" dirty="0"/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E29F24B5-4B7B-4CCE-B5DA-2C0D91F91B71}"/>
              </a:ext>
            </a:extLst>
          </p:cNvPr>
          <p:cNvSpPr/>
          <p:nvPr/>
        </p:nvSpPr>
        <p:spPr>
          <a:xfrm>
            <a:off x="5120640" y="3364992"/>
            <a:ext cx="164592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F95F7FA1-9641-4752-8A45-7AB8A9DF78B0}"/>
              </a:ext>
            </a:extLst>
          </p:cNvPr>
          <p:cNvSpPr/>
          <p:nvPr/>
        </p:nvSpPr>
        <p:spPr>
          <a:xfrm>
            <a:off x="5120640" y="336499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Library</a:t>
            </a:r>
            <a:endParaRPr lang="en-US" sz="95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F2E5D2FA-0C99-4379-B75B-EC375E93527A}"/>
              </a:ext>
            </a:extLst>
          </p:cNvPr>
          <p:cNvSpPr/>
          <p:nvPr/>
        </p:nvSpPr>
        <p:spPr>
          <a:xfrm>
            <a:off x="6803136" y="3364992"/>
            <a:ext cx="2139696" cy="438912"/>
          </a:xfrm>
          <a:prstGeom prst="rect">
            <a:avLst/>
          </a:prstGeom>
          <a:solidFill>
            <a:srgbClr val="EBF5FF"/>
          </a:solidFill>
          <a:ln w="12700">
            <a:solidFill>
              <a:srgbClr val="BBDDFF"/>
            </a:solidFill>
            <a:prstDash val="solid"/>
          </a:ln>
        </p:spPr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E56EE154-BC22-4D63-9186-8D63D21E3D5D}"/>
              </a:ext>
            </a:extLst>
          </p:cNvPr>
          <p:cNvSpPr/>
          <p:nvPr/>
        </p:nvSpPr>
        <p:spPr>
          <a:xfrm>
            <a:off x="6858000" y="3383280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coordinate frame transforms — robot body → world → map</a:t>
            </a:r>
            <a:endParaRPr lang="en-US" sz="900" dirty="0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38FC6E5D-2DB1-48CA-B8B2-6CA214411D4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37" y="969394"/>
            <a:ext cx="4971268" cy="2794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DD03E16-1A8B-498F-BA27-3600FC1A619F}"/>
              </a:ext>
            </a:extLst>
          </p:cNvPr>
          <p:cNvSpPr txBox="1"/>
          <p:nvPr/>
        </p:nvSpPr>
        <p:spPr>
          <a:xfrm>
            <a:off x="-68767" y="4145564"/>
            <a:ext cx="880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800" dirty="0" err="1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lidar_driver</a:t>
            </a:r>
            <a:r>
              <a:rPr lang="en-US" sz="18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/scan → /</a:t>
            </a:r>
            <a:r>
              <a:rPr lang="en-US" sz="1800" dirty="0" err="1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navigation_node</a:t>
            </a:r>
            <a:r>
              <a:rPr lang="en-US" sz="18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/</a:t>
            </a:r>
            <a:r>
              <a:rPr lang="en-US" sz="1800" dirty="0" err="1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cmd_vel</a:t>
            </a:r>
            <a:r>
              <a:rPr lang="en-US" sz="18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/turtlebot3_core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040979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8218B-47CC-46E2-AE34-901C6F86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Architecture: </a:t>
            </a:r>
            <a:r>
              <a:rPr lang="en-US" dirty="0"/>
              <a:t>Robot SW design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E810CA-D031-4D5E-BB04-2370D3772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274205" cy="1789582"/>
          </a:xfrm>
        </p:spPr>
        <p:txBody>
          <a:bodyPr numCol="2"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node publishes.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nodes can subscribe.</a:t>
            </a:r>
          </a:p>
          <a:p>
            <a:pPr>
              <a:buFont typeface="Arial" panose="020B0604020202020204" pitchFamily="34" charset="0"/>
              <a:buChar char="•"/>
              <a:tabLst>
                <a:tab pos="3657600" algn="l"/>
              </a:tabLst>
            </a:pPr>
            <a:r>
              <a:rPr lang="en-US" dirty="0"/>
              <a:t>Messages are sent whenever available.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Publisher does NOT know who receives.</a:t>
            </a:r>
            <a:endParaRPr lang="en-US" b="1" dirty="0"/>
          </a:p>
          <a:p>
            <a:pPr indent="1588">
              <a:buFont typeface="+mj-lt"/>
              <a:buAutoNum type="arabicPeriod"/>
            </a:pPr>
            <a:r>
              <a:rPr lang="en-US" dirty="0"/>
              <a:t>Can multiple nodes publish to the same topic?</a:t>
            </a:r>
            <a:br>
              <a:rPr lang="en-US" dirty="0"/>
            </a:br>
            <a:endParaRPr lang="en-US" dirty="0"/>
          </a:p>
          <a:p>
            <a:pPr indent="1588">
              <a:buFont typeface="+mj-lt"/>
              <a:buAutoNum type="arabicPeriod"/>
            </a:pPr>
            <a:r>
              <a:rPr lang="en-US" dirty="0"/>
              <a:t>Can multiple nodes subscribe?</a:t>
            </a:r>
            <a:br>
              <a:rPr lang="en-US" dirty="0"/>
            </a:br>
            <a:endParaRPr lang="en-US" dirty="0"/>
          </a:p>
          <a:p>
            <a:pPr indent="1588">
              <a:buFont typeface="+mj-lt"/>
              <a:buAutoNum type="arabicPeriod"/>
            </a:pPr>
            <a:r>
              <a:rPr lang="en-US" dirty="0"/>
              <a:t>Does the publisher wait for a response?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6BB6C-776E-4BD1-BB02-F2E63A1B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D90D5-06F6-4025-B8F9-87C25E74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6FEFF8-7F1C-4901-A427-9F1F9CCEA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726DBDC-8FAF-41ED-8801-CCF47842F8D2}"/>
              </a:ext>
            </a:extLst>
          </p:cNvPr>
          <p:cNvSpPr/>
          <p:nvPr/>
        </p:nvSpPr>
        <p:spPr>
          <a:xfrm>
            <a:off x="3549594" y="3670203"/>
            <a:ext cx="1260389" cy="955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LIDAR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9DE0085-D1E9-4C36-9951-8DA39E0DDC6A}"/>
              </a:ext>
            </a:extLst>
          </p:cNvPr>
          <p:cNvSpPr/>
          <p:nvPr/>
        </p:nvSpPr>
        <p:spPr>
          <a:xfrm>
            <a:off x="5216425" y="3631858"/>
            <a:ext cx="1260389" cy="5290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/scan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8F23DD1-D604-46A0-8DB7-0371440E97C3}"/>
              </a:ext>
            </a:extLst>
          </p:cNvPr>
          <p:cNvSpPr/>
          <p:nvPr/>
        </p:nvSpPr>
        <p:spPr>
          <a:xfrm>
            <a:off x="7273055" y="3845126"/>
            <a:ext cx="1817399" cy="955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Localization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3AB454F-2631-41D7-941C-D65C26D74F39}"/>
              </a:ext>
            </a:extLst>
          </p:cNvPr>
          <p:cNvSpPr/>
          <p:nvPr/>
        </p:nvSpPr>
        <p:spPr>
          <a:xfrm>
            <a:off x="7273054" y="2698909"/>
            <a:ext cx="1817400" cy="955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Mapping</a:t>
            </a:r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7508FEC6-7A15-4666-AA3C-70C846C473AA}"/>
              </a:ext>
            </a:extLst>
          </p:cNvPr>
          <p:cNvCxnSpPr>
            <a:stCxn id="8" idx="6"/>
          </p:cNvCxnSpPr>
          <p:nvPr/>
        </p:nvCxnSpPr>
        <p:spPr>
          <a:xfrm flipV="1">
            <a:off x="4809983" y="3896385"/>
            <a:ext cx="390881" cy="25161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9D47CF2D-EFCD-49DA-99E7-DB33E368B99B}"/>
              </a:ext>
            </a:extLst>
          </p:cNvPr>
          <p:cNvCxnSpPr>
            <a:endCxn id="36" idx="2"/>
          </p:cNvCxnSpPr>
          <p:nvPr/>
        </p:nvCxnSpPr>
        <p:spPr>
          <a:xfrm flipV="1">
            <a:off x="6461253" y="3176704"/>
            <a:ext cx="811801" cy="61128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E8C06293-96DC-4C44-8B0C-752E921ED64F}"/>
              </a:ext>
            </a:extLst>
          </p:cNvPr>
          <p:cNvCxnSpPr>
            <a:endCxn id="35" idx="2"/>
          </p:cNvCxnSpPr>
          <p:nvPr/>
        </p:nvCxnSpPr>
        <p:spPr>
          <a:xfrm>
            <a:off x="6461253" y="3896385"/>
            <a:ext cx="811802" cy="4265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93C86AA-F05B-4A7F-B07E-B91E6B8AF302}"/>
              </a:ext>
            </a:extLst>
          </p:cNvPr>
          <p:cNvSpPr txBox="1"/>
          <p:nvPr/>
        </p:nvSpPr>
        <p:spPr>
          <a:xfrm>
            <a:off x="511953" y="2717639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Topics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Asynchronous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Decoupled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for continuous data</a:t>
            </a:r>
          </a:p>
        </p:txBody>
      </p:sp>
    </p:spTree>
    <p:extLst>
      <p:ext uri="{BB962C8B-B14F-4D97-AF65-F5344CB8AC3E}">
        <p14:creationId xmlns:p14="http://schemas.microsoft.com/office/powerpoint/2010/main" val="35085858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8218B-47CC-46E2-AE34-901C6F86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Architecture: Topics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6BB6C-776E-4BD1-BB02-F2E63A1B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D90D5-06F6-4025-B8F9-87C25E74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6FEFF8-7F1C-4901-A427-9F1F9CCEA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docs.ros.org/</a:t>
            </a:r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86E4B593-FCB8-4838-8978-B1E9002D08F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251" y="1360842"/>
            <a:ext cx="6200792" cy="3485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062DBD-62FE-49F8-94DA-700F815DB806}"/>
              </a:ext>
            </a:extLst>
          </p:cNvPr>
          <p:cNvSpPr txBox="1"/>
          <p:nvPr/>
        </p:nvSpPr>
        <p:spPr>
          <a:xfrm flipH="1">
            <a:off x="434974" y="991510"/>
            <a:ext cx="8289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Topic can receive messages from multiple nodes. And forward it to multiple node </a:t>
            </a:r>
          </a:p>
        </p:txBody>
      </p:sp>
    </p:spTree>
    <p:extLst>
      <p:ext uri="{BB962C8B-B14F-4D97-AF65-F5344CB8AC3E}">
        <p14:creationId xmlns:p14="http://schemas.microsoft.com/office/powerpoint/2010/main" val="13212457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D65EF-7D4A-498E-B882-FE4C8D60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Architecture: </a:t>
            </a:r>
            <a:r>
              <a:rPr lang="en-US" dirty="0"/>
              <a:t>Robot SW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7EF0D-B103-4180-B7E1-7216C5367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controller want to reset the odometer, values.</a:t>
            </a:r>
          </a:p>
          <a:p>
            <a:r>
              <a:rPr lang="en-US" dirty="0"/>
              <a:t>How to do that?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96943-F7E3-4B88-8D48-9EFD6314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E80E1-A490-470B-A2BE-F5649C519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B9F553-F3C6-4394-99F2-1955D9401E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AC59E6F-9580-4AD2-8267-66E5B3BA9C1D}"/>
              </a:ext>
            </a:extLst>
          </p:cNvPr>
          <p:cNvSpPr txBox="1">
            <a:spLocks/>
          </p:cNvSpPr>
          <p:nvPr/>
        </p:nvSpPr>
        <p:spPr>
          <a:xfrm>
            <a:off x="7396976" y="4919449"/>
            <a:ext cx="961328" cy="19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2AD9DF-DB58-4424-B183-AACA680B9DD1}" type="datetime1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0F4E880-CCA0-4D05-AFF9-A9C214509985}"/>
              </a:ext>
            </a:extLst>
          </p:cNvPr>
          <p:cNvSpPr txBox="1">
            <a:spLocks/>
          </p:cNvSpPr>
          <p:nvPr/>
        </p:nvSpPr>
        <p:spPr>
          <a:xfrm>
            <a:off x="8437756" y="4919449"/>
            <a:ext cx="683941" cy="19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9258198-EBFC-4421-8D9C-91EDED0B1BE2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80D431-D1CC-41CC-B2D3-CE165B16908C}"/>
              </a:ext>
            </a:extLst>
          </p:cNvPr>
          <p:cNvSpPr/>
          <p:nvPr/>
        </p:nvSpPr>
        <p:spPr>
          <a:xfrm>
            <a:off x="3986082" y="2374044"/>
            <a:ext cx="1396441" cy="114371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reset_odo</a:t>
            </a:r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DDDA5DF-12C8-41DA-A486-7D9763EADCC1}"/>
              </a:ext>
            </a:extLst>
          </p:cNvPr>
          <p:cNvSpPr/>
          <p:nvPr/>
        </p:nvSpPr>
        <p:spPr>
          <a:xfrm>
            <a:off x="6891702" y="2818642"/>
            <a:ext cx="1817400" cy="955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controller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41A4FB9-3858-403E-B7F3-6B8096A054B9}"/>
              </a:ext>
            </a:extLst>
          </p:cNvPr>
          <p:cNvSpPr/>
          <p:nvPr/>
        </p:nvSpPr>
        <p:spPr>
          <a:xfrm>
            <a:off x="983331" y="3111743"/>
            <a:ext cx="2418896" cy="6322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Localization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89AAB7-6FC5-4BFC-BC7F-EBC1B6C41599}"/>
              </a:ext>
            </a:extLst>
          </p:cNvPr>
          <p:cNvSpPr txBox="1"/>
          <p:nvPr/>
        </p:nvSpPr>
        <p:spPr>
          <a:xfrm>
            <a:off x="4538268" y="2151492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770856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8218B-47CC-46E2-AE34-901C6F86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Architecture: Service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6BB6C-776E-4BD1-BB02-F2E63A1B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D90D5-06F6-4025-B8F9-87C25E74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6FEFF8-7F1C-4901-A427-9F1F9CCEA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docs.ros.org/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875201A-DA9D-4C5C-9AA6-D3FDD0E707A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4832" y="991510"/>
            <a:ext cx="6780883" cy="3811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062DBD-62FE-49F8-94DA-700F815DB806}"/>
              </a:ext>
            </a:extLst>
          </p:cNvPr>
          <p:cNvSpPr txBox="1"/>
          <p:nvPr/>
        </p:nvSpPr>
        <p:spPr>
          <a:xfrm flipH="1">
            <a:off x="434975" y="991510"/>
            <a:ext cx="3216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services only provide data when they are specifically called by a client</a:t>
            </a:r>
          </a:p>
        </p:txBody>
      </p:sp>
    </p:spTree>
    <p:extLst>
      <p:ext uri="{BB962C8B-B14F-4D97-AF65-F5344CB8AC3E}">
        <p14:creationId xmlns:p14="http://schemas.microsoft.com/office/powerpoint/2010/main" val="24832012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D65EF-7D4A-498E-B882-FE4C8D60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Architecture: </a:t>
            </a:r>
            <a:r>
              <a:rPr lang="en-US" dirty="0"/>
              <a:t>Robot SW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7EF0D-B103-4180-B7E1-7216C5367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Client sends request.</a:t>
            </a:r>
          </a:p>
          <a:p>
            <a:r>
              <a:rPr lang="en-US" sz="1800" dirty="0"/>
              <a:t>Server processes.</a:t>
            </a:r>
          </a:p>
          <a:p>
            <a:r>
              <a:rPr lang="en-US" sz="1800" dirty="0"/>
              <a:t>Server returns response.</a:t>
            </a:r>
          </a:p>
          <a:p>
            <a:r>
              <a:rPr lang="en-US" sz="1800" dirty="0"/>
              <a:t>Communication ends.</a:t>
            </a:r>
          </a:p>
          <a:p>
            <a:r>
              <a:rPr lang="en-US" sz="1800" dirty="0"/>
              <a:t>There must be only ONE service server for a specific service. </a:t>
            </a:r>
            <a:r>
              <a:rPr lang="en-US" sz="1800" dirty="0">
                <a:solidFill>
                  <a:srgbClr val="FF0000"/>
                </a:solidFill>
              </a:rPr>
              <a:t>Why only one?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96943-F7E3-4B88-8D48-9EFD6314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E80E1-A490-470B-A2BE-F5649C519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AC59E6F-9580-4AD2-8267-66E5B3BA9C1D}"/>
              </a:ext>
            </a:extLst>
          </p:cNvPr>
          <p:cNvSpPr txBox="1">
            <a:spLocks/>
          </p:cNvSpPr>
          <p:nvPr/>
        </p:nvSpPr>
        <p:spPr>
          <a:xfrm>
            <a:off x="7396976" y="4919449"/>
            <a:ext cx="961328" cy="19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2AD9DF-DB58-4424-B183-AACA680B9DD1}" type="datetime1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0F4E880-CCA0-4D05-AFF9-A9C214509985}"/>
              </a:ext>
            </a:extLst>
          </p:cNvPr>
          <p:cNvSpPr txBox="1">
            <a:spLocks/>
          </p:cNvSpPr>
          <p:nvPr/>
        </p:nvSpPr>
        <p:spPr>
          <a:xfrm>
            <a:off x="8437756" y="4919449"/>
            <a:ext cx="683941" cy="19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9258198-EBFC-4421-8D9C-91EDED0B1BE2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80D431-D1CC-41CC-B2D3-CE165B16908C}"/>
              </a:ext>
            </a:extLst>
          </p:cNvPr>
          <p:cNvSpPr/>
          <p:nvPr/>
        </p:nvSpPr>
        <p:spPr>
          <a:xfrm>
            <a:off x="5285922" y="3455899"/>
            <a:ext cx="1330151" cy="114371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reset_odo</a:t>
            </a:r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DDDA5DF-12C8-41DA-A486-7D9763EADCC1}"/>
              </a:ext>
            </a:extLst>
          </p:cNvPr>
          <p:cNvSpPr/>
          <p:nvPr/>
        </p:nvSpPr>
        <p:spPr>
          <a:xfrm>
            <a:off x="6845519" y="3913627"/>
            <a:ext cx="1817400" cy="955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controller</a:t>
            </a: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C388EAC5-1F49-45BB-BE60-FB01D6877E18}"/>
              </a:ext>
            </a:extLst>
          </p:cNvPr>
          <p:cNvCxnSpPr>
            <a:cxnSpLocks/>
            <a:stCxn id="23" idx="1"/>
          </p:cNvCxnSpPr>
          <p:nvPr/>
        </p:nvCxnSpPr>
        <p:spPr>
          <a:xfrm rot="16200000" flipH="1" flipV="1">
            <a:off x="5592437" y="2975705"/>
            <a:ext cx="441369" cy="2597098"/>
          </a:xfrm>
          <a:prstGeom prst="curvedConnector4">
            <a:avLst>
              <a:gd name="adj1" fmla="val -77923"/>
              <a:gd name="adj2" fmla="val 900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9D8333-3D6C-4841-B4BE-4E8DE305575B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4514573" y="4391422"/>
            <a:ext cx="2330946" cy="103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B36D2BC-E89D-428F-A08F-187FC340BEC3}"/>
              </a:ext>
            </a:extLst>
          </p:cNvPr>
          <p:cNvSpPr txBox="1"/>
          <p:nvPr/>
        </p:nvSpPr>
        <p:spPr>
          <a:xfrm>
            <a:off x="6538479" y="3554018"/>
            <a:ext cx="860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Client</a:t>
            </a:r>
          </a:p>
          <a:p>
            <a:r>
              <a:rPr lang="en-US" sz="1200" dirty="0"/>
              <a:t>request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289589-FECE-47A2-A093-7B4145E6EBF0}"/>
              </a:ext>
            </a:extLst>
          </p:cNvPr>
          <p:cNvSpPr txBox="1"/>
          <p:nvPr/>
        </p:nvSpPr>
        <p:spPr>
          <a:xfrm>
            <a:off x="4612396" y="4220412"/>
            <a:ext cx="860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server</a:t>
            </a:r>
          </a:p>
          <a:p>
            <a:r>
              <a:rPr lang="en-US" sz="1200" dirty="0"/>
              <a:t>response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41A4FB9-3858-403E-B7F3-6B8096A054B9}"/>
              </a:ext>
            </a:extLst>
          </p:cNvPr>
          <p:cNvSpPr/>
          <p:nvPr/>
        </p:nvSpPr>
        <p:spPr>
          <a:xfrm>
            <a:off x="2032329" y="4127044"/>
            <a:ext cx="2533883" cy="6322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Localization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89AAB7-6FC5-4BFC-BC7F-EBC1B6C41599}"/>
              </a:ext>
            </a:extLst>
          </p:cNvPr>
          <p:cNvSpPr txBox="1"/>
          <p:nvPr/>
        </p:nvSpPr>
        <p:spPr>
          <a:xfrm>
            <a:off x="5464294" y="3163547"/>
            <a:ext cx="842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service</a:t>
            </a:r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02340803-B98C-4B50-9340-7642CBC54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228" y="3013957"/>
            <a:ext cx="422516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dirty="0">
                <a:solidFill>
                  <a:srgbClr val="FF0000"/>
                </a:solidFill>
              </a:rPr>
              <a:t>only one server because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two servers respond, which one is correct?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 expects exactly one answer.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Deterministic behavior required.</a:t>
            </a:r>
          </a:p>
        </p:txBody>
      </p:sp>
    </p:spTree>
    <p:extLst>
      <p:ext uri="{BB962C8B-B14F-4D97-AF65-F5344CB8AC3E}">
        <p14:creationId xmlns:p14="http://schemas.microsoft.com/office/powerpoint/2010/main" val="16914989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AB81F1F6-1A32-4F2D-A4DE-C2C289127FD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152" y="768581"/>
            <a:ext cx="7317682" cy="411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D8218B-47CC-46E2-AE34-901C6F86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Architecture: Service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6BB6C-776E-4BD1-BB02-F2E63A1B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D90D5-06F6-4025-B8F9-87C25E74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6FEFF8-7F1C-4901-A427-9F1F9CCEA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docs.ros.org/</a:t>
            </a:r>
          </a:p>
        </p:txBody>
      </p:sp>
    </p:spTree>
    <p:extLst>
      <p:ext uri="{BB962C8B-B14F-4D97-AF65-F5344CB8AC3E}">
        <p14:creationId xmlns:p14="http://schemas.microsoft.com/office/powerpoint/2010/main" val="13368166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3EA423D-91CA-4308-890A-9EB4777B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ABA40A-BB18-4302-89C8-CCFDB862B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Scenario: Robot Avoiding Obstacle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sensing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Lidar publishes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/scan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10 Hz.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Obstacle Avoidance subscribes.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this Topic or Service?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 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61E1C-15F8-477B-A680-A9744823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27D48-EB82-49EA-BCFD-BEAC2445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3FFBDC-C090-4BB3-820A-47F999CC3A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F53CE56-311F-4342-9D3F-78854CB17F0B}"/>
              </a:ext>
            </a:extLst>
          </p:cNvPr>
          <p:cNvSpPr/>
          <p:nvPr/>
        </p:nvSpPr>
        <p:spPr>
          <a:xfrm>
            <a:off x="1477403" y="4044778"/>
            <a:ext cx="1260389" cy="6322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LIDAR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A9DA5F0-11C2-4CD6-8D78-E68013DA4540}"/>
              </a:ext>
            </a:extLst>
          </p:cNvPr>
          <p:cNvSpPr/>
          <p:nvPr/>
        </p:nvSpPr>
        <p:spPr>
          <a:xfrm>
            <a:off x="5054091" y="4102443"/>
            <a:ext cx="1817399" cy="714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Obstacle Avoidance</a:t>
            </a: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598C5E62-F006-44AF-9238-357FAD6FEFEC}"/>
              </a:ext>
            </a:extLst>
          </p:cNvPr>
          <p:cNvCxnSpPr>
            <a:cxnSpLocks/>
            <a:stCxn id="23" idx="6"/>
            <a:endCxn id="28" idx="1"/>
          </p:cNvCxnSpPr>
          <p:nvPr/>
        </p:nvCxnSpPr>
        <p:spPr>
          <a:xfrm>
            <a:off x="2737792" y="4360914"/>
            <a:ext cx="556100" cy="897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4E7665B5-B183-4A62-9BDF-6E521D1A3626}"/>
              </a:ext>
            </a:extLst>
          </p:cNvPr>
          <p:cNvCxnSpPr>
            <a:cxnSpLocks/>
            <a:stCxn id="28" idx="3"/>
            <a:endCxn id="24" idx="2"/>
          </p:cNvCxnSpPr>
          <p:nvPr/>
        </p:nvCxnSpPr>
        <p:spPr>
          <a:xfrm>
            <a:off x="4554281" y="4450695"/>
            <a:ext cx="499810" cy="89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BFE1C2B-95E9-48FD-93B8-D13F2152C7C3}"/>
              </a:ext>
            </a:extLst>
          </p:cNvPr>
          <p:cNvGrpSpPr/>
          <p:nvPr/>
        </p:nvGrpSpPr>
        <p:grpSpPr>
          <a:xfrm>
            <a:off x="3293892" y="3921705"/>
            <a:ext cx="1260389" cy="693296"/>
            <a:chOff x="3442013" y="3467661"/>
            <a:chExt cx="1260389" cy="693296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0961424-7891-404D-AB19-7A1D0632E1C3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/scan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C3D65E0-A3D2-4232-998B-A9C4A6CE9CD1}"/>
                </a:ext>
              </a:extLst>
            </p:cNvPr>
            <p:cNvSpPr txBox="1"/>
            <p:nvPr/>
          </p:nvSpPr>
          <p:spPr>
            <a:xfrm>
              <a:off x="3665838" y="3467661"/>
              <a:ext cx="670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Topic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154836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3EA423D-91CA-4308-890A-9EB4777B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ABA40A-BB18-4302-89C8-CCFDB862B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Scenario: Robot Avoiding Obstacle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sensing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Lidar publishes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/scan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10 Hz.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Obstacle Avoidance subscribes.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this Topic or Service?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 T</a:t>
            </a:r>
            <a:r>
              <a:rPr lang="en-US" altLang="en-US" sz="1400" dirty="0">
                <a:latin typeface="Arial" panose="020B0604020202020204" pitchFamily="34" charset="0"/>
              </a:rPr>
              <a:t>opic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request.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subscribers possible.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61E1C-15F8-477B-A680-A9744823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27D48-EB82-49EA-BCFD-BEAC2445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3FFBDC-C090-4BB3-820A-47F999CC3A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69F496-87D7-4175-9DA7-AAFE27DDC476}"/>
              </a:ext>
            </a:extLst>
          </p:cNvPr>
          <p:cNvSpPr/>
          <p:nvPr/>
        </p:nvSpPr>
        <p:spPr>
          <a:xfrm>
            <a:off x="1477403" y="4044778"/>
            <a:ext cx="1260389" cy="6322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LIDAR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A821125-8BF1-47FE-AA4D-045A9B76F595}"/>
              </a:ext>
            </a:extLst>
          </p:cNvPr>
          <p:cNvSpPr/>
          <p:nvPr/>
        </p:nvSpPr>
        <p:spPr>
          <a:xfrm>
            <a:off x="5054091" y="4102443"/>
            <a:ext cx="1817399" cy="714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Obstacle Avoidance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A7FCEAAC-D82F-4ED3-BBF6-A645796DA2B2}"/>
              </a:ext>
            </a:extLst>
          </p:cNvPr>
          <p:cNvCxnSpPr>
            <a:cxnSpLocks/>
            <a:stCxn id="7" idx="6"/>
            <a:endCxn id="18" idx="1"/>
          </p:cNvCxnSpPr>
          <p:nvPr/>
        </p:nvCxnSpPr>
        <p:spPr>
          <a:xfrm>
            <a:off x="2737792" y="4360914"/>
            <a:ext cx="556100" cy="897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E35B5042-B623-4AD9-86B5-10B9CF531E0C}"/>
              </a:ext>
            </a:extLst>
          </p:cNvPr>
          <p:cNvCxnSpPr>
            <a:cxnSpLocks/>
            <a:stCxn id="18" idx="3"/>
            <a:endCxn id="11" idx="2"/>
          </p:cNvCxnSpPr>
          <p:nvPr/>
        </p:nvCxnSpPr>
        <p:spPr>
          <a:xfrm>
            <a:off x="4554281" y="4450695"/>
            <a:ext cx="499810" cy="89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02F906-8772-4C80-A246-74034B27917F}"/>
              </a:ext>
            </a:extLst>
          </p:cNvPr>
          <p:cNvGrpSpPr/>
          <p:nvPr/>
        </p:nvGrpSpPr>
        <p:grpSpPr>
          <a:xfrm>
            <a:off x="3293892" y="3921705"/>
            <a:ext cx="1260389" cy="693296"/>
            <a:chOff x="3442013" y="3467661"/>
            <a:chExt cx="1260389" cy="69329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895E132-D272-4A1D-B2D7-7040D5B7BC36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/scan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BB11AC0-765F-4DD6-AB90-2383CFC8EC3E}"/>
                </a:ext>
              </a:extLst>
            </p:cNvPr>
            <p:cNvSpPr txBox="1"/>
            <p:nvPr/>
          </p:nvSpPr>
          <p:spPr>
            <a:xfrm>
              <a:off x="3665838" y="3467661"/>
              <a:ext cx="670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Topic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856381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3EA423D-91CA-4308-890A-9EB4777B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ABA40A-BB18-4302-89C8-CCFDB862B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Scenario: Go to Shelf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Operator presses “Go to Shelf A”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Path Planner needs robot pose.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 pose be continuously streamed OR requested once?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61E1C-15F8-477B-A680-A9744823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27D48-EB82-49EA-BCFD-BEAC2445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3FFBDC-C090-4BB3-820A-47F999CC3A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6165" y="4561188"/>
            <a:ext cx="8289925" cy="328613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42DA258-F367-4DAE-A012-5EEFEFA0D03C}"/>
              </a:ext>
            </a:extLst>
          </p:cNvPr>
          <p:cNvSpPr/>
          <p:nvPr/>
        </p:nvSpPr>
        <p:spPr>
          <a:xfrm>
            <a:off x="120187" y="3779770"/>
            <a:ext cx="1260389" cy="6322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LIDAR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536C41D-8558-45B4-9F90-760E331540B0}"/>
              </a:ext>
            </a:extLst>
          </p:cNvPr>
          <p:cNvSpPr/>
          <p:nvPr/>
        </p:nvSpPr>
        <p:spPr>
          <a:xfrm>
            <a:off x="3284882" y="3377724"/>
            <a:ext cx="1908235" cy="6558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Localization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6B184F9-A7EB-495E-809A-6FAF5E291D3C}"/>
              </a:ext>
            </a:extLst>
          </p:cNvPr>
          <p:cNvSpPr/>
          <p:nvPr/>
        </p:nvSpPr>
        <p:spPr>
          <a:xfrm>
            <a:off x="3284882" y="4184234"/>
            <a:ext cx="1736759" cy="6558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Obstacle Avoidance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FCC0A67A-6D7C-40DE-B987-C3B1086ECA43}"/>
              </a:ext>
            </a:extLst>
          </p:cNvPr>
          <p:cNvCxnSpPr>
            <a:cxnSpLocks/>
            <a:stCxn id="25" idx="6"/>
            <a:endCxn id="32" idx="1"/>
          </p:cNvCxnSpPr>
          <p:nvPr/>
        </p:nvCxnSpPr>
        <p:spPr>
          <a:xfrm>
            <a:off x="1380576" y="4095906"/>
            <a:ext cx="365868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9ADEB723-EDA1-46EC-9B19-4C7D610CEEBD}"/>
              </a:ext>
            </a:extLst>
          </p:cNvPr>
          <p:cNvCxnSpPr>
            <a:cxnSpLocks/>
            <a:stCxn id="32" idx="3"/>
            <a:endCxn id="27" idx="2"/>
          </p:cNvCxnSpPr>
          <p:nvPr/>
        </p:nvCxnSpPr>
        <p:spPr>
          <a:xfrm>
            <a:off x="3006833" y="4095907"/>
            <a:ext cx="278049" cy="4162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85A676FC-AA49-46E8-91B2-6292CDD6FD1F}"/>
              </a:ext>
            </a:extLst>
          </p:cNvPr>
          <p:cNvCxnSpPr>
            <a:cxnSpLocks/>
            <a:stCxn id="32" idx="3"/>
            <a:endCxn id="26" idx="2"/>
          </p:cNvCxnSpPr>
          <p:nvPr/>
        </p:nvCxnSpPr>
        <p:spPr>
          <a:xfrm flipV="1">
            <a:off x="3006833" y="3705659"/>
            <a:ext cx="278049" cy="39024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8F6026D-F69D-44B7-9D40-AC2F919259CD}"/>
              </a:ext>
            </a:extLst>
          </p:cNvPr>
          <p:cNvGrpSpPr/>
          <p:nvPr/>
        </p:nvGrpSpPr>
        <p:grpSpPr>
          <a:xfrm>
            <a:off x="1746444" y="3566917"/>
            <a:ext cx="1260389" cy="693296"/>
            <a:chOff x="3442013" y="3467661"/>
            <a:chExt cx="1260389" cy="693296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37E9CF6E-FFC7-4A29-92A7-73578D4B7850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/scan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FEAF32B-8832-4C55-8E09-A3D104C024FC}"/>
                </a:ext>
              </a:extLst>
            </p:cNvPr>
            <p:cNvSpPr txBox="1"/>
            <p:nvPr/>
          </p:nvSpPr>
          <p:spPr>
            <a:xfrm>
              <a:off x="3665838" y="3467661"/>
              <a:ext cx="670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Topic</a:t>
              </a:r>
              <a:endParaRPr lang="en-US" dirty="0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E7DC9909-F5CA-46C1-ACB9-BFB6C56D1479}"/>
              </a:ext>
            </a:extLst>
          </p:cNvPr>
          <p:cNvSpPr/>
          <p:nvPr/>
        </p:nvSpPr>
        <p:spPr>
          <a:xfrm>
            <a:off x="6893061" y="4002401"/>
            <a:ext cx="1975272" cy="5097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Path planner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0824970-81E6-41CC-8D43-7D1E1F863A8F}"/>
              </a:ext>
            </a:extLst>
          </p:cNvPr>
          <p:cNvGrpSpPr/>
          <p:nvPr/>
        </p:nvGrpSpPr>
        <p:grpSpPr>
          <a:xfrm>
            <a:off x="5311305" y="3678437"/>
            <a:ext cx="1260389" cy="693296"/>
            <a:chOff x="3442013" y="3467661"/>
            <a:chExt cx="1260389" cy="693296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0E2F97C-1D5D-48D1-ADAA-2240DF66AF0C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/pos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2D6993-DB7F-4FED-A067-84744C390A3A}"/>
                </a:ext>
              </a:extLst>
            </p:cNvPr>
            <p:cNvSpPr txBox="1"/>
            <p:nvPr/>
          </p:nvSpPr>
          <p:spPr>
            <a:xfrm>
              <a:off x="3665838" y="3467661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C00000"/>
                  </a:solidFill>
                </a:rPr>
                <a:t>?</a:t>
              </a:r>
              <a:endParaRPr lang="en-US" dirty="0">
                <a:solidFill>
                  <a:srgbClr val="C00000"/>
                </a:solidFill>
              </a:endParaRPr>
            </a:p>
          </p:txBody>
        </p:sp>
      </p:grp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18D9A6F2-ABCD-45EB-B7FB-2593FB78BF9B}"/>
              </a:ext>
            </a:extLst>
          </p:cNvPr>
          <p:cNvCxnSpPr>
            <a:stCxn id="26" idx="6"/>
            <a:endCxn id="39" idx="1"/>
          </p:cNvCxnSpPr>
          <p:nvPr/>
        </p:nvCxnSpPr>
        <p:spPr>
          <a:xfrm>
            <a:off x="5193117" y="3705659"/>
            <a:ext cx="118188" cy="5017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EA782F69-9B44-47BD-B8AD-DD370F06DDF7}"/>
              </a:ext>
            </a:extLst>
          </p:cNvPr>
          <p:cNvCxnSpPr>
            <a:cxnSpLocks/>
            <a:stCxn id="39" idx="3"/>
            <a:endCxn id="34" idx="2"/>
          </p:cNvCxnSpPr>
          <p:nvPr/>
        </p:nvCxnSpPr>
        <p:spPr>
          <a:xfrm>
            <a:off x="6571694" y="4207427"/>
            <a:ext cx="321367" cy="4985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1972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3EA423D-91CA-4308-890A-9EB4777B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ABA40A-BB18-4302-89C8-CCFDB862B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Scenario: Go to Shelf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Operator presses “Go to Shelf A”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Path Planner needs robot pose.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 pose be continuously streamed OR requested once?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pose is continuously used → Topic.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we just want it once → Service.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61E1C-15F8-477B-A680-A9744823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27D48-EB82-49EA-BCFD-BEAC2445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3FFBDC-C090-4BB3-820A-47F999CC3A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7A2276-D994-4C9C-B7EE-4D03301C9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022" y="1042618"/>
            <a:ext cx="373997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we design: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Localization publishes /pose → Topic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Planner subscribes → continuously updated.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 if we design: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Planner calls 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get_current_pose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()" →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Then pose is returned once.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Which is better for navigation?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B45A41F-B715-40E1-8D7F-2791A8A5F842}"/>
              </a:ext>
            </a:extLst>
          </p:cNvPr>
          <p:cNvSpPr/>
          <p:nvPr/>
        </p:nvSpPr>
        <p:spPr>
          <a:xfrm>
            <a:off x="212904" y="3781981"/>
            <a:ext cx="1260389" cy="6322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LIDAR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C674F36-3992-4424-BB8E-67D6DC16C06E}"/>
              </a:ext>
            </a:extLst>
          </p:cNvPr>
          <p:cNvSpPr/>
          <p:nvPr/>
        </p:nvSpPr>
        <p:spPr>
          <a:xfrm>
            <a:off x="3377599" y="3379935"/>
            <a:ext cx="1908235" cy="6558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Localization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1771985-DAAB-451C-9152-57BBA011E800}"/>
              </a:ext>
            </a:extLst>
          </p:cNvPr>
          <p:cNvSpPr/>
          <p:nvPr/>
        </p:nvSpPr>
        <p:spPr>
          <a:xfrm>
            <a:off x="3377599" y="4186445"/>
            <a:ext cx="1736759" cy="6558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Obstacle Avoidance</a:t>
            </a: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86A5FD7E-1B04-4370-96A4-305DC024B587}"/>
              </a:ext>
            </a:extLst>
          </p:cNvPr>
          <p:cNvCxnSpPr>
            <a:cxnSpLocks/>
            <a:stCxn id="15" idx="6"/>
            <a:endCxn id="25" idx="1"/>
          </p:cNvCxnSpPr>
          <p:nvPr/>
        </p:nvCxnSpPr>
        <p:spPr>
          <a:xfrm>
            <a:off x="1473293" y="4098117"/>
            <a:ext cx="365868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3757D144-470D-4520-BF25-58F9FD2FBE0E}"/>
              </a:ext>
            </a:extLst>
          </p:cNvPr>
          <p:cNvCxnSpPr>
            <a:cxnSpLocks/>
            <a:stCxn id="25" idx="3"/>
            <a:endCxn id="20" idx="2"/>
          </p:cNvCxnSpPr>
          <p:nvPr/>
        </p:nvCxnSpPr>
        <p:spPr>
          <a:xfrm>
            <a:off x="3099550" y="4098118"/>
            <a:ext cx="278049" cy="4162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5A24154D-5B22-4360-B648-61E52DE53A44}"/>
              </a:ext>
            </a:extLst>
          </p:cNvPr>
          <p:cNvCxnSpPr>
            <a:cxnSpLocks/>
            <a:stCxn id="25" idx="3"/>
            <a:endCxn id="16" idx="2"/>
          </p:cNvCxnSpPr>
          <p:nvPr/>
        </p:nvCxnSpPr>
        <p:spPr>
          <a:xfrm flipV="1">
            <a:off x="3099550" y="3707870"/>
            <a:ext cx="278049" cy="39024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1F6C6E3-87F5-448F-9874-98E7E316A57E}"/>
              </a:ext>
            </a:extLst>
          </p:cNvPr>
          <p:cNvGrpSpPr/>
          <p:nvPr/>
        </p:nvGrpSpPr>
        <p:grpSpPr>
          <a:xfrm>
            <a:off x="1839161" y="3569128"/>
            <a:ext cx="1260389" cy="693296"/>
            <a:chOff x="3442013" y="3467661"/>
            <a:chExt cx="1260389" cy="69329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59450BE-CD3A-49F3-A260-C6DFA997D58F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/scan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CAE0901-6978-4E4E-9999-F28394681C68}"/>
                </a:ext>
              </a:extLst>
            </p:cNvPr>
            <p:cNvSpPr txBox="1"/>
            <p:nvPr/>
          </p:nvSpPr>
          <p:spPr>
            <a:xfrm>
              <a:off x="3665838" y="3467661"/>
              <a:ext cx="670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Topic</a:t>
              </a:r>
              <a:endParaRPr lang="en-US" dirty="0"/>
            </a:p>
          </p:txBody>
        </p: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A08C713E-5F17-4863-8E2B-C8E117B1CC37}"/>
              </a:ext>
            </a:extLst>
          </p:cNvPr>
          <p:cNvSpPr/>
          <p:nvPr/>
        </p:nvSpPr>
        <p:spPr>
          <a:xfrm>
            <a:off x="6985778" y="4004612"/>
            <a:ext cx="1975272" cy="5097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Path planner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DB64EC-231B-496B-9287-550D71A3BE1E}"/>
              </a:ext>
            </a:extLst>
          </p:cNvPr>
          <p:cNvGrpSpPr/>
          <p:nvPr/>
        </p:nvGrpSpPr>
        <p:grpSpPr>
          <a:xfrm>
            <a:off x="5404022" y="3680648"/>
            <a:ext cx="1260389" cy="693296"/>
            <a:chOff x="3442013" y="3467661"/>
            <a:chExt cx="1260389" cy="693296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248E905-07FA-4516-B556-9019C64CF4B3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/pos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F8BCB3A-960E-4292-AF92-0D6E3FBAEE4C}"/>
                </a:ext>
              </a:extLst>
            </p:cNvPr>
            <p:cNvSpPr txBox="1"/>
            <p:nvPr/>
          </p:nvSpPr>
          <p:spPr>
            <a:xfrm>
              <a:off x="3665838" y="3467661"/>
              <a:ext cx="670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Topic</a:t>
              </a:r>
              <a:endParaRPr lang="en-US" dirty="0"/>
            </a:p>
          </p:txBody>
        </p:sp>
      </p:grp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5A2D3DC3-427D-4B23-9F45-C27A9DE2CEE3}"/>
              </a:ext>
            </a:extLst>
          </p:cNvPr>
          <p:cNvCxnSpPr>
            <a:stCxn id="16" idx="6"/>
            <a:endCxn id="29" idx="1"/>
          </p:cNvCxnSpPr>
          <p:nvPr/>
        </p:nvCxnSpPr>
        <p:spPr>
          <a:xfrm>
            <a:off x="5285834" y="3707870"/>
            <a:ext cx="118188" cy="5017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542A626B-B789-46CC-8C69-C9B5BEF23962}"/>
              </a:ext>
            </a:extLst>
          </p:cNvPr>
          <p:cNvCxnSpPr>
            <a:stCxn id="29" idx="3"/>
            <a:endCxn id="27" idx="2"/>
          </p:cNvCxnSpPr>
          <p:nvPr/>
        </p:nvCxnSpPr>
        <p:spPr>
          <a:xfrm>
            <a:off x="6664411" y="4209638"/>
            <a:ext cx="321367" cy="4985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9063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3EA423D-91CA-4308-890A-9EB4777B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61E1C-15F8-477B-A680-A9744823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27D48-EB82-49EA-BCFD-BEAC2445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ACB1770-8328-4B9D-B8E9-A230E6A29265}"/>
              </a:ext>
            </a:extLst>
          </p:cNvPr>
          <p:cNvSpPr/>
          <p:nvPr/>
        </p:nvSpPr>
        <p:spPr>
          <a:xfrm>
            <a:off x="78997" y="3417298"/>
            <a:ext cx="1260389" cy="6322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LIDAR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2193A73-E2FD-4939-B7CC-D3BD9E08F193}"/>
              </a:ext>
            </a:extLst>
          </p:cNvPr>
          <p:cNvSpPr/>
          <p:nvPr/>
        </p:nvSpPr>
        <p:spPr>
          <a:xfrm>
            <a:off x="3243692" y="3015252"/>
            <a:ext cx="1908235" cy="6558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Localization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58323A6-3F92-42D5-A461-E9E6579E3B62}"/>
              </a:ext>
            </a:extLst>
          </p:cNvPr>
          <p:cNvSpPr/>
          <p:nvPr/>
        </p:nvSpPr>
        <p:spPr>
          <a:xfrm>
            <a:off x="3243692" y="3821762"/>
            <a:ext cx="1736759" cy="6558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Obstacle Avoidance</a:t>
            </a: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16E04110-A748-4527-B5F7-6DCA0301F09C}"/>
              </a:ext>
            </a:extLst>
          </p:cNvPr>
          <p:cNvCxnSpPr>
            <a:cxnSpLocks/>
            <a:stCxn id="33" idx="6"/>
            <a:endCxn id="40" idx="1"/>
          </p:cNvCxnSpPr>
          <p:nvPr/>
        </p:nvCxnSpPr>
        <p:spPr>
          <a:xfrm>
            <a:off x="1339386" y="3733434"/>
            <a:ext cx="365868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5DDC6B2C-EA8D-4CAC-8336-FF406291D2D6}"/>
              </a:ext>
            </a:extLst>
          </p:cNvPr>
          <p:cNvCxnSpPr>
            <a:cxnSpLocks/>
            <a:stCxn id="40" idx="3"/>
            <a:endCxn id="35" idx="2"/>
          </p:cNvCxnSpPr>
          <p:nvPr/>
        </p:nvCxnSpPr>
        <p:spPr>
          <a:xfrm>
            <a:off x="2965643" y="3733435"/>
            <a:ext cx="278049" cy="4162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D5E056CA-DDCC-46F1-85A3-27DC2BF27404}"/>
              </a:ext>
            </a:extLst>
          </p:cNvPr>
          <p:cNvCxnSpPr>
            <a:cxnSpLocks/>
            <a:stCxn id="40" idx="3"/>
            <a:endCxn id="34" idx="2"/>
          </p:cNvCxnSpPr>
          <p:nvPr/>
        </p:nvCxnSpPr>
        <p:spPr>
          <a:xfrm flipV="1">
            <a:off x="2965643" y="3343187"/>
            <a:ext cx="278049" cy="39024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C13606C-84BF-43A4-B610-D7A1504EC686}"/>
              </a:ext>
            </a:extLst>
          </p:cNvPr>
          <p:cNvGrpSpPr/>
          <p:nvPr/>
        </p:nvGrpSpPr>
        <p:grpSpPr>
          <a:xfrm>
            <a:off x="1705254" y="3204445"/>
            <a:ext cx="1260389" cy="693296"/>
            <a:chOff x="3442013" y="3467661"/>
            <a:chExt cx="1260389" cy="693296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5BD8708-498A-48AA-A08C-C73ADDFE7F38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/scan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366F964-543A-4344-BC50-672D54FD2026}"/>
                </a:ext>
              </a:extLst>
            </p:cNvPr>
            <p:cNvSpPr txBox="1"/>
            <p:nvPr/>
          </p:nvSpPr>
          <p:spPr>
            <a:xfrm>
              <a:off x="3665838" y="3467661"/>
              <a:ext cx="670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Topic</a:t>
              </a:r>
              <a:endParaRPr lang="en-US" dirty="0"/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8EC60E50-0733-4118-A63A-DE4FD7BBB8D7}"/>
              </a:ext>
            </a:extLst>
          </p:cNvPr>
          <p:cNvSpPr/>
          <p:nvPr/>
        </p:nvSpPr>
        <p:spPr>
          <a:xfrm>
            <a:off x="6851871" y="3639929"/>
            <a:ext cx="1975272" cy="5097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Path planner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32EBEFE-C93A-46E9-A9D8-AC37BA6CDE76}"/>
              </a:ext>
            </a:extLst>
          </p:cNvPr>
          <p:cNvGrpSpPr/>
          <p:nvPr/>
        </p:nvGrpSpPr>
        <p:grpSpPr>
          <a:xfrm>
            <a:off x="5270115" y="3315965"/>
            <a:ext cx="1260389" cy="693296"/>
            <a:chOff x="3442013" y="3467661"/>
            <a:chExt cx="1260389" cy="693296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56C86972-59A4-4E92-8D15-5A7F113CE32A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/pos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110D99F-8B95-4450-ADB2-580990D8C6D1}"/>
                </a:ext>
              </a:extLst>
            </p:cNvPr>
            <p:cNvSpPr txBox="1"/>
            <p:nvPr/>
          </p:nvSpPr>
          <p:spPr>
            <a:xfrm>
              <a:off x="3665838" y="3467661"/>
              <a:ext cx="670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Topic</a:t>
              </a:r>
              <a:endParaRPr lang="en-US" dirty="0"/>
            </a:p>
          </p:txBody>
        </p:sp>
      </p:grp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FD0AEF6E-336B-4E51-BD64-A254C8CB3DF0}"/>
              </a:ext>
            </a:extLst>
          </p:cNvPr>
          <p:cNvCxnSpPr>
            <a:stCxn id="34" idx="6"/>
            <a:endCxn id="44" idx="1"/>
          </p:cNvCxnSpPr>
          <p:nvPr/>
        </p:nvCxnSpPr>
        <p:spPr>
          <a:xfrm>
            <a:off x="5151927" y="3343187"/>
            <a:ext cx="118188" cy="5017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C8B3A060-1428-4794-85C2-89945B08725A}"/>
              </a:ext>
            </a:extLst>
          </p:cNvPr>
          <p:cNvCxnSpPr>
            <a:stCxn id="44" idx="3"/>
            <a:endCxn id="42" idx="2"/>
          </p:cNvCxnSpPr>
          <p:nvPr/>
        </p:nvCxnSpPr>
        <p:spPr>
          <a:xfrm>
            <a:off x="6530504" y="3844955"/>
            <a:ext cx="321367" cy="4985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A26947C-7162-49B4-B6AD-8A12E4FE13C0}"/>
              </a:ext>
            </a:extLst>
          </p:cNvPr>
          <p:cNvGrpSpPr/>
          <p:nvPr/>
        </p:nvGrpSpPr>
        <p:grpSpPr>
          <a:xfrm>
            <a:off x="7247445" y="2433175"/>
            <a:ext cx="1260389" cy="693296"/>
            <a:chOff x="3442013" y="3467661"/>
            <a:chExt cx="1260389" cy="693296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DB94E855-E41B-4E72-AC19-C742C68644D5}"/>
                </a:ext>
              </a:extLst>
            </p:cNvPr>
            <p:cNvSpPr/>
            <p:nvPr/>
          </p:nvSpPr>
          <p:spPr>
            <a:xfrm>
              <a:off x="3442013" y="3832344"/>
              <a:ext cx="1260389" cy="3286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/</a:t>
              </a:r>
              <a:r>
                <a:rPr lang="en-US" dirty="0" err="1"/>
                <a:t>cmd_vel</a:t>
              </a:r>
              <a:endParaRPr 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EF016D1-DA0D-43DD-82C3-CB3D1655D95D}"/>
                </a:ext>
              </a:extLst>
            </p:cNvPr>
            <p:cNvSpPr txBox="1"/>
            <p:nvPr/>
          </p:nvSpPr>
          <p:spPr>
            <a:xfrm>
              <a:off x="3665838" y="3467661"/>
              <a:ext cx="670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Topic</a:t>
              </a:r>
              <a:endParaRPr lang="en-US" dirty="0"/>
            </a:p>
          </p:txBody>
        </p:sp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412C13BE-094B-49AA-927A-233EF9B952F1}"/>
              </a:ext>
            </a:extLst>
          </p:cNvPr>
          <p:cNvSpPr/>
          <p:nvPr/>
        </p:nvSpPr>
        <p:spPr>
          <a:xfrm>
            <a:off x="6845843" y="1599374"/>
            <a:ext cx="1975272" cy="5097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controller</a:t>
            </a:r>
          </a:p>
        </p:txBody>
      </p: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D2243410-4799-4D7E-AAF0-237A8199A748}"/>
              </a:ext>
            </a:extLst>
          </p:cNvPr>
          <p:cNvCxnSpPr>
            <a:stCxn id="42" idx="0"/>
            <a:endCxn id="49" idx="2"/>
          </p:cNvCxnSpPr>
          <p:nvPr/>
        </p:nvCxnSpPr>
        <p:spPr>
          <a:xfrm rot="5400000" flipH="1" flipV="1">
            <a:off x="7601844" y="3364134"/>
            <a:ext cx="513458" cy="3813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7AED4138-8489-441E-9BBD-F77627AE356F}"/>
              </a:ext>
            </a:extLst>
          </p:cNvPr>
          <p:cNvCxnSpPr>
            <a:stCxn id="49" idx="0"/>
            <a:endCxn id="51" idx="4"/>
          </p:cNvCxnSpPr>
          <p:nvPr/>
        </p:nvCxnSpPr>
        <p:spPr>
          <a:xfrm rot="16200000" flipV="1">
            <a:off x="7511202" y="2431419"/>
            <a:ext cx="688716" cy="4416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61FD018-247A-4649-B2CF-3A7BC1A926CD}"/>
              </a:ext>
            </a:extLst>
          </p:cNvPr>
          <p:cNvSpPr txBox="1"/>
          <p:nvPr/>
        </p:nvSpPr>
        <p:spPr>
          <a:xfrm>
            <a:off x="579927" y="10407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Scenario: Go to Shelf</a:t>
            </a:r>
          </a:p>
        </p:txBody>
      </p:sp>
    </p:spTree>
    <p:extLst>
      <p:ext uri="{BB962C8B-B14F-4D97-AF65-F5344CB8AC3E}">
        <p14:creationId xmlns:p14="http://schemas.microsoft.com/office/powerpoint/2010/main" val="15692534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F7FFF-D587-4511-A023-D384DA6B5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9C7A0-9289-449A-8545-385DE8A8E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develop the solution now on a real Robot?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2A3CD-774B-4C09-A5DE-C5A80B8F5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2A7C3-0716-4CA9-8CA2-70CD87C08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D61931-358F-4059-8E1D-43D1CD1258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714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104D-6672-4423-964C-0E0EDD8CF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237C8-7711-4A28-AD1E-0BDD086EA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1DA182-6AC1-4364-8B82-A2294A5E8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5B8711-71FD-474D-91CB-539A698A9F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8BF2DAE-4376-4ABB-B68D-5DDA7BECC8E9}"/>
              </a:ext>
            </a:extLst>
          </p:cNvPr>
          <p:cNvGrpSpPr/>
          <p:nvPr/>
        </p:nvGrpSpPr>
        <p:grpSpPr>
          <a:xfrm>
            <a:off x="164592" y="1444752"/>
            <a:ext cx="4114800" cy="2560320"/>
            <a:chOff x="164592" y="1444752"/>
            <a:chExt cx="4114800" cy="2560320"/>
          </a:xfrm>
        </p:grpSpPr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D279065B-8FE5-4AA4-8D4D-97E5FD374863}"/>
                </a:ext>
              </a:extLst>
            </p:cNvPr>
            <p:cNvSpPr/>
            <p:nvPr/>
          </p:nvSpPr>
          <p:spPr>
            <a:xfrm>
              <a:off x="164592" y="1444752"/>
              <a:ext cx="4114800" cy="2560320"/>
            </a:xfrm>
            <a:prstGeom prst="rect">
              <a:avLst/>
            </a:prstGeom>
            <a:solidFill>
              <a:srgbClr val="FFF8F8"/>
            </a:solidFill>
            <a:ln w="19050">
              <a:solidFill>
                <a:srgbClr val="E84855"/>
              </a:solidFill>
              <a:prstDash val="solid"/>
            </a:ln>
          </p:spPr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4F326801-C66A-48DC-84F9-E331E3C2A493}"/>
                </a:ext>
              </a:extLst>
            </p:cNvPr>
            <p:cNvSpPr/>
            <p:nvPr/>
          </p:nvSpPr>
          <p:spPr>
            <a:xfrm>
              <a:off x="164592" y="1444752"/>
              <a:ext cx="4114800" cy="347472"/>
            </a:xfrm>
            <a:prstGeom prst="rect">
              <a:avLst/>
            </a:prstGeom>
            <a:solidFill>
              <a:srgbClr val="E84855"/>
            </a:solidFill>
            <a:ln w="12700">
              <a:solidFill>
                <a:srgbClr val="E84855"/>
              </a:solidFill>
              <a:prstDash val="solid"/>
            </a:ln>
          </p:spPr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42C308AA-F9F4-43B9-884F-B78DFBED360B}"/>
                </a:ext>
              </a:extLst>
            </p:cNvPr>
            <p:cNvSpPr/>
            <p:nvPr/>
          </p:nvSpPr>
          <p:spPr>
            <a:xfrm>
              <a:off x="164592" y="1444752"/>
              <a:ext cx="4114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🤖  Real Hardware Testing (HIL: Hardware in the loop)</a:t>
              </a:r>
              <a:endParaRPr lang="en-US" sz="1200" dirty="0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AA029F1A-CF37-414D-8D17-DBC979C764F6}"/>
                </a:ext>
              </a:extLst>
            </p:cNvPr>
            <p:cNvSpPr/>
            <p:nvPr/>
          </p:nvSpPr>
          <p:spPr>
            <a:xfrm>
              <a:off x="256032" y="1847088"/>
              <a:ext cx="3931920" cy="2103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Iteration time: 10–30 min per cycle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Deploy → crash → fix → rebuild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Real damage: robot, environment, people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Cannot run 100 scenarios — not scalable</a:t>
              </a:r>
              <a:endParaRPr lang="en-US" sz="16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9112D9-6D1D-4883-8B6D-7F044F3ED49B}"/>
              </a:ext>
            </a:extLst>
          </p:cNvPr>
          <p:cNvGrpSpPr/>
          <p:nvPr/>
        </p:nvGrpSpPr>
        <p:grpSpPr>
          <a:xfrm>
            <a:off x="4663440" y="1444752"/>
            <a:ext cx="4297680" cy="2560320"/>
            <a:chOff x="4663440" y="1444752"/>
            <a:chExt cx="4297680" cy="2560320"/>
          </a:xfrm>
        </p:grpSpPr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62A68A19-04F3-4A65-BB30-CE17A11FB29E}"/>
                </a:ext>
              </a:extLst>
            </p:cNvPr>
            <p:cNvSpPr/>
            <p:nvPr/>
          </p:nvSpPr>
          <p:spPr>
            <a:xfrm>
              <a:off x="4663440" y="1444752"/>
              <a:ext cx="4297680" cy="2560320"/>
            </a:xfrm>
            <a:prstGeom prst="rect">
              <a:avLst/>
            </a:prstGeom>
            <a:solidFill>
              <a:srgbClr val="E8FFF0"/>
            </a:solidFill>
            <a:ln w="19050">
              <a:solidFill>
                <a:srgbClr val="00A896"/>
              </a:solidFill>
              <a:prstDash val="solid"/>
            </a:ln>
          </p:spPr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C4186554-0DD0-4354-9927-B8FB61C210F3}"/>
                </a:ext>
              </a:extLst>
            </p:cNvPr>
            <p:cNvSpPr/>
            <p:nvPr/>
          </p:nvSpPr>
          <p:spPr>
            <a:xfrm>
              <a:off x="4663440" y="1444752"/>
              <a:ext cx="4297680" cy="347472"/>
            </a:xfrm>
            <a:prstGeom prst="rect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B482A1A3-DC2E-40D8-9409-EE4BC602FA33}"/>
                </a:ext>
              </a:extLst>
            </p:cNvPr>
            <p:cNvSpPr/>
            <p:nvPr/>
          </p:nvSpPr>
          <p:spPr>
            <a:xfrm>
              <a:off x="4663440" y="1444752"/>
              <a:ext cx="42976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🖥  Gazebo Simulation (SIL: Software in the loop)</a:t>
              </a:r>
              <a:endParaRPr lang="en-US" sz="1200" dirty="0"/>
            </a:p>
          </p:txBody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E70C2A83-ADB3-4725-A367-286D7F4486FF}"/>
                </a:ext>
              </a:extLst>
            </p:cNvPr>
            <p:cNvSpPr/>
            <p:nvPr/>
          </p:nvSpPr>
          <p:spPr>
            <a:xfrm>
              <a:off x="4754880" y="1847088"/>
              <a:ext cx="4114800" cy="2103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Iteration time: 30 seconds per cycle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Fix → restart Gazebo → retest instantly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Zero damage risk — purely virtual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100+ test scenarios per hour feasible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Waymo runs 1000× simulated miles per real mile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933042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Locomotion</a:t>
            </a:r>
            <a:endParaRPr lang="en-US" sz="2400" dirty="0"/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Holonomic from non-holonomic robots</a:t>
            </a:r>
            <a:endParaRPr lang="en-US" sz="2400" dirty="0"/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DOF; apply </a:t>
            </a:r>
            <a:r>
              <a:rPr lang="en-US" sz="2400" dirty="0" err="1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Grübler's</a:t>
            </a:r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formula; distinguish total DOF from controllable DOF</a:t>
            </a:r>
            <a:endParaRPr lang="en-US" sz="2400" dirty="0"/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sensors; select sensors for a mission</a:t>
            </a:r>
            <a:endParaRPr lang="en-US" sz="2400" dirty="0"/>
          </a:p>
          <a:p>
            <a:r>
              <a:rPr lang="en-US" sz="24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architecture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5565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B1806B-220D-4E83-909E-58385D5EB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38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74992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2836</Words>
  <Application>Microsoft Office PowerPoint</Application>
  <PresentationFormat>On-screen Show (16:9)</PresentationFormat>
  <Paragraphs>689</Paragraphs>
  <Slides>59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Arial</vt:lpstr>
      <vt:lpstr>Arial Unicode MS</vt:lpstr>
      <vt:lpstr>Calibri</vt:lpstr>
      <vt:lpstr>Calibri Light</vt:lpstr>
      <vt:lpstr>Cambria Math</vt:lpstr>
      <vt:lpstr>Custom Design</vt:lpstr>
      <vt:lpstr>MOD-02   Introduction to Mobile Robots</vt:lpstr>
      <vt:lpstr>Learning Objectives </vt:lpstr>
      <vt:lpstr>Locomotion</vt:lpstr>
      <vt:lpstr>Locomotion</vt:lpstr>
      <vt:lpstr>Locomotion types</vt:lpstr>
      <vt:lpstr>Locomotion – Design Problem</vt:lpstr>
      <vt:lpstr>Locomotion – Design Problem</vt:lpstr>
      <vt:lpstr>Locomotion</vt:lpstr>
      <vt:lpstr>Locomotion</vt:lpstr>
      <vt:lpstr>Locomotion – Legged Robot</vt:lpstr>
      <vt:lpstr>Locomotion - Differential Drive Robot</vt:lpstr>
      <vt:lpstr>Locomotion - Car-Like (Ackermann Steering) Robot</vt:lpstr>
      <vt:lpstr>Locomotion – Tracked Robot</vt:lpstr>
      <vt:lpstr>Locomotion - Omnidirectional (Mecanum / Omni Wheels) Robot</vt:lpstr>
      <vt:lpstr>Locomotion off course -&gt; Motion Constraints and Holonomy</vt:lpstr>
      <vt:lpstr>Locomotion off course -&gt; Motion Constraints and Holonomy</vt:lpstr>
      <vt:lpstr>Locomotion - Engineering Comparison Summary</vt:lpstr>
      <vt:lpstr>Locomotion - Engineering Comparison Summary</vt:lpstr>
      <vt:lpstr>Locomotion - Advanced Thinking Questions</vt:lpstr>
      <vt:lpstr>Locomotion - Advanced Thinking Questions</vt:lpstr>
      <vt:lpstr>Locomotion - Advanced Thinking Questions</vt:lpstr>
      <vt:lpstr>Locomotion - Advanced Thinking Questions</vt:lpstr>
      <vt:lpstr>Degrees of Freedom and Controllability in Mobile Robot</vt:lpstr>
      <vt:lpstr>Degrees of Freedom</vt:lpstr>
      <vt:lpstr>Degrees of Freedom</vt:lpstr>
      <vt:lpstr>Degrees of Freedom</vt:lpstr>
      <vt:lpstr>Degrees of Freedom - Grübler’s Formula</vt:lpstr>
      <vt:lpstr>Degrees of Freedom - Grübler’s Formula</vt:lpstr>
      <vt:lpstr>Degrees of Freedom - Grübler’s Formula</vt:lpstr>
      <vt:lpstr>Degrees of Freedom</vt:lpstr>
      <vt:lpstr>Degrees of Freedom - Grübler’s Formula – Differential drive robot</vt:lpstr>
      <vt:lpstr>Degrees of Freedom - insights</vt:lpstr>
      <vt:lpstr>Degrees of Freedom - Takeaways</vt:lpstr>
      <vt:lpstr>Sensors</vt:lpstr>
      <vt:lpstr>Sensors</vt:lpstr>
      <vt:lpstr>Sensors</vt:lpstr>
      <vt:lpstr>Sensors</vt:lpstr>
      <vt:lpstr>Development environment</vt:lpstr>
      <vt:lpstr>ROS architecture – Robot SW design</vt:lpstr>
      <vt:lpstr>ROS architecture – Robot SW design</vt:lpstr>
      <vt:lpstr>ROS architecture – Robot SW design</vt:lpstr>
      <vt:lpstr>ROS architecture – Communication Types</vt:lpstr>
      <vt:lpstr>ROS architecture – Communication Types</vt:lpstr>
      <vt:lpstr>ROS Architecture: Nodes, Topics, Messages</vt:lpstr>
      <vt:lpstr>ROS Architecture: Robot SW design</vt:lpstr>
      <vt:lpstr>ROS Architecture: Topics</vt:lpstr>
      <vt:lpstr>ROS Architecture: Robot SW design</vt:lpstr>
      <vt:lpstr>ROS Architecture: Service</vt:lpstr>
      <vt:lpstr>ROS Architecture: Robot SW design</vt:lpstr>
      <vt:lpstr>ROS Architecture: Service</vt:lpstr>
      <vt:lpstr>ROS Architecture</vt:lpstr>
      <vt:lpstr>ROS Architecture</vt:lpstr>
      <vt:lpstr>ROS Architecture</vt:lpstr>
      <vt:lpstr>ROS Architecture</vt:lpstr>
      <vt:lpstr>ROS Architecture</vt:lpstr>
      <vt:lpstr>Development and testing</vt:lpstr>
      <vt:lpstr>Testing</vt:lpstr>
      <vt:lpstr>Learning Objectives </vt:lpstr>
      <vt:lpstr>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MOD-001: Robotics Trends &amp; Industry Landscape</dc:title>
  <dc:subject>PptxGenJS Presentation</dc:subject>
  <dc:creator>Mobile Robots Course</dc:creator>
  <cp:lastModifiedBy>Ahmad Abbadi</cp:lastModifiedBy>
  <cp:revision>137</cp:revision>
  <dcterms:created xsi:type="dcterms:W3CDTF">2026-02-19T18:14:35Z</dcterms:created>
  <dcterms:modified xsi:type="dcterms:W3CDTF">2026-03-02T05:32:20Z</dcterms:modified>
</cp:coreProperties>
</file>