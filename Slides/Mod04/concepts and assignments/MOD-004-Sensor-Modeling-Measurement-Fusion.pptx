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5"/>
  </p:notesMasterIdLst>
  <p:sldIdLst>
    <p:sldId id="256" r:id="rId2"/>
    <p:sldId id="279" r:id="rId3"/>
    <p:sldId id="280" r:id="rId4"/>
    <p:sldId id="299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23" autoAdjust="0"/>
  </p:normalViewPr>
  <p:slideViewPr>
    <p:cSldViewPr snapToGrid="0" snapToObjects="1">
      <p:cViewPr varScale="1">
        <p:scale>
          <a:sx n="91" d="100"/>
          <a:sy n="91" d="100"/>
        </p:scale>
        <p:origin x="113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FEC84F-C898-4554-BA49-274C6DC08821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5B66E0A-7AB8-4224-913B-E82819A59BA4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782B0BE-3333-44DF-AC32-5F8ADDCD69B4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4DD66F-07D9-4E51-A906-0B93F3B6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FBCCC0-6685-4C73-BA89-F5226608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5F7A2C1B-1720-4AEB-838C-F225139E981B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61AE67-3151-44AA-9113-C98B230F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09F9997-403B-45C8-A647-4F4B1A64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/>
            <a:r>
              <a:rPr sz="2800" b="1">
                <a:solidFill>
                  <a:srgbClr val="FFFFFF"/>
                </a:solidFill>
              </a:rPr>
              <a:t>MOD-04
Sensor Modeling,
Measurement &amp; Fusion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CCCCCC"/>
                </a:solidFill>
              </a:rPr>
              <a:t>By Dr. Ahmad Abbadi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MediBot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b="1" dirty="0"/>
              <a:t>Mission:</a:t>
            </a:r>
            <a:r>
              <a:rPr sz="1600" dirty="0"/>
              <a:t> Hospital delivery robot — Pharmacy → Ward B (Floor 3) → Lab</a:t>
            </a:r>
          </a:p>
          <a:p>
            <a:pPr lvl="1"/>
            <a:r>
              <a:rPr sz="1400" dirty="0"/>
              <a:t>ZERO collisions — patients, nurses, wheelchairs, IV stands</a:t>
            </a:r>
          </a:p>
          <a:p>
            <a:r>
              <a:rPr sz="1600" b="1" dirty="0"/>
              <a:t>Hospital environment challenges:</a:t>
            </a:r>
          </a:p>
          <a:p>
            <a:pPr lvl="1"/>
            <a:r>
              <a:rPr sz="1400" dirty="0"/>
              <a:t>Polished floors → wheel slip</a:t>
            </a:r>
          </a:p>
          <a:p>
            <a:pPr lvl="1"/>
            <a:r>
              <a:rPr sz="1400" dirty="0"/>
              <a:t>Glass doors</a:t>
            </a:r>
          </a:p>
          <a:p>
            <a:pPr lvl="1"/>
            <a:r>
              <a:rPr sz="1400" dirty="0"/>
              <a:t>People walk unpredictably, carts appear suddenly</a:t>
            </a:r>
          </a:p>
          <a:p>
            <a:pPr lvl="1"/>
            <a:r>
              <a:rPr sz="1400" dirty="0"/>
              <a:t>Elevators → vibration, tilt, no external references</a:t>
            </a:r>
          </a:p>
          <a:p>
            <a:pPr lvl="1"/>
            <a:r>
              <a:rPr sz="1400" dirty="0"/>
              <a:t>Lighting: bright lobby ↔ dim corridors ↔ flickering fluorescents</a:t>
            </a:r>
          </a:p>
          <a:p>
            <a:r>
              <a:rPr sz="1600" b="1" dirty="0"/>
              <a:t>Core question:</a:t>
            </a:r>
            <a:r>
              <a:rPr sz="1600" dirty="0"/>
              <a:t> Every sensor lies differently.</a:t>
            </a:r>
          </a:p>
          <a:p>
            <a:pPr lvl="1"/>
            <a:r>
              <a:rPr sz="1400" dirty="0"/>
              <a:t>How do we model, quantify uncertainty, and combine sensors?</a:t>
            </a:r>
          </a:p>
          <a:p>
            <a:r>
              <a:rPr sz="1600" b="1" dirty="0"/>
              <a:t>Approach:</a:t>
            </a:r>
            <a:r>
              <a:rPr sz="1600" dirty="0"/>
              <a:t> Add 6 sensors one at a time. Each failure → next sensor.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Block 1: Wheel Encoders — Scenario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400" b="1" dirty="0"/>
                  <a:t>Scenario: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MediBot</a:t>
                </a:r>
                <a:r>
                  <a:rPr lang="en-US" sz="1400" dirty="0"/>
                  <a:t> leaves pharmacy, 80m corridor ahead</a:t>
                </a:r>
              </a:p>
              <a:p>
                <a:pPr lvl="1"/>
                <a:r>
                  <a:rPr lang="en-US" sz="1400" dirty="0"/>
                  <a:t>Only sensor: two wheel encoders, one per wheel</a:t>
                </a:r>
              </a:p>
              <a:p>
                <a:pPr lvl="1"/>
                <a:r>
                  <a:rPr lang="en-US" sz="1400" dirty="0"/>
                  <a:t>N ticks per revolution → count rotations → compute distance</a:t>
                </a:r>
              </a:p>
              <a:p>
                <a:r>
                  <a:rPr lang="en-US" sz="1400" b="1" dirty="0"/>
                  <a:t>Parameters:</a:t>
                </a:r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N=500 ticks/rev, R=0.15m, L=0.6m, Update rate: 10 kHz (very fast).</a:t>
                </a:r>
              </a:p>
              <a:p>
                <a:r>
                  <a:rPr lang="en-US" sz="1400" b="1" dirty="0"/>
                  <a:t>Sensor Model — Ticks to Motion (Differential Drive):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SY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SY" sz="14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SY" sz="1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a:rPr lang="ar-SY" sz="1400" i="1" dirty="0">
                        <a:latin typeface="Cambria Math" panose="02040503050406030204" pitchFamily="18" charset="0"/>
                      </a:rPr>
                      <m:t>· 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SY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SY" sz="1400" i="1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SY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SY" sz="14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SY" sz="1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ar-SY" sz="14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a:rPr lang="ar-SY" sz="1400" i="1" dirty="0">
                        <a:latin typeface="Cambria Math" panose="02040503050406030204" pitchFamily="18" charset="0"/>
                      </a:rPr>
                      <m:t>· 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SY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SY" sz="14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ar-SY" sz="14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400" i="0" dirty="0" err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l-GR" sz="1400" i="0" dirty="0" err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SY" sz="1400" i="1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400" i="0" dirty="0" err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l-GR" sz="1400" i="0" dirty="0" err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ar-SY" sz="1400" dirty="0"/>
              </a:p>
              <a:p>
                <a:r>
                  <a:rPr lang="en-US" sz="1400" b="1" dirty="0"/>
                  <a:t>Pose update: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SY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·</m:t>
                    </m:r>
                    <m:func>
                      <m:func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i="0" dirty="0" err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ar-SY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ar-SY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sz="1400" i="0" dirty="0" err="1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l-GR" sz="1400" i="1" dirty="0" err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ar-SY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ar-SY" sz="1400" i="1" dirty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ar-SY" sz="1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SY" sz="1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ar-SY" sz="1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SY" sz="1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·</m:t>
                    </m:r>
                    <m:func>
                      <m:func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i="0" dirty="0" err="1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ar-SY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SY" sz="1400" i="1" dirty="0" err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ar-SY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sz="1400" i="0" dirty="0" err="1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l-GR" sz="1400" i="1" dirty="0" err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ar-SY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ar-SY" sz="1400" i="1" dirty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SY" sz="1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ar-SY" sz="1400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SY" sz="14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sz="1400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i="1" dirty="0" err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1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" t="-836" b="-3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19177" y="4667877"/>
            <a:ext cx="8289925" cy="328613"/>
          </a:xfrm>
        </p:spPr>
        <p:txBody>
          <a:bodyPr/>
          <a:lstStyle/>
          <a:p>
            <a:r>
              <a:rPr dirty="0"/>
              <a:t>Block 1/8 — Proprioceptive sensor | Mid-point Euler integration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56A07C84-E334-4F3D-B6FD-CBA493C04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002" y="2553170"/>
                <a:ext cx="3548543" cy="1754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SY" sz="12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2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SY" sz="1200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SY" sz="12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SY" sz="12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2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SY" sz="12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distance traveled by each wheel</a:t>
                </a: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kumimoji="0" lang="en-US" altLang="en-US" sz="1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0" lang="en-US" altLang="en-US" sz="1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kumimoji="0" lang="en-US" altLang="en-US" sz="1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  <m:r>
                      <a:rPr kumimoji="0" lang="en-US" alt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0" lang="en-US" altLang="en-US" sz="1200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kumimoji="0" lang="en-US" altLang="en-US" sz="1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0" lang="en-US" altLang="en-US" sz="1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​ = number of ticks counted in one time step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 = wheel radius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 = ticks per revolution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 = wheelbase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1200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/>
                  <a:t>We use </a:t>
                </a:r>
                <a:r>
                  <a:rPr lang="el-GR" sz="1200" dirty="0"/>
                  <a:t>θ</a:t>
                </a:r>
                <a:r>
                  <a:rPr lang="en-US" sz="1200" dirty="0"/>
                  <a:t>+</a:t>
                </a:r>
                <a:r>
                  <a:rPr lang="el-GR" sz="1200" dirty="0"/>
                  <a:t>Δθ/2 </a:t>
                </a:r>
                <a:r>
                  <a:rPr lang="en-US" sz="1200" dirty="0"/>
                  <a:t>(mid-point Euler integration angle) for better accuracy than using </a:t>
                </a:r>
                <a:r>
                  <a:rPr lang="el-GR" sz="1200" dirty="0"/>
                  <a:t>θ</a:t>
                </a:r>
                <a:r>
                  <a:rPr lang="en-US" sz="1200" dirty="0"/>
                  <a:t>​ alone.</a:t>
                </a: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56A07C84-E334-4F3D-B6FD-CBA493C04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6002" y="2553170"/>
                <a:ext cx="3548543" cy="1754326"/>
              </a:xfrm>
              <a:prstGeom prst="rect">
                <a:avLst/>
              </a:prstGeom>
              <a:blipFill>
                <a:blip r:embed="rId3"/>
                <a:stretch>
                  <a:fillRect r="-172" b="-24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Block 1: Wheel Encoders — </a:t>
            </a:r>
            <a:r>
              <a:rPr lang="en-US" dirty="0"/>
              <a:t>Noise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In a perfect world, encoder ticks are exact. 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In reality: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Wheel radius </a:t>
                </a:r>
                <a:r>
                  <a:rPr lang="en-US" sz="1400" dirty="0">
                    <a:effectLst/>
                  </a:rPr>
                  <a:t>R</a:t>
                </a:r>
                <a:r>
                  <a:rPr lang="en-US" sz="1400" dirty="0"/>
                  <a:t> is not perfectly known (manufacturing tolerance)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Ticks can be miscounted (electrical noise, vibration)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Wheel contact is imperfect (micro-slip on every step)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Modeling noise as Gaussian</a:t>
                </a:r>
              </a:p>
              <a:p>
                <a:r>
                  <a:rPr lang="en-US" sz="1400" dirty="0"/>
                  <a:t>We model each tick measurement as: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de-DE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140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𝑡𝑖𝑐𝑘</m:t>
                            </m:r>
                          </m:sub>
                          <m:sup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de-DE" sz="1800" dirty="0"/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de-DE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140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𝑡𝑖𝑐𝑘</m:t>
                            </m:r>
                          </m:sub>
                          <m:sup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means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400" dirty="0"/>
                  <a:t> is a random variable with mean </a:t>
                </a:r>
                <a:r>
                  <a:rPr lang="el-GR" sz="1400" dirty="0"/>
                  <a:t>μ</a:t>
                </a:r>
                <a:r>
                  <a:rPr lang="de-DE" sz="1400" dirty="0"/>
                  <a:t> </a:t>
                </a:r>
                <a:r>
                  <a:rPr lang="en-US" sz="1400" dirty="0"/>
                  <a:t>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l-GR" sz="1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e-DE" sz="1400" dirty="0"/>
              </a:p>
              <a:p>
                <a:r>
                  <a:rPr lang="en-US" sz="1400" dirty="0"/>
                  <a:t>Central Limit Theorem: many small errors → Gaussian</a:t>
                </a:r>
              </a:p>
              <a:p>
                <a:r>
                  <a:rPr lang="el-GR" sz="1400" dirty="0"/>
                  <a:t>68% in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sz="1400" dirty="0"/>
                  <a:t> | 95% in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400" dirty="0"/>
                  <a:t>| 99.7% in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l-GR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endParaRPr sz="1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19177" y="4667877"/>
            <a:ext cx="8289925" cy="328613"/>
          </a:xfrm>
        </p:spPr>
        <p:txBody>
          <a:bodyPr/>
          <a:lstStyle/>
          <a:p>
            <a:r>
              <a:rPr dirty="0"/>
              <a:t>Block 1/8 — Proprioceptive sensor | Mid-point Euler integration</a:t>
            </a:r>
          </a:p>
        </p:txBody>
      </p:sp>
    </p:spTree>
    <p:extLst>
      <p:ext uri="{BB962C8B-B14F-4D97-AF65-F5344CB8AC3E}">
        <p14:creationId xmlns:p14="http://schemas.microsoft.com/office/powerpoint/2010/main" val="175432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Gaussian Noise &amp; Error Propagation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400" b="1" dirty="0"/>
                  <a:t>Error propagation: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SY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≈ </m:t>
                    </m:r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ar-SY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SY" sz="1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· </m:t>
                    </m:r>
                    <m:r>
                      <a:rPr lang="ar-SY" sz="140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de-DE" sz="1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ar-SY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ar-SY" sz="1400" i="1" dirty="0">
                            <a:latin typeface="Cambria Math" panose="02040503050406030204" pitchFamily="18" charset="0"/>
                          </a:rPr>
                          <m:t>𝜕</m:t>
                        </m:r>
                      </m:den>
                    </m:f>
                  </m:oMath>
                </a14:m>
                <a:r>
                  <a:rPr lang="ar-SY" sz="1400" dirty="0"/>
                  <a:t> </a:t>
                </a:r>
                <a:r>
                  <a:rPr lang="de-DE" sz="1400" dirty="0"/>
                  <a:t> </a:t>
                </a:r>
                <a:r>
                  <a:rPr lang="en-US" sz="1400" dirty="0"/>
                  <a:t>(Jacobian of the state X)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Odometry covariance propagation: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en-US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·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ᵀ +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ᵀ</m:t>
                    </m:r>
                  </m:oMath>
                </a14:m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a:rPr lang="en-US" sz="1400">
                            <a:latin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de-DE" sz="14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den>
                    </m:f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l-G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l-G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m:rPr>
                                  <m:sty m:val="p"/>
                                </m:rPr>
                                <a:rPr lang="el-GR" sz="1400" i="0" dirty="0" err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func>
                                <m:func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i="0" dirty="0" err="1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l-GR" sz="1400" i="1" dirty="0" err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l-GR" sz="1400" i="1" dirty="0" err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l-GR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400" i="0" dirty="0" err="1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l-GR" sz="1400" i="1" dirty="0" err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l-GR" sz="1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l-GR" sz="1400" i="0" dirty="0" err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func>
                                <m:func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i="0" dirty="0" err="1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l-GR" sz="1400" i="1" dirty="0" err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l-GR" sz="1400" i="1" dirty="0" err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l-GR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400" i="0" dirty="0" err="1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l-GR" sz="1400" i="1" dirty="0" err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l-GR" sz="1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l-GR" sz="1400" dirty="0"/>
              </a:p>
              <a:p>
                <a:endParaRPr lang="el-GR" sz="1400" dirty="0"/>
              </a:p>
              <a:p>
                <a:r>
                  <a:rPr lang="en-US" sz="1400" b="1" dirty="0"/>
                  <a:t>P (3×3):</a:t>
                </a:r>
                <a:r>
                  <a:rPr lang="en-US" sz="1400" dirty="0"/>
                  <a:t> diagonal=variances, off-diagonal=correlations</a:t>
                </a:r>
              </a:p>
              <a:p>
                <a:pPr lvl="1"/>
                <a:r>
                  <a:rPr lang="en-US" sz="1400" dirty="0"/>
                  <a:t>Geometrically → uncertainty ellipse | </a:t>
                </a:r>
                <a:r>
                  <a:rPr lang="en-US" sz="1400" b="1" dirty="0"/>
                  <a:t>P grows without bound!</a:t>
                </a:r>
                <a:endParaRPr sz="14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Example: After 80m+turns → 2–5m error. Covariance never shrinks.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E5D8D-C7AA-402E-8D2E-C07653E1DC1E}"/>
                  </a:ext>
                </a:extLst>
              </p:cNvPr>
              <p:cNvSpPr txBox="1"/>
              <p:nvPr/>
            </p:nvSpPr>
            <p:spPr>
              <a:xfrm>
                <a:off x="5993934" y="929887"/>
                <a:ext cx="4572000" cy="1291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SY" sz="1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Y" sz="12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SY" sz="120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SY" sz="12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SY" sz="1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SY" sz="12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l-GR" sz="1200" i="0" dirty="0" err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12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l-GR" sz="1200" i="1" dirty="0" err="1">
                          <a:latin typeface="Cambria Math" panose="02040503050406030204" pitchFamily="18" charset="0"/>
                        </a:rPr>
                        <m:t>·</m:t>
                      </m:r>
                      <m:func>
                        <m:funcPr>
                          <m:ctrlPr>
                            <a:rPr lang="ar-SY" sz="12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dirty="0" err="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SY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Y" sz="1200" i="1" dirty="0" err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ar-SY" sz="1200" i="1" dirty="0" err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ar-SY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200" i="0" dirty="0" err="1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l-GR" sz="1200" i="1" dirty="0" err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ar-SY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ar-SY" sz="1200" i="1" dirty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ar-SY" sz="12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SY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Y" sz="1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SY" sz="12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SY" sz="12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SY" sz="12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SY" sz="12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l-GR" sz="1200" i="0" dirty="0" err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12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l-GR" sz="1200" i="1" dirty="0" err="1">
                          <a:latin typeface="Cambria Math" panose="02040503050406030204" pitchFamily="18" charset="0"/>
                        </a:rPr>
                        <m:t>·</m:t>
                      </m:r>
                      <m:func>
                        <m:funcPr>
                          <m:ctrlPr>
                            <a:rPr lang="ar-SY" sz="12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dirty="0" err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SY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Y" sz="1200" i="1" dirty="0" err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ar-SY" sz="1200" i="1" dirty="0" err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ar-SY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200" i="0" dirty="0" err="1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l-GR" sz="1200" i="1" dirty="0" err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ar-SY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ar-SY" sz="1200" i="1" dirty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ar-SY" sz="12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SY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Y" sz="12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SY" sz="12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SY" sz="12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SY" sz="1200" i="1" dirty="0" err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SY" sz="1200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200" i="0" dirty="0" err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1200" i="1" dirty="0" err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sz="12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 err="1" smtClean="0"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1200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err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 dirty="0" err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200" i="1" dirty="0" err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err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 dirty="0" err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12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2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sz="1200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l-GR" sz="1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E5D8D-C7AA-402E-8D2E-C07653E1D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934" y="929887"/>
                <a:ext cx="4572000" cy="12916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2C9B3-0EDF-4F69-B99A-5BB069D123C2}"/>
                  </a:ext>
                </a:extLst>
              </p:cNvPr>
              <p:cNvSpPr txBox="1"/>
              <p:nvPr/>
            </p:nvSpPr>
            <p:spPr>
              <a:xfrm>
                <a:off x="6509857" y="2483869"/>
                <a:ext cx="2634143" cy="77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l-GR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 err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l-GR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l-GR" sz="1200" i="1" dirty="0" smtClean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 err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Sup>
                                  <m:sSubSup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de-DE" sz="12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l-GR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de-DE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l-GR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de-DE" sz="1200" i="1" dirty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l-GR" sz="1200" i="1" dirty="0" smtClean="0">
                          <a:effectLst/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2C9B3-0EDF-4F69-B99A-5BB069D12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857" y="2483869"/>
                <a:ext cx="2634143" cy="772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Encoders: Operate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1100" b="1"/>
              <a:t>✅ USE FOR:</a:t>
            </a:r>
          </a:p>
          <a:p>
            <a:pPr lvl="1"/>
            <a:r>
              <a:rPr sz="1100"/>
              <a:t>Short-term dead reckoning</a:t>
            </a:r>
          </a:p>
          <a:p>
            <a:pPr lvl="1"/>
            <a:r>
              <a:rPr sz="1100"/>
              <a:t>Velocity estimation</a:t>
            </a:r>
          </a:p>
          <a:p>
            <a:pPr lvl="1"/>
            <a:r>
              <a:rPr sz="1100"/>
              <a:t>KF prediction step</a:t>
            </a:r>
          </a:p>
          <a:p>
            <a:endParaRPr sz="1100"/>
          </a:p>
          <a:p>
            <a:r>
              <a:rPr sz="1100" b="1"/>
              <a:t>Works well when:</a:t>
            </a:r>
          </a:p>
          <a:p>
            <a:pPr lvl="1"/>
            <a:r>
              <a:rPr sz="1100"/>
              <a:t>Dry textured floor</a:t>
            </a:r>
          </a:p>
          <a:p>
            <a:pPr lvl="1"/>
            <a:r>
              <a:rPr sz="1100"/>
              <a:t>Slow speed, short distances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100" b="1"/>
              <a:t>❌ DO NOT USE FOR:</a:t>
            </a:r>
          </a:p>
          <a:p>
            <a:pPr lvl="1"/>
            <a:r>
              <a:rPr sz="1100"/>
              <a:t>Sole localization (&gt;10m)</a:t>
            </a:r>
          </a:p>
          <a:p>
            <a:pPr lvl="1"/>
            <a:r>
              <a:rPr sz="1100"/>
              <a:t>Safety-critical positioning</a:t>
            </a:r>
          </a:p>
          <a:p>
            <a:endParaRPr sz="1100"/>
          </a:p>
          <a:p>
            <a:r>
              <a:rPr sz="1100" b="1"/>
              <a:t>Fails when:</a:t>
            </a:r>
          </a:p>
          <a:p>
            <a:pPr lvl="1"/>
            <a:r>
              <a:rPr sz="1100"/>
              <a:t>Smooth/wet floors (slip)</a:t>
            </a:r>
          </a:p>
          <a:p>
            <a:pPr lvl="1"/>
            <a:r>
              <a:rPr sz="1100"/>
              <a:t>Tight turns, bumps</a:t>
            </a:r>
          </a:p>
          <a:p>
            <a:pPr lvl="1"/>
            <a:r>
              <a:rPr sz="1100"/>
              <a:t>Long distances (unbounded drift)</a:t>
            </a:r>
          </a:p>
          <a:p>
            <a:endParaRPr sz="1100"/>
          </a:p>
          <a:p>
            <a:r>
              <a:rPr sz="1100" b="1"/>
              <a:t>💥 FAILURE:</a:t>
            </a:r>
            <a:r>
              <a:rPr sz="1100"/>
              <a:t> 80m travel → 3m past elevator</a:t>
            </a:r>
          </a:p>
          <a:p>
            <a:pPr lvl="1"/>
            <a:r>
              <a:rPr sz="1100"/>
              <a:t>Polished floor → drift. Need EXTERNAL sensor!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2: Ultrasonic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300" b="1"/>
              <a:t>Time-of-Flight:</a:t>
            </a:r>
            <a:r>
              <a:rPr sz="1300"/>
              <a:t> d = c · t / 2    (c ≈ 343 m/s)</a:t>
            </a:r>
          </a:p>
          <a:p>
            <a:pPr lvl="1"/>
            <a:r>
              <a:rPr sz="1100"/>
              <a:t>c(T) = 331.3 + 0.606·T — depends on temperature!</a:t>
            </a:r>
          </a:p>
          <a:p>
            <a:pPr lvl="1"/>
            <a:r>
              <a:rPr sz="1100"/>
              <a:t>Beam cone: 15–30° spread → nearest object in cone</a:t>
            </a:r>
          </a:p>
          <a:p>
            <a:endParaRPr sz="1100"/>
          </a:p>
          <a:p>
            <a:r>
              <a:rPr sz="1300" b="1"/>
              <a:t>Measurement model (all sensors):</a:t>
            </a:r>
            <a:r>
              <a:rPr sz="1300"/>
              <a:t> z = h(x) + b + v</a:t>
            </a:r>
          </a:p>
          <a:p>
            <a:pPr lvl="1"/>
            <a:r>
              <a:rPr sz="1100"/>
              <a:t>h(x) = expected value | b = bias | v ~ N(0,R) = noise</a:t>
            </a:r>
          </a:p>
          <a:p>
            <a:endParaRPr sz="1100"/>
          </a:p>
          <a:p>
            <a:r>
              <a:rPr sz="1300" b="1"/>
              <a:t>Systematic errors:</a:t>
            </a:r>
            <a:r>
              <a:rPr sz="1300"/>
              <a:t> temperature bias, aging, mounting offset</a:t>
            </a:r>
          </a:p>
          <a:p>
            <a:r>
              <a:rPr sz="1300" b="1"/>
              <a:t>Random errors:</a:t>
            </a:r>
            <a:r>
              <a:rPr sz="1300"/>
              <a:t> timing jitter (σ≈1–5mm), surface (σ≈5–20mm)</a:t>
            </a:r>
          </a:p>
          <a:p>
            <a:r>
              <a:rPr sz="1300" b="1"/>
              <a:t>Calibration:</a:t>
            </a:r>
            <a:r>
              <a:rPr sz="1300"/>
              <a:t> d_corr = a·z + b via least-squares at known distances</a:t>
            </a:r>
          </a:p>
          <a:p>
            <a:endParaRPr sz="1300"/>
          </a:p>
          <a:p>
            <a:r>
              <a:rPr sz="1300" b="1"/>
              <a:t>Key advantage:</a:t>
            </a:r>
            <a:r>
              <a:rPr sz="1300"/>
              <a:t> Ultrasonic DETECTS GLASS!</a:t>
            </a:r>
          </a:p>
          <a:p>
            <a:pPr lvl="1"/>
            <a:r>
              <a:rPr sz="1100"/>
              <a:t>Sound reflects off glass (acoustic impedance mismatch)</a:t>
            </a:r>
          </a:p>
          <a:p>
            <a:pPr lvl="1"/>
            <a:r>
              <a:rPr sz="1100"/>
              <a:t>LiDAR laser passes through → ultrasonic fills LiDAR glass blind spot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Block 2/8 | Ref: Pepperl+Fuchs (2022)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Ultrasonic: Example &amp; Operate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/>
              <a:t>Example:</a:t>
            </a:r>
            <a:r>
              <a:rPr sz="1300"/>
              <a:t> d_true=0.8m, T=22°C, firmware uses c=343 (not 344.6)</a:t>
            </a:r>
          </a:p>
          <a:p>
            <a:pPr lvl="1"/>
            <a:r>
              <a:rPr sz="1100"/>
              <a:t>t = 2×0.8/344.6 = 4.643ms → z = 343×4.643e-3/2 = 0.7963m</a:t>
            </a:r>
          </a:p>
          <a:p>
            <a:pPr lvl="1"/>
            <a:r>
              <a:rPr sz="1100" b="1"/>
              <a:t>Bias = −3.7mm</a:t>
            </a:r>
            <a:r>
              <a:rPr sz="1100"/>
              <a:t> (at 4m → −18.5mm). Fix: temperature sensor!</a:t>
            </a:r>
          </a:p>
          <a:p>
            <a:endParaRPr sz="1100"/>
          </a:p>
          <a:p>
            <a:r>
              <a:rPr sz="1300" b="1"/>
              <a:t>✅ Use for:</a:t>
            </a:r>
            <a:r>
              <a:rPr sz="1300"/>
              <a:t> close-range (&lt;4m), wall following, </a:t>
            </a:r>
            <a:r>
              <a:rPr sz="1300" b="1"/>
              <a:t>glass detection</a:t>
            </a:r>
          </a:p>
          <a:p>
            <a:r>
              <a:rPr sz="1300" b="1"/>
              <a:t>❌ Fails:</a:t>
            </a:r>
            <a:r>
              <a:rPr sz="1300"/>
              <a:t> oblique angles (specular reflection), cross-talk,</a:t>
            </a:r>
          </a:p>
          <a:p>
            <a:pPr lvl="1"/>
            <a:r>
              <a:rPr sz="1100"/>
              <a:t>sound-absorbing materials, range &gt; 4m, large open spaces</a:t>
            </a:r>
          </a:p>
          <a:p>
            <a:endParaRPr sz="1100"/>
          </a:p>
          <a:p>
            <a:r>
              <a:rPr sz="1300" b="1"/>
              <a:t>💥 FAILURE:</a:t>
            </a:r>
            <a:r>
              <a:rPr sz="1300"/>
              <a:t> Hospital lobby (15×20m) — ultrasonics max at 4m,</a:t>
            </a:r>
          </a:p>
          <a:p>
            <a:pPr lvl="1"/>
            <a:r>
              <a:rPr sz="1100"/>
              <a:t>columns at angles → specular reflection, cross-talk → phantoms</a:t>
            </a:r>
          </a:p>
          <a:p>
            <a:pPr lvl="1"/>
            <a:r>
              <a:rPr sz="1100"/>
              <a:t>Need: 360° sweep, hundreds of points, fine angular resolution</a:t>
            </a:r>
          </a:p>
          <a:p>
            <a:endParaRPr sz="1100"/>
          </a:p>
          <a:p>
            <a:r>
              <a:rPr sz="1300" b="1"/>
              <a:t>→ Next: LiDAR — spinning laser scanner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Resolution ≠ Accuracy: detect 1mm changes but average 5mm 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3: LiDAR (2D/3D)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/>
              <a:t>Spinning laser scanner → 360° → hundreds of (r, φ) per sweep</a:t>
            </a:r>
          </a:p>
          <a:p>
            <a:pPr lvl="1"/>
            <a:r>
              <a:rPr sz="1100"/>
              <a:t>To Cartesian: x = r·cos(φ), y = r·sin(φ)</a:t>
            </a:r>
          </a:p>
          <a:p>
            <a:pPr lvl="1"/>
            <a:r>
              <a:rPr sz="1100"/>
              <a:t>Indoor 2D: range 0.1–30m, rate 10–40Hz, σ_r≈1–3cm, σ_φ≈0.1–0.5°</a:t>
            </a:r>
          </a:p>
          <a:p>
            <a:endParaRPr sz="1100"/>
          </a:p>
          <a:p>
            <a:r>
              <a:rPr sz="1300" b="1"/>
              <a:t>Beam model (4-component mixture):</a:t>
            </a:r>
          </a:p>
          <a:p>
            <a:pPr lvl="1"/>
            <a:r>
              <a:rPr sz="1100"/>
              <a:t>p(z|x,m) = α_hit·N(r_true,σ²) + α_short·λe^{−λz}</a:t>
            </a:r>
          </a:p>
          <a:p>
            <a:pPr lvl="2"/>
            <a:r>
              <a:rPr sz="1100"/>
              <a:t>          + α_max·δ(z_max) + α_rand·U(0,z_max)</a:t>
            </a:r>
          </a:p>
          <a:p>
            <a:pPr lvl="1"/>
            <a:r>
              <a:rPr sz="1100"/>
              <a:t>Typical: α_hit=0.85, α_short=0.05, α_max=0.05, α_rand=0.05</a:t>
            </a:r>
          </a:p>
          <a:p>
            <a:endParaRPr sz="1100"/>
          </a:p>
          <a:p>
            <a:r>
              <a:rPr sz="1300" b="1"/>
              <a:t>Likelihood field model:</a:t>
            </a:r>
            <a:r>
              <a:rPr sz="1300"/>
              <a:t> precompute distance map → faster, no ray-casting</a:t>
            </a:r>
          </a:p>
          <a:p>
            <a:pPr lvl="1"/>
            <a:r>
              <a:rPr sz="1100"/>
              <a:t>Used by AMCL in ROS</a:t>
            </a:r>
          </a:p>
          <a:p>
            <a:endParaRPr sz="1100"/>
          </a:p>
          <a:p>
            <a:r>
              <a:rPr sz="1300" b="1"/>
              <a:t>Log-likelihood:</a:t>
            </a:r>
            <a:r>
              <a:rPr sz="1300"/>
              <a:t> ℓ = Σ log p(z_i|x,m) — avoids numerical underflow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Block 3/8 | Ref: Probabilistic Robotics Ch.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LiDAR: Uncertainty &amp; Mahalanobis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300" b="1"/>
              <a:t>Polar→Cartesian uncertainty:</a:t>
            </a:r>
          </a:p>
          <a:p>
            <a:pPr lvl="1"/>
            <a:r>
              <a:rPr sz="1100"/>
              <a:t>J = [cos(φ) −r·sin(φ); sin(φ) r·cos(φ)]</a:t>
            </a:r>
          </a:p>
          <a:p>
            <a:pPr lvl="1"/>
            <a:r>
              <a:rPr sz="1100"/>
              <a:t>P_xy = J · diag(σ²_r, σ²_φ) · Jᵀ</a:t>
            </a:r>
          </a:p>
          <a:p>
            <a:pPr lvl="1"/>
            <a:r>
              <a:rPr sz="1100" b="1"/>
              <a:t>Angular term r²·σ²_φ dominates at long range → tangential elongation</a:t>
            </a:r>
          </a:p>
          <a:p>
            <a:endParaRPr sz="1100" b="1"/>
          </a:p>
          <a:p>
            <a:r>
              <a:rPr sz="1300" b="1"/>
              <a:t>Mahalanobis distance:</a:t>
            </a:r>
            <a:r>
              <a:rPr sz="1300"/>
              <a:t> d_M = √[(z−ẑ)ᵀ S⁻¹ (z−ẑ)]</a:t>
            </a:r>
          </a:p>
          <a:p>
            <a:pPr lvl="1"/>
            <a:r>
              <a:rPr sz="1100"/>
              <a:t>d_M &lt; 2 → consistent | d_M &gt; 3 → outlier → REJECT</a:t>
            </a:r>
          </a:p>
          <a:p>
            <a:pPr lvl="1"/>
            <a:r>
              <a:rPr sz="1100"/>
              <a:t>Foundation of fusion gating (Block 8)</a:t>
            </a:r>
          </a:p>
          <a:p>
            <a:endParaRPr sz="1100"/>
          </a:p>
          <a:p>
            <a:r>
              <a:rPr sz="1300" b="1"/>
              <a:t>✅ Use:</a:t>
            </a:r>
            <a:r>
              <a:rPr sz="1300"/>
              <a:t> mapping, SLAM, localization, obstacle avoidance</a:t>
            </a:r>
          </a:p>
          <a:p>
            <a:r>
              <a:rPr sz="1300" b="1"/>
              <a:t>❌ Fails:</a:t>
            </a:r>
            <a:r>
              <a:rPr sz="1300"/>
              <a:t> glass (laser through!), mirrors, black surfaces, 2D misses vertical</a:t>
            </a:r>
          </a:p>
          <a:p>
            <a:endParaRPr sz="1300"/>
          </a:p>
          <a:p>
            <a:r>
              <a:rPr sz="1300" b="1"/>
              <a:t>💥 FAILURE:</a:t>
            </a:r>
            <a:r>
              <a:rPr sz="1300"/>
              <a:t> Elevator vibration → LiDAR scan shifts, no self-motion sensing</a:t>
            </a:r>
          </a:p>
          <a:p>
            <a:pPr lvl="1"/>
            <a:r>
              <a:rPr sz="1100"/>
              <a:t>3° heading error → 20m × sin(3°) = 1.05m lateral offset</a:t>
            </a:r>
          </a:p>
          <a:p>
            <a:pPr lvl="1"/>
            <a:r>
              <a:rPr sz="1100" b="1"/>
              <a:t>→ Need: sensor that FEELS motion directly (IMU)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2D vs 3D: 2D misses objects above/below scan plane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4: IMU (Accelerometer + Gyroscope)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300" b="1"/>
              <a:t>6-axis: 3 accel + 3 gyro, 200 Hz — fastest sensor on MediBot</a:t>
            </a:r>
          </a:p>
          <a:p>
            <a:endParaRPr sz="1300" b="1"/>
          </a:p>
          <a:p>
            <a:r>
              <a:rPr sz="1300" b="1"/>
              <a:t>Gyroscope:</a:t>
            </a:r>
            <a:r>
              <a:rPr sz="1300"/>
              <a:t> ω_meas = ω_true + b_g + n_g</a:t>
            </a:r>
          </a:p>
          <a:p>
            <a:pPr lvl="1"/>
            <a:r>
              <a:rPr sz="1100"/>
              <a:t>Bias drift: b_g(k+1) = b_g(k) + w_b (random walk)</a:t>
            </a:r>
          </a:p>
          <a:p>
            <a:pPr lvl="1"/>
            <a:r>
              <a:rPr sz="1100"/>
              <a:t>Heading error: from noise = ARW·√T | from bias = b_g·T (dominates!)</a:t>
            </a:r>
          </a:p>
          <a:p>
            <a:endParaRPr sz="1100"/>
          </a:p>
          <a:p>
            <a:r>
              <a:rPr sz="1300" b="1"/>
              <a:t>Accelerometer:</a:t>
            </a:r>
            <a:r>
              <a:rPr sz="1300"/>
              <a:t> f_meas = R^T(a−g) + b_a + n_a</a:t>
            </a:r>
          </a:p>
          <a:p>
            <a:pPr lvl="1"/>
            <a:r>
              <a:rPr sz="1100"/>
              <a:t>Must subtract gravity → need orientation! (1° error → 0.17 m/s²)</a:t>
            </a:r>
          </a:p>
          <a:p>
            <a:pPr lvl="1"/>
            <a:r>
              <a:rPr sz="1100"/>
              <a:t>Velocity error ∝ T, Position error ∝ T² (double integration!)</a:t>
            </a:r>
          </a:p>
          <a:p>
            <a:endParaRPr sz="1100"/>
          </a:p>
          <a:p>
            <a:r>
              <a:rPr sz="1300" b="1"/>
              <a:t>Allan Variance:</a:t>
            </a:r>
            <a:r>
              <a:rPr sz="1300"/>
              <a:t> log-log plot of σ(τ)</a:t>
            </a:r>
          </a:p>
          <a:p>
            <a:pPr lvl="1"/>
            <a:r>
              <a:rPr sz="1100"/>
              <a:t>Slope −½ → white noise | 0 → bias instability | +½ → drift</a:t>
            </a:r>
          </a:p>
          <a:p>
            <a:endParaRPr sz="1100"/>
          </a:p>
          <a:p>
            <a:r>
              <a:rPr sz="1300" b="1"/>
              <a:t>Bias = hidden state:</a:t>
            </a:r>
            <a:r>
              <a:rPr sz="1300"/>
              <a:t> Cannot self-estimate → needs external reference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Block 4/8 | Ref: Titterton &amp; Weston (2004), IEEE Std 952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IMU: Example &amp; Operate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/>
              <a:t>Elevator ride (15s):</a:t>
            </a:r>
            <a:r>
              <a:rPr sz="1300"/>
              <a:t> b_g=0.05°/s, b_a=0.5mg</a:t>
            </a:r>
          </a:p>
          <a:p>
            <a:pPr lvl="1"/>
            <a:r>
              <a:rPr sz="1100"/>
              <a:t>Heading: 0.05×15 = </a:t>
            </a:r>
            <a:r>
              <a:rPr sz="1100" b="1"/>
              <a:t>0.75°</a:t>
            </a:r>
            <a:r>
              <a:rPr sz="1100"/>
              <a:t> (bias dominates noise 0.013°)</a:t>
            </a:r>
          </a:p>
          <a:p>
            <a:pPr lvl="1"/>
            <a:r>
              <a:rPr sz="1100"/>
              <a:t>Position: ½×0.0049×225 = </a:t>
            </a:r>
            <a:r>
              <a:rPr sz="1100" b="1"/>
              <a:t>0.55m</a:t>
            </a:r>
            <a:r>
              <a:rPr sz="1100"/>
              <a:t> (can't tell which floor!)</a:t>
            </a:r>
          </a:p>
          <a:p>
            <a:pPr lvl="1"/>
            <a:r>
              <a:rPr sz="1100"/>
              <a:t>After 20m corridor: offset = 20×sin(0.76°) = 0.27m</a:t>
            </a:r>
          </a:p>
          <a:p>
            <a:endParaRPr sz="1100"/>
          </a:p>
          <a:p>
            <a:r>
              <a:rPr sz="1300" b="1"/>
              <a:t>✅ Use:</a:t>
            </a:r>
            <a:r>
              <a:rPr sz="1300"/>
              <a:t> short-term orientation (&lt;30s), elevator/ramp, bridging gaps</a:t>
            </a:r>
          </a:p>
          <a:p>
            <a:r>
              <a:rPr sz="1300" b="1"/>
              <a:t>❌ Fails:</a:t>
            </a:r>
            <a:r>
              <a:rPr sz="1300"/>
              <a:t> standalone &gt;10s, absolute heading without external ref</a:t>
            </a:r>
          </a:p>
          <a:p>
            <a:endParaRPr sz="1300"/>
          </a:p>
          <a:p>
            <a:r>
              <a:rPr sz="1300" b="1"/>
              <a:t>💥 FAILURE:</a:t>
            </a:r>
            <a:r>
              <a:rPr sz="1300"/>
              <a:t> 45s without correction → 2.25° drift, 1.5m off</a:t>
            </a:r>
          </a:p>
          <a:p>
            <a:pPr lvl="1"/>
            <a:r>
              <a:rPr sz="1100"/>
              <a:t>All corridors look identical geometrically</a:t>
            </a:r>
          </a:p>
          <a:p>
            <a:pPr lvl="1"/>
            <a:r>
              <a:rPr sz="1100"/>
              <a:t>Need to READ signs, RECOGNIZE objects</a:t>
            </a:r>
          </a:p>
          <a:p>
            <a:pPr lvl="1"/>
            <a:r>
              <a:rPr sz="1100"/>
              <a:t>LiDAR = geometry, IMU = motion, neither = MEANING</a:t>
            </a:r>
          </a:p>
          <a:p>
            <a:pPr lvl="1"/>
            <a:r>
              <a:rPr sz="1100" b="1"/>
              <a:t>→ Need: Camera — color, texture, text, semantic understanding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Observable vs. unobservable: bias needs external reference to estimate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5: Camera (RGB &amp; Depth)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/>
              <a:t>RGB-D camera:</a:t>
            </a:r>
            <a:r>
              <a:rPr sz="1300"/>
              <a:t> color + depth in one package</a:t>
            </a:r>
          </a:p>
          <a:p>
            <a:pPr lvl="1"/>
            <a:r>
              <a:rPr sz="1100"/>
              <a:t>Read signs, detect people, dense 3D maps, semantic understanding</a:t>
            </a:r>
          </a:p>
          <a:p>
            <a:endParaRPr sz="1100"/>
          </a:p>
          <a:p>
            <a:r>
              <a:rPr sz="1300" b="1"/>
              <a:t>Pinhole model:</a:t>
            </a:r>
            <a:r>
              <a:rPr sz="1300"/>
              <a:t> u = f_x·(X/Z)+c_x, v = f_y·(Y/Z)+c_y</a:t>
            </a:r>
          </a:p>
          <a:p>
            <a:pPr lvl="1"/>
            <a:r>
              <a:rPr sz="1100"/>
              <a:t>K = [f_x 0 c_x; 0 f_y c_y; 0 0 1] (intrinsic matrix)</a:t>
            </a:r>
          </a:p>
          <a:p>
            <a:pPr lvl="1"/>
            <a:r>
              <a:rPr sz="1100"/>
              <a:t>Projection is LOSSY — depth Z lost → need separate depth sensor</a:t>
            </a:r>
          </a:p>
          <a:p>
            <a:endParaRPr sz="1100"/>
          </a:p>
          <a:p>
            <a:r>
              <a:rPr sz="1300" b="1"/>
              <a:t>Stereo depth:</a:t>
            </a:r>
            <a:r>
              <a:rPr sz="1300"/>
              <a:t> Z = f·B/d (f=focal, B=baseline, d=disparity)</a:t>
            </a:r>
          </a:p>
          <a:p>
            <a:pPr lvl="1"/>
            <a:r>
              <a:rPr sz="1100" b="1"/>
              <a:t>σ_Z = (Z²/fB)·σ_d — depth error grows as Z² (quadratic!)</a:t>
            </a:r>
          </a:p>
          <a:p>
            <a:pPr lvl="1"/>
            <a:r>
              <a:rPr sz="1100"/>
              <a:t>At 1m: ~1cm | At 5m: ~25cm (25× worse!)</a:t>
            </a:r>
          </a:p>
          <a:p>
            <a:endParaRPr sz="1100"/>
          </a:p>
          <a:p>
            <a:r>
              <a:rPr sz="1300" b="1"/>
              <a:t>Heteroscedastic noise:</a:t>
            </a:r>
            <a:r>
              <a:rPr sz="1300"/>
              <a:t> R(Z) depends on Z itself</a:t>
            </a:r>
          </a:p>
          <a:p>
            <a:pPr lvl="1"/>
            <a:r>
              <a:rPr sz="1100"/>
              <a:t>Close measurements trusted MORE in fusion</a:t>
            </a:r>
          </a:p>
          <a:p>
            <a:r>
              <a:rPr sz="1300" b="1"/>
              <a:t>Calibration:</a:t>
            </a:r>
            <a:r>
              <a:rPr sz="1300"/>
              <a:t> Zhang's method (checkerboard, 15–30 images)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Block 5/8 | Ref: Hartley &amp; Zisserman (2004), Zhang (2000)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Camera: Operate &amp;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/>
              <a:t>✅ Use:</a:t>
            </a:r>
            <a:r>
              <a:rPr sz="1300"/>
              <a:t> sign reading, person detection, dense 3D (&lt;4m), visual odometry</a:t>
            </a:r>
          </a:p>
          <a:p>
            <a:r>
              <a:rPr sz="1300" b="1"/>
              <a:t>❌ Fails:</a:t>
            </a:r>
            <a:r>
              <a:rPr sz="1300"/>
              <a:t> sunlight saturates IR, textureless walls, glass (IR through),</a:t>
            </a:r>
          </a:p>
          <a:p>
            <a:pPr lvl="1"/>
            <a:r>
              <a:rPr sz="1100"/>
              <a:t>motion blur, limited FoV (~70°), dark environments</a:t>
            </a:r>
          </a:p>
          <a:p>
            <a:endParaRPr sz="1100"/>
          </a:p>
          <a:p>
            <a:r>
              <a:rPr sz="1300" b="1"/>
              <a:t>Example:</a:t>
            </a:r>
            <a:r>
              <a:rPr sz="1300"/>
              <a:t> Ward sign at 3m, f=600px, B=0.05m</a:t>
            </a:r>
          </a:p>
          <a:p>
            <a:pPr lvl="1"/>
            <a:r>
              <a:rPr sz="1100"/>
              <a:t>σ_Z = 9/(600×0.05) = </a:t>
            </a:r>
            <a:r>
              <a:rPr sz="1100" b="1"/>
              <a:t>0.30m</a:t>
            </a:r>
            <a:r>
              <a:rPr sz="1100"/>
              <a:t> — OK for sign, bad for obstacles</a:t>
            </a:r>
          </a:p>
          <a:p>
            <a:pPr lvl="1"/>
            <a:r>
              <a:rPr sz="1100"/>
              <a:t>At 1m: σ_Z = 0.033m (9× better!)</a:t>
            </a:r>
          </a:p>
          <a:p>
            <a:endParaRPr sz="1100"/>
          </a:p>
          <a:p>
            <a:r>
              <a:rPr sz="1300" b="1"/>
              <a:t>💥 FAILURE:</a:t>
            </a:r>
            <a:r>
              <a:rPr sz="1300"/>
              <a:t> Supply cart from BEHIND at 2m/s</a:t>
            </a:r>
          </a:p>
          <a:p>
            <a:pPr lvl="1"/>
            <a:r>
              <a:rPr sz="1100"/>
              <a:t>Camera faces forward — can't see behind (limited FoV)</a:t>
            </a:r>
          </a:p>
          <a:p>
            <a:pPr lvl="1"/>
            <a:r>
              <a:rPr sz="1100"/>
              <a:t>Sunlight through window → IR depth saturated = noise</a:t>
            </a:r>
          </a:p>
          <a:p>
            <a:pPr lvl="1"/>
            <a:r>
              <a:rPr sz="1100"/>
              <a:t>Can't measure velocity (differentiation amplifies noise)</a:t>
            </a:r>
          </a:p>
          <a:p>
            <a:endParaRPr sz="1100"/>
          </a:p>
          <a:p>
            <a:r>
              <a:rPr sz="1300" b="1"/>
              <a:t>→ Need: all-weather, wide coverage, direct velocity → Radar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Depth camera ≠ glass-safe (IR passes through, same as LiDAR)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6: Radar (mmWave)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300" b="1"/>
              <a:t>60–80 GHz radio: through glass, dust, fog, any lighting</a:t>
            </a:r>
          </a:p>
          <a:p>
            <a:pPr lvl="1"/>
            <a:r>
              <a:rPr sz="1100"/>
              <a:t>Each detection: (r, θ, v_r) — range, azimuth, </a:t>
            </a:r>
            <a:r>
              <a:rPr sz="1100" b="1"/>
              <a:t>radial velocity</a:t>
            </a:r>
          </a:p>
          <a:p>
            <a:endParaRPr sz="1100" b="1"/>
          </a:p>
          <a:p>
            <a:r>
              <a:rPr sz="1300" b="1"/>
              <a:t>FMCW:</a:t>
            </a:r>
            <a:r>
              <a:rPr sz="1300"/>
              <a:t> Transmit chirp → beat frequency → range</a:t>
            </a:r>
          </a:p>
          <a:p>
            <a:pPr lvl="1"/>
            <a:r>
              <a:rPr sz="1100"/>
              <a:t>r = f_beat·c·T_c/(2·BW) | Δr = c/(2·BW) → 4GHz = 3.75cm</a:t>
            </a:r>
          </a:p>
          <a:p>
            <a:pPr lvl="1"/>
            <a:r>
              <a:rPr sz="1100"/>
              <a:t>Velocity: v_r = λ·f_Doppler/2 (σ_v ≈ 0.05 m/s — very precise!)</a:t>
            </a:r>
          </a:p>
          <a:p>
            <a:endParaRPr sz="1100"/>
          </a:p>
          <a:p>
            <a:r>
              <a:rPr sz="1300" b="1"/>
              <a:t>Doppler = direct velocity — no integration drift, no differentiation noise</a:t>
            </a:r>
          </a:p>
          <a:p>
            <a:pPr lvl="1"/>
            <a:r>
              <a:rPr sz="1100"/>
              <a:t>Fundamentally different from encoders (differentiate) &amp; IMU (integrate)</a:t>
            </a:r>
          </a:p>
          <a:p>
            <a:endParaRPr sz="1100"/>
          </a:p>
          <a:p>
            <a:r>
              <a:rPr sz="1300" b="1"/>
              <a:t>Angular resolution:</a:t>
            </a:r>
            <a:r>
              <a:rPr sz="1300"/>
              <a:t> Δθ ≈ λ/D ≈ 4.5° (10–50× worse than LiDAR)</a:t>
            </a:r>
          </a:p>
          <a:p>
            <a:r>
              <a:rPr sz="1300" b="1"/>
              <a:t>RCS:</a:t>
            </a:r>
            <a:r>
              <a:rPr sz="1300"/>
              <a:t> SNR ∝ σ_RCS/r⁴ (metal cart: 10–30m², person: 0.5–2m²)</a:t>
            </a:r>
          </a:p>
          <a:p>
            <a:endParaRPr sz="1300"/>
          </a:p>
          <a:p>
            <a:r>
              <a:rPr sz="1300" b="1"/>
              <a:t>Example:</a:t>
            </a:r>
            <a:r>
              <a:rPr sz="1300"/>
              <a:t> Cart at 8m, 2m/s → time to collision = 4s, through glass ✓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Block 6/8 | Ref: TI SWRA553 | Resolution ≠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Sensors — No Single One Is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1300" b="1"/>
              <a:t>Encoders</a:t>
            </a:r>
            <a:r>
              <a:rPr sz="1300"/>
              <a:t> → motion (Δs,Δθ)  |  ❌ drift, slip</a:t>
            </a:r>
          </a:p>
          <a:p>
            <a:r>
              <a:rPr sz="1300" b="1"/>
              <a:t>Ultrasonic</a:t>
            </a:r>
            <a:r>
              <a:rPr sz="1300"/>
              <a:t> → close range, glass  |  ❌ short range, wide beam</a:t>
            </a:r>
          </a:p>
          <a:p>
            <a:r>
              <a:rPr sz="1300" b="1"/>
              <a:t>LiDAR</a:t>
            </a:r>
            <a:r>
              <a:rPr sz="1300"/>
              <a:t> → rich geometry  |  ❌ glass, no semantics</a:t>
            </a:r>
          </a:p>
          <a:p>
            <a:r>
              <a:rPr sz="1300" b="1"/>
              <a:t>IMU</a:t>
            </a:r>
            <a:r>
              <a:rPr sz="1300"/>
              <a:t> → fast motion  |  ❌ drift in seconds</a:t>
            </a:r>
          </a:p>
          <a:p>
            <a:r>
              <a:rPr sz="1300" b="1"/>
              <a:t>Camera</a:t>
            </a:r>
            <a:r>
              <a:rPr sz="1300"/>
              <a:t> → semantics, depth  |  ❌ lighting, limited FoV</a:t>
            </a:r>
          </a:p>
          <a:p>
            <a:r>
              <a:rPr sz="1300" b="1"/>
              <a:t>Radar</a:t>
            </a:r>
            <a:r>
              <a:rPr sz="1300"/>
              <a:t> → velocity, all-weather  |  ❌ low angular resolution</a:t>
            </a:r>
          </a:p>
          <a:p>
            <a:endParaRPr sz="1300"/>
          </a:p>
          <a:p>
            <a:r>
              <a:rPr sz="1300" b="1"/>
              <a:t>No single sensor = safe hospital navigation</a:t>
            </a:r>
          </a:p>
          <a:p>
            <a:endParaRPr sz="1300" b="1"/>
          </a:p>
          <a:p>
            <a:r>
              <a:rPr sz="1300"/>
              <a:t>Each excels where others fail.</a:t>
            </a:r>
          </a:p>
          <a:p>
            <a:r>
              <a:rPr sz="1300"/>
              <a:t>Question: </a:t>
            </a:r>
            <a:r>
              <a:rPr sz="1300" b="1"/>
              <a:t>"How do we OPTIMALLY COMBINE them?"</a:t>
            </a:r>
          </a:p>
          <a:p>
            <a:endParaRPr sz="1300" b="1"/>
          </a:p>
          <a:p>
            <a:r>
              <a:rPr sz="1300" b="1"/>
              <a:t>→ Sensor Fusion (Blocks 7–8)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7: Why Sensor Fusion?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1300" b="1"/>
              <a:t>Fusion</a:t>
            </a:r>
            <a:r>
              <a:rPr sz="1300"/>
              <a:t> = combine sensors → BETTER than any single one</a:t>
            </a:r>
          </a:p>
          <a:p>
            <a:pPr lvl="1"/>
            <a:r>
              <a:rPr sz="1100"/>
              <a:t>More accurate | More robust | More complete</a:t>
            </a:r>
          </a:p>
          <a:p>
            <a:endParaRPr sz="1100"/>
          </a:p>
          <a:p>
            <a:r>
              <a:rPr sz="1300" b="1"/>
              <a:t>Three types:</a:t>
            </a:r>
          </a:p>
          <a:p>
            <a:pPr lvl="1"/>
            <a:r>
              <a:rPr sz="1100"/>
              <a:t>1. </a:t>
            </a:r>
            <a:r>
              <a:rPr sz="1100" b="1"/>
              <a:t>Complementary:</a:t>
            </a:r>
            <a:r>
              <a:rPr sz="1100"/>
              <a:t> fill gaps (IMU fast+drift + LiDAR slow+absolute)</a:t>
            </a:r>
          </a:p>
          <a:p>
            <a:pPr lvl="1"/>
            <a:r>
              <a:rPr sz="1100"/>
              <a:t>2. </a:t>
            </a:r>
            <a:r>
              <a:rPr sz="1100" b="1"/>
              <a:t>Redundant:</a:t>
            </a:r>
            <a:r>
              <a:rPr sz="1100"/>
              <a:t> same thing, more reliable (LiDAR + Ultrasonic on wall)</a:t>
            </a:r>
          </a:p>
          <a:p>
            <a:pPr lvl="1"/>
            <a:r>
              <a:rPr sz="1100"/>
              <a:t>3. </a:t>
            </a:r>
            <a:r>
              <a:rPr sz="1100" b="1"/>
              <a:t>Competitive:</a:t>
            </a:r>
            <a:r>
              <a:rPr sz="1100"/>
              <a:t> best for conditions (Camera OR Radar for people)</a:t>
            </a:r>
          </a:p>
          <a:p>
            <a:endParaRPr sz="1100"/>
          </a:p>
          <a:p>
            <a:r>
              <a:rPr sz="1300" b="1"/>
              <a:t>Core principle:</a:t>
            </a:r>
            <a:r>
              <a:rPr sz="1300"/>
              <a:t> Trust ∝ 1/uncertainty (inverse-variance weighting)</a:t>
            </a:r>
          </a:p>
          <a:p>
            <a:pPr lvl="1"/>
            <a:r>
              <a:rPr sz="1100"/>
              <a:t>Fuse z_A(σ=0.05m) and z_B(σ=0.10m):</a:t>
            </a:r>
          </a:p>
          <a:p>
            <a:pPr lvl="1"/>
            <a:r>
              <a:rPr sz="1100"/>
              <a:t>σ_fused = 0.045m — </a:t>
            </a:r>
            <a:r>
              <a:rPr sz="1100" b="1"/>
              <a:t>smaller than EITHER sensor!</a:t>
            </a:r>
          </a:p>
          <a:p>
            <a:endParaRPr sz="1100" b="1"/>
          </a:p>
          <a:p>
            <a:r>
              <a:rPr sz="1300" b="1"/>
              <a:t>Predict-Update Cycle</a:t>
            </a:r>
            <a:r>
              <a:rPr sz="1300"/>
              <a:t> (math in next module):</a:t>
            </a:r>
          </a:p>
          <a:p>
            <a:pPr lvl="1"/>
            <a:r>
              <a:rPr sz="1100"/>
              <a:t>PREDICT (encoders+IMU): uncertainty grows</a:t>
            </a:r>
          </a:p>
          <a:p>
            <a:pPr lvl="1"/>
            <a:r>
              <a:rPr sz="1100"/>
              <a:t>UPDATE (LiDAR/camera/radar): uncertainty shrinks</a:t>
            </a:r>
          </a:p>
          <a:p>
            <a:pPr lvl="1"/>
            <a:r>
              <a:rPr sz="1100"/>
              <a:t>→ Continuous, bounded uncertainty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Block 7/8 — Inverse-variance weighting is mathematically optimal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8: Fusion Architecture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1100" b="1"/>
              <a:t>Centralized:</a:t>
            </a:r>
            <a:r>
              <a:rPr sz="1100"/>
              <a:t> all → one filter</a:t>
            </a:r>
          </a:p>
          <a:p>
            <a:pPr lvl="1"/>
            <a:r>
              <a:rPr sz="1100"/>
              <a:t>✅ Optimal | ❌ single failure point</a:t>
            </a:r>
          </a:p>
          <a:p>
            <a:endParaRPr sz="1100"/>
          </a:p>
          <a:p>
            <a:r>
              <a:rPr sz="1100" b="1"/>
              <a:t>Federated:</a:t>
            </a:r>
            <a:r>
              <a:rPr sz="1100"/>
              <a:t> each → local filter → merge</a:t>
            </a:r>
          </a:p>
          <a:p>
            <a:pPr lvl="1"/>
            <a:r>
              <a:rPr sz="1100"/>
              <a:t>✅ Robust | ❌ suboptimal</a:t>
            </a:r>
          </a:p>
          <a:p>
            <a:pPr lvl="1"/>
            <a:r>
              <a:rPr sz="1100" b="1"/>
              <a:t>MediBot: Federated (safety)</a:t>
            </a:r>
          </a:p>
          <a:p>
            <a:endParaRPr sz="1100" b="1"/>
          </a:p>
          <a:p>
            <a:r>
              <a:rPr sz="1100" b="1"/>
              <a:t>Multi-rate handling:</a:t>
            </a:r>
          </a:p>
          <a:p>
            <a:pPr lvl="1"/>
            <a:r>
              <a:rPr sz="1100"/>
              <a:t>Timestamp everything</a:t>
            </a:r>
          </a:p>
          <a:p>
            <a:pPr lvl="1"/>
            <a:r>
              <a:rPr sz="1100"/>
              <a:t>Rewind state → apply correction</a:t>
            </a:r>
          </a:p>
          <a:p>
            <a:pPr lvl="1"/>
            <a:r>
              <a:rPr sz="1100"/>
              <a:t>Fast-forward to present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100" b="1"/>
              <a:t>Health monitoring (Mahalanobis):</a:t>
            </a:r>
          </a:p>
          <a:p>
            <a:pPr lvl="1"/>
            <a:r>
              <a:rPr sz="1100"/>
              <a:t>d_M &lt; 3: ACCEPT | ≥ 3: REJECT</a:t>
            </a:r>
          </a:p>
          <a:p>
            <a:endParaRPr sz="1100"/>
          </a:p>
          <a:p>
            <a:r>
              <a:rPr sz="1100" b="1"/>
              <a:t>Graceful degradation:</a:t>
            </a:r>
          </a:p>
          <a:p>
            <a:pPr lvl="1"/>
            <a:r>
              <a:rPr sz="1100"/>
              <a:t>1. Fail → increase R (lower weight)</a:t>
            </a:r>
          </a:p>
          <a:p>
            <a:pPr lvl="1"/>
            <a:r>
              <a:rPr sz="1100"/>
              <a:t>2. Persist → disable (weight=0)</a:t>
            </a:r>
          </a:p>
          <a:p>
            <a:pPr lvl="1"/>
            <a:r>
              <a:rPr sz="1100"/>
              <a:t>3. Recover → re-enable</a:t>
            </a:r>
          </a:p>
          <a:p>
            <a:endParaRPr sz="1100"/>
          </a:p>
          <a:p>
            <a:r>
              <a:rPr sz="1100" b="1"/>
              <a:t>Common-cause failures:</a:t>
            </a:r>
          </a:p>
          <a:p>
            <a:pPr lvl="1"/>
            <a:r>
              <a:rPr sz="1100"/>
              <a:t>Power loss → all sensors</a:t>
            </a:r>
          </a:p>
          <a:p>
            <a:pPr lvl="1"/>
            <a:r>
              <a:rPr sz="1100"/>
              <a:t>Glass → LiDAR + camera depth</a:t>
            </a:r>
          </a:p>
          <a:p>
            <a:pPr lvl="1"/>
            <a:r>
              <a:rPr sz="1100" b="1"/>
              <a:t>Rule: uncorrelated failure modes!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MediBot Fusion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300" b="1"/>
              <a:t>0–30s:</a:t>
            </a:r>
            <a:r>
              <a:rPr sz="1300"/>
              <a:t> Corridor → Predict: Enc+IMU | Correct: LiDAR, Ultrasonic</a:t>
            </a:r>
          </a:p>
          <a:p>
            <a:r>
              <a:rPr sz="1300" b="1"/>
              <a:t>30s:</a:t>
            </a:r>
            <a:r>
              <a:rPr sz="1300"/>
              <a:t> Glass door → </a:t>
            </a:r>
            <a:r>
              <a:rPr sz="1300" b="1"/>
              <a:t>Ultrasonic</a:t>
            </a:r>
            <a:r>
              <a:rPr sz="1300"/>
              <a:t> detects, Camera reads sign</a:t>
            </a:r>
          </a:p>
          <a:p>
            <a:r>
              <a:rPr sz="1300" b="1"/>
              <a:t>35–50s:</a:t>
            </a:r>
            <a:r>
              <a:rPr sz="1300"/>
              <a:t> Elevator → </a:t>
            </a:r>
            <a:r>
              <a:rPr sz="1300" b="1"/>
              <a:t>IMU only</a:t>
            </a:r>
            <a:r>
              <a:rPr sz="1300"/>
              <a:t> (drift accumulates)</a:t>
            </a:r>
          </a:p>
          <a:p>
            <a:r>
              <a:rPr sz="1300" b="1"/>
              <a:t>50s:</a:t>
            </a:r>
            <a:r>
              <a:rPr sz="1300"/>
              <a:t> Doors open → </a:t>
            </a:r>
            <a:r>
              <a:rPr sz="1300" b="1"/>
              <a:t>LiDAR corrects</a:t>
            </a:r>
            <a:r>
              <a:rPr sz="1300"/>
              <a:t> → uncertainty collapses!</a:t>
            </a:r>
          </a:p>
          <a:p>
            <a:r>
              <a:rPr sz="1300" b="1"/>
              <a:t>50–90s:</a:t>
            </a:r>
            <a:r>
              <a:rPr sz="1300"/>
              <a:t> Ward B → Enc+IMU | LiDAR + Camera (reads sign)</a:t>
            </a:r>
          </a:p>
          <a:p>
            <a:r>
              <a:rPr sz="1300" b="1"/>
              <a:t>85s:</a:t>
            </a:r>
            <a:r>
              <a:rPr sz="1300"/>
              <a:t> Cart behind → </a:t>
            </a:r>
            <a:r>
              <a:rPr sz="1300" b="1"/>
              <a:t>Radar</a:t>
            </a:r>
            <a:r>
              <a:rPr sz="1300"/>
              <a:t> detects + velocity</a:t>
            </a:r>
          </a:p>
          <a:p>
            <a:endParaRPr sz="1300"/>
          </a:p>
          <a:p>
            <a:r>
              <a:rPr sz="1300" b="1"/>
              <a:t>Architecture summary:</a:t>
            </a:r>
          </a:p>
          <a:p>
            <a:pPr lvl="1"/>
            <a:r>
              <a:rPr sz="1100"/>
              <a:t>Encoders → motion prediction | IMU → orientation, bridging</a:t>
            </a:r>
          </a:p>
          <a:p>
            <a:pPr lvl="1"/>
            <a:r>
              <a:rPr sz="1100"/>
              <a:t>LiDAR → localization, mapping | Ultrasonic → glass, close-range</a:t>
            </a:r>
          </a:p>
          <a:p>
            <a:pPr lvl="1"/>
            <a:r>
              <a:rPr sz="1100"/>
              <a:t>Camera → semantics, signs, depth | Radar → velocity, all-weather</a:t>
            </a:r>
          </a:p>
          <a:p>
            <a:endParaRPr sz="1100"/>
          </a:p>
          <a:p>
            <a:r>
              <a:rPr sz="1300" b="1"/>
              <a:t>Key:</a:t>
            </a:r>
            <a:r>
              <a:rPr sz="1300"/>
              <a:t> Different sensors lead at different moments</a:t>
            </a:r>
          </a:p>
          <a:p>
            <a:pPr lvl="1"/>
            <a:r>
              <a:rPr sz="1100"/>
              <a:t>Fusion system selects based on availability &amp; reliability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Challenge: StreetBot (Last-Mile Delivery)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/>
              <a:t>StreetBot:</a:t>
            </a:r>
            <a:r>
              <a:rPr sz="1300"/>
              <a:t> sidewalks → streets → lobbies → elevators → apartments</a:t>
            </a:r>
          </a:p>
          <a:p>
            <a:pPr lvl="1"/>
            <a:r>
              <a:rPr sz="1100"/>
              <a:t>Harder: rain/snow/fog, sunlight, uneven terrain, traffic, glass everywhere</a:t>
            </a:r>
          </a:p>
          <a:p>
            <a:endParaRPr sz="1100"/>
          </a:p>
          <a:p>
            <a:r>
              <a:rPr sz="1300" b="1"/>
              <a:t>Deliverables:</a:t>
            </a:r>
          </a:p>
          <a:p>
            <a:pPr lvl="1"/>
            <a:r>
              <a:rPr sz="1100"/>
              <a:t>1. Sensor suite: which, how many, where, why (</a:t>
            </a:r>
            <a:r>
              <a:rPr sz="1100" b="1"/>
              <a:t>20%</a:t>
            </a:r>
            <a:r>
              <a:rPr sz="1100"/>
              <a:t>)</a:t>
            </a:r>
          </a:p>
          <a:p>
            <a:pPr lvl="1"/>
            <a:r>
              <a:rPr sz="1100"/>
              <a:t>2. Math models + noise for each sensor (</a:t>
            </a:r>
            <a:r>
              <a:rPr sz="1100" b="1"/>
              <a:t>25%</a:t>
            </a:r>
            <a:r>
              <a:rPr sz="1100"/>
              <a:t>)</a:t>
            </a:r>
          </a:p>
          <a:p>
            <a:pPr lvl="1"/>
            <a:r>
              <a:rPr sz="1100"/>
              <a:t>3. Fusion architecture + data flow (</a:t>
            </a:r>
            <a:r>
              <a:rPr sz="1100" b="1"/>
              <a:t>25%</a:t>
            </a:r>
            <a:r>
              <a:rPr sz="1100"/>
              <a:t>)</a:t>
            </a:r>
          </a:p>
          <a:p>
            <a:pPr lvl="1"/>
            <a:r>
              <a:rPr sz="1100"/>
              <a:t>4. Top 5 failure scenarios + mitigation (</a:t>
            </a:r>
            <a:r>
              <a:rPr sz="1100" b="1"/>
              <a:t>20%</a:t>
            </a:r>
            <a:r>
              <a:rPr sz="1100"/>
              <a:t>)</a:t>
            </a:r>
          </a:p>
          <a:p>
            <a:pPr lvl="1"/>
            <a:r>
              <a:rPr sz="1100"/>
              <a:t>5. What transfers from MediBot? What changes? (</a:t>
            </a:r>
            <a:r>
              <a:rPr sz="1100" b="1"/>
              <a:t>10%</a:t>
            </a:r>
            <a:r>
              <a:rPr sz="1100"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/>
              <a:t>1. Thrun, Burgard &amp; Fox (2005). Probabilistic Robotics. MIT Press. Ch. 5–7</a:t>
            </a:r>
          </a:p>
          <a:p>
            <a:r>
              <a:rPr sz="1300"/>
              <a:t>2. Siegwart, Nourbakhsh &amp; Scaramuzza (2011). Intro Autonomous Mobile Robots. MIT</a:t>
            </a:r>
          </a:p>
          <a:p>
            <a:r>
              <a:rPr sz="1300"/>
              <a:t>3. Hartley &amp; Zisserman (2004). Multiple View Geometry. Cambridge.</a:t>
            </a:r>
          </a:p>
          <a:p>
            <a:r>
              <a:rPr sz="1300"/>
              <a:t>4. Titterton &amp; Weston (2004). Strapdown Inertial Navigation. IET.</a:t>
            </a:r>
          </a:p>
          <a:p>
            <a:r>
              <a:rPr sz="1300"/>
              <a:t>5. Zhang (2000). Camera calibration. IEEE TPAMI 22(11).</a:t>
            </a:r>
          </a:p>
          <a:p>
            <a:r>
              <a:rPr sz="1300"/>
              <a:t>6. Texas Instruments (2023). mmWave Fundamentals. SWRA553.</a:t>
            </a:r>
          </a:p>
          <a:p>
            <a:r>
              <a:rPr sz="1300"/>
              <a:t>7. Pepperl+Fuchs (2022). AMR Glass Detection with Ultrasonic Sensors.</a:t>
            </a:r>
          </a:p>
          <a:p>
            <a:r>
              <a:rPr sz="1300"/>
              <a:t>8. IEEE Std 952-1997. Allan Variance methodology.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1100" b="1"/>
              <a:t>✅ What You Now Know:</a:t>
            </a:r>
          </a:p>
          <a:p>
            <a:pPr lvl="1"/>
            <a:r>
              <a:rPr sz="1100"/>
              <a:t>6 sensor models (enc, ultra, LiDAR,</a:t>
            </a:r>
          </a:p>
          <a:p>
            <a:pPr lvl="2"/>
            <a:r>
              <a:rPr sz="1100"/>
              <a:t>IMU, camera, radar)</a:t>
            </a:r>
          </a:p>
          <a:p>
            <a:pPr lvl="1"/>
            <a:r>
              <a:rPr sz="1100"/>
              <a:t>z = h(x) + b + v</a:t>
            </a:r>
          </a:p>
          <a:p>
            <a:pPr lvl="1"/>
            <a:r>
              <a:rPr sz="1100"/>
              <a:t>Gaussian noise &amp; Jacobians</a:t>
            </a:r>
          </a:p>
          <a:p>
            <a:pPr lvl="1"/>
            <a:r>
              <a:rPr sz="1100"/>
              <a:t>P' = F·P·Fᵀ + G·Q·Gᵀ</a:t>
            </a:r>
          </a:p>
          <a:p>
            <a:pPr lvl="1"/>
            <a:r>
              <a:rPr sz="1100"/>
              <a:t>Beam model &amp; likelihood field</a:t>
            </a:r>
          </a:p>
          <a:p>
            <a:pPr lvl="1"/>
            <a:r>
              <a:rPr sz="1100"/>
              <a:t>Allan Variance, heteroscedastic noise</a:t>
            </a:r>
          </a:p>
          <a:p>
            <a:pPr lvl="1"/>
            <a:r>
              <a:rPr sz="1100"/>
              <a:t>Mahalanobis distance (gating)</a:t>
            </a:r>
          </a:p>
          <a:p>
            <a:pPr lvl="1"/>
            <a:r>
              <a:rPr sz="1100"/>
              <a:t>3 fusion types + predict-update</a:t>
            </a:r>
          </a:p>
          <a:p>
            <a:pPr lvl="1"/>
            <a:r>
              <a:rPr sz="1100"/>
              <a:t>Graceful degradation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100" b="1"/>
              <a:t>➡ Next: MOD-005</a:t>
            </a:r>
          </a:p>
          <a:p>
            <a:pPr lvl="1"/>
            <a:r>
              <a:rPr sz="1100" b="1"/>
              <a:t>Kalman Filter &amp; EKF</a:t>
            </a:r>
          </a:p>
          <a:p>
            <a:endParaRPr sz="1100" b="1"/>
          </a:p>
          <a:p>
            <a:pPr lvl="1"/>
            <a:r>
              <a:rPr sz="1100"/>
              <a:t>Full math of predict-update</a:t>
            </a:r>
          </a:p>
          <a:p>
            <a:pPr lvl="1"/>
            <a:r>
              <a:rPr sz="1100"/>
              <a:t>Multi-sensor state estimation</a:t>
            </a:r>
          </a:p>
          <a:p>
            <a:pPr lvl="1"/>
            <a:r>
              <a:rPr sz="1100"/>
              <a:t>Bias estimation as hidden state</a:t>
            </a:r>
          </a:p>
          <a:p>
            <a:pPr lvl="1"/>
            <a:r>
              <a:rPr sz="1100"/>
              <a:t>EKF derivation &amp; implementation</a:t>
            </a:r>
          </a:p>
          <a:p>
            <a:pPr lvl="1"/>
            <a:r>
              <a:rPr sz="1100"/>
              <a:t>Applying fusion to MediBot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3061</Words>
  <Application>Microsoft Office PowerPoint</Application>
  <PresentationFormat>On-screen Show (16:9)</PresentationFormat>
  <Paragraphs>340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Custom Design</vt:lpstr>
      <vt:lpstr>MOD-04
Sensor Modeling,
Measurement &amp; Fusion</vt:lpstr>
      <vt:lpstr>The MediBot Challenge</vt:lpstr>
      <vt:lpstr>Block 1: Wheel Encoders — Scenario</vt:lpstr>
      <vt:lpstr>Block 1: Wheel Encoders — Noise</vt:lpstr>
      <vt:lpstr>Gaussian Noise &amp; Error Propagation</vt:lpstr>
      <vt:lpstr>Encoders: Operate Perspective</vt:lpstr>
      <vt:lpstr>Block 2: Ultrasonic Sensors</vt:lpstr>
      <vt:lpstr>Ultrasonic: Example &amp; Operate</vt:lpstr>
      <vt:lpstr>Block 3: LiDAR (2D/3D)</vt:lpstr>
      <vt:lpstr>LiDAR: Uncertainty &amp; Mahalanobis Distance</vt:lpstr>
      <vt:lpstr>Block 4: IMU (Accelerometer + Gyroscope)</vt:lpstr>
      <vt:lpstr>IMU: Example &amp; Operate</vt:lpstr>
      <vt:lpstr>Block 5: Camera (RGB &amp; Depth)</vt:lpstr>
      <vt:lpstr>Camera: Operate &amp; Failure</vt:lpstr>
      <vt:lpstr>Block 6: Radar (mmWave)</vt:lpstr>
      <vt:lpstr>6 Sensors — No Single One Is Enough</vt:lpstr>
      <vt:lpstr>Block 7: Why Sensor Fusion?</vt:lpstr>
      <vt:lpstr>Block 8: Fusion Architecture &amp; Robustness</vt:lpstr>
      <vt:lpstr>MediBot Fusion Timeline</vt:lpstr>
      <vt:lpstr>Final Challenge: StreetBot (Last-Mile Delivery)</vt:lpstr>
      <vt:lpstr>References</vt:lpstr>
      <vt:lpstr>Summary &amp; What's Next</vt:lpstr>
      <vt:lpstr>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36</cp:revision>
  <dcterms:created xsi:type="dcterms:W3CDTF">2026-02-19T18:14:35Z</dcterms:created>
  <dcterms:modified xsi:type="dcterms:W3CDTF">2026-03-10T04:01:21Z</dcterms:modified>
</cp:coreProperties>
</file>