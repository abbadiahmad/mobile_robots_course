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31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316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317" r:id="rId24"/>
    <p:sldId id="276" r:id="rId25"/>
    <p:sldId id="277" r:id="rId26"/>
    <p:sldId id="278" r:id="rId27"/>
    <p:sldId id="279" r:id="rId28"/>
    <p:sldId id="280" r:id="rId29"/>
    <p:sldId id="281" r:id="rId30"/>
    <p:sldId id="318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87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26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74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632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081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1A4A6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3B276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ROBOTS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MOD-04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Modeling,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&amp; Fusion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Dr. Ahmad Abbadi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MediBot Challenge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is a hospital delivery robot. Its mission: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064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912" y="139903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 → Ward B (Floor 3) → Lab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hallways, glass doors, elevator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collisions — patient safety first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1064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28032" y="139903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Polished floors → wheel slip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doors → invisible to some sensors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carts, wheelchairs move unpredictably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 → vibration, tilt, no references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sensor lies differently. We model the lies, quantify uncertainty, and combine sensors.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2880" y="3886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3291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572768" y="32004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1572768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89888" y="3886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Ultrasonic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12848" y="3291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779776" y="320040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2779776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596896" y="3886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19856" y="3291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986784" y="32004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986784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803904" y="3886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26864" y="3291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193792" y="320040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5193792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010912" y="3886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33872" y="3291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400800" y="320040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217920" y="3886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040880" y="3291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7607808" y="320040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7607808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424928" y="3886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6576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Indoor (MediBot) → 1-6  |  Outdoor (StreetBot) → 7 (GPS)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 Encoders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wheel rotations → estimate position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Encoders Work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691880"/>
              </p:ext>
            </p:extLst>
          </p:nvPr>
        </p:nvGraphicFramePr>
        <p:xfrm>
          <a:off x="365760" y="3840480"/>
          <a:ext cx="5602649" cy="1143000"/>
        </p:xfrm>
        <a:graphic>
          <a:graphicData uri="http://schemas.openxmlformats.org/drawingml/2006/table">
            <a:tbl>
              <a:tblPr/>
              <a:tblGrid>
                <a:gridCol w="1217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(ticks/rev)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500–4096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Encoder resolution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(wheel radius)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Converts ticks to distance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 (wheelbase)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Distance between wheels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1–10 kHz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fast updates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5" name="Picture 3" descr="7 a Optical wheel encoder. b Encoding disk | Download Scientific Diagram">
            <a:extLst>
              <a:ext uri="{FF2B5EF4-FFF2-40B4-BE49-F238E27FC236}">
                <a16:creationId xmlns:a16="http://schemas.microsoft.com/office/drawing/2014/main" id="{9C6732FC-834F-472D-86C6-57BD99127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666" y="841579"/>
            <a:ext cx="2740543" cy="96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3FBA145-2E18-4BB4-B8CB-0C3EB71A31D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67" y="2096682"/>
            <a:ext cx="2537610" cy="1471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63887CD-E2B0-428F-A317-41B041D8DC96}"/>
              </a:ext>
            </a:extLst>
          </p:cNvPr>
          <p:cNvSpPr txBox="1"/>
          <p:nvPr/>
        </p:nvSpPr>
        <p:spPr>
          <a:xfrm>
            <a:off x="5095279" y="3466283"/>
            <a:ext cx="7024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Wikipedia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A23CC2B-BF8A-49FD-9970-97794A2DFE35}"/>
              </a:ext>
            </a:extLst>
          </p:cNvPr>
          <p:cNvGrpSpPr/>
          <p:nvPr/>
        </p:nvGrpSpPr>
        <p:grpSpPr>
          <a:xfrm>
            <a:off x="252967" y="722259"/>
            <a:ext cx="1270508" cy="1270508"/>
            <a:chOff x="640080" y="1188720"/>
            <a:chExt cx="1645920" cy="1645920"/>
          </a:xfrm>
        </p:grpSpPr>
        <p:sp>
          <p:nvSpPr>
            <p:cNvPr id="5" name="Shape 3"/>
            <p:cNvSpPr/>
            <p:nvPr/>
          </p:nvSpPr>
          <p:spPr>
            <a:xfrm>
              <a:off x="640080" y="1188720"/>
              <a:ext cx="1645920" cy="164592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3B82F6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640080" y="1737360"/>
              <a:ext cx="164592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 ticks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per rev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2066544" y="1975104"/>
              <a:ext cx="73152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1879069" y="2427709"/>
              <a:ext cx="73152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1426464" y="2615184"/>
              <a:ext cx="73152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973859" y="2427709"/>
              <a:ext cx="73152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786384" y="1975104"/>
              <a:ext cx="73152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973859" y="1522499"/>
              <a:ext cx="73152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1426464" y="1335024"/>
              <a:ext cx="73152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1879069" y="1522499"/>
              <a:ext cx="73152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E1DC422F-0E88-4761-AEC7-D2A93FDAB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624" y="2200318"/>
            <a:ext cx="1244585" cy="1244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6113C2A-A7F1-4885-92B4-3177CD872AC9}"/>
              </a:ext>
            </a:extLst>
          </p:cNvPr>
          <p:cNvSpPr txBox="1"/>
          <p:nvPr/>
        </p:nvSpPr>
        <p:spPr>
          <a:xfrm>
            <a:off x="1872013" y="3038678"/>
            <a:ext cx="106325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Ticks + Movement Direction</a:t>
            </a:r>
          </a:p>
        </p:txBody>
      </p:sp>
      <p:pic>
        <p:nvPicPr>
          <p:cNvPr id="1030" name="Picture 6" descr="undefined">
            <a:extLst>
              <a:ext uri="{FF2B5EF4-FFF2-40B4-BE49-F238E27FC236}">
                <a16:creationId xmlns:a16="http://schemas.microsoft.com/office/drawing/2014/main" id="{1805C6EA-BD2C-47F9-B5D6-9A009F344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456" y="722259"/>
            <a:ext cx="2671246" cy="5118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6482A1C-2280-42C2-A95A-8BF5C320AF58}"/>
              </a:ext>
            </a:extLst>
          </p:cNvPr>
          <p:cNvSpPr txBox="1"/>
          <p:nvPr/>
        </p:nvSpPr>
        <p:spPr>
          <a:xfrm>
            <a:off x="4389120" y="2694801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 Gray code absolute rotary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Encoders Work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8597" y="777240"/>
            <a:ext cx="6358588" cy="11887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14"/>
              <p:cNvSpPr/>
              <p:nvPr/>
            </p:nvSpPr>
            <p:spPr>
              <a:xfrm>
                <a:off x="505757" y="822960"/>
                <a:ext cx="4285983" cy="53492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0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𝚫</m:t>
                      </m:r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𝒔</m:t>
                      </m:r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</m:t>
                      </m:r>
                      <m:f>
                        <m:fPr>
                          <m:ctrlP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400" b="1" i="0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en-US" sz="1400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1400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𝑹</m:t>
                                  </m:r>
                                </m:sub>
                              </m:sSub>
                              <m: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+ </m:t>
                              </m:r>
                              <m:r>
                                <a:rPr lang="en-US" sz="1400" b="1" i="0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en-US" sz="1400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1400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𝑳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𝟐</m:t>
                          </m:r>
                        </m:den>
                      </m:f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    </m:t>
                      </m:r>
                      <m:r>
                        <a:rPr lang="en-US" sz="1400" b="1" i="0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𝚫</m:t>
                      </m:r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𝜽</m:t>
                      </m:r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</m:t>
                      </m:r>
                      <m:f>
                        <m:fPr>
                          <m:ctrlP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400" b="1" i="0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en-US" sz="1400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1400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𝑹</m:t>
                                  </m:r>
                                </m:sub>
                              </m:sSub>
                              <m: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− </m:t>
                              </m:r>
                              <m:r>
                                <a:rPr lang="en-US" sz="1400" b="1" i="0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en-US" sz="1400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1400" b="1" i="1" dirty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𝑳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𝑳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57" y="822960"/>
                <a:ext cx="4285983" cy="5349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5"/>
          <p:cNvSpPr/>
          <p:nvPr/>
        </p:nvSpPr>
        <p:spPr>
          <a:xfrm>
            <a:off x="505757" y="1312164"/>
            <a:ext cx="43923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Δs = distance robot center moved  |  Δθ = heading change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Δs_R, Δs_L = distance each wheel traveled  |  L = wheelbase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8597" y="2103120"/>
            <a:ext cx="6358588" cy="100584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7"/>
              <p:cNvSpPr/>
              <p:nvPr/>
            </p:nvSpPr>
            <p:spPr>
              <a:xfrm>
                <a:off x="505757" y="2253996"/>
                <a:ext cx="4066243" cy="45262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p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𝒙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′</m:t>
                          </m:r>
                        </m:sup>
                      </m:sSup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𝒙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+ </m:t>
                      </m:r>
                      <m:r>
                        <a:rPr lang="en-US" sz="1400" b="1" i="0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𝚫</m:t>
                      </m:r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𝒔</m:t>
                      </m:r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func>
                        <m:funcPr>
                          <m:ctrlP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𝜽</m:t>
                              </m:r>
                            </m:e>
                          </m:d>
                        </m:e>
                      </m:func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  </m:t>
                      </m:r>
                    </m:oMath>
                  </m:oMathPara>
                </a14:m>
                <a:endParaRPr lang="de-DE" sz="1400" b="1" i="1" dirty="0">
                  <a:solidFill>
                    <a:srgbClr val="1E3A5F"/>
                  </a:solidFill>
                  <a:latin typeface="Cambria Math" panose="02040503050406030204" pitchFamily="18" charset="0"/>
                  <a:ea typeface="Arial" pitchFamily="34" charset="-122"/>
                  <a:cs typeface="Arial" pitchFamily="34" charset="-12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</m:t>
                      </m:r>
                      <m:sSup>
                        <m:sSupPr>
                          <m:ctrlP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pPr>
                        <m:e>
                          <m: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𝒚</m:t>
                          </m:r>
                        </m:e>
                        <m:sup>
                          <m: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′</m:t>
                          </m:r>
                        </m:sup>
                      </m:sSup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𝒚</m:t>
                      </m:r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+ </m:t>
                      </m:r>
                      <m:r>
                        <a:rPr lang="en-US" sz="1400" b="1" i="0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𝚫</m:t>
                      </m:r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𝒔</m:t>
                      </m:r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func>
                        <m:funcPr>
                          <m:ctrlP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𝜽</m:t>
                              </m:r>
                            </m:e>
                          </m:d>
                        </m:e>
                      </m:func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  </m:t>
                      </m:r>
                    </m:oMath>
                  </m:oMathPara>
                </a14:m>
                <a:endParaRPr lang="de-DE" sz="1400" b="1" i="1" dirty="0">
                  <a:solidFill>
                    <a:srgbClr val="1E3A5F"/>
                  </a:solidFill>
                  <a:latin typeface="Cambria Math" panose="02040503050406030204" pitchFamily="18" charset="0"/>
                  <a:ea typeface="Arial" pitchFamily="34" charset="-122"/>
                  <a:cs typeface="Arial" pitchFamily="34" charset="-12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</m:t>
                      </m:r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𝜽</m:t>
                      </m:r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′ = </m:t>
                      </m:r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𝜽</m:t>
                      </m:r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+ </m:t>
                      </m:r>
                      <m:r>
                        <a:rPr lang="en-US" sz="1400" b="1" i="0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𝚫</m:t>
                      </m:r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𝜽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57" y="2253996"/>
                <a:ext cx="4066243" cy="452628"/>
              </a:xfrm>
              <a:prstGeom prst="rect">
                <a:avLst/>
              </a:prstGeom>
              <a:blipFill>
                <a:blip r:embed="rId4"/>
                <a:stretch>
                  <a:fillRect t="-17568" b="-2567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8"/>
          <p:cNvSpPr/>
          <p:nvPr/>
        </p:nvSpPr>
        <p:spPr>
          <a:xfrm>
            <a:off x="505757" y="2820924"/>
            <a:ext cx="4484457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robot position (x,y) and heading (θ) each time step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398555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Intuition:</a:t>
            </a:r>
            <a:endParaRPr lang="en-US" sz="12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steps → know distance.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wheels → know turning.</a:t>
            </a:r>
            <a:endParaRPr lang="en-US" sz="1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A23CC2B-BF8A-49FD-9970-97794A2DFE35}"/>
              </a:ext>
            </a:extLst>
          </p:cNvPr>
          <p:cNvGrpSpPr/>
          <p:nvPr/>
        </p:nvGrpSpPr>
        <p:grpSpPr>
          <a:xfrm>
            <a:off x="7111812" y="1550416"/>
            <a:ext cx="1270508" cy="1270508"/>
            <a:chOff x="640080" y="1188720"/>
            <a:chExt cx="1645920" cy="1645920"/>
          </a:xfrm>
        </p:grpSpPr>
        <p:sp>
          <p:nvSpPr>
            <p:cNvPr id="5" name="Shape 3"/>
            <p:cNvSpPr/>
            <p:nvPr/>
          </p:nvSpPr>
          <p:spPr>
            <a:xfrm>
              <a:off x="640080" y="1188720"/>
              <a:ext cx="1645920" cy="164592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3B82F6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640080" y="1737360"/>
              <a:ext cx="164592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 ticks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per rev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2066544" y="1975104"/>
              <a:ext cx="73152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1879069" y="2427709"/>
              <a:ext cx="73152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1426464" y="2615184"/>
              <a:ext cx="73152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973859" y="2427709"/>
              <a:ext cx="73152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786384" y="1975104"/>
              <a:ext cx="73152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973859" y="1522499"/>
              <a:ext cx="73152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1426464" y="1335024"/>
              <a:ext cx="73152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1879069" y="1522499"/>
              <a:ext cx="73152" cy="73152"/>
            </a:xfrm>
            <a:prstGeom prst="rect">
              <a:avLst/>
            </a:prstGeom>
            <a:solidFill>
              <a:srgbClr val="F59E0B"/>
            </a:solidFill>
            <a:ln/>
          </p:spPr>
        </p:sp>
      </p:grpSp>
    </p:spTree>
    <p:extLst>
      <p:ext uri="{BB962C8B-B14F-4D97-AF65-F5344CB8AC3E}">
        <p14:creationId xmlns:p14="http://schemas.microsoft.com/office/powerpoint/2010/main" val="3290518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Extraction: What Encoders Gives 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→ Raw Data → Features → Landmarks for Fusion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Estimate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Δs / Δt = linear velocity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Δθ / Δt = angular velocity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rate → smooth velocity signal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Traveled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1927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sum of Δs over 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trip odometry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Resets at each localization fix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Detection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963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robot moving or stopped?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Zero-velocity updates (ZUPT)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IMU bias correction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8595360" cy="731520"/>
          </a:xfrm>
          <a:prstGeom prst="rect">
            <a:avLst/>
          </a:prstGeom>
          <a:solidFill>
            <a:srgbClr val="F5F3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6032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Landmarks: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Encoders provide the PREDICTION step in fusion — they tell the system how the robot MOVED. But they drift, so external sensors must CORRECT.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Encoders: Operate &amp; Failure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 for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dead reckoning (&lt; 10m)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estimation for motion model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 prediction step (fast, continuous)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Fails when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Smooth/wet floors (slip → tick counts lie)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distances (drift grows unbounded)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turns (differential errors amplified)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Bumps (wheel bounces = phantom ticks)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8595360" cy="1156716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51760"/>
            <a:ext cx="54864" cy="11567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697480"/>
            <a:ext cx="8321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💥 FAILURE: MediBot traveled 80m. Odometry says "arrived at elevator." Reality: 3m PAST elevator. Polished floor → micro-slip → heading error accumulated. The uncertainty only grows — nothing corrects 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871570"/>
            <a:ext cx="8595360" cy="841248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871570"/>
            <a:ext cx="54864" cy="8412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913632"/>
            <a:ext cx="8321040" cy="7360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Need an EXTERNAL sensor to measure the environment. Simplest: ultrasonic (cheap, detects walls and glass).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Ultrasonic Sensors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walls with sound → measure distance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Ultrasonic: Time-of-Flight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0" cy="109728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3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TX/RX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63040" y="1097280"/>
            <a:ext cx="365760" cy="10972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822960"/>
            <a:ext cx="548640" cy="164592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731520"/>
            <a:ext cx="109728" cy="22860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5544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931920" y="731520"/>
            <a:ext cx="4846320" cy="109728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69080" y="777240"/>
            <a:ext cx="4572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= (speed of sound  × time) /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69080" y="122529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of sound on air ≈ 343 m/s at 22°C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by 2: sound goes TO wall and BACK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cone: 15–30° wide → returns NEAREST object in cone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1965960"/>
            <a:ext cx="4846320" cy="1241174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69080" y="2011680"/>
            <a:ext cx="4572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c(T) = 331.3 + 0.606 × 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69080" y="244690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changes with temperature!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room (15°C): 340 m/s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room (37°C): 354 m/s → This is BIAS error if we concede only one speed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8412480" cy="73152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Key advantage: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Ultrasonic DETECTS GLASS! Sound reflects off glass (acoustic impedance mismatch). LiDAR laser (some types) passes through glass. Ultrasonic fills LiDAR's glass blind spot.</a:t>
            </a:r>
            <a:endParaRPr lang="en-US" sz="1600" dirty="0"/>
          </a:p>
        </p:txBody>
      </p:sp>
      <p:pic>
        <p:nvPicPr>
          <p:cNvPr id="20" name="Picture 7" descr="Ultrasonic Sensor HC-SR04 Distance ...">
            <a:extLst>
              <a:ext uri="{FF2B5EF4-FFF2-40B4-BE49-F238E27FC236}">
                <a16:creationId xmlns:a16="http://schemas.microsoft.com/office/drawing/2014/main" id="{10DBEB4E-A6E3-47CC-A56D-FC2B16F93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572" y="4069080"/>
            <a:ext cx="1017890" cy="101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F7BB15E-ADC0-40F5-8C18-CF1697C6B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6730" y="4089549"/>
            <a:ext cx="1365809" cy="102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821BFC4-FEAE-43D6-B706-14C67F328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362" y="4089353"/>
            <a:ext cx="1540387" cy="1024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2698479-999D-4549-9AE0-D51718C9BE95}"/>
              </a:ext>
            </a:extLst>
          </p:cNvPr>
          <p:cNvSpPr txBox="1"/>
          <p:nvPr/>
        </p:nvSpPr>
        <p:spPr>
          <a:xfrm>
            <a:off x="7801484" y="4874419"/>
            <a:ext cx="7024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Wikipedia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14B05DEE-B5F9-4A0B-B24E-F35066EA2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488" y="3904515"/>
            <a:ext cx="1523778" cy="134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Extraction: What Ultrasonic Gives Us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→ Raw Data → Features → Landmarks for Fusion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to Nearest Surface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distance value per ping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wall distance, proximity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directional (wide beam cone)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Glass/Transparent Detection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927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reflects off glass, plastic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flag transparent obstacles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 Confirmation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9963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there something within 2m?"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Binary: occupied / free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close-range safety zones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8595360" cy="731520"/>
          </a:xfrm>
          <a:prstGeom prst="rect">
            <a:avLst/>
          </a:prstGeom>
          <a:solidFill>
            <a:srgbClr val="F5F3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6032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Landmarks: </a:t>
            </a: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Ultrasonic features are SIMPLE (one range value)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Ultrasonic: Operate &amp; Failure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 for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Close-range obstacles (&lt; 4m)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door/wall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following, elevator proximity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binary safety zone checks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Fails when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Oblique angles &gt; 5° (specular reflection)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Sound-absorbing materials (foam, cotton)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sensors fire at once (cross-talk)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&gt; 4m, open spaces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8595360" cy="125730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68880"/>
            <a:ext cx="54864" cy="12573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514600"/>
            <a:ext cx="8321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💥 FAILURE: Hospital lobby (15×20m). Ultrasonic max range = 4m → "no reading." Marble columns at angles → specular reflection. Multiple sensors → cross-talk phantoms.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794760"/>
            <a:ext cx="8595360" cy="91440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9476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840480"/>
            <a:ext cx="832104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Need: 360° sweep, hundreds of points, fine angular resolution, long range.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Next: Block 3 — LiDAR (spinning laser scanner)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(2D / 3D)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Spinning laser → hundreds of range-bearing points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LiDAR: Each Beam Returns (range, angle)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9957615-349A-44E1-AEE1-5859F3070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352" y="694571"/>
            <a:ext cx="1856078" cy="403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2FE586A-7A6F-4A77-8397-FB3E23C6C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963" y="755853"/>
            <a:ext cx="1678737" cy="167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9" descr="Continental Expands LiDAR Technology ...">
            <a:extLst>
              <a:ext uri="{FF2B5EF4-FFF2-40B4-BE49-F238E27FC236}">
                <a16:creationId xmlns:a16="http://schemas.microsoft.com/office/drawing/2014/main" id="{061F9193-8B1D-4722-A9C6-5BC8F1383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604" y="3076143"/>
            <a:ext cx="3074313" cy="167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C78AFB0-091F-440E-9F04-FB9EA46D2757}"/>
              </a:ext>
            </a:extLst>
          </p:cNvPr>
          <p:cNvSpPr txBox="1"/>
          <p:nvPr/>
        </p:nvSpPr>
        <p:spPr>
          <a:xfrm>
            <a:off x="4313646" y="2522145"/>
            <a:ext cx="2457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Wikipedia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5B8B8F56-5BF7-4DB8-B09F-FCF40A41D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635248"/>
            <a:ext cx="3101708" cy="4149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E1640FD-3AF3-481B-91FD-07B03BF62ECA}"/>
              </a:ext>
            </a:extLst>
          </p:cNvPr>
          <p:cNvSpPr txBox="1"/>
          <p:nvPr/>
        </p:nvSpPr>
        <p:spPr>
          <a:xfrm>
            <a:off x="182880" y="4783071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https://encyclopedia.pub/entry/11122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LiDAR: Each Beam Returns (range, angle)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91440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777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beam → (r, φ)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distance to surface  |  φ = angle of beam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beams per scan = full circle around robot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720090"/>
            <a:ext cx="4206240" cy="91440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4800600" y="777240"/>
                <a:ext cx="393192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 Cartesian: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𝒙</m:t>
                      </m:r>
                      <m:r>
                        <a:rPr lang="en-US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</m:t>
                      </m:r>
                      <m:r>
                        <a:rPr lang="en-US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𝒓</m:t>
                      </m:r>
                      <m:r>
                        <a:rPr lang="en-US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US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cos</m:t>
                      </m:r>
                      <m:r>
                        <a:rPr lang="en-US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⁡(</m:t>
                      </m:r>
                      <m:r>
                        <a:rPr lang="en-US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𝝋</m:t>
                      </m:r>
                      <m:r>
                        <a:rPr lang="en-US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),  </m:t>
                      </m:r>
                      <m:r>
                        <a:rPr lang="en-US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𝒚</m:t>
                      </m:r>
                      <m:r>
                        <a:rPr lang="en-US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</m:t>
                      </m:r>
                      <m:r>
                        <a:rPr lang="en-US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𝒓</m:t>
                      </m:r>
                      <m:r>
                        <a:rPr lang="en-US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US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sin</m:t>
                      </m:r>
                      <m:r>
                        <a:rPr lang="en-US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⁡(</m:t>
                      </m:r>
                      <m:r>
                        <a:rPr lang="en-US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𝝋</m:t>
                      </m:r>
                      <m:r>
                        <a:rPr lang="en-US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777240"/>
                <a:ext cx="3931920" cy="411480"/>
              </a:xfrm>
              <a:prstGeom prst="rect">
                <a:avLst/>
              </a:prstGeom>
              <a:blipFill>
                <a:blip r:embed="rId3"/>
                <a:stretch>
                  <a:fillRect l="-1395" t="-37313" b="-4029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4800600" y="122301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polar to x,y coordinates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 2D point cloud of the environment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220759"/>
              </p:ext>
            </p:extLst>
          </p:nvPr>
        </p:nvGraphicFramePr>
        <p:xfrm>
          <a:off x="274320" y="1828800"/>
          <a:ext cx="8595360" cy="15087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2D LiDAR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 LiDAR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0.1–30 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0.1–200 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Beams/scan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360–1800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16,000–300,000+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10–40 Hz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10–20 Hz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 noise σ_r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1–3 cm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1–5 cm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Angular noise σ_φ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0.1–0.5°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0.1–0.3°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6576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limitation: scans ONE horizontal plane. Misses table edges above, fallen objects below.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70123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Beam Model: 4 Types of Readings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182880" y="658368"/>
                <a:ext cx="877824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𝒑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(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𝒛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 = 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𝟎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.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𝟖𝟓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× </m:t>
                      </m:r>
                      <m:sSub>
                        <m:sSubPr>
                          <m:ctrlPr>
                            <a:rPr lang="en-US" sz="1200" b="1" i="1" dirty="0" smtClean="0"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200" b="1" i="1" dirty="0" smtClean="0"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𝒑</m:t>
                          </m:r>
                        </m:e>
                        <m:sub>
                          <m:r>
                            <a:rPr lang="en-US" sz="1200" b="1" i="1" dirty="0" smtClean="0"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𝒉𝒊𝒕</m:t>
                          </m:r>
                        </m:sub>
                      </m:sSub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+ 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𝟎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.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𝟎𝟓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× </m:t>
                      </m:r>
                      <m:sSub>
                        <m:sSubPr>
                          <m:ctrlPr>
                            <a:rPr lang="en-US" sz="1200" b="1" i="1" dirty="0" smtClean="0"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200" b="1" i="1" dirty="0" smtClean="0"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𝒑</m:t>
                          </m:r>
                        </m:e>
                        <m:sub>
                          <m:r>
                            <a:rPr lang="en-US" sz="1200" b="1" i="1" dirty="0" smtClean="0"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𝒔𝒉𝒐𝒓𝒕</m:t>
                          </m:r>
                        </m:sub>
                      </m:sSub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+ 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𝟎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.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𝟎𝟓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× </m:t>
                      </m:r>
                      <m:sSub>
                        <m:sSubPr>
                          <m:ctrlPr>
                            <a:rPr lang="en-US" sz="1200" b="1" i="1" dirty="0" smtClean="0"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200" b="1" i="1" dirty="0" smtClean="0"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b="1" i="1" dirty="0" smtClean="0"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max</m:t>
                          </m:r>
                        </m:sub>
                      </m:sSub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⁡+ 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𝟎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.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𝟎𝟓</m:t>
                      </m:r>
                      <m:r>
                        <a:rPr lang="en-US" sz="1200" b="1" i="1" dirty="0" smtClean="0">
                          <a:solidFill>
                            <a:srgbClr val="0F4C81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× </m:t>
                      </m:r>
                      <m:sSub>
                        <m:sSubPr>
                          <m:ctrlPr>
                            <a:rPr lang="en-US" sz="1200" b="1" i="1" dirty="0" smtClean="0"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200" b="1" i="1" dirty="0" smtClean="0"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𝒑</m:t>
                          </m:r>
                        </m:e>
                        <m:sub>
                          <m:r>
                            <a:rPr lang="en-US" sz="1200" b="1" i="1" dirty="0" smtClean="0">
                              <a:solidFill>
                                <a:srgbClr val="0F4C81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𝒓𝒂𝒏𝒅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658368"/>
                <a:ext cx="8778240" cy="274320"/>
              </a:xfrm>
              <a:prstGeom prst="rect">
                <a:avLst/>
              </a:prstGeom>
              <a:blipFill>
                <a:blip r:embed="rId3"/>
                <a:stretch>
                  <a:fillRect b="-888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182880" y="1051560"/>
            <a:ext cx="21031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51560"/>
            <a:ext cx="54864" cy="2103120"/>
          </a:xfrm>
          <a:prstGeom prst="rect">
            <a:avLst/>
          </a:prstGeom>
          <a:solidFill>
            <a:srgbClr val="10B981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347472" y="1106424"/>
                <a:ext cx="182880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𝒑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𝒉𝒊𝒕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1400" b="1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(85%)</a:t>
                </a:r>
                <a:endParaRPr lang="en-US" sz="1400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2" y="1106424"/>
                <a:ext cx="1828800" cy="292608"/>
              </a:xfrm>
              <a:prstGeom prst="rect">
                <a:avLst/>
              </a:prstGeom>
              <a:blipFill>
                <a:blip r:embed="rId4"/>
                <a:stretch>
                  <a:fillRect l="-3333" t="-6250" b="-229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347472" y="1399032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reading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hits wall → correct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+ small noise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curve shape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we WANT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77440" y="1051560"/>
            <a:ext cx="21031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77440" y="1051560"/>
            <a:ext cx="54864" cy="2103120"/>
          </a:xfrm>
          <a:prstGeom prst="rect">
            <a:avLst/>
          </a:prstGeom>
          <a:solidFill>
            <a:srgbClr val="F59E0B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2542032" y="1106424"/>
                <a:ext cx="182880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𝒑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𝒔𝒉𝒐𝒓𝒕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1400" b="1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(5%)</a:t>
                </a:r>
                <a:endParaRPr lang="en-US" sz="1400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032" y="1106424"/>
                <a:ext cx="1828800" cy="292608"/>
              </a:xfrm>
              <a:prstGeom prst="rect">
                <a:avLst/>
              </a:prstGeom>
              <a:blipFill>
                <a:blip r:embed="rId5"/>
                <a:stretch>
                  <a:fillRect l="-3333" t="-6250" b="-229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2542032" y="1399032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CLOSE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Person's leg, cart wheel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sensor and wall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shorter range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shape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21031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51560"/>
            <a:ext cx="54864" cy="2103120"/>
          </a:xfrm>
          <a:prstGeom prst="rect">
            <a:avLst/>
          </a:prstGeom>
          <a:solidFill>
            <a:srgbClr val="EF4444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4736592" y="1106424"/>
                <a:ext cx="182880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1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max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⁡</m:t>
                    </m:r>
                  </m:oMath>
                </a14:m>
                <a:r>
                  <a:rPr lang="en-US" sz="1400" b="1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(5%)</a:t>
                </a:r>
                <a:endParaRPr lang="en-US" sz="1400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592" y="1106424"/>
                <a:ext cx="1828800" cy="292608"/>
              </a:xfrm>
              <a:prstGeom prst="rect">
                <a:avLst/>
              </a:prstGeom>
              <a:blipFill>
                <a:blip r:embed="rId6"/>
                <a:stretch>
                  <a:fillRect l="-3333" t="-6250" b="-229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5"/>
          <p:cNvSpPr/>
          <p:nvPr/>
        </p:nvSpPr>
        <p:spPr>
          <a:xfrm>
            <a:off x="4736592" y="1399032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(max range)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→ laser passes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through! Black surface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laser absorbed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z_max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66560" y="1051560"/>
            <a:ext cx="21031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051560"/>
            <a:ext cx="54864" cy="2103120"/>
          </a:xfrm>
          <a:prstGeom prst="rect">
            <a:avLst/>
          </a:prstGeom>
          <a:solidFill>
            <a:srgbClr val="8B5CF6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/>
              <p:nvPr/>
            </p:nvSpPr>
            <p:spPr>
              <a:xfrm>
                <a:off x="6931152" y="1106424"/>
                <a:ext cx="182880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𝒑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𝒓𝒂𝒏𝒅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1400" b="1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(5%)</a:t>
                </a:r>
                <a:endParaRPr lang="en-US" sz="1400" dirty="0"/>
              </a:p>
            </p:txBody>
          </p:sp>
        </mc:Choice>
        <mc:Fallback xmlns="">
          <p:sp>
            <p:nvSpPr>
              <p:cNvPr id="20" name="Tex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152" y="1106424"/>
                <a:ext cx="1828800" cy="292608"/>
              </a:xfrm>
              <a:prstGeom prst="rect">
                <a:avLst/>
              </a:prstGeom>
              <a:blipFill>
                <a:blip r:embed="rId7"/>
                <a:stretch>
                  <a:fillRect l="-3333" t="-6250" b="-229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19"/>
          <p:cNvSpPr/>
          <p:nvPr/>
        </p:nvSpPr>
        <p:spPr>
          <a:xfrm>
            <a:off x="6931152" y="1399032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PHANTOM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Dust, electrical noise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stray reflections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be ANY value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distribution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3337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beams are good (85%). But 1 in 7 beams will be wrong in some way — the fusion system must handle this!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703320"/>
            <a:ext cx="8595360" cy="7315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alternative — Likelihood Field Model: </a:t>
            </a: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 a "distance to nearest wall" map. For each LiDAR endpoint, look up how close it is to the nearest expected wall. Close = good match, far = bad match. Much faster than ray-casting. Used by AMCL in ROS.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Extraction: What LiDAR Gives Us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→ Raw Data → Features → Landmarks for Fusion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Segments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Walls appear as straight lines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using Hough transform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split-and-merge algorithm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Corner Points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1927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two walls meet = corner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stable, repeatable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localization landmarks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 Segments (3D)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963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Floors, walls, tables as planes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vector + distance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3D SLAM systems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8595360" cy="731520"/>
          </a:xfrm>
          <a:prstGeom prst="rect">
            <a:avLst/>
          </a:prstGeom>
          <a:solidFill>
            <a:srgbClr val="F5F3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6032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Landmarks: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corners and lines are the PRIMARY landmarks for scan matching and localization. They are stable across visits — same corner = same landmark = position correction.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LiDAR: Operate &amp; Failure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 for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Hallway mapping &amp; SLAM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</a:t>
            </a: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avoidance in structured environments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any lighting condition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Fails when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walls/doors (some laser type passes through!)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Mirrors (beam bounces to wrong place)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surfaces (absorb laser)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2D: misses above/below scan plane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8595360" cy="125730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68880"/>
            <a:ext cx="54864" cy="12573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514600"/>
            <a:ext cx="8321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💥 FAILURE: MediBot enters elevator. Vibrates and tilts. LiDAR scan shifts — but LiDAR has NO knowledge of </a:t>
            </a:r>
            <a:r>
              <a:rPr lang="en-US" sz="12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MediBot’s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drift. Doors open Floor 3 → heading off by 3° → after 20m: 1 meter lateral offset.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794760"/>
            <a:ext cx="8595360" cy="91440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9476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840480"/>
            <a:ext cx="832104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LiDAR sees the WORLD but not ITSELF. Need a sensor that FEELS motion directly.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Next: Block 4 — IMU (accelerometer + gyroscope)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(Inertial Measurement Unit)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acceleration and rotation — 200 Hz, no external reference</a:t>
            </a:r>
            <a:endParaRPr lang="en-US" sz="1500" dirty="0"/>
          </a:p>
        </p:txBody>
      </p:sp>
      <p:pic>
        <p:nvPicPr>
          <p:cNvPr id="5" name="Picture 5" descr="Understanding Inertial Measurement Unit ...">
            <a:extLst>
              <a:ext uri="{FF2B5EF4-FFF2-40B4-BE49-F238E27FC236}">
                <a16:creationId xmlns:a16="http://schemas.microsoft.com/office/drawing/2014/main" id="{C1972FAE-9099-4497-982D-135C04C4D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487" y="3688080"/>
            <a:ext cx="3021984" cy="129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IMU: Two Sensors in One Chip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Gyroscope (measures rotation)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angular velocity ω (rad/s)</a:t>
            </a:r>
            <a:endParaRPr lang="en-US" sz="1100" dirty="0"/>
          </a:p>
          <a:p>
            <a:pPr marL="800100" lvl="1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ω_meas = ω_true + bias + noise</a:t>
            </a:r>
            <a:endParaRPr lang="en-US" sz="1100" dirty="0"/>
          </a:p>
          <a:p>
            <a:pPr marL="800100" lvl="1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drifts slowly over time (random walk)</a:t>
            </a:r>
            <a:endParaRPr lang="en-US" sz="1100" dirty="0"/>
          </a:p>
          <a:p>
            <a:pPr marL="800100" lvl="1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ω → get heading angle θ</a:t>
            </a:r>
            <a:endParaRPr lang="en-US" sz="1100" dirty="0"/>
          </a:p>
          <a:p>
            <a:pPr marL="800100" lvl="1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error: grows linearly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2011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Accelerometer (measures acceleration)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specific force f (m/s²)</a:t>
            </a:r>
            <a:endParaRPr lang="en-US" sz="1100" dirty="0"/>
          </a:p>
          <a:p>
            <a:pPr marL="800100" lvl="1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f_meas = (accel − gravity) + bias + noise</a:t>
            </a:r>
            <a:endParaRPr lang="en-US" sz="1100" dirty="0"/>
          </a:p>
          <a:p>
            <a:pPr marL="800100" lvl="1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subtract gravity → need orientation!</a:t>
            </a:r>
            <a:endParaRPr lang="en-US" sz="1100" dirty="0"/>
          </a:p>
          <a:p>
            <a:pPr marL="800100" lvl="1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1° tilt error → 0.17 m/s² false acceleration</a:t>
            </a:r>
            <a:endParaRPr lang="en-US" sz="1100" dirty="0"/>
          </a:p>
          <a:p>
            <a:pPr marL="800100" lvl="1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error: grows as QUADRATIC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8595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063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Error Growth Over Time — Why It Gets Terrible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666"/>
            <a:ext cx="1188720" cy="25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776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376707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0.005m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3925824"/>
            <a:ext cx="1188720" cy="60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2377440" y="39776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377440" y="376123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23360" y="3903980"/>
            <a:ext cx="1188720" cy="279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39776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23360" y="37393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3820160"/>
            <a:ext cx="1188720" cy="111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39776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69280" y="365556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0" y="3017520"/>
            <a:ext cx="1188720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39776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0" y="28529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1605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error from accelerometer alone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Extraction: What IMU Gives Us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→ Raw Data → Features → Landmarks for Fusion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Gravity Vector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Accelerometer senses gravity direction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Tells roll and pitch angles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works when not accelerating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Zero-Velocity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927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robot stops: accel ≈ gravity only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reset velocity drift 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trick for correcting IMU bias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 Signature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63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floors = different vibrations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 vs. ramp vs. smooth floor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detect surface type changes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8595360" cy="731520"/>
          </a:xfrm>
          <a:prstGeom prst="rect">
            <a:avLst/>
          </a:prstGeom>
          <a:solidFill>
            <a:srgbClr val="F5F3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6032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Landmarks: </a:t>
            </a: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features are INDIRECT — not landmarks on a map, but constraints on MOTION. Zero Update Position and Timing (ZUPT) is especially powerful: when stopped, velocity must be zero → corrects accumulated drift.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IMU: Operate &amp; Failure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 for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orientation (&lt; 30 seconds)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Elevator/ramp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gaps between LiDAR scans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ZUPT (zero-velocity updates when stopped)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Fails when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&gt; 10 seconds (drift explodes)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correction available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vibration (saturates accelerometer)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from accel: error ∝ T²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8595360" cy="125730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68880"/>
            <a:ext cx="54864" cy="12573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514600"/>
            <a:ext cx="8321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💥 FAILURE: 45 seconds without correction → gyro bias drifts 2.25° → 1.5m off. </a:t>
            </a:r>
          </a:p>
          <a:p>
            <a:pPr marL="0" indent="0">
              <a:buNone/>
            </a:pPr>
            <a:endParaRPr lang="en-US" sz="12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corridors look geometrically identical.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needs to READ the "Ward B" sign and RECOGNIZE a wheelchair vs. a cart.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794760"/>
            <a:ext cx="8595360" cy="91440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9476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840480"/>
            <a:ext cx="832104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LiDAR = geometry. IMU = motion. Neither = MEANING.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Next: Block 5 — Camera (color, texture, text, object recognition)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(RGB + Depth)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color, texture, text — and measure depth</a:t>
            </a:r>
            <a:endParaRPr lang="en-US"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246BC-5F11-4E89-A90F-DF8BFCA7B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877" y="3736584"/>
            <a:ext cx="942169" cy="102068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Camera: The Pinhole Model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572000" cy="11887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411480" y="777240"/>
                <a:ext cx="4297680" cy="53492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𝒖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𝒇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𝒙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× (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𝑿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/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𝒁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 +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𝒄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𝒙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𝒗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𝒇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𝒚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× (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𝒀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/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𝒁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 +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𝒄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4297680" cy="534924"/>
              </a:xfrm>
              <a:prstGeom prst="rect">
                <a:avLst/>
              </a:prstGeom>
              <a:blipFill>
                <a:blip r:embed="rId3"/>
                <a:stretch>
                  <a:fillRect b="-229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411480" y="1266444"/>
                <a:ext cx="4297680" cy="5943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95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(u,v) = pixel position  |  (X,Y,Z) = 3D point in camera frame</a:t>
                </a:r>
                <a:endParaRPr lang="en-US" sz="95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𝑓</m:t>
                        </m:r>
                      </m:e>
                      <m:sub>
                        <m: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sub>
                    </m:sSub>
                    <m:r>
                      <a:rPr lang="en-US" sz="95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</m:t>
                    </m:r>
                    <m:sSub>
                      <m:sSubPr>
                        <m:ctrlP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𝑓</m:t>
                        </m:r>
                      </m:e>
                      <m:sub>
                        <m: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95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= focal length (pixels)  |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𝑐</m:t>
                        </m:r>
                      </m:e>
                      <m:sub>
                        <m: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sub>
                    </m:sSub>
                    <m:r>
                      <a:rPr lang="en-US" sz="95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</m:t>
                    </m:r>
                    <m:sSub>
                      <m:sSubPr>
                        <m:ctrlP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𝑐</m:t>
                        </m:r>
                      </m:e>
                      <m:sub>
                        <m: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95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) = image center</a:t>
                </a:r>
                <a:endParaRPr lang="en-US" sz="95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266444"/>
                <a:ext cx="4297680" cy="5943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5120640" y="731520"/>
            <a:ext cx="3749040" cy="118872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57800" y="7772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LOSES depth! A pixel (u,v) could be any point along a ray. Need separate depth sensor (stereo, IR, ToF).</a:t>
            </a:r>
            <a:endParaRPr lang="en-US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26F5A4-43A2-4EFA-A6EF-8316463CD37B}"/>
              </a:ext>
            </a:extLst>
          </p:cNvPr>
          <p:cNvSpPr txBox="1"/>
          <p:nvPr/>
        </p:nvSpPr>
        <p:spPr>
          <a:xfrm>
            <a:off x="274320" y="4707374"/>
            <a:ext cx="45720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https://stackoverflow.com/questions/68249598/how-to-calculate-the-ray-of-a-camera-with-the-help-of-the-camera-matrix</a:t>
            </a:r>
          </a:p>
        </p:txBody>
      </p:sp>
      <p:pic>
        <p:nvPicPr>
          <p:cNvPr id="4098" name="Picture 2" descr="enter image description here">
            <a:extLst>
              <a:ext uri="{FF2B5EF4-FFF2-40B4-BE49-F238E27FC236}">
                <a16:creationId xmlns:a16="http://schemas.microsoft.com/office/drawing/2014/main" id="{2581CFB3-5C10-423C-BE26-F04CFF7BA3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69"/>
          <a:stretch/>
        </p:blipFill>
        <p:spPr bwMode="auto">
          <a:xfrm>
            <a:off x="586896" y="2324469"/>
            <a:ext cx="3655960" cy="237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618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Camera: Stereo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818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Stereo Depth Uncertainty — Grows as Z² (quadratic!)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147572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147572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12024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 meter: ±1 cm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1495044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precise!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this measurement a lot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obstacle avoidance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147572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147572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12024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3 meters: ±9 cm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64992" y="1495044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noisy...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for sign detection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 for obstacles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147572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147572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291072" y="12024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5 meters: ±25 cm!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91072" y="1495044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25× worse than 1m!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 for navigation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is "near-sighted"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702052"/>
            <a:ext cx="8595360" cy="102870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 22"/>
              <p:cNvSpPr/>
              <p:nvPr/>
            </p:nvSpPr>
            <p:spPr>
              <a:xfrm>
                <a:off x="411480" y="2747772"/>
                <a:ext cx="8321040" cy="32918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𝝈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𝒁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(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𝒁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² /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𝒇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𝑩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 ×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𝝈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𝒅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4" name="Tex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747772"/>
                <a:ext cx="8321040" cy="329184"/>
              </a:xfrm>
              <a:prstGeom prst="rect">
                <a:avLst/>
              </a:prstGeom>
              <a:blipFill>
                <a:blip r:embed="rId3"/>
                <a:stretch>
                  <a:fillRect b="-370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23"/>
          <p:cNvSpPr/>
          <p:nvPr/>
        </p:nvSpPr>
        <p:spPr>
          <a:xfrm>
            <a:off x="411480" y="303123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depends on distance itself Z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HETEROSCEDASTIC</a:t>
            </a: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= reliable, far = noisy. Fusion must weight close readings MORE.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Extraction: What Camera Gives Us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→ Raw Data → Features → Landmarks for Fusion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Corner Features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Distinctive pixel patterns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across viewpoints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visual odometry &amp; SLAM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Line Features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927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frames, corridor edges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with LiDAR lines for cross-check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Hough transform or LSD detector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Labels (AI)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9963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"Ward B — Cardiology" (OCR)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Person, wheelchair, cart (detection)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classification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6032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26151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Depth Map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290779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at every pixel (from stereo/IR)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3D reconstruction (&lt; 4m)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Complements sparse LiDAR points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657600"/>
            <a:ext cx="8595360" cy="731520"/>
          </a:xfrm>
          <a:prstGeom prst="rect">
            <a:avLst/>
          </a:prstGeom>
          <a:solidFill>
            <a:srgbClr val="F5F3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65760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Landmarks: </a:t>
            </a: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features are the RICHEST — from low-level corners (for visual odometry) to high-level semantics (sign reading). They provide MEANING that geometry alone cannot.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Camera: Operate &amp; Failure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 for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Sign/label reading (OCR)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Person/object detection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Close-range dense 3D (&lt; 4m)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odometry, semantic mapping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Fails when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Sunlight saturates IR depth sensor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Textureless white walls (no stereo match)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corridors (no light = no image)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(IR passes through, like LiDAR)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FoV (~70°) — can't see behind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8595360" cy="125730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68880"/>
            <a:ext cx="54864" cy="12573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514600"/>
            <a:ext cx="8321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💥 FAILURE: Supply cart from BEHIND at 2 m/s. Camera faces forward → can't see behind. Sunlight through window → IR depth saturated. Can't measure speed (differentiation amplifies noise).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794760"/>
            <a:ext cx="8595360" cy="91440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9476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840480"/>
            <a:ext cx="832104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Need: all-weather, wide coverage, DIRECT velocity measurement.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Next: Block 6 — Radar (radio waves, Doppler velocity)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(mmWave)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waves → range + angle + VELOCITY for free</a:t>
            </a:r>
            <a:endParaRPr lang="en-US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61691F-4689-4510-A9BD-F9905A822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519" y="3566160"/>
            <a:ext cx="752364" cy="11031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EB08BA-D63D-4122-AD36-8D72738B115F}"/>
              </a:ext>
            </a:extLst>
          </p:cNvPr>
          <p:cNvSpPr txBox="1"/>
          <p:nvPr/>
        </p:nvSpPr>
        <p:spPr>
          <a:xfrm>
            <a:off x="6558516" y="4681884"/>
            <a:ext cx="15984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https://www.hella.com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Radar: How FMCW Works + Doppler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37160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411480" y="777240"/>
                <a:ext cx="3840480" cy="6172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FMCW Radar:</a:t>
                </a:r>
                <a:endParaRPr lang="en-US" sz="1400" dirty="0"/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Transmit chirp → echo delay → range</a:t>
                </a: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𝒓𝒂𝒏𝒈𝒆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𝒇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𝒃𝒆𝒂𝒕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×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𝒄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×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𝑻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𝒄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/ (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𝟐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×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𝑩𝑾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77240"/>
                <a:ext cx="3840480" cy="617220"/>
              </a:xfrm>
              <a:prstGeom prst="rect">
                <a:avLst/>
              </a:prstGeom>
              <a:blipFill>
                <a:blip r:embed="rId3"/>
                <a:stretch>
                  <a:fillRect l="-476" t="-11881" b="-1287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411480" y="1412533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Chirp = frequency ramp. Echo has time delay.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frequency = range. BW = bandwidth.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Δr = c/(2×BW): 4 GHz → 3.75 cm resolution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731520"/>
            <a:ext cx="4206240" cy="137160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4800600" y="777240"/>
                <a:ext cx="3931920" cy="6172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Doppler Velocity:</a:t>
                </a: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𝒗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𝒓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𝝀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×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𝒇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𝑫𝒐𝒑𝒑𝒍𝒆𝒓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/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𝟐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777240"/>
                <a:ext cx="3931920" cy="617220"/>
              </a:xfrm>
              <a:prstGeom prst="rect">
                <a:avLst/>
              </a:prstGeom>
              <a:blipFill>
                <a:blip r:embed="rId4"/>
                <a:stretch>
                  <a:fillRect l="-46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4800600" y="1348740"/>
                <a:ext cx="3931920" cy="685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95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Measures radial velocity DIRECTLY!</a:t>
                </a:r>
                <a:endParaRPr lang="en-US" sz="950" dirty="0"/>
              </a:p>
              <a:p>
                <a:pPr marL="0" indent="0">
                  <a:buNone/>
                </a:pPr>
                <a:r>
                  <a:rPr lang="en-US" sz="95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No integration (→ no drift like IMU)</a:t>
                </a:r>
                <a:endParaRPr lang="en-US" sz="950" dirty="0"/>
              </a:p>
              <a:p>
                <a:pPr marL="0" indent="0">
                  <a:buNone/>
                </a:pPr>
                <a:r>
                  <a:rPr lang="en-US" sz="95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No differentiation (→ no noise amplification)</a:t>
                </a:r>
                <a:endParaRPr lang="en-US" sz="95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𝜎</m:t>
                        </m:r>
                      </m:e>
                      <m:sub>
                        <m: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95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 ≈ 0.05 m/s — very precise</a:t>
                </a:r>
                <a:endParaRPr lang="en-US" sz="95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1348740"/>
                <a:ext cx="3931920" cy="685800"/>
              </a:xfrm>
              <a:prstGeom prst="rect">
                <a:avLst/>
              </a:prstGeom>
              <a:blipFill>
                <a:blip r:embed="rId5"/>
                <a:stretch>
                  <a:fillRect b="-88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77440"/>
          <a:ext cx="8595360" cy="975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Encoders → velocity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Differentiate position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Amplifies noise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IMU → velocity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Integrate acceleration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Accumulates bias (drift)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 → velocity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Doppler: DIRECT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drift, no amplification!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6576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angular resolution ~5° (10–50× worse than LiDAR). Two people side-by-side = one blob.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through: glass, dust, fog, smoke, rain, any lighting. Does NOT care about visibility.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Extraction: What Radar Gives Us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→ Raw Data → Features → Landmarks for Fusion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Radial Velocity per Target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detection has speed attached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= moving away, negative = approaching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Direct, no computation from position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Object Classification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927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vs. dynamic targets via Doppler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person vs. stationary wall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Crucial for dynamic obstacle avoidance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Through-Material Detection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9963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through glass, plastic, drywall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objects behind partitions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to LiDAR/camera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8595360" cy="731520"/>
          </a:xfrm>
          <a:prstGeom prst="rect">
            <a:avLst/>
          </a:prstGeom>
          <a:solidFill>
            <a:srgbClr val="F5F3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6032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Landmarks: </a:t>
            </a: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features are SPARSE but carry VELOCITY — information no other sensor provides directly. In fusion, radar constrains object MOTION, while LiDAR/camera constrain object POSITION.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Extraction: What Radar Gives Us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pic>
        <p:nvPicPr>
          <p:cNvPr id="5122" name="Picture 2" descr="Fig. 1">
            <a:extLst>
              <a:ext uri="{FF2B5EF4-FFF2-40B4-BE49-F238E27FC236}">
                <a16:creationId xmlns:a16="http://schemas.microsoft.com/office/drawing/2014/main" id="{0D0760C4-B83F-4B32-AAAC-E85C1AC68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671" y="693096"/>
            <a:ext cx="6640549" cy="396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2EDE6D9-7EFB-4C8B-9FBA-16C6F15FC2C8}"/>
              </a:ext>
            </a:extLst>
          </p:cNvPr>
          <p:cNvSpPr txBox="1"/>
          <p:nvPr/>
        </p:nvSpPr>
        <p:spPr>
          <a:xfrm>
            <a:off x="1740196" y="4754879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https://link.springer.com/article/10.1186/s42467-021-00012-z/figures/1</a:t>
            </a:r>
          </a:p>
        </p:txBody>
      </p:sp>
    </p:spTree>
    <p:extLst>
      <p:ext uri="{BB962C8B-B14F-4D97-AF65-F5344CB8AC3E}">
        <p14:creationId xmlns:p14="http://schemas.microsoft.com/office/powerpoint/2010/main" val="434413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Radar: Operate &amp; Failure → Need Absolute Outdoor Reference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 for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object detection + velocity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All-weather sensing (rain, fog, night)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collision avoidance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through glass/dust/partitions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Fails when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metal environments (multipath clutter)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small targets (low radar cross-section)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fine-grained shape recognition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resolution too poor for sole navigation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8595360" cy="1307592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54864" cy="13075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331720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💥 REALIZATION: We have 6 sensors. Indoors, this is enough — LiDAR provides absolute position reference. But what about OUTDOORS? MediBot's sister robot, StreetBot, navigates city sidewalks. No walls to scan. Open sky. Need a GLOBAL position reference.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664915"/>
            <a:ext cx="8595360" cy="950976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64915"/>
            <a:ext cx="54864" cy="9509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3712464"/>
            <a:ext cx="8321040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For outdoor: we add a 7th sensor — GPS. Provides absolute position anywhere on Earth.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Next: Block 7 — GPS (switching from MediBot to StreetBot)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/ GNSS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position anywhere on Earth — but noisy and slow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GPS: How It Works (StreetBot Scenario)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StreetBot: a last-mile delivery robot navigating city sidewalks, crossings, building lobbies.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146304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9728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from satellite timing: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c × Δt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 satellites → triangulate (x, y, z)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satellite broadcasts its position + time.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 measures signal travel time Δt.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4+ satellites: solve for position.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2–5m (open sky), 10–50m (urban canyon)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5156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11064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Error Sources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8032" y="139903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Atmospheric delay (ionosphere, troposphere)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Multipath: signal bounces off buildings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canyon: buildings block satellites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update rate: only 1–10 Hz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signal indoors — completely blind</a:t>
            </a:r>
            <a:endParaRPr lang="en-US" sz="9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43200"/>
          <a:ext cx="8595360" cy="1371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GPS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RTK-GPS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2–5 m (open sky)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 cm (with base station)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 rate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1–10 Hz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10–20 Hz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Urban canyon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10–50 m error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Degraded, needs fallback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Indoors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SIGNAL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SIGNAL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$10–$50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$500–$5,000+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Extraction: What GPS Gives Us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→ Raw Data → Features → Landmarks for Fusion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Position (lat, lon)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reference frame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drift over 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noisy: ±2–5m per reading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(from Doppler)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927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Doppler: velocity ±0.1 m/s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accurate than position!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heading estimation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9728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152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Synchronization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99632" y="144475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provides precise UTC 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timestamp all sensors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for multi-sensor fusion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8595360" cy="731520"/>
          </a:xfrm>
          <a:prstGeom prst="rect">
            <a:avLst/>
          </a:prstGeom>
          <a:solidFill>
            <a:srgbClr val="F5F3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56032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Landmarks: </a:t>
            </a: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provides the ABSOLUTE REFERENCE that prevents long-term drift. It's slow and noisy, but it bounds the error. Combined with IMU+encoders (fast, drifting) = the classic complementary fusion pair.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Theory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behind sensor uncertainty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Gaussian (Bell Curve) — Language of Uncertainty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3026664"/>
            <a:ext cx="329184" cy="82296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944368"/>
            <a:ext cx="329184" cy="164592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779776"/>
            <a:ext cx="329184" cy="329184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8" name="Shape 6"/>
          <p:cNvSpPr/>
          <p:nvPr/>
        </p:nvSpPr>
        <p:spPr>
          <a:xfrm>
            <a:off x="1499616" y="2532888"/>
            <a:ext cx="329184" cy="576072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9" name="Shape 7"/>
          <p:cNvSpPr/>
          <p:nvPr/>
        </p:nvSpPr>
        <p:spPr>
          <a:xfrm>
            <a:off x="1847088" y="2203704"/>
            <a:ext cx="329184" cy="905256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1874520"/>
            <a:ext cx="329184" cy="1234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2542032" y="1627632"/>
            <a:ext cx="329184" cy="14813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2889504" y="1463040"/>
            <a:ext cx="32918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236976" y="1627632"/>
            <a:ext cx="329184" cy="14813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3584448" y="1874520"/>
            <a:ext cx="329184" cy="1234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3931920" y="2203704"/>
            <a:ext cx="329184" cy="905256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6" name="Shape 14"/>
          <p:cNvSpPr/>
          <p:nvPr/>
        </p:nvSpPr>
        <p:spPr>
          <a:xfrm>
            <a:off x="4279392" y="2532888"/>
            <a:ext cx="329184" cy="576072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7" name="Shape 15"/>
          <p:cNvSpPr/>
          <p:nvPr/>
        </p:nvSpPr>
        <p:spPr>
          <a:xfrm>
            <a:off x="4626864" y="2779776"/>
            <a:ext cx="329184" cy="329184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8" name="Shape 16"/>
          <p:cNvSpPr/>
          <p:nvPr/>
        </p:nvSpPr>
        <p:spPr>
          <a:xfrm>
            <a:off x="4974336" y="2944368"/>
            <a:ext cx="329184" cy="164592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19" name="Shape 17"/>
          <p:cNvSpPr/>
          <p:nvPr/>
        </p:nvSpPr>
        <p:spPr>
          <a:xfrm>
            <a:off x="5321808" y="3026664"/>
            <a:ext cx="329184" cy="82296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0" name="Text 18"/>
          <p:cNvSpPr/>
          <p:nvPr/>
        </p:nvSpPr>
        <p:spPr>
          <a:xfrm>
            <a:off x="2798064" y="3154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878" y="337831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less likely     MOST LIKELY     less likely →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69280" y="73152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numbers describe everything:
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 (mean)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where the peak is (best guess)
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(std dev)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how wide the bell is (uncertainty)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within μ ± 1σ
95% within μ ± 2σ
99.7% within μ ± 3σ
</a:t>
            </a: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σ → narrow bell → confident sensor</a:t>
            </a: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σ → wide bell → unreliable sensor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Universal Sensor Equation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14400" y="822960"/>
            <a:ext cx="7315200" cy="109728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8686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h(x) + b + v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sensor measurement in robotics follows this form.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0312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21579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(measurement)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2450592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sensor REPORTS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you actually read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truth + errors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210312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210312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2633472" y="21579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h(x) (truth)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33472" y="2450592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sensor SHOULD report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world state is x, the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reading would be h(x)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10312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10312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21579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(bias)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8032" y="2450592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error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direction each 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Fixable by calibration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wrong temperature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0" y="210312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2103120"/>
            <a:ext cx="54864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7022592" y="21579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~ N(0, σ²) (noise)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22592" y="2450592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error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each 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remove, only reduce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 by bell curve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749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equation applies to EVERY sensor: encoders, ultrasonic, LiDAR, IMU, camera, radar, GPS. The values of b and σ are different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Uncertainty Ellipse — Where the Robot MIGHT Be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280160" y="2148840"/>
            <a:ext cx="59436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97280" y="2011680"/>
            <a:ext cx="365760" cy="274320"/>
          </a:xfrm>
          <a:prstGeom prst="ellipse">
            <a:avLst/>
          </a:prstGeom>
          <a:solidFill>
            <a:srgbClr val="10B981">
              <a:alpha val="2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042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828800"/>
            <a:ext cx="731520" cy="548640"/>
          </a:xfrm>
          <a:prstGeom prst="ellipse">
            <a:avLst/>
          </a:prstGeom>
          <a:solidFill>
            <a:srgbClr val="3B82F6">
              <a:alpha val="2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395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0" y="1554480"/>
            <a:ext cx="1280160" cy="914400"/>
          </a:xfrm>
          <a:prstGeom prst="ellipse">
            <a:avLst/>
          </a:prstGeom>
          <a:solidFill>
            <a:srgbClr val="F59E0B">
              <a:alpha val="2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4871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194560" cy="1645920"/>
          </a:xfrm>
          <a:prstGeom prst="ellipse">
            <a:avLst/>
          </a:prstGeom>
          <a:solidFill>
            <a:srgbClr val="EF4444">
              <a:alpha val="2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7614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80m (LOST!)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20040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ellipse = region where robot PROBABLY is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ellipse = confident. Large ellipse = lost.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encoders/IMU alone: ellipse ONLY GROWS.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sensors (LiDAR, GPS) SHRINK the ellipse.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grow/shrink cycle is the heart of sensor fusion.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Mahalanobis Distance — Is This Reading Trustworthy?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accepting any measurement, ask: "How surprising is this reading?"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9728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9728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1521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 &lt; 2 → GREEN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44475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matches prediction well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— use in fusion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is healthy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readings should be here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9728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1521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 = 2–3 → YELLOW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9272" y="144475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is a bit surprising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with caution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Maybe increase uncertainty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if it continues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11521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 &gt; 3 → RED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91072" y="144475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is almost certainly wrong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— do not use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may have failed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for health monitoring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8595360" cy="109728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246120"/>
            <a:ext cx="8321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 = √( innovationᵀ × S⁻¹ × innovation )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1480" y="3694176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= (actual measurement) − (predicted measurement)  →  the "surprise"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combined uncertainty of prediction + measurement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Mahalanobis distance accounts for HOW UNCERTAIN we are — a 10cm surprise is fine if σ=20cm, but alarming if σ=1cm.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Heteroscedastic Noise — Not All Measurements Are Equal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sensors have noise that DEPENDS ON the measurement itself.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52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Homoscedastic (constant noise)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44475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σ is the same everywhere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ultrasonic σ ≈ 5mm at any range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handle in fusion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set R = σ² = constant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1521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Heteroscedastic (varying noise)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144475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σ depends on distance!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depth: σ_Z ∝ Z²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1m: σ=1cm, at 5m: σ=25cm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update R for each measurement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8595360" cy="137160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246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fusion: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tell the fusion filter that camera depth has constant σ = 5cm, it will OVER-TRUST far readings (which are actually ±25cm) and UNDER-TRUST close readings (which are actually ±1cm). The filter will make bad decisions.
</a:t>
            </a:r>
            <a:endParaRPr lang="en-US" sz="14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compute σ_Z = Z²/(f·B) × σ_d for each pixel and set R accordingly.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Matching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sensor data → landmarks for localization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Landmark? Types of Landmarks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Landmarks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LiDAR/camera corners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Distinctive, repeatable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or 3D coordinates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wall corner at (3.2, 5.1)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7315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731520"/>
            <a:ext cx="54864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7863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Line/Plane Landmarks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64992" y="107899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wall segments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Parametric: (ρ, α) or (n, 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environments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corridor wall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7315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731520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7863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Landmarks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91072" y="107899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Camera-detected signs, doors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Named: "Ward B entrance"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but harder to extract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room label via OCR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169483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landmarks matter: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Robot sees landmark A at position p_A in its sensor frame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Robot KNOWS landmark A is at position P_A on the map (from a previous visit or a pre-built map)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DIFFERENCE between expected and observed position = position correction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exactly the UPDATE step in sensor fusion! Landmarks make uncertainty SHRINK.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Matching: How to Recognize Landmarks Again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 Matching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feature in current scan: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Find the closest feature in the map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"Closest" in feature descriptor space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Accept if distance &lt; threshold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but sensitive to noise and clutter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RANSAC (Robust Matching)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SAmple Consensus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Pick random feature pairs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Compute transformation (rotation+translation)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Count how many other features agree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Keep the best. Rejects outliers automatically!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8595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Pipeline (for any sensor):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1188720" cy="64008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1089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31546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828800" y="3063240"/>
            <a:ext cx="1188720" cy="64008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19" name="Text 17"/>
          <p:cNvSpPr/>
          <p:nvPr/>
        </p:nvSpPr>
        <p:spPr>
          <a:xfrm>
            <a:off x="1874520" y="31089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Features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31546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200400" y="3063240"/>
            <a:ext cx="1188720" cy="64008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31089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Features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1546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572000" y="3063240"/>
            <a:ext cx="1188720" cy="64008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31089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to Map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31546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943600" y="3063240"/>
            <a:ext cx="1188720" cy="640080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28" name="Text 26"/>
          <p:cNvSpPr/>
          <p:nvPr/>
        </p:nvSpPr>
        <p:spPr>
          <a:xfrm>
            <a:off x="5989320" y="31089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Outliers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31546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7315200" y="3063240"/>
            <a:ext cx="1188720" cy="6400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1" name="Text 29"/>
          <p:cNvSpPr/>
          <p:nvPr/>
        </p:nvSpPr>
        <p:spPr>
          <a:xfrm>
            <a:off x="7360920" y="31089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Correction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pipeline runs for LiDAR (scan matching), camera (visual odometry), and even radar (Doppler-based tracking).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→ Feature → Landmark Summary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102010"/>
              </p:ext>
            </p:extLst>
          </p:nvPr>
        </p:nvGraphicFramePr>
        <p:xfrm>
          <a:off x="182880" y="731520"/>
          <a:ext cx="8778240" cy="20116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Landmark Type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Matching Method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Velocity, distance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(motion, not landmarks)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Prediction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Ultrasonic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Range, glass flag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range constraints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Gating / threshold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Corners, lines, planes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Point/line landmarks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ICP, scan matching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Gravity, ZUPT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(constraints, not landmarks)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Prediction + ZUPT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ORB/SIFT, edges, text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landmarks, semantic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NN + RANSAC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Doppler velocity, RCS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Moving object tracks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association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Lat/lon, velocity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Absolute position fix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measurement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6576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Proprioceptive sensors (encoders, IMU) provide PREDICTION. Exteroceptive sensors (LiDAR, camera, radar, GPS, ultrasonic) provide CORRECTION.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Fusion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imperfect sensors → better than any one alone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Types of Fusion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28346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7724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8321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124712"/>
            <a:ext cx="25603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give DIFFERENT info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fills each other's gaps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IMU: fast but drifts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LiDAR: slow but absolute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Together: fast AND accurate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and most powerful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777240"/>
            <a:ext cx="28346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777240"/>
            <a:ext cx="54864" cy="228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8321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9272" y="1124712"/>
            <a:ext cx="25603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measure the SAME thing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increased reliability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+ Ultrasonic both measure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distance. If LiDAR fails 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glass, ultrasonic still works.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fault tolerance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777240"/>
            <a:ext cx="28346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77724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8321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91072" y="1124712"/>
            <a:ext cx="25603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BEST sensor for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conditions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sunlight: use radar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(camera depth fails)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corridor: use LiDAR+camera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Context-dependent selection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3291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systems use all three types simultaneously. The fusion filter handles it automatically via uncertainty weighting.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Magic: Fused Result &lt; Any Individual Sensor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011680" cy="1097280"/>
          </a:xfrm>
          <a:prstGeom prst="ellipse">
            <a:avLst/>
          </a:prstGeom>
          <a:solidFill>
            <a:srgbClr val="3B82F6">
              <a:alpha val="3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5 cm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3200400" cy="1097280"/>
          </a:xfrm>
          <a:prstGeom prst="ellipse">
            <a:avLst/>
          </a:prstGeom>
          <a:solidFill>
            <a:srgbClr val="8B5CF6">
              <a:alpha val="3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5603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10 cm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1645920" cy="914400"/>
          </a:xfrm>
          <a:prstGeom prst="ellipse">
            <a:avLst/>
          </a:prstGeom>
          <a:solidFill>
            <a:srgbClr val="10B981">
              <a:alpha val="40000"/>
            </a:srgbClr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4.5 cm!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73152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Inverse-variance weighting: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weight_A = σ²_B / (σ²_A + σ²_B) = 0.8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weight_B = σ²_A / (σ²_A + σ²_B) = 0.2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certain sensor → more weight
Less certain sensor → less weight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σ_fused = 4.5 cm &lt; σ_A = 5 cm !
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 is ALWAYS better than the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individual sensor.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Predict-Update Cycle (Concept Only — Math in MOD-05)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how fusion works in practice. The math (Kalman Filter) is in MOD-05.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285750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
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Encoders + IMU
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"Based on how my wheels turned
and what my IMU felt, I think
I moved 0.5m forward and
turned 2° left."
</a:t>
            </a:r>
            <a:endParaRPr lang="en-US" sz="1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GROWS ↑
</a:t>
            </a:r>
            <a:endParaRPr lang="en-US" sz="16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(because motion adds noise)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285750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54864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8872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(CORRECT)
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LiDAR / Camera / Radar / GPS
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"LiDAR says the wall is at 2.3m.
I predicted 2.5m. I was 0.2m off.
Correct my position by blending
prediction and measurement."
</a:t>
            </a:r>
            <a:endParaRPr lang="en-US" sz="1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SHRINKS ↓
</a:t>
            </a:r>
            <a:endParaRPr lang="en-US" sz="16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(measurement corrects drift)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" y="414031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 This cycle repeats at the SENSOR RATE (10–200 Hz). Predict-Update-Predict-Update-...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44577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Proprioceptive sensors (encoders, IMU) → FAST predictions that DRIFT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Exteroceptive sensors (LiDAR, camera, radar, GPS) → SLOW corrections that BOUND the drift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IMU + Odometry + GPS Fusion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 outdoor fusion combo for StreetBot: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5156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106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Odometry (1000 Hz)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399032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continuous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but DRIFTS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Provides: Δx, Δy, Δθ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PREDICTION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0" y="10515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0" y="105156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090672" y="11064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(200 Hz)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90672" y="1399032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fast, feels rotation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+ acceleration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Drifts in seconds (bias)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PREDICTION (orientation)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1051560"/>
            <a:ext cx="3017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105156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016752" y="1106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(1–10 Hz)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16752" y="1399032"/>
            <a:ext cx="2743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Slow, noisy (±2–5m)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ABSOLUTE — no drift!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+ velocity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CORRECTION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2880" y="27889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   ↓     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828800" y="3063240"/>
            <a:ext cx="5486400" cy="914400"/>
          </a:xfrm>
          <a:prstGeom prst="rect">
            <a:avLst/>
          </a:prstGeom>
          <a:solidFill>
            <a:srgbClr val="1E3A5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11680" y="31089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 FUSION → Fused State Estimate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(from IMU/odom) + Bounded (from GPS) + Oriented (from IMU)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all three sensors combined. Uncertainty stays small and bounded.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GPS updates (100ms gaps): IMU+odom predict. When GPS arrives: corrects drift. Continuous + accurate.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Architecture: Centralized vs. Federated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Fusion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sensors → ONE filter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state vector: [x,y,θ,v,bias,...]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Theoretically optimal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Complex, single point of failure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Hard to debug which sensor is wrong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(Decentralized)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sensor → own local filter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estimates → merged by master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One sensor can fail safely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Easier to test subsystems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Slightly suboptimal (correlations lost)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8595360" cy="137160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8803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safety-critical robots (hospital, delivery): Federated is preferred.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camera dies → its local filter stops → master continues with remaining sensors.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Multi-rate handling: timestamp everything. When a late measurement arrives, rewind → apply → fast-forward.
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Encoders: 1kHz | IMU: 200Hz | Camera: 30Hz | Radar: 15Hz | LiDAR: 10Hz | GPS: 1Hz — all at different rates!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Health Monitoring — Graceful Degradation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a sensor FAILS mid-mission?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43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1430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Mahalanobis distance d_M spikes above threshold (d_M &gt; 3)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85953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7452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20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Degrade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19202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sensor's uncertainty (σ → 10×σ). Filter trusts it less.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85953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5176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Disable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269748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persistent: set weight to zero. Continue with remaining sensors.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429000"/>
            <a:ext cx="85953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2900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74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Recover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0240" y="347472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d_M returns to normal: re-enable sensor. Weight restored.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Camera depth fails near sunlit window → d_M spikes → auto-disabled → MediBot continues with LiDAR+ultrasonic+radar → enters shade → camera recovers → auto-re-enabled.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+ StreetBot: Which Sensor Leads When?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31520"/>
          <a:ext cx="8778240" cy="2057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Sensor(s)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0–30s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MediBot: corridor travel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corrects, Encoders+IMU predict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Glass door approach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ULTRASONIC (glass!) + Camera (sign)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35–50s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Elevator ride (enclosed)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IMU ONLY — drift accumulates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Doors open Floor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CORRECTS → uncertainty collapses!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 from behind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 (velocity + through glass)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StreetBot: open sidewalk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GPS provides absolute correction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StreetBot: urban canyon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GPS degrades → LiDAR+IMU take over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StreetBot: enters building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GPS = NO SIGNAL → full indoor suite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1148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fusion system seamlessly hands off between sensors based on availability and reliability. No sensor is "always best."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— Appendix</a:t>
            </a:r>
            <a:endParaRPr lang="en-US" sz="3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Error Propagation via Jacobians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411480" y="822960"/>
                <a:ext cx="8321040" cy="45262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If y = f(x) and x ~ N(μ, P),  then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𝑷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𝒚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≈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𝑱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· </m:t>
                    </m:r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𝑷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𝒙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·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𝑱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ᵀ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822960"/>
                <a:ext cx="8321040" cy="452628"/>
              </a:xfrm>
              <a:prstGeom prst="rect">
                <a:avLst/>
              </a:prstGeom>
              <a:blipFill>
                <a:blip r:embed="rId3"/>
                <a:stretch>
                  <a:fillRect l="-22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411480" y="1229868"/>
                <a:ext cx="8321040" cy="5029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US" sz="95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J = Jacobian matrix: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𝐽</m:t>
                        </m:r>
                      </m:e>
                      <m:sub>
                        <m: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𝑖𝑗</m:t>
                        </m:r>
                      </m:sub>
                    </m:sSub>
                    <m:r>
                      <a:rPr lang="en-US" sz="95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f>
                      <m:fPr>
                        <m:ctrlP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cs typeface="Arial" pitchFamily="34" charset="-120"/>
                          </a:rPr>
                        </m:ctrlPr>
                      </m:fPr>
                      <m:num>
                        <m:r>
                          <a:rPr lang="en-US" sz="95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𝜕</m:t>
                        </m:r>
                        <m:sSub>
                          <m:sSubPr>
                            <m:ctrlPr>
                              <a:rPr lang="en-US" sz="95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sSubPr>
                          <m:e>
                            <m:r>
                              <a:rPr lang="en-US" sz="95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95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sz="95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𝜕</m:t>
                        </m:r>
                        <m:sSub>
                          <m:sSubPr>
                            <m:ctrlPr>
                              <a:rPr lang="en-US" sz="95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sSubPr>
                          <m:e>
                            <m:r>
                              <a:rPr lang="en-US" sz="95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95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sz="950" dirty="0"/>
              </a:p>
              <a:p>
                <a:pPr marL="0" indent="0">
                  <a:buNone/>
                </a:pPr>
                <a:r>
                  <a:rPr lang="en-US" sz="95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This is the FIRST-ORDER approximation — linearize f at the current estimate, then propagate the covariance through the linear approximation.</a:t>
                </a:r>
                <a:endParaRPr lang="en-US" sz="950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229868"/>
                <a:ext cx="8321040" cy="502920"/>
              </a:xfrm>
              <a:prstGeom prst="rect">
                <a:avLst/>
              </a:prstGeom>
              <a:blipFill>
                <a:blip r:embed="rId4"/>
                <a:stretch>
                  <a:fillRect b="-122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274320" y="1920239"/>
            <a:ext cx="8595360" cy="2141397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1517266" y="2258568"/>
                <a:ext cx="8321040" cy="6172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Odometry: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𝑷</m:t>
                        </m:r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dPr>
                          <m:e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𝒌</m:t>
                            </m:r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+</m:t>
                            </m:r>
                            <m:r>
                              <a:rPr lang="en-US" sz="1400" b="1" i="1" dirty="0" smtClean="0">
                                <a:solidFill>
                                  <a:srgbClr val="1E3A5F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𝟏</m:t>
                            </m:r>
                          </m:e>
                        </m:d>
                      </m:sub>
                    </m:sSub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𝑭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· </m:t>
                    </m:r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𝑷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𝒌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·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𝑭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ᵀ +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𝑮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·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𝑸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·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𝑮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ᵀ</m:t>
                    </m:r>
                  </m:oMath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𝑭</m:t>
                      </m:r>
                      <m:r>
                        <a:rPr lang="de-DE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de-DE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1" i="1" dirty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−</m:t>
                                </m:r>
                                <m:r>
                                  <a:rPr lang="en-US" sz="1400" b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𝚫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𝒔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·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sin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⁡(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𝜽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+</m:t>
                                </m:r>
                                <m:r>
                                  <a:rPr lang="en-US" sz="1400" b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𝚫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𝜽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/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𝟐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US" sz="1400" b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𝚫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𝒔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·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cos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⁡(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𝜽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+</m:t>
                                </m:r>
                                <m:r>
                                  <a:rPr lang="en-US" sz="1400" b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𝚫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𝜽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/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𝟐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de-DE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cs typeface="Arial" pitchFamily="34" charset="-12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de-DE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cs typeface="Arial" pitchFamily="34" charset="-12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de-DE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cs typeface="Arial" pitchFamily="34" charset="-12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266" y="2258568"/>
                <a:ext cx="8321040" cy="617220"/>
              </a:xfrm>
              <a:prstGeom prst="rect">
                <a:avLst/>
              </a:prstGeom>
              <a:blipFill>
                <a:blip r:embed="rId5"/>
                <a:stretch>
                  <a:fillRect l="-220" t="-43564" b="-3465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640080" y="3136443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= Jacobian w.r.t. state (how current uncertainty propagates)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Jacobian w.r.t. control input (how motion noise enters)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control noise covariance: diag(σ²_Δs, σ²_Δθ)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F·P_k·Fᵀ = old uncertainty stretched through motion  |  G·Q·Gᵀ = new uncertainty added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97453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the covariance ellipse grows and rotates: the Jacobian F stretches it in the direction of motion, and Q adds new uncertainty.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LiDAR Beam Model Equations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777240"/>
            <a:ext cx="8595360" cy="64008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411480" y="822960"/>
                <a:ext cx="8321040" cy="28803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𝒑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(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𝒛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|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𝒙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,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𝒎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 =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𝜶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𝒉𝒊𝒕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𝒑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𝒉𝒊𝒕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+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𝜶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𝒔𝒉𝒐𝒓𝒕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𝒑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𝒔𝒉𝒐𝒓𝒕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+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max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func>
                        <m:func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𝒑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max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+</m:t>
                          </m:r>
                        </m:e>
                      </m:func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𝜶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𝒓𝒂𝒏𝒅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𝒑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𝒓𝒂𝒏𝒅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822960"/>
                <a:ext cx="8321040" cy="288036"/>
              </a:xfrm>
              <a:prstGeom prst="rect">
                <a:avLst/>
              </a:prstGeom>
              <a:blipFill>
                <a:blip r:embed="rId3"/>
                <a:stretch>
                  <a:fillRect b="-1276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411480" y="1065276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Mixture model: each reading is generated by ONE of 4 mechanisms. Mixing weights sum to 1.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4114800" cy="91440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411480" y="1600200"/>
                <a:ext cx="384048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𝒑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𝒉𝒊𝒕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𝑵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𝒛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; </m:t>
                    </m:r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𝒓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𝒕𝒓𝒖𝒆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, </m:t>
                    </m:r>
                    <m:sSubSup>
                      <m:sSubSup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Sup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𝝈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𝒓</m:t>
                        </m:r>
                      </m:sub>
                      <m:sup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2</m:t>
                        </m:r>
                      </m:sup>
                    </m:sSubSup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</m:t>
                    </m:r>
                  </m:oMath>
                </a14:m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𝟎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≤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𝒛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≤ </m:t>
                    </m:r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max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⁡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600200"/>
                <a:ext cx="3840480" cy="411480"/>
              </a:xfrm>
              <a:prstGeom prst="rect">
                <a:avLst/>
              </a:prstGeom>
              <a:blipFill>
                <a:blip r:embed="rId4"/>
                <a:stretch>
                  <a:fillRect b="-298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41148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centered on true range. σ_r ≈ 1–3 cm.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206240" cy="91440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4800600" y="1600200"/>
                <a:ext cx="393192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𝒑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𝒔𝒉𝒐𝒓𝒕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𝝀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·</m:t>
                    </m:r>
                    <m:r>
                      <m:rPr>
                        <m:sty m:val="p"/>
                      </m:rP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exp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⁡(−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𝝀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𝒛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 </m:t>
                    </m:r>
                  </m:oMath>
                </a14:m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𝟎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≤ 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𝒛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≤ </m:t>
                    </m:r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𝒓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𝒕𝒓𝒖𝒆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1600200"/>
                <a:ext cx="3931920" cy="411480"/>
              </a:xfrm>
              <a:prstGeom prst="rect">
                <a:avLst/>
              </a:prstGeom>
              <a:blipFill>
                <a:blip r:embed="rId5"/>
                <a:stretch>
                  <a:fillRect b="-298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12"/>
          <p:cNvSpPr/>
          <p:nvPr/>
        </p:nvSpPr>
        <p:spPr>
          <a:xfrm>
            <a:off x="4800600" y="1965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Exponential: unexpected close object. λ controls steepness.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606040"/>
            <a:ext cx="4114800" cy="7315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411480" y="2651760"/>
                <a:ext cx="3840480" cy="32918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max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⁡=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𝜹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(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𝒛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−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max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651760"/>
                <a:ext cx="3840480" cy="329184"/>
              </a:xfrm>
              <a:prstGeom prst="rect">
                <a:avLst/>
              </a:prstGeom>
              <a:blipFill>
                <a:blip r:embed="rId6"/>
                <a:stretch>
                  <a:fillRect b="-370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5"/>
          <p:cNvSpPr/>
          <p:nvPr/>
        </p:nvSpPr>
        <p:spPr>
          <a:xfrm>
            <a:off x="411480" y="29352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mass at max range. Glass, black surface, open door.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06040"/>
            <a:ext cx="4206240" cy="731520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7"/>
              <p:cNvSpPr/>
              <p:nvPr/>
            </p:nvSpPr>
            <p:spPr>
              <a:xfrm>
                <a:off x="4800600" y="2651760"/>
                <a:ext cx="3931920" cy="32918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𝒑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𝒓𝒂𝒏𝒅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</m:t>
                      </m:r>
                      <m:f>
                        <m:f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fPr>
                        <m:num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𝒛</m:t>
                              </m:r>
                            </m:e>
                            <m:sub>
                              <m:func>
                                <m:funcPr>
                                  <m:ctrlPr>
                                    <a:rPr lang="en-US" sz="1400" b="1" i="1" dirty="0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400" b="0" i="0" dirty="0" smtClean="0">
                                      <a:solidFill>
                                        <a:srgbClr val="1E3A5F"/>
                                      </a:solidFill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 pitchFamily="34" charset="-12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b="1" i="1" dirty="0" smtClean="0">
                                          <a:solidFill>
                                            <a:srgbClr val="1E3A5F"/>
                                          </a:solidFill>
                                          <a:latin typeface="Cambria Math" panose="02040503050406030204" pitchFamily="18" charset="0"/>
                                          <a:ea typeface="Arial" pitchFamily="34" charset="-122"/>
                                          <a:cs typeface="Arial" pitchFamily="34" charset="-12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1" i="1" dirty="0" smtClean="0">
                                          <a:solidFill>
                                            <a:srgbClr val="1E3A5F"/>
                                          </a:solidFill>
                                          <a:latin typeface="Cambria Math" panose="02040503050406030204" pitchFamily="18" charset="0"/>
                                          <a:ea typeface="Arial" pitchFamily="34" charset="-122"/>
                                          <a:cs typeface="Arial" pitchFamily="34" charset="-120"/>
                                        </a:rPr>
                                        <m:t>𝒖𝒏𝒊𝒇𝒐𝒓𝒎</m:t>
                                      </m:r>
                                    </m:e>
                                  </m:d>
                                </m:e>
                              </m:func>
                            </m:sub>
                          </m:sSub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2651760"/>
                <a:ext cx="3931920" cy="329184"/>
              </a:xfrm>
              <a:prstGeom prst="rect">
                <a:avLst/>
              </a:prstGeom>
              <a:blipFill>
                <a:blip r:embed="rId7"/>
                <a:stretch>
                  <a:fillRect t="-20370" b="-370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8"/>
          <p:cNvSpPr/>
          <p:nvPr/>
        </p:nvSpPr>
        <p:spPr>
          <a:xfrm>
            <a:off x="4800600" y="30861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Random: equally likely anywhere. Dust, electrical noise.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3566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Log-likelihood for full scan: ℓ = Σ log p(z_i | x, m) — sum instead of multiply to avoid numerical underflow.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Stereo Depth Uncertainty Derivation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777239"/>
            <a:ext cx="8595360" cy="849366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411480" y="822960"/>
                <a:ext cx="8321040" cy="32918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Stereo depth: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𝒁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𝒇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· </m:t>
                      </m:r>
                      <m:f>
                        <m:f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fPr>
                        <m:num>
                          <m: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𝑩</m:t>
                          </m:r>
                        </m:num>
                        <m:den>
                          <m:r>
                            <a:rPr lang="en-US" sz="1400" b="1" i="1" dirty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𝒅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822960"/>
                <a:ext cx="8321040" cy="329184"/>
              </a:xfrm>
              <a:prstGeom prst="rect">
                <a:avLst/>
              </a:prstGeom>
              <a:blipFill>
                <a:blip r:embed="rId3"/>
                <a:stretch>
                  <a:fillRect l="-220" t="-61111" b="-6296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411480" y="1236195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= focal length (pixels), B = baseline (meters), d = disparity (pixels)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disparity → closer object. Zero disparity → infinitely far.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96744"/>
            <a:ext cx="8595360" cy="1060704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411480" y="1826319"/>
                <a:ext cx="832104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Differentiate: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𝒅𝒁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/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𝒅𝒅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−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𝒇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𝑩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/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𝒅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² = −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𝒁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² / (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𝒇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·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𝑩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				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𝝈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𝒁</m:t>
                        </m:r>
                      </m:sub>
                    </m:sSub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|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𝒁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² / (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𝒇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·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𝑩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)| × </m:t>
                    </m:r>
                    <m:sSub>
                      <m:sSub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𝝈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𝒅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826319"/>
                <a:ext cx="8321040" cy="411480"/>
              </a:xfrm>
              <a:prstGeom prst="rect">
                <a:avLst/>
              </a:prstGeom>
              <a:blipFill>
                <a:blip r:embed="rId4"/>
                <a:stretch>
                  <a:fillRect l="-220" t="-41791" b="-552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457200" y="2370387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σ_Z grows as Z² — QUADRATIC! This is why camera depth is great at 1m but terrible at 5m.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σ_d ≈ 0.5–2 pixels (sub-pixel stereo matching accuracy).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877878"/>
            <a:ext cx="8595360" cy="897671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411480" y="2923599"/>
                <a:ext cx="8321040" cy="32918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Noise covariance for fusion: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𝑹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(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𝒁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 = (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𝒁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²/(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𝒇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·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𝑩</m:t>
                    </m:r>
                    <m:r>
                      <a:rPr lang="en-US" sz="1400" b="1" i="1" dirty="0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))² × </m:t>
                    </m:r>
                    <m:sSubSup>
                      <m:sSubSupPr>
                        <m:ctrlP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SupPr>
                      <m:e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𝝈</m:t>
                        </m:r>
                      </m:e>
                      <m:sub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𝒅</m:t>
                        </m:r>
                      </m:sub>
                      <m:sup>
                        <m:r>
                          <a:rPr lang="en-US" sz="1400" b="1" i="1" dirty="0" smtClean="0">
                            <a:solidFill>
                              <a:srgbClr val="1E3A5F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2</m:t>
                        </m:r>
                      </m:sup>
                    </m:sSubSup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923599"/>
                <a:ext cx="8321040" cy="329184"/>
              </a:xfrm>
              <a:prstGeom prst="rect">
                <a:avLst/>
              </a:prstGeom>
              <a:blipFill>
                <a:blip r:embed="rId5"/>
                <a:stretch>
                  <a:fillRect l="-220" b="-1481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12"/>
          <p:cNvSpPr/>
          <p:nvPr/>
        </p:nvSpPr>
        <p:spPr>
          <a:xfrm>
            <a:off x="411480" y="3341173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 must be RECOMPUTED for each measurement! It's a function of Z, not a constant.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R = constant would over-trust far readings and under-trust close ones.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Allan Variance for IMU Characterization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754379"/>
            <a:ext cx="8595360" cy="861769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411480" y="822960"/>
                <a:ext cx="8321040" cy="32918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𝝈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𝑨𝒍𝒍𝒂𝒏</m:t>
                          </m:r>
                          <m:d>
                            <m:dPr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𝝉</m:t>
                              </m:r>
                            </m:e>
                          </m:d>
                        </m:sub>
                        <m:sup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½ × ⟨(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accPr>
                            <m:e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𝝎</m:t>
                              </m:r>
                            </m:e>
                          </m:acc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𝒌</m:t>
                              </m:r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+</m:t>
                              </m:r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𝟏</m:t>
                              </m:r>
                            </m:e>
                          </m:d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−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</m:ctrlPr>
                            </m:accPr>
                            <m:e>
                              <m: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ea typeface="Arial" pitchFamily="34" charset="-122"/>
                                  <a:cs typeface="Arial" pitchFamily="34" charset="-120"/>
                                </a:rPr>
                                <m:t>𝝎</m:t>
                              </m:r>
                            </m:e>
                          </m:acc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𝒌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)²⟩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822960"/>
                <a:ext cx="8321040" cy="329184"/>
              </a:xfrm>
              <a:prstGeom prst="rect">
                <a:avLst/>
              </a:prstGeom>
              <a:blipFill>
                <a:blip r:embed="rId3"/>
                <a:stretch>
                  <a:fillRect b="-370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457200" y="11734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IMU while STATIONARY. Divide into clusters of length τ.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variance of cluster-to-cluster differences. Plot σ(τ) vs τ on log-log.</a:t>
            </a:r>
            <a:endParaRPr lang="en-US" sz="95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37360"/>
          <a:ext cx="8595360" cy="975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Slope on log-log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Noise Type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 Meaning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−1/2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White noise (ARW)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Electronic noise, quantization — always present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(flat)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Bias instability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of curve — best the gyro can ever 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+1/2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random walk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environmental drift — temperature, aging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31089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ARW from the −1/2 slope line at τ = 1s. Read bias instability from the minimum of the curve. These parameters go directly into your EKF noise configuration (MOD-05).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GPS Error Model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777239"/>
            <a:ext cx="8595360" cy="1115355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411480" y="822960"/>
                <a:ext cx="8321040" cy="32918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3A5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Position: </a:t>
                </a:r>
                <a:endParaRPr lang="de-DE" sz="1400" b="1" i="1" dirty="0">
                  <a:solidFill>
                    <a:srgbClr val="1E3A5F"/>
                  </a:solidFill>
                  <a:latin typeface="Cambria Math" panose="02040503050406030204" pitchFamily="18" charset="0"/>
                  <a:ea typeface="Arial" pitchFamily="34" charset="-122"/>
                  <a:cs typeface="Arial" pitchFamily="34" charset="-12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𝒑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_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𝑮𝑷𝑺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𝒑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𝒕𝒓𝒖𝒆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+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𝒃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𝒂𝒕𝒎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+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𝒏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𝒎𝒖𝒍𝒕𝒊𝒑𝒂𝒕𝒉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+ </m:t>
                      </m:r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𝒏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𝒓𝒆𝒄𝒆𝒊𝒗𝒆𝒓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822960"/>
                <a:ext cx="8321040" cy="329184"/>
              </a:xfrm>
              <a:prstGeom prst="rect">
                <a:avLst/>
              </a:prstGeom>
              <a:blipFill>
                <a:blip r:embed="rId3"/>
                <a:stretch>
                  <a:fillRect l="-220" t="-35185" b="-370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502920" y="135955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b_atm = atmospheric delay (ionosphere + troposphere) — partially correctable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n_multipath = building reflections — worst in urban canyons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n_receiver = internal noise ≈ 0.3–1 m</a:t>
            </a:r>
            <a:endParaRPr lang="en-US" sz="95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145575"/>
              </p:ext>
            </p:extLst>
          </p:nvPr>
        </p:nvGraphicFramePr>
        <p:xfrm>
          <a:off x="365760" y="2217421"/>
          <a:ext cx="8595360" cy="14173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Source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Magnitude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Be Corrected?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Ionospheric delay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2–5 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(dual-frequency GPS)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Tropospheric delay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0.2–0.5 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Partially (models)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Multipath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1–50 m (urban)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Difficult (antenna design, algorithms)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Satellite geometry (DOP)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1× – 5× multiplier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Choose better satellite constellation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Receiver noise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0.3–1 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fundamental limit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3749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RTK-GPS uses a nearby base station to cancel most errors → achieves 1–2 cm accuracy. But requires base station infrastructure and clear sky.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Polar → Cartesian Uncertainty (LiDAR)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777240"/>
            <a:ext cx="8595360" cy="824732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411480" y="822960"/>
                <a:ext cx="8321040" cy="28803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𝑱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1" i="1" dirty="0" smtClean="0">
                                  <a:solidFill>
                                    <a:srgbClr val="1E3A5F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cos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⁡(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𝝋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−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𝒓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·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sin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⁡(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𝝋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sin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⁡(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𝝋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𝒓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·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cos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⁡(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𝝋</m:t>
                                </m:r>
                                <m:r>
                                  <a:rPr lang="en-US" sz="1400" b="1" i="1" dirty="0">
                                    <a:solidFill>
                                      <a:srgbClr val="1E3A5F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DE" sz="1400" b="1" dirty="0">
                  <a:solidFill>
                    <a:srgbClr val="1E3A5F"/>
                  </a:solidFill>
                  <a:ea typeface="Arial" pitchFamily="34" charset="-122"/>
                  <a:cs typeface="Arial" pitchFamily="34" charset="-120"/>
                </a:endParaRPr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822960"/>
                <a:ext cx="8321040" cy="288036"/>
              </a:xfrm>
              <a:prstGeom prst="rect">
                <a:avLst/>
              </a:prstGeom>
              <a:blipFill>
                <a:blip r:embed="rId3"/>
                <a:stretch>
                  <a:fillRect t="-25532" b="-489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411480" y="1249645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Jacobian of the transformation (r,φ) → (x,y). Used to propagate polar noise into Cartesian noise.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805939"/>
            <a:ext cx="8595360" cy="1185353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411480" y="1851660"/>
                <a:ext cx="832104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𝑷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𝒙𝒚</m:t>
                          </m:r>
                        </m:sub>
                      </m:sSub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=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𝑱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·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𝒅𝒊𝒂𝒈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(</m:t>
                      </m:r>
                      <m:sSubSup>
                        <m:sSubSup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𝝈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𝒓</m:t>
                          </m:r>
                        </m:sub>
                        <m:sup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, </m:t>
                      </m:r>
                      <m:sSubSup>
                        <m:sSubSupPr>
                          <m:ctrlP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sSubSupPr>
                        <m:e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𝝈</m:t>
                          </m:r>
                        </m:e>
                        <m:sub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𝝋</m:t>
                          </m:r>
                        </m:sub>
                        <m:sup>
                          <m:r>
                            <a:rPr lang="en-US" sz="1400" b="1" i="1" dirty="0" smtClean="0">
                              <a:solidFill>
                                <a:srgbClr val="1E3A5F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2</m:t>
                          </m:r>
                        </m:sup>
                      </m:sSubSup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 · 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𝑱</m:t>
                      </m:r>
                      <m:r>
                        <a:rPr lang="en-US" sz="1400" b="1" i="1" dirty="0" smtClean="0">
                          <a:solidFill>
                            <a:srgbClr val="1E3A5F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ᵀ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851660"/>
                <a:ext cx="8321040" cy="4114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411480" y="2343150"/>
                <a:ext cx="832104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95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Result: at long range, the term </a:t>
                </a:r>
                <a14:m>
                  <m:oMath xmlns:m="http://schemas.openxmlformats.org/officeDocument/2006/math">
                    <m:r>
                      <a:rPr lang="en-US" sz="95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𝑟</m:t>
                    </m:r>
                    <m:r>
                      <a:rPr lang="en-US" sz="95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²·</m:t>
                    </m:r>
                    <m:sSubSup>
                      <m:sSubSupPr>
                        <m:ctrlP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SupPr>
                      <m:e>
                        <m: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𝜎</m:t>
                        </m:r>
                      </m:e>
                      <m:sub>
                        <m: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𝜑</m:t>
                        </m:r>
                      </m:sub>
                      <m:sup>
                        <m:r>
                          <a:rPr lang="en-US" sz="95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2</m:t>
                        </m:r>
                      </m:sup>
                    </m:sSubSup>
                    <m:r>
                      <a:rPr lang="en-US" sz="95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95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dominates → uncertainty ellipse elongates TANGENTIALLY.</a:t>
                </a:r>
                <a:endParaRPr lang="en-US" sz="950" dirty="0"/>
              </a:p>
              <a:p>
                <a:pPr marL="0" indent="0">
                  <a:buNone/>
                </a:pPr>
                <a:r>
                  <a:rPr lang="en-US" sz="95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At r=4m: angular contribution small. At r=20m: angular contribution 25× larger → accuracy drops at distance.</a:t>
                </a:r>
                <a:endParaRPr lang="en-US" sz="950" dirty="0"/>
              </a:p>
              <a:p>
                <a:pPr marL="0" indent="0">
                  <a:buNone/>
                </a:pPr>
                <a:r>
                  <a:rPr lang="en-US" sz="95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This is why LiDAR-based SLAM degrades in large open spaces with long-range readings.</a:t>
                </a:r>
                <a:endParaRPr lang="en-US" sz="950" dirty="0"/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343150"/>
                <a:ext cx="8321040" cy="457200"/>
              </a:xfrm>
              <a:prstGeom prst="rect">
                <a:avLst/>
              </a:prstGeom>
              <a:blipFill>
                <a:blip r:embed="rId5"/>
                <a:stretch>
                  <a:fillRect b="-24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Challenge: StreetBot Design Problem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everything to a NEW robot in a HARDER environment: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064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StreetBot Challenges (vs. MediBot)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39903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Rain/snow/fog → camera+LiDAR degrade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Sunlight → camera depth saturated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Uneven terrain → more wheel slip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traffic → need long-range velocity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storefronts everywhere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1064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Deliverables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28032" y="139903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Sensor suite: which 7, where, why (20%)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Sensor models + noise for each (20%)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Feature extraction + landmarks (15%)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Fusion architecture + data flow (20%)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Top 5 failure scenarios + mitigation (15%)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MediBot → StreetBot: what changes? (10%)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question: Which sensors change when moving from hospital to sidewalk? What NEW failure modes appear?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88696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9052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sensor lies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4173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it: z = h(x) + b + 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88696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9052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uncertainty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4173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Gaussian: μ (best guess), σ (confidence)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7772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0488" y="88696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9052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accumulate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0488" y="14173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Encoders: linear. IMU: T². Only grows!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46888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" y="257860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" y="25968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features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" y="3108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data → landmarks → map anchors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246888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57860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7" name="Text 25"/>
          <p:cNvSpPr/>
          <p:nvPr/>
        </p:nvSpPr>
        <p:spPr>
          <a:xfrm>
            <a:off x="3264408" y="25968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4904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 wisely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64408" y="3108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∝ 1/σ² → better than any single sensor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246888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0488" y="257860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2" name="Text 30"/>
          <p:cNvSpPr/>
          <p:nvPr/>
        </p:nvSpPr>
        <p:spPr>
          <a:xfrm>
            <a:off x="6190488" y="25968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12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health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90488" y="3108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Mahalanobis gating → graceful degradation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Thrun, Burgard &amp; Fox (2005). Probabilistic Robotics. MIT Press. Ch. 5–7.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Siegwart, Nourbakhsh &amp; Scaramuzza (2011). Intro to Autonomous Mobile Robots. MIT Press.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robot_localization ROS package. github.com/cra-ros-pkg/robot_localization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MOD-05 — Probabilistic Robotics &amp; State Estimation (Kalman Filter derivation)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F3045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A104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9144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6502</Words>
  <Application>Microsoft Office PowerPoint</Application>
  <PresentationFormat>On-screen Show (16:9)</PresentationFormat>
  <Paragraphs>1014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MOD-04: Sensor Modeling, Measurement &amp; Fusion</dc:title>
  <dc:subject>PptxGenJS Presentation</dc:subject>
  <dc:creator>Dr. Ahmad Abbadi</dc:creator>
  <cp:lastModifiedBy>Ahmad Abbadi</cp:lastModifiedBy>
  <cp:revision>57</cp:revision>
  <dcterms:created xsi:type="dcterms:W3CDTF">2026-03-11T04:45:27Z</dcterms:created>
  <dcterms:modified xsi:type="dcterms:W3CDTF">2026-05-04T09:14:38Z</dcterms:modified>
</cp:coreProperties>
</file>