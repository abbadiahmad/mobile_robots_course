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84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1A4A6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3B276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ROBOTS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MOD-04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Modeling,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&amp; Fusion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Dr. Ahmad Abbadi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 Why Do We Need This?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on a robot tells a slightly different lie.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Model the Lies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sensor has its own type of error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math model for HOW it lies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63040"/>
            <a:ext cx="54864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Measure Uncertainty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8470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does each sensor lie?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confidence as a number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95% sure the wall is 2.0 ± 0.1m"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Combine Wisely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84708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all sensors, trust the reliable ones more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better than any single sensor!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SENSOR FUSION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learn all three using one robot: MediBot — a hospital delivery robot.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MediBot — Hospital Delivery Robot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94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medications: Pharmacy → Ward B (Floor 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hallways, doors, elevator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with blood samples from Lab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collisions — patient safety is non-negotiable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886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floors → wheels slip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doors → some sensors can't see glass!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walk unpredictably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→ vibration, tilt, no references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varies: bright lobby ↔ dim corridors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add 6 sensors, one at a time. Each fails → motivates the next.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Encoders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wheel rotations → estimate where you are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Encoders Work — Intuition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C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78024" y="206654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2250376" y="2616136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700784" y="284378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51192" y="2616136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" y="206654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151192" y="1516952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0784" y="1289304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250376" y="1516952"/>
            <a:ext cx="731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9144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revolution = N ticks (e.g., 1000)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ticks → distance each wheel traveled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wheels → how much robot turned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Equations: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Distance: Δs = (right + left) / 2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Turn: Δθ = (right − left) / wheelbase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position: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x' = x + Δs·cos(θ),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y' = y + Δs·sin(θ)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 pedometer for each wheel!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Noise? — The Bell Curve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3374136"/>
            <a:ext cx="292608" cy="100584"/>
          </a:xfrm>
          <a:prstGeom prst="rect">
            <a:avLst/>
          </a:prstGeom>
          <a:solidFill>
            <a:srgbClr val="3B9AF6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3233318"/>
            <a:ext cx="292608" cy="241402"/>
          </a:xfrm>
          <a:prstGeom prst="rect">
            <a:avLst/>
          </a:prstGeom>
          <a:solidFill>
            <a:srgbClr val="3B93F6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971800"/>
            <a:ext cx="292608" cy="502920"/>
          </a:xfrm>
          <a:prstGeom prst="rect">
            <a:avLst/>
          </a:prstGeom>
          <a:solidFill>
            <a:srgbClr val="3B86F6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2569464"/>
            <a:ext cx="292608" cy="905256"/>
          </a:xfrm>
          <a:prstGeom prst="rect">
            <a:avLst/>
          </a:prstGeom>
          <a:solidFill>
            <a:srgbClr val="3B72F6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2066544"/>
            <a:ext cx="292608" cy="1408176"/>
          </a:xfrm>
          <a:prstGeom prst="rect">
            <a:avLst/>
          </a:prstGeom>
          <a:solidFill>
            <a:srgbClr val="3B59F6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664208"/>
            <a:ext cx="292608" cy="1810512"/>
          </a:xfrm>
          <a:prstGeom prst="rect">
            <a:avLst/>
          </a:prstGeom>
          <a:solidFill>
            <a:srgbClr val="3B45F6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463040"/>
            <a:ext cx="292608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1664208"/>
            <a:ext cx="292608" cy="1810512"/>
          </a:xfrm>
          <a:prstGeom prst="rect">
            <a:avLst/>
          </a:prstGeom>
          <a:solidFill>
            <a:srgbClr val="3B45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2066544"/>
            <a:ext cx="292608" cy="1408176"/>
          </a:xfrm>
          <a:prstGeom prst="rect">
            <a:avLst/>
          </a:prstGeom>
          <a:solidFill>
            <a:srgbClr val="3B59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94760" y="2569464"/>
            <a:ext cx="292608" cy="905256"/>
          </a:xfrm>
          <a:prstGeom prst="rect">
            <a:avLst/>
          </a:prstGeom>
          <a:solidFill>
            <a:srgbClr val="3B7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0" y="2971800"/>
            <a:ext cx="292608" cy="502920"/>
          </a:xfrm>
          <a:prstGeom prst="rect">
            <a:avLst/>
          </a:prstGeom>
          <a:solidFill>
            <a:srgbClr val="3B8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3233318"/>
            <a:ext cx="292608" cy="241402"/>
          </a:xfrm>
          <a:prstGeom prst="rect">
            <a:avLst/>
          </a:prstGeom>
          <a:solidFill>
            <a:srgbClr val="3B93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3374136"/>
            <a:ext cx="292608" cy="100584"/>
          </a:xfrm>
          <a:prstGeom prst="rect">
            <a:avLst/>
          </a:prstGeom>
          <a:solidFill>
            <a:srgbClr val="3B9AF6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1828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Less likely       TRUE VALUE       Less likely →</a:t>
            </a:r>
            <a:endParaRPr lang="en-US"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5303520" y="822960"/>
                <a:ext cx="3474720" cy="36576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Every measurement has some randomness</a:t>
                </a:r>
                <a:endParaRPr lang="en-US" sz="1300" dirty="0"/>
              </a:p>
              <a:p>
                <a:pPr marL="0" indent="0">
                  <a:buNone/>
                </a:pPr>
                <a:endParaRPr lang="en-US" sz="13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Most readings cluster near the TRUE value (tall middle)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 few readings are way off (short edges)</a:t>
                </a:r>
              </a:p>
              <a:p>
                <a:pPr marL="0" indent="0">
                  <a:buNone/>
                </a:pPr>
                <a:endParaRPr lang="en-US" sz="1100" dirty="0">
                  <a:solidFill>
                    <a:srgbClr val="1F2937"/>
                  </a:solidFill>
                  <a:latin typeface="Arial" pitchFamily="34" charset="0"/>
                  <a:cs typeface="Arial" pitchFamily="34" charset="-120"/>
                </a:endParaRPr>
              </a:p>
              <a:p>
                <a:r>
                  <a:rPr lang="en-US" sz="1200" dirty="0"/>
                  <a:t>We model each tick measurement as: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200" i="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200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i="1" dirty="0" err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sub>
                      </m:sSub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l-GR" sz="120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bSup>
                            <m:sSubSupPr>
                              <m:ctrlP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120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𝑡𝑖𝑐𝑘</m:t>
                              </m:r>
                            </m:sub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300" dirty="0"/>
              </a:p>
              <a:p>
                <a:pPr marL="0" indent="0">
                  <a:buNone/>
                </a:pPr>
                <a:endParaRPr lang="en-US" sz="1300" dirty="0"/>
              </a:p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3B82F6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We describe this with TWO numbers: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μ (mean) = where the peak is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rgbClr val="1F2937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σ (std dev) = how wide the bell is</a:t>
                </a:r>
                <a:endParaRPr lang="en-US" sz="1300" dirty="0"/>
              </a:p>
              <a:p>
                <a:pPr marL="0" indent="0">
                  <a:buNone/>
                </a:pPr>
                <a:endParaRPr lang="en-US" sz="1300" dirty="0"/>
              </a:p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0B981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Small σ → confident sensor</a:t>
                </a:r>
                <a:endParaRPr lang="en-US" sz="1300" dirty="0"/>
              </a:p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EF4444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Large σ → unreliable sensor</a:t>
                </a:r>
              </a:p>
              <a:p>
                <a:pPr marL="0" indent="0">
                  <a:buNone/>
                </a:pPr>
                <a:endParaRPr lang="en-US" sz="1100" b="1" dirty="0">
                  <a:solidFill>
                    <a:srgbClr val="EF4444"/>
                  </a:solidFill>
                  <a:latin typeface="Arial" pitchFamily="34" charset="0"/>
                  <a:cs typeface="Arial" pitchFamily="34" charset="-120"/>
                </a:endParaRPr>
              </a:p>
              <a:p>
                <a:pPr marL="0" indent="0">
                  <a:buNone/>
                </a:pPr>
                <a:endParaRPr lang="en-US" sz="1100" b="1" dirty="0">
                  <a:solidFill>
                    <a:srgbClr val="EF4444"/>
                  </a:solidFill>
                  <a:latin typeface="Arial" pitchFamily="34" charset="0"/>
                  <a:cs typeface="Arial" pitchFamily="34" charset="-120"/>
                </a:endParaRPr>
              </a:p>
              <a:p>
                <a:pPr marL="0" indent="0">
                  <a:buNone/>
                </a:pPr>
                <a:endParaRPr lang="en-US" sz="1100" b="1" dirty="0">
                  <a:solidFill>
                    <a:srgbClr val="EF4444"/>
                  </a:solidFill>
                  <a:latin typeface="Arial" pitchFamily="34" charset="0"/>
                  <a:cs typeface="Arial" pitchFamily="34" charset="-120"/>
                </a:endParaRPr>
              </a:p>
              <a:p>
                <a:pPr marL="0" indent="0">
                  <a:buNone/>
                </a:pPr>
                <a:endParaRPr lang="en-US" sz="1100" b="1" dirty="0">
                  <a:solidFill>
                    <a:srgbClr val="EF4444"/>
                  </a:solidFill>
                  <a:latin typeface="Arial" pitchFamily="34" charset="0"/>
                  <a:cs typeface="Arial" pitchFamily="34" charset="-120"/>
                </a:endParaRPr>
              </a:p>
              <a:p>
                <a:r>
                  <a:rPr lang="el-GR" sz="1200" dirty="0"/>
                  <a:t>68% in 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sz="1200" dirty="0"/>
                  <a:t> | 95% in 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±2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200" dirty="0"/>
                  <a:t>| 99.7% in 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±3</m:t>
                    </m:r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l-GR" sz="1200" dirty="0"/>
              </a:p>
              <a:p>
                <a:pPr marL="0" indent="0">
                  <a:buNone/>
                </a:pPr>
                <a:endParaRPr lang="en-US" sz="1300" dirty="0"/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822960"/>
                <a:ext cx="3474720" cy="3657600"/>
              </a:xfrm>
              <a:prstGeom prst="rect">
                <a:avLst/>
              </a:prstGeom>
              <a:blipFill>
                <a:blip r:embed="rId3"/>
                <a:stretch>
                  <a:fillRect l="-175" t="-167" b="-6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Errors Add Up!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54480" y="2423160"/>
            <a:ext cx="56692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71600" y="2286000"/>
            <a:ext cx="365760" cy="27432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753" y="2606040"/>
            <a:ext cx="79460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(certain)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2103120"/>
            <a:ext cx="731520" cy="54864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697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128016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788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194560" cy="1645920"/>
          </a:xfrm>
          <a:prstGeom prst="ellipse">
            <a:avLst/>
          </a:prstGeom>
          <a:solidFill>
            <a:srgbClr val="EF4444">
              <a:alpha val="2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154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(LOST!)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ellipse = "where the robot MIGHT be"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ellipse = confident.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ellipse = lost.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encoders alone, the ellipse ONLY GROWS.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shrinks it — because encoders only count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wheels. They never check the real world.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80m of Travel → 3m Off!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traveled 80m from pharmacy to elevator.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According to encoders: "I'm at the elevator!"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 3 meters PAST the elevator, facing the wrong wall.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polished hospital floor → tiny slip on every turn → heading error accumulates.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uncertainty ellipse grew and grew — nothing corrected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sensor that measures the EXTERNAL world — walls, doors, obstacles.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option: ultrasonic sensors. Small, cheap, mount them around the robot.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2 — Ultrasonic Sensors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Sensors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the walls with sound → measure distance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Ultrasonic Works — Intuition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14400" cy="1371600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457200" cy="118872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188720"/>
            <a:ext cx="731520" cy="173736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822960"/>
            <a:ext cx="137160" cy="274320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828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7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82296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= speed × time / 2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travels at ~343 m/s in air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by 2: sound goes THERE and BACK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BUT: speed of sound changes with temperature!</a:t>
            </a:r>
          </a:p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c(T) = 331.3 + 0.606·T — depends on temperature!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room (15°C): 340 m/s → measures TOO SHORT</a:t>
            </a:r>
            <a:endParaRPr lang="en-US" sz="18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room (37°C): 354 m/s → measures TOO LONG</a:t>
            </a:r>
            <a:endParaRPr lang="en-US" sz="18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BIAS — a repeatable, predictable error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advantage: ultrasonic DETECTS GLASS! (sound reflects off glass, unlike some laser)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Types of Error: Bias vs. Noise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2377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(Systematic Error)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94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error every time — predictable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clock that's always 5 minutes fast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example: wrong temperature → wrong speed of sound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CALIBRATE — measure the offset, subtract 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calibration, bias is mostly removed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2377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(Random Error)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886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error each time — unpredictable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measuring your height and getting 175, 174, 176 cm...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example: tiny air turbulence, timing jitter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can't remove individual noise, but can AVERAGE many readings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use FUSION to combine with other sensors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Universal Sensor Equation:  </a:t>
            </a:r>
            <a:r>
              <a:rPr lang="en-US" sz="18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h(x) + b + 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what sensor says  |  h(x) = truth  |  b = bias  |  v = random noise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The Open Lobby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enters the large hospital lobby (15m × 20m).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max range: only 4 meters → "no reading" for distant walls.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is wide (30° cone) → can't tell exact direction.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sensors firing at once → cross-talk creates phantom obstacles.</a:t>
            </a:r>
            <a:endParaRPr lang="en-US" sz="1200" b="1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need: MUCH longer range, MUCH finer angular resolution,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HUNDREDS of points per scan instead of just one.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3 — LiDAR (laser scanner)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(Laser Scanner)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Spinning laser → hundreds of range points in 360°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LiDAR: What Can Go Wrong? — The Beam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p(z) = 0.85 × p_hit + 0.05 × p_short + 0.05 × p_max + 0.05 × p_rand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3444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07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p_hit (85%)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reading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hits wall, returns correct distance + small noise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we WANT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as bell curve around true range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23444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234440"/>
            <a:ext cx="54864" cy="2103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07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p_short (5%)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618488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UNEXPECTEDLY CLOSE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between sensor and wall (person's leg, cart)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shorter than expected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likely to be close → exponential shape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23444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234440"/>
            <a:ext cx="54864" cy="2103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07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p_max (5%)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618488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RANGE (missed!)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hit glass (passes through!) or black surface (absorbed)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maximum range value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 FAILURE mode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20574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234440"/>
            <a:ext cx="54864" cy="2103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130759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p_rand (5%)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618488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PHANTOM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Dust, electrical noise, stray reflection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be ANY value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Uniform: equally likely anywhere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566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model explains WHY LiDAR scans look noisy. Most beams are good (85%), but a few will always be wrong.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ROS: this is used by AMCL (localization) to match scans to the map probabilistically.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The Elevator Tilt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enters the elevator. It vibrates and tilts slightly.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scan shifts — but LiDAR only sees geometry OUTSIDE the robot.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knowledge of MediBot's own rotation.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 open on Floor 3: heading is off by 3°.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20m: lateral offset = 20 × sin(3°) ≈ 1 meter → clips doorframe!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sensor that FEELS motion directly.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reference needed — just sense your own acceleration and rotation.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4 — IMU (Accelerometer + Gyroscope)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(Inertial Measurement Unit)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acceleration and rotation — no external reference needed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IMU: The Good and the Terrible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fast: 200 Hz (every 5 milliseconds!)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every bump, tilt, turn, vibration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everywhere — elevator, tunnel, underwater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infrastructure needed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896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TERRIBLE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07008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DRIFT: small errors accumulate over 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Gyroscope bias: heading error grows linearly (b × 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Accelerometer: position error grows as T² (quadratic!)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60 seconds alone → position error = 18 METERS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Error Growth Over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297401"/>
            <a:ext cx="1234440" cy="27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15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4132809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4290974"/>
            <a:ext cx="1234440" cy="670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4315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412638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4266946"/>
            <a:ext cx="1234440" cy="3073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4315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0" y="4102354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0" y="4174744"/>
            <a:ext cx="1234440" cy="12293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4315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29200" y="40101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3291840"/>
            <a:ext cx="123444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315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3127248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45 Seconds Without Correction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exits elevator. Crowd blocks LiDAR for 45 seconds.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IMU-only: gyro bias drifts 2.25°, position off by 1.5m.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problem: ALL corridors on Floor 3 look geometrically identical.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 needs to READ the "Ward B" sign! LiDAR = geometry. IMU = motion.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gives MEANING.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sensor with semantic understanding — reads text, recognizes objects.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5 — Camera (RGB + Depth)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(RGB + Depth)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color, texture, text — and measure depth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Depth: Why Far = Noisy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Stereo depth uncertainty grows as distance² (quadratic!)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54864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 meter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error: ±1 cm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precise!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this measurement a lot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obstacle avoidance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53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 meters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66420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error: ±9 cm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noisy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for sign detection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great for obstacles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8016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53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5 meters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664208"/>
            <a:ext cx="2423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error: ±25 cm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for navigation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is "near-sighted"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called HETEROSCEDASTIC noise: </a:t>
            </a: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noise level depends on the measurement itself.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fusion: we must tell the EKF that close readings are MORE reliable than far readings.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FAILURE: Sunlight + No Rear Vision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4864" cy="2011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058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cart approaches from BEHIND at 2 m/s. Camera faces forward → can't see behind.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sunlight through window → IR depth sensor SATURATED → depth image is noise.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can't measure HOW FAST the cart moves (would need to differentiate noisy data).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0FDF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need: all-weather, rear coverage, DIRECT velocity measurement.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waves don't care about light, glass, or dust!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Next: Block 6 — Radar (mmWave)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(mmWave)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waves → range + angle + VELOCITY for free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Radar: The Velocity Superpower</a:t>
            </a:r>
            <a:endParaRPr lang="en-US" sz="1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036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gets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Differentiate position →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Amplifies noise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 acceleration →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Accumulates bias (drift)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 effect → DIRECT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drift, no noise amplification!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560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works through glass, dust, fog, any lighting.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detection gives: (range, angle, velocity) — 3 measurements in 1!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angular resolution is 10–50× worse than LiDAR.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people side-by-side look like one blob to radar.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Sensors — Each Lies Differently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1813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Fatal Weakness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always available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 (errors only grow)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Ultrasonic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Cheap, detects GLASS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range, wide beam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 geometry, long range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Blind to glass, no semantics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fast, feels motion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 in seconds (T²)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signs, recognizes objects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Lighting, limited FoV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All-weather, direct velocity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angular resolution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sensor is enough. But together...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sensor excels where another fails. The question is: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we OPTIMALLY COMBINE them?" → SENSOR FUSION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Fusion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imperfect sensors → better than any one alone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 of Fusion: 1 + 1 &gt; 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828800" cy="914400"/>
          </a:xfrm>
          <a:prstGeom prst="ellipse">
            <a:avLst/>
          </a:prstGeom>
          <a:solidFill>
            <a:srgbClr val="3B82F6">
              <a:alpha val="3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5 cm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200400" cy="914400"/>
          </a:xfrm>
          <a:prstGeom prst="ellipse">
            <a:avLst/>
          </a:prstGeom>
          <a:solidFill>
            <a:srgbClr val="8B5CF6">
              <a:alpha val="3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97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10 cm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1463040" cy="731520"/>
          </a:xfrm>
          <a:prstGeom prst="ellipse">
            <a:avLst/>
          </a:prstGeom>
          <a:solidFill>
            <a:srgbClr val="10B981">
              <a:alpha val="4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= 4.5 cm!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fused result (4.5 cm) is better than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EITHER sensor alone (5 cm and 10 cm)!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Trust each sensor ∝ 1/uncertainty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certain sensor gets more weight.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certain sensor gets less weight.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728124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281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Predict-Update Cycle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93884"/>
            <a:ext cx="3200400" cy="7772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093884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21316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(encoders + IMU)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"Based on motion, I think I'm HERE"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GROWS 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42310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72000" y="4093884"/>
            <a:ext cx="3931920" cy="7772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4093884"/>
            <a:ext cx="457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12131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(LiDAR / camera / radar)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"Sensor says I'm actually THERE — correct!"</a:t>
            </a:r>
            <a:endParaRPr lang="en-US" sz="1000" dirty="0"/>
          </a:p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SHRINKS ↓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8: When Sensors Fail — Graceful Degradation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4C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accepting any measurement, ask: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reading consistent with what I expected?"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&lt; 2 → GREEN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matches prediction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— use it in fusion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is healthy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27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= 2–3 → YELLOW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938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suspicious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with caution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uncertainty (lower weight)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5448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276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&gt; 3 → 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938528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is almost certainly wrong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— don't use 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sensor as degraded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d_M = Mahalanobis distance — measures "how surprising" a reading is, accounting for uncertainty.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Camera depth fails near sunlit window → d_M spikes → auto-disabled → MediBot continues with</a:t>
            </a:r>
            <a:endParaRPr lang="en-US" sz="10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+ ultrasonic + radar → camera recovers in shade → d_M drops → re-enabled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MediBot's Full Journey — Which Sensor Leads When?</a:t>
            </a:r>
            <a:endParaRPr lang="en-US" sz="1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1950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Sensor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Corridor travel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+ Encoders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door approach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ULTRASONIC (glass!) + Camera (sign)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35–50s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Elevator ride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IMU ONLY (drift accumulates)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Doors open Floor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CORRECTS → uncertainty collapses!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50–85s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Navigate to Ward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+ Camera (reads "Ward B")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 from behind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(detects + measures velocity)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Arrive at Ward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sensors confirm position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39319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sensors take the lead at different moments — fusion selects based on availability &amp; reliability.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241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sensor lies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HOW it lies: z = h(x) + b + 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0584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241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uncertainty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curve (Gaussian): μ = center, σ = width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6868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00584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241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accumulate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Encoders: linear drift. IMU: quadratic (T²)!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03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69748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715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sensor suffices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2004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excels where others fail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5603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69748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715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4048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makes it better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2004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by 1/uncertainty → better than any one sensor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5603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69748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71576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2697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health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2004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 distance: reject outliers, degrade gracefully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F304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104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Microsoft Office PowerPoint</Application>
  <PresentationFormat>On-screen Show (16:9)</PresentationFormat>
  <Paragraphs>402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MOD-004: Sensor Modeling — Intuitive Guide</dc:title>
  <dc:subject>PptxGenJS Presentation</dc:subject>
  <dc:creator>Dr. Ahmad Abbadi</dc:creator>
  <cp:lastModifiedBy>Ahmad Abbadi</cp:lastModifiedBy>
  <cp:revision>10</cp:revision>
  <dcterms:created xsi:type="dcterms:W3CDTF">2026-03-10T04:54:48Z</dcterms:created>
  <dcterms:modified xsi:type="dcterms:W3CDTF">2026-03-11T03:34:26Z</dcterms:modified>
</cp:coreProperties>
</file>