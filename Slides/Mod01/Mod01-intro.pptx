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32"/>
  </p:notesMasterIdLst>
  <p:sldIdLst>
    <p:sldId id="256" r:id="rId2"/>
    <p:sldId id="305" r:id="rId3"/>
    <p:sldId id="277" r:id="rId4"/>
    <p:sldId id="279" r:id="rId5"/>
    <p:sldId id="280" r:id="rId6"/>
    <p:sldId id="287" r:id="rId7"/>
    <p:sldId id="283" r:id="rId8"/>
    <p:sldId id="282" r:id="rId9"/>
    <p:sldId id="286" r:id="rId10"/>
    <p:sldId id="288" r:id="rId11"/>
    <p:sldId id="289" r:id="rId12"/>
    <p:sldId id="290" r:id="rId13"/>
    <p:sldId id="293" r:id="rId14"/>
    <p:sldId id="292" r:id="rId15"/>
    <p:sldId id="284" r:id="rId16"/>
    <p:sldId id="285" r:id="rId17"/>
    <p:sldId id="281" r:id="rId18"/>
    <p:sldId id="294" r:id="rId19"/>
    <p:sldId id="299" r:id="rId20"/>
    <p:sldId id="295" r:id="rId21"/>
    <p:sldId id="301" r:id="rId22"/>
    <p:sldId id="302" r:id="rId23"/>
    <p:sldId id="303" r:id="rId24"/>
    <p:sldId id="304" r:id="rId25"/>
    <p:sldId id="298" r:id="rId26"/>
    <p:sldId id="296" r:id="rId27"/>
    <p:sldId id="297" r:id="rId28"/>
    <p:sldId id="300" r:id="rId29"/>
    <p:sldId id="278" r:id="rId30"/>
    <p:sldId id="291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1423E4D-191D-4D91-8C53-8B70CEBF4A2B}">
          <p14:sldIdLst>
            <p14:sldId id="256"/>
            <p14:sldId id="305"/>
            <p14:sldId id="277"/>
            <p14:sldId id="279"/>
            <p14:sldId id="280"/>
            <p14:sldId id="287"/>
            <p14:sldId id="283"/>
            <p14:sldId id="282"/>
            <p14:sldId id="286"/>
            <p14:sldId id="288"/>
            <p14:sldId id="289"/>
            <p14:sldId id="290"/>
            <p14:sldId id="293"/>
            <p14:sldId id="292"/>
            <p14:sldId id="284"/>
            <p14:sldId id="285"/>
            <p14:sldId id="281"/>
            <p14:sldId id="294"/>
            <p14:sldId id="299"/>
            <p14:sldId id="295"/>
            <p14:sldId id="301"/>
            <p14:sldId id="302"/>
            <p14:sldId id="303"/>
            <p14:sldId id="304"/>
            <p14:sldId id="298"/>
            <p14:sldId id="296"/>
            <p14:sldId id="297"/>
            <p14:sldId id="300"/>
            <p14:sldId id="278"/>
          </p14:sldIdLst>
        </p14:section>
        <p14:section name="Archive" id="{9D1694DC-ECA7-4D99-932A-DD9DFADB8104}">
          <p14:sldIdLst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91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0840" autoAdjust="0"/>
  </p:normalViewPr>
  <p:slideViewPr>
    <p:cSldViewPr snapToGrid="0" snapToObjects="1">
      <p:cViewPr varScale="1">
        <p:scale>
          <a:sx n="97" d="100"/>
          <a:sy n="97" d="100"/>
        </p:scale>
        <p:origin x="970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ad Abbadi" userId="c3f6ef8ec7554d92" providerId="LiveId" clId="{909A8593-8EFD-422D-9313-D88731AF288A}"/>
    <pc:docChg chg="undo custSel addSld delSld modSld sldOrd">
      <pc:chgData name="Ahmad Abbadi" userId="c3f6ef8ec7554d92" providerId="LiveId" clId="{909A8593-8EFD-422D-9313-D88731AF288A}" dt="2026-02-23T18:17:43.209" v="237" actId="1076"/>
      <pc:docMkLst>
        <pc:docMk/>
      </pc:docMkLst>
      <pc:sldChg chg="delSp mod">
        <pc:chgData name="Ahmad Abbadi" userId="c3f6ef8ec7554d92" providerId="LiveId" clId="{909A8593-8EFD-422D-9313-D88731AF288A}" dt="2026-02-21T11:46:41.220" v="9" actId="478"/>
        <pc:sldMkLst>
          <pc:docMk/>
          <pc:sldMk cId="0" sldId="256"/>
        </pc:sldMkLst>
        <pc:spChg chg="del">
          <ac:chgData name="Ahmad Abbadi" userId="c3f6ef8ec7554d92" providerId="LiveId" clId="{909A8593-8EFD-422D-9313-D88731AF288A}" dt="2026-02-20T11:30:15.455" v="1" actId="478"/>
          <ac:spMkLst>
            <pc:docMk/>
            <pc:sldMk cId="0" sldId="256"/>
            <ac:spMk id="6" creationId="{00000000-0000-0000-0000-000000000000}"/>
          </ac:spMkLst>
        </pc:spChg>
        <pc:spChg chg="del">
          <ac:chgData name="Ahmad Abbadi" userId="c3f6ef8ec7554d92" providerId="LiveId" clId="{909A8593-8EFD-422D-9313-D88731AF288A}" dt="2026-02-20T11:30:06.620" v="0" actId="478"/>
          <ac:spMkLst>
            <pc:docMk/>
            <pc:sldMk cId="0" sldId="256"/>
            <ac:spMk id="8" creationId="{00000000-0000-0000-0000-000000000000}"/>
          </ac:spMkLst>
        </pc:spChg>
        <pc:spChg chg="del">
          <ac:chgData name="Ahmad Abbadi" userId="c3f6ef8ec7554d92" providerId="LiveId" clId="{909A8593-8EFD-422D-9313-D88731AF288A}" dt="2026-02-20T11:30:20.968" v="2" actId="478"/>
          <ac:spMkLst>
            <pc:docMk/>
            <pc:sldMk cId="0" sldId="256"/>
            <ac:spMk id="10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1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2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3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4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5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6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7" creationId="{00000000-0000-0000-0000-000000000000}"/>
          </ac:spMkLst>
        </pc:spChg>
        <pc:spChg chg="del">
          <ac:chgData name="Ahmad Abbadi" userId="c3f6ef8ec7554d92" providerId="LiveId" clId="{909A8593-8EFD-422D-9313-D88731AF288A}" dt="2026-02-21T11:46:41.220" v="9" actId="478"/>
          <ac:spMkLst>
            <pc:docMk/>
            <pc:sldMk cId="0" sldId="256"/>
            <ac:spMk id="18" creationId="{00000000-0000-0000-0000-000000000000}"/>
          </ac:spMkLst>
        </pc:spChg>
      </pc:sldChg>
      <pc:sldChg chg="addSp delSp modSp del mod">
        <pc:chgData name="Ahmad Abbadi" userId="c3f6ef8ec7554d92" providerId="LiveId" clId="{909A8593-8EFD-422D-9313-D88731AF288A}" dt="2026-02-21T12:20:14.238" v="12" actId="47"/>
        <pc:sldMkLst>
          <pc:docMk/>
          <pc:sldMk cId="0" sldId="257"/>
        </pc:sldMkLst>
        <pc:spChg chg="mod">
          <ac:chgData name="Ahmad Abbadi" userId="c3f6ef8ec7554d92" providerId="LiveId" clId="{909A8593-8EFD-422D-9313-D88731AF288A}" dt="2026-02-20T11:32:06.796" v="8" actId="14100"/>
          <ac:spMkLst>
            <pc:docMk/>
            <pc:sldMk cId="0" sldId="257"/>
            <ac:spMk id="3" creationId="{00000000-0000-0000-0000-000000000000}"/>
          </ac:spMkLst>
        </pc:spChg>
        <pc:spChg chg="mod">
          <ac:chgData name="Ahmad Abbadi" userId="c3f6ef8ec7554d92" providerId="LiveId" clId="{909A8593-8EFD-422D-9313-D88731AF288A}" dt="2026-02-20T11:31:58.117" v="7" actId="6549"/>
          <ac:spMkLst>
            <pc:docMk/>
            <pc:sldMk cId="0" sldId="257"/>
            <ac:spMk id="4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12:42.268" v="11" actId="6549"/>
          <ac:spMkLst>
            <pc:docMk/>
            <pc:sldMk cId="0" sldId="257"/>
            <ac:spMk id="5" creationId="{00000000-0000-0000-0000-000000000000}"/>
          </ac:spMkLst>
        </pc:spChg>
        <pc:spChg chg="add del">
          <ac:chgData name="Ahmad Abbadi" userId="c3f6ef8ec7554d92" providerId="LiveId" clId="{909A8593-8EFD-422D-9313-D88731AF288A}" dt="2026-02-20T11:31:46.237" v="4" actId="478"/>
          <ac:spMkLst>
            <pc:docMk/>
            <pc:sldMk cId="0" sldId="257"/>
            <ac:spMk id="6" creationId="{00000000-0000-0000-0000-000000000000}"/>
          </ac:spMkLst>
        </pc:spChg>
        <pc:spChg chg="del mod">
          <ac:chgData name="Ahmad Abbadi" userId="c3f6ef8ec7554d92" providerId="LiveId" clId="{909A8593-8EFD-422D-9313-D88731AF288A}" dt="2026-02-20T11:31:53.175" v="6" actId="478"/>
          <ac:spMkLst>
            <pc:docMk/>
            <pc:sldMk cId="0" sldId="257"/>
            <ac:spMk id="7" creationId="{00000000-0000-0000-0000-000000000000}"/>
          </ac:spMkLst>
        </pc:spChg>
        <pc:spChg chg="mod">
          <ac:chgData name="Ahmad Abbadi" userId="c3f6ef8ec7554d92" providerId="LiveId" clId="{909A8593-8EFD-422D-9313-D88731AF288A}" dt="2026-02-21T11:47:00.799" v="10" actId="1076"/>
          <ac:spMkLst>
            <pc:docMk/>
            <pc:sldMk cId="0" sldId="257"/>
            <ac:spMk id="9" creationId="{00000000-0000-0000-0000-000000000000}"/>
          </ac:spMkLst>
        </pc:spChg>
      </pc:sldChg>
      <pc:sldChg chg="delSp modSp mod modNotesTx">
        <pc:chgData name="Ahmad Abbadi" userId="c3f6ef8ec7554d92" providerId="LiveId" clId="{909A8593-8EFD-422D-9313-D88731AF288A}" dt="2026-02-22T11:21:01.578" v="187" actId="14100"/>
        <pc:sldMkLst>
          <pc:docMk/>
          <pc:sldMk cId="0" sldId="258"/>
        </pc:sldMkLst>
        <pc:spChg chg="mod">
          <ac:chgData name="Ahmad Abbadi" userId="c3f6ef8ec7554d92" providerId="LiveId" clId="{909A8593-8EFD-422D-9313-D88731AF288A}" dt="2026-02-21T12:20:51.974" v="16" actId="14100"/>
          <ac:spMkLst>
            <pc:docMk/>
            <pc:sldMk cId="0" sldId="258"/>
            <ac:spMk id="3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20:46.548" v="15" actId="6549"/>
          <ac:spMkLst>
            <pc:docMk/>
            <pc:sldMk cId="0" sldId="258"/>
            <ac:spMk id="4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20:38.089" v="13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0:17.240" v="177" actId="14100"/>
          <ac:spMkLst>
            <pc:docMk/>
            <pc:sldMk cId="0" sldId="258"/>
            <ac:spMk id="8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1:01.578" v="187" actId="14100"/>
          <ac:spMkLst>
            <pc:docMk/>
            <pc:sldMk cId="0" sldId="258"/>
            <ac:spMk id="9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0:51.443" v="186" actId="403"/>
          <ac:spMkLst>
            <pc:docMk/>
            <pc:sldMk cId="0" sldId="258"/>
            <ac:spMk id="10" creationId="{00000000-0000-0000-0000-000000000000}"/>
          </ac:spMkLst>
        </pc:spChg>
        <pc:spChg chg="del">
          <ac:chgData name="Ahmad Abbadi" userId="c3f6ef8ec7554d92" providerId="LiveId" clId="{909A8593-8EFD-422D-9313-D88731AF288A}" dt="2026-02-22T11:20:03.049" v="174" actId="478"/>
          <ac:spMkLst>
            <pc:docMk/>
            <pc:sldMk cId="0" sldId="258"/>
            <ac:spMk id="11" creationId="{00000000-0000-0000-0000-000000000000}"/>
          </ac:spMkLst>
        </pc:spChg>
        <pc:spChg chg="del">
          <ac:chgData name="Ahmad Abbadi" userId="c3f6ef8ec7554d92" providerId="LiveId" clId="{909A8593-8EFD-422D-9313-D88731AF288A}" dt="2026-02-22T11:20:11.010" v="176" actId="478"/>
          <ac:spMkLst>
            <pc:docMk/>
            <pc:sldMk cId="0" sldId="258"/>
            <ac:spMk id="12" creationId="{00000000-0000-0000-0000-000000000000}"/>
          </ac:spMkLst>
        </pc:spChg>
        <pc:spChg chg="del">
          <ac:chgData name="Ahmad Abbadi" userId="c3f6ef8ec7554d92" providerId="LiveId" clId="{909A8593-8EFD-422D-9313-D88731AF288A}" dt="2026-02-22T11:20:03.049" v="174" actId="478"/>
          <ac:spMkLst>
            <pc:docMk/>
            <pc:sldMk cId="0" sldId="258"/>
            <ac:spMk id="13" creationId="{00000000-0000-0000-0000-000000000000}"/>
          </ac:spMkLst>
        </pc:spChg>
        <pc:spChg chg="del">
          <ac:chgData name="Ahmad Abbadi" userId="c3f6ef8ec7554d92" providerId="LiveId" clId="{909A8593-8EFD-422D-9313-D88731AF288A}" dt="2026-02-21T12:20:42.519" v="14" actId="478"/>
          <ac:spMkLst>
            <pc:docMk/>
            <pc:sldMk cId="0" sldId="258"/>
            <ac:spMk id="15" creationId="{00000000-0000-0000-0000-000000000000}"/>
          </ac:spMkLst>
        </pc:spChg>
      </pc:sldChg>
      <pc:sldChg chg="addSp delSp modSp mod modNotesTx">
        <pc:chgData name="Ahmad Abbadi" userId="c3f6ef8ec7554d92" providerId="LiveId" clId="{909A8593-8EFD-422D-9313-D88731AF288A}" dt="2026-02-22T11:30:34.569" v="228" actId="20577"/>
        <pc:sldMkLst>
          <pc:docMk/>
          <pc:sldMk cId="0" sldId="259"/>
        </pc:sldMkLst>
        <pc:spChg chg="del">
          <ac:chgData name="Ahmad Abbadi" userId="c3f6ef8ec7554d92" providerId="LiveId" clId="{909A8593-8EFD-422D-9313-D88731AF288A}" dt="2026-02-21T12:24:48.247" v="167" actId="478"/>
          <ac:spMkLst>
            <pc:docMk/>
            <pc:sldMk cId="0" sldId="259"/>
            <ac:spMk id="3" creationId="{00000000-0000-0000-0000-000000000000}"/>
          </ac:spMkLst>
        </pc:spChg>
        <pc:spChg chg="del">
          <ac:chgData name="Ahmad Abbadi" userId="c3f6ef8ec7554d92" providerId="LiveId" clId="{909A8593-8EFD-422D-9313-D88731AF288A}" dt="2026-02-21T12:24:51.981" v="168" actId="478"/>
          <ac:spMkLst>
            <pc:docMk/>
            <pc:sldMk cId="0" sldId="259"/>
            <ac:spMk id="4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25:03.346" v="170" actId="113"/>
          <ac:spMkLst>
            <pc:docMk/>
            <pc:sldMk cId="0" sldId="259"/>
            <ac:spMk id="5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34.569" v="228" actId="20577"/>
          <ac:spMkLst>
            <pc:docMk/>
            <pc:sldMk cId="0" sldId="259"/>
            <ac:spMk id="7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8:08.014" v="209" actId="164"/>
          <ac:spMkLst>
            <pc:docMk/>
            <pc:sldMk cId="0" sldId="259"/>
            <ac:spMk id="8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8:08.014" v="209" actId="164"/>
          <ac:spMkLst>
            <pc:docMk/>
            <pc:sldMk cId="0" sldId="259"/>
            <ac:spMk id="9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01.708" v="224" actId="164"/>
          <ac:spMkLst>
            <pc:docMk/>
            <pc:sldMk cId="0" sldId="259"/>
            <ac:spMk id="10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01.708" v="224" actId="164"/>
          <ac:spMkLst>
            <pc:docMk/>
            <pc:sldMk cId="0" sldId="259"/>
            <ac:spMk id="11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01.708" v="224" actId="164"/>
          <ac:spMkLst>
            <pc:docMk/>
            <pc:sldMk cId="0" sldId="259"/>
            <ac:spMk id="12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01.708" v="224" actId="164"/>
          <ac:spMkLst>
            <pc:docMk/>
            <pc:sldMk cId="0" sldId="259"/>
            <ac:spMk id="13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01.708" v="224" actId="164"/>
          <ac:spMkLst>
            <pc:docMk/>
            <pc:sldMk cId="0" sldId="259"/>
            <ac:spMk id="14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10.431" v="225" actId="164"/>
          <ac:spMkLst>
            <pc:docMk/>
            <pc:sldMk cId="0" sldId="259"/>
            <ac:spMk id="15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10.431" v="225" actId="164"/>
          <ac:spMkLst>
            <pc:docMk/>
            <pc:sldMk cId="0" sldId="259"/>
            <ac:spMk id="16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10.431" v="225" actId="164"/>
          <ac:spMkLst>
            <pc:docMk/>
            <pc:sldMk cId="0" sldId="259"/>
            <ac:spMk id="17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10.431" v="225" actId="164"/>
          <ac:spMkLst>
            <pc:docMk/>
            <pc:sldMk cId="0" sldId="259"/>
            <ac:spMk id="18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30:10.431" v="225" actId="164"/>
          <ac:spMkLst>
            <pc:docMk/>
            <pc:sldMk cId="0" sldId="259"/>
            <ac:spMk id="19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56.133" v="223" actId="164"/>
          <ac:spMkLst>
            <pc:docMk/>
            <pc:sldMk cId="0" sldId="259"/>
            <ac:spMk id="20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56.133" v="223" actId="164"/>
          <ac:spMkLst>
            <pc:docMk/>
            <pc:sldMk cId="0" sldId="259"/>
            <ac:spMk id="21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56.133" v="223" actId="164"/>
          <ac:spMkLst>
            <pc:docMk/>
            <pc:sldMk cId="0" sldId="259"/>
            <ac:spMk id="22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56.133" v="223" actId="164"/>
          <ac:spMkLst>
            <pc:docMk/>
            <pc:sldMk cId="0" sldId="259"/>
            <ac:spMk id="23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56.133" v="223" actId="164"/>
          <ac:spMkLst>
            <pc:docMk/>
            <pc:sldMk cId="0" sldId="259"/>
            <ac:spMk id="24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8.748" v="222" actId="164"/>
          <ac:spMkLst>
            <pc:docMk/>
            <pc:sldMk cId="0" sldId="259"/>
            <ac:spMk id="25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8.748" v="222" actId="164"/>
          <ac:spMkLst>
            <pc:docMk/>
            <pc:sldMk cId="0" sldId="259"/>
            <ac:spMk id="26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8.748" v="222" actId="164"/>
          <ac:spMkLst>
            <pc:docMk/>
            <pc:sldMk cId="0" sldId="259"/>
            <ac:spMk id="27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8.748" v="222" actId="164"/>
          <ac:spMkLst>
            <pc:docMk/>
            <pc:sldMk cId="0" sldId="259"/>
            <ac:spMk id="28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8.748" v="222" actId="164"/>
          <ac:spMkLst>
            <pc:docMk/>
            <pc:sldMk cId="0" sldId="259"/>
            <ac:spMk id="29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1.421" v="221" actId="164"/>
          <ac:spMkLst>
            <pc:docMk/>
            <pc:sldMk cId="0" sldId="259"/>
            <ac:spMk id="30" creationId="{00000000-0000-0000-0000-000000000000}"/>
          </ac:spMkLst>
        </pc:spChg>
        <pc:spChg chg="del">
          <ac:chgData name="Ahmad Abbadi" userId="c3f6ef8ec7554d92" providerId="LiveId" clId="{909A8593-8EFD-422D-9313-D88731AF288A}" dt="2026-02-22T11:28:21.522" v="211" actId="478"/>
          <ac:spMkLst>
            <pc:docMk/>
            <pc:sldMk cId="0" sldId="259"/>
            <ac:spMk id="31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1.421" v="221" actId="164"/>
          <ac:spMkLst>
            <pc:docMk/>
            <pc:sldMk cId="0" sldId="259"/>
            <ac:spMk id="32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1.421" v="221" actId="164"/>
          <ac:spMkLst>
            <pc:docMk/>
            <pc:sldMk cId="0" sldId="259"/>
            <ac:spMk id="33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41.421" v="221" actId="164"/>
          <ac:spMkLst>
            <pc:docMk/>
            <pc:sldMk cId="0" sldId="259"/>
            <ac:spMk id="34" creationId="{00000000-0000-0000-0000-000000000000}"/>
          </ac:spMkLst>
        </pc:spChg>
        <pc:spChg chg="del">
          <ac:chgData name="Ahmad Abbadi" userId="c3f6ef8ec7554d92" providerId="LiveId" clId="{909A8593-8EFD-422D-9313-D88731AF288A}" dt="2026-02-22T11:28:38.330" v="212" actId="478"/>
          <ac:spMkLst>
            <pc:docMk/>
            <pc:sldMk cId="0" sldId="259"/>
            <ac:spMk id="35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06.867" v="217" actId="1076"/>
          <ac:spMkLst>
            <pc:docMk/>
            <pc:sldMk cId="0" sldId="259"/>
            <ac:spMk id="36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9:08.080" v="219" actId="1076"/>
          <ac:spMkLst>
            <pc:docMk/>
            <pc:sldMk cId="0" sldId="259"/>
            <ac:spMk id="37" creationId="{00000000-0000-0000-0000-000000000000}"/>
          </ac:spMkLst>
        </pc:spChg>
        <pc:spChg chg="add mod">
          <ac:chgData name="Ahmad Abbadi" userId="c3f6ef8ec7554d92" providerId="LiveId" clId="{909A8593-8EFD-422D-9313-D88731AF288A}" dt="2026-02-21T12:24:52.725" v="169"/>
          <ac:spMkLst>
            <pc:docMk/>
            <pc:sldMk cId="0" sldId="259"/>
            <ac:spMk id="39" creationId="{91F4A016-7261-4C57-98F5-45E0DEE2274D}"/>
          </ac:spMkLst>
        </pc:spChg>
        <pc:grpChg chg="add mod">
          <ac:chgData name="Ahmad Abbadi" userId="c3f6ef8ec7554d92" providerId="LiveId" clId="{909A8593-8EFD-422D-9313-D88731AF288A}" dt="2026-02-22T11:28:08.014" v="209" actId="164"/>
          <ac:grpSpMkLst>
            <pc:docMk/>
            <pc:sldMk cId="0" sldId="259"/>
            <ac:grpSpMk id="40" creationId="{7938D465-6794-4F10-B94B-23188E9A2352}"/>
          </ac:grpSpMkLst>
        </pc:grpChg>
        <pc:grpChg chg="add mod">
          <ac:chgData name="Ahmad Abbadi" userId="c3f6ef8ec7554d92" providerId="LiveId" clId="{909A8593-8EFD-422D-9313-D88731AF288A}" dt="2026-02-22T11:29:41.421" v="221" actId="164"/>
          <ac:grpSpMkLst>
            <pc:docMk/>
            <pc:sldMk cId="0" sldId="259"/>
            <ac:grpSpMk id="41" creationId="{9FDBA570-880F-48B3-9EE3-55142FADBBCA}"/>
          </ac:grpSpMkLst>
        </pc:grpChg>
        <pc:grpChg chg="add mod">
          <ac:chgData name="Ahmad Abbadi" userId="c3f6ef8ec7554d92" providerId="LiveId" clId="{909A8593-8EFD-422D-9313-D88731AF288A}" dt="2026-02-22T11:29:48.748" v="222" actId="164"/>
          <ac:grpSpMkLst>
            <pc:docMk/>
            <pc:sldMk cId="0" sldId="259"/>
            <ac:grpSpMk id="42" creationId="{D1758BD6-2FAE-400E-A832-13F5166890D5}"/>
          </ac:grpSpMkLst>
        </pc:grpChg>
        <pc:grpChg chg="add mod">
          <ac:chgData name="Ahmad Abbadi" userId="c3f6ef8ec7554d92" providerId="LiveId" clId="{909A8593-8EFD-422D-9313-D88731AF288A}" dt="2026-02-22T11:29:56.133" v="223" actId="164"/>
          <ac:grpSpMkLst>
            <pc:docMk/>
            <pc:sldMk cId="0" sldId="259"/>
            <ac:grpSpMk id="43" creationId="{AA9AFE94-9A24-48CB-889F-700E9E7063D4}"/>
          </ac:grpSpMkLst>
        </pc:grpChg>
        <pc:grpChg chg="add mod">
          <ac:chgData name="Ahmad Abbadi" userId="c3f6ef8ec7554d92" providerId="LiveId" clId="{909A8593-8EFD-422D-9313-D88731AF288A}" dt="2026-02-22T11:30:01.708" v="224" actId="164"/>
          <ac:grpSpMkLst>
            <pc:docMk/>
            <pc:sldMk cId="0" sldId="259"/>
            <ac:grpSpMk id="44" creationId="{07E71E48-FF98-41A6-9817-CB35A4C7D9B1}"/>
          </ac:grpSpMkLst>
        </pc:grpChg>
        <pc:grpChg chg="add mod">
          <ac:chgData name="Ahmad Abbadi" userId="c3f6ef8ec7554d92" providerId="LiveId" clId="{909A8593-8EFD-422D-9313-D88731AF288A}" dt="2026-02-22T11:30:10.431" v="225" actId="164"/>
          <ac:grpSpMkLst>
            <pc:docMk/>
            <pc:sldMk cId="0" sldId="259"/>
            <ac:grpSpMk id="45" creationId="{D2734ABE-5FB2-40C8-93EF-AD31E5CC6B53}"/>
          </ac:grpSpMkLst>
        </pc:grpChg>
      </pc:sldChg>
      <pc:sldChg chg="modSp mod">
        <pc:chgData name="Ahmad Abbadi" userId="c3f6ef8ec7554d92" providerId="LiveId" clId="{909A8593-8EFD-422D-9313-D88731AF288A}" dt="2026-02-22T11:27:37.691" v="206" actId="403"/>
        <pc:sldMkLst>
          <pc:docMk/>
          <pc:sldMk cId="0" sldId="269"/>
        </pc:sldMkLst>
        <pc:spChg chg="mod">
          <ac:chgData name="Ahmad Abbadi" userId="c3f6ef8ec7554d92" providerId="LiveId" clId="{909A8593-8EFD-422D-9313-D88731AF288A}" dt="2026-02-22T11:27:37.691" v="206" actId="403"/>
          <ac:spMkLst>
            <pc:docMk/>
            <pc:sldMk cId="0" sldId="269"/>
            <ac:spMk id="8" creationId="{00000000-0000-0000-0000-000000000000}"/>
          </ac:spMkLst>
        </pc:spChg>
      </pc:sldChg>
      <pc:sldChg chg="modSp mod">
        <pc:chgData name="Ahmad Abbadi" userId="c3f6ef8ec7554d92" providerId="LiveId" clId="{909A8593-8EFD-422D-9313-D88731AF288A}" dt="2026-02-22T11:27:25.476" v="203" actId="403"/>
        <pc:sldMkLst>
          <pc:docMk/>
          <pc:sldMk cId="0" sldId="270"/>
        </pc:sldMkLst>
        <pc:graphicFrameChg chg="modGraphic">
          <ac:chgData name="Ahmad Abbadi" userId="c3f6ef8ec7554d92" providerId="LiveId" clId="{909A8593-8EFD-422D-9313-D88731AF288A}" dt="2026-02-22T11:27:25.476" v="203" actId="403"/>
          <ac:graphicFrameMkLst>
            <pc:docMk/>
            <pc:sldMk cId="0" sldId="270"/>
            <ac:graphicFrameMk id="16" creationId="{00000000-0000-0000-0000-000000000000}"/>
          </ac:graphicFrameMkLst>
        </pc:graphicFrameChg>
      </pc:sldChg>
      <pc:sldChg chg="delSp modSp add mod ord modNotesTx">
        <pc:chgData name="Ahmad Abbadi" userId="c3f6ef8ec7554d92" providerId="LiveId" clId="{909A8593-8EFD-422D-9313-D88731AF288A}" dt="2026-02-22T11:24:14.267" v="197"/>
        <pc:sldMkLst>
          <pc:docMk/>
          <pc:sldMk cId="4008793743" sldId="277"/>
        </pc:sldMkLst>
        <pc:spChg chg="del">
          <ac:chgData name="Ahmad Abbadi" userId="c3f6ef8ec7554d92" providerId="LiveId" clId="{909A8593-8EFD-422D-9313-D88731AF288A}" dt="2026-02-22T11:22:47.567" v="191" actId="478"/>
          <ac:spMkLst>
            <pc:docMk/>
            <pc:sldMk cId="4008793743" sldId="277"/>
            <ac:spMk id="7" creationId="{00000000-0000-0000-0000-000000000000}"/>
          </ac:spMkLst>
        </pc:spChg>
        <pc:spChg chg="del">
          <ac:chgData name="Ahmad Abbadi" userId="c3f6ef8ec7554d92" providerId="LiveId" clId="{909A8593-8EFD-422D-9313-D88731AF288A}" dt="2026-02-21T12:22:27.302" v="49" actId="478"/>
          <ac:spMkLst>
            <pc:docMk/>
            <pc:sldMk cId="4008793743" sldId="277"/>
            <ac:spMk id="8" creationId="{00000000-0000-0000-0000-000000000000}"/>
          </ac:spMkLst>
        </pc:spChg>
        <pc:spChg chg="del">
          <ac:chgData name="Ahmad Abbadi" userId="c3f6ef8ec7554d92" providerId="LiveId" clId="{909A8593-8EFD-422D-9313-D88731AF288A}" dt="2026-02-21T12:22:27.302" v="49" actId="478"/>
          <ac:spMkLst>
            <pc:docMk/>
            <pc:sldMk cId="4008793743" sldId="277"/>
            <ac:spMk id="10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22:31.709" v="50" actId="14100"/>
          <ac:spMkLst>
            <pc:docMk/>
            <pc:sldMk cId="4008793743" sldId="277"/>
            <ac:spMk id="11" creationId="{00000000-0000-0000-0000-000000000000}"/>
          </ac:spMkLst>
        </pc:spChg>
        <pc:spChg chg="mod">
          <ac:chgData name="Ahmad Abbadi" userId="c3f6ef8ec7554d92" providerId="LiveId" clId="{909A8593-8EFD-422D-9313-D88731AF288A}" dt="2026-02-21T12:23:55.517" v="160" actId="20577"/>
          <ac:spMkLst>
            <pc:docMk/>
            <pc:sldMk cId="4008793743" sldId="277"/>
            <ac:spMk id="12" creationId="{00000000-0000-0000-0000-000000000000}"/>
          </ac:spMkLst>
        </pc:spChg>
        <pc:spChg chg="mod">
          <ac:chgData name="Ahmad Abbadi" userId="c3f6ef8ec7554d92" providerId="LiveId" clId="{909A8593-8EFD-422D-9313-D88731AF288A}" dt="2026-02-22T11:21:14.662" v="189" actId="255"/>
          <ac:spMkLst>
            <pc:docMk/>
            <pc:sldMk cId="4008793743" sldId="277"/>
            <ac:spMk id="13" creationId="{00000000-0000-0000-0000-000000000000}"/>
          </ac:spMkLst>
        </pc:spChg>
      </pc:sldChg>
      <pc:sldChg chg="addSp delSp modSp add mod">
        <pc:chgData name="Ahmad Abbadi" userId="c3f6ef8ec7554d92" providerId="LiveId" clId="{909A8593-8EFD-422D-9313-D88731AF288A}" dt="2026-02-23T18:17:43.209" v="237" actId="1076"/>
        <pc:sldMkLst>
          <pc:docMk/>
          <pc:sldMk cId="84338291" sldId="278"/>
        </pc:sldMkLst>
        <pc:spChg chg="mod">
          <ac:chgData name="Ahmad Abbadi" userId="c3f6ef8ec7554d92" providerId="LiveId" clId="{909A8593-8EFD-422D-9313-D88731AF288A}" dt="2026-02-23T18:14:45.528" v="231" actId="1076"/>
          <ac:spMkLst>
            <pc:docMk/>
            <pc:sldMk cId="84338291" sldId="278"/>
            <ac:spMk id="8" creationId="{00000000-0000-0000-0000-000000000000}"/>
          </ac:spMkLst>
        </pc:spChg>
        <pc:spChg chg="add mod">
          <ac:chgData name="Ahmad Abbadi" userId="c3f6ef8ec7554d92" providerId="LiveId" clId="{909A8593-8EFD-422D-9313-D88731AF288A}" dt="2026-02-23T18:15:05.924" v="234" actId="14100"/>
          <ac:spMkLst>
            <pc:docMk/>
            <pc:sldMk cId="84338291" sldId="278"/>
            <ac:spMk id="46" creationId="{F95B1EDB-9EEE-4DCC-9D52-39026B5DAA1C}"/>
          </ac:spMkLst>
        </pc:spChg>
        <pc:spChg chg="add mod">
          <ac:chgData name="Ahmad Abbadi" userId="c3f6ef8ec7554d92" providerId="LiveId" clId="{909A8593-8EFD-422D-9313-D88731AF288A}" dt="2026-02-23T18:17:43.209" v="237" actId="1076"/>
          <ac:spMkLst>
            <pc:docMk/>
            <pc:sldMk cId="84338291" sldId="278"/>
            <ac:spMk id="47" creationId="{99FC5AC3-290D-4D2C-8297-680F149F4FCD}"/>
          </ac:spMkLst>
        </pc:spChg>
        <pc:grpChg chg="mod">
          <ac:chgData name="Ahmad Abbadi" userId="c3f6ef8ec7554d92" providerId="LiveId" clId="{909A8593-8EFD-422D-9313-D88731AF288A}" dt="2026-02-23T18:14:58.755" v="232" actId="1076"/>
          <ac:grpSpMkLst>
            <pc:docMk/>
            <pc:sldMk cId="84338291" sldId="278"/>
            <ac:grpSpMk id="40" creationId="{7938D465-6794-4F10-B94B-23188E9A2352}"/>
          </ac:grpSpMkLst>
        </pc:grpChg>
        <pc:grpChg chg="del">
          <ac:chgData name="Ahmad Abbadi" userId="c3f6ef8ec7554d92" providerId="LiveId" clId="{909A8593-8EFD-422D-9313-D88731AF288A}" dt="2026-02-23T18:14:41.153" v="230" actId="478"/>
          <ac:grpSpMkLst>
            <pc:docMk/>
            <pc:sldMk cId="84338291" sldId="278"/>
            <ac:grpSpMk id="41" creationId="{9FDBA570-880F-48B3-9EE3-55142FADBBCA}"/>
          </ac:grpSpMkLst>
        </pc:grpChg>
        <pc:grpChg chg="del">
          <ac:chgData name="Ahmad Abbadi" userId="c3f6ef8ec7554d92" providerId="LiveId" clId="{909A8593-8EFD-422D-9313-D88731AF288A}" dt="2026-02-23T18:14:41.153" v="230" actId="478"/>
          <ac:grpSpMkLst>
            <pc:docMk/>
            <pc:sldMk cId="84338291" sldId="278"/>
            <ac:grpSpMk id="42" creationId="{D1758BD6-2FAE-400E-A832-13F5166890D5}"/>
          </ac:grpSpMkLst>
        </pc:grpChg>
        <pc:grpChg chg="del">
          <ac:chgData name="Ahmad Abbadi" userId="c3f6ef8ec7554d92" providerId="LiveId" clId="{909A8593-8EFD-422D-9313-D88731AF288A}" dt="2026-02-23T18:14:41.153" v="230" actId="478"/>
          <ac:grpSpMkLst>
            <pc:docMk/>
            <pc:sldMk cId="84338291" sldId="278"/>
            <ac:grpSpMk id="43" creationId="{AA9AFE94-9A24-48CB-889F-700E9E7063D4}"/>
          </ac:grpSpMkLst>
        </pc:grpChg>
        <pc:grpChg chg="del">
          <ac:chgData name="Ahmad Abbadi" userId="c3f6ef8ec7554d92" providerId="LiveId" clId="{909A8593-8EFD-422D-9313-D88731AF288A}" dt="2026-02-23T18:14:41.153" v="230" actId="478"/>
          <ac:grpSpMkLst>
            <pc:docMk/>
            <pc:sldMk cId="84338291" sldId="278"/>
            <ac:grpSpMk id="44" creationId="{07E71E48-FF98-41A6-9817-CB35A4C7D9B1}"/>
          </ac:grpSpMkLst>
        </pc:grpChg>
        <pc:grpChg chg="del">
          <ac:chgData name="Ahmad Abbadi" userId="c3f6ef8ec7554d92" providerId="LiveId" clId="{909A8593-8EFD-422D-9313-D88731AF288A}" dt="2026-02-23T18:14:41.153" v="230" actId="478"/>
          <ac:grpSpMkLst>
            <pc:docMk/>
            <pc:sldMk cId="84338291" sldId="278"/>
            <ac:grpSpMk id="45" creationId="{D2734ABE-5FB2-40C8-93EF-AD31E5CC6B53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0371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07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RTK variant (centimeter-level)</a:t>
            </a:r>
            <a:endParaRPr lang="en-US" dirty="0"/>
          </a:p>
          <a:p>
            <a:r>
              <a:rPr lang="en-US" b="1" i="0" dirty="0">
                <a:effectLst/>
                <a:latin typeface="Roboto" panose="02000000000000000000" pitchFamily="2" charset="0"/>
              </a:rPr>
              <a:t>Real-Time Kinematic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802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RTK variant (centimeter-level)</a:t>
            </a:r>
            <a:endParaRPr lang="en-US" dirty="0"/>
          </a:p>
          <a:p>
            <a:r>
              <a:rPr lang="en-US" b="1" i="0" dirty="0">
                <a:effectLst/>
                <a:latin typeface="Roboto" panose="02000000000000000000" pitchFamily="2" charset="0"/>
              </a:rPr>
              <a:t>Real-Time Kinematic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8186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RTK variant (centimeter-level)</a:t>
            </a:r>
            <a:endParaRPr lang="en-US" dirty="0"/>
          </a:p>
          <a:p>
            <a:r>
              <a:rPr lang="en-US" b="1" i="0" dirty="0">
                <a:effectLst/>
                <a:latin typeface="Roboto" panose="02000000000000000000" pitchFamily="2" charset="0"/>
              </a:rPr>
              <a:t>Real-Time Kinematic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7220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043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1299D-3681-4547-A802-1C0F8AF3F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841375"/>
            <a:ext cx="7372350" cy="2001062"/>
          </a:xfrm>
        </p:spPr>
        <p:txBody>
          <a:bodyPr anchor="b">
            <a:normAutofit/>
          </a:bodyPr>
          <a:lstStyle>
            <a:lvl1pPr algn="l">
              <a:defRPr sz="36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20B747-1E9B-418F-BD4C-A890709F0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2900397"/>
            <a:ext cx="7372350" cy="1241425"/>
          </a:xfrm>
        </p:spPr>
        <p:txBody>
          <a:bodyPr/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D898A-680F-4A81-AF4C-0DF24DB25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65FE3-F39A-4FC1-A134-D55872A714C4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2EC4E-0CEB-432B-A976-B507074EE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D65BC-DA62-4EE7-8E14-F84B3E933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BE45173C-58E8-42EB-A92F-1879D7B77001}"/>
              </a:ext>
            </a:extLst>
          </p:cNvPr>
          <p:cNvSpPr/>
          <p:nvPr userDrawn="1"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C6789303-D80B-4F91-8B68-1AB8263A8971}"/>
              </a:ext>
            </a:extLst>
          </p:cNvPr>
          <p:cNvSpPr/>
          <p:nvPr userDrawn="1"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409D04FC-C427-40D0-A7EC-9DA3F3764224}"/>
              </a:ext>
            </a:extLst>
          </p:cNvPr>
          <p:cNvSpPr/>
          <p:nvPr userDrawn="1"/>
        </p:nvSpPr>
        <p:spPr>
          <a:xfrm>
            <a:off x="1143000" y="3943350"/>
            <a:ext cx="36576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90CF695-D7BC-4223-8199-225C7AAFBE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8650" y="201613"/>
            <a:ext cx="5829300" cy="569912"/>
          </a:xfrm>
        </p:spPr>
        <p:txBody>
          <a:bodyPr anchor="ctr">
            <a:normAutofit/>
          </a:bodyPr>
          <a:lstStyle>
            <a:lvl1pPr marL="0" indent="0">
              <a:buNone/>
              <a:defRPr lang="en-US" sz="1300" kern="0" spc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940313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9590B597-002F-48B5-B650-5C7BF488BB49}"/>
              </a:ext>
            </a:extLst>
          </p:cNvPr>
          <p:cNvSpPr/>
          <p:nvPr userDrawn="1"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D430ABD3-7B15-4DDA-AE65-37C5FA3A66A1}"/>
              </a:ext>
            </a:extLst>
          </p:cNvPr>
          <p:cNvSpPr/>
          <p:nvPr userDrawn="1"/>
        </p:nvSpPr>
        <p:spPr>
          <a:xfrm>
            <a:off x="0" y="685800"/>
            <a:ext cx="9144000" cy="70549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E826057D-22FF-487D-A600-B893FE0C454E}"/>
              </a:ext>
            </a:extLst>
          </p:cNvPr>
          <p:cNvSpPr/>
          <p:nvPr userDrawn="1"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584448-BE1F-426D-9A87-AAD979766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897" y="33059"/>
            <a:ext cx="8274205" cy="594675"/>
          </a:xfrm>
        </p:spPr>
        <p:txBody>
          <a:bodyPr>
            <a:noAutofit/>
          </a:bodyPr>
          <a:lstStyle>
            <a:lvl1pPr>
              <a:defRPr sz="2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389E-BDF8-4DC1-B3B8-3299FDDB0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98" y="906967"/>
            <a:ext cx="8274205" cy="364598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48484-E906-470D-9255-694025231F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6976" y="4919449"/>
            <a:ext cx="961328" cy="190992"/>
          </a:xfrm>
        </p:spPr>
        <p:txBody>
          <a:bodyPr/>
          <a:lstStyle>
            <a:lvl1pPr>
              <a:defRPr sz="1000"/>
            </a:lvl1pPr>
          </a:lstStyle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B455E-D75D-4448-AB96-FF30CF631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24" y="4919449"/>
            <a:ext cx="7277100" cy="190992"/>
          </a:xfrm>
        </p:spPr>
        <p:txBody>
          <a:bodyPr/>
          <a:lstStyle>
            <a:lvl1pPr>
              <a:defRPr sz="1000"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B60CE-E86B-4D9B-A004-AC643EDD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7756" y="4919449"/>
            <a:ext cx="683941" cy="190992"/>
          </a:xfrm>
        </p:spPr>
        <p:txBody>
          <a:bodyPr/>
          <a:lstStyle>
            <a:lvl1pPr>
              <a:defRPr sz="1000"/>
            </a:lvl1pPr>
          </a:lstStyle>
          <a:p>
            <a:fld id="{79258198-EBFC-4421-8D9C-91EDED0B1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C2EB668-D005-4D04-96A4-05B5D84B2A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975" y="4552950"/>
            <a:ext cx="8289925" cy="328613"/>
          </a:xfrm>
        </p:spPr>
        <p:txBody>
          <a:bodyPr anchor="ctr">
            <a:no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2073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72" userDrawn="1">
          <p15:clr>
            <a:srgbClr val="FBAE40"/>
          </p15:clr>
        </p15:guide>
        <p15:guide id="3" pos="5496" userDrawn="1">
          <p15:clr>
            <a:srgbClr val="FBAE40"/>
          </p15:clr>
        </p15:guide>
        <p15:guide id="4" orient="horz" pos="564" userDrawn="1">
          <p15:clr>
            <a:srgbClr val="FBAE40"/>
          </p15:clr>
        </p15:guide>
        <p15:guide id="5" orient="horz" pos="2868" userDrawn="1">
          <p15:clr>
            <a:srgbClr val="FBAE40"/>
          </p15:clr>
        </p15:guide>
        <p15:guide id="6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9590B597-002F-48B5-B650-5C7BF488BB49}"/>
              </a:ext>
            </a:extLst>
          </p:cNvPr>
          <p:cNvSpPr/>
          <p:nvPr userDrawn="1"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D430ABD3-7B15-4DDA-AE65-37C5FA3A66A1}"/>
              </a:ext>
            </a:extLst>
          </p:cNvPr>
          <p:cNvSpPr/>
          <p:nvPr userDrawn="1"/>
        </p:nvSpPr>
        <p:spPr>
          <a:xfrm>
            <a:off x="0" y="685800"/>
            <a:ext cx="9144000" cy="70549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790C313C-7C45-4B69-BE3A-22C140B6915D}"/>
              </a:ext>
            </a:extLst>
          </p:cNvPr>
          <p:cNvSpPr/>
          <p:nvPr userDrawn="1"/>
        </p:nvSpPr>
        <p:spPr>
          <a:xfrm>
            <a:off x="434898" y="4587211"/>
            <a:ext cx="8290002" cy="2946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1200" dirty="0"/>
              <a:t>Click to edit Master text styles</a:t>
            </a:r>
          </a:p>
        </p:txBody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E826057D-22FF-487D-A600-B893FE0C454E}"/>
              </a:ext>
            </a:extLst>
          </p:cNvPr>
          <p:cNvSpPr/>
          <p:nvPr userDrawn="1"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584448-BE1F-426D-9A87-AAD979766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897" y="33059"/>
            <a:ext cx="8274205" cy="594675"/>
          </a:xfrm>
        </p:spPr>
        <p:txBody>
          <a:bodyPr>
            <a:noAutofit/>
          </a:bodyPr>
          <a:lstStyle>
            <a:lvl1pPr>
              <a:defRPr sz="2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D25AC82-7D6E-45BB-93A7-D82E6F2057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6534" y="835296"/>
            <a:ext cx="4114800" cy="37490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611B8244-4911-49E3-9349-21D1B96E0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16604" y="835295"/>
            <a:ext cx="4114800" cy="37490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D0AF24AD-3916-4FDD-AB0A-429EB878A8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96976" y="4919449"/>
            <a:ext cx="961328" cy="190992"/>
          </a:xfrm>
        </p:spPr>
        <p:txBody>
          <a:bodyPr/>
          <a:lstStyle>
            <a:lvl1pPr>
              <a:defRPr sz="1000"/>
            </a:lvl1pPr>
          </a:lstStyle>
          <a:p>
            <a:fld id="{422965C9-543D-431C-B847-0F5CFF32AC2B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52E443A4-237A-487E-B5A3-E348B5E53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24" y="4919449"/>
            <a:ext cx="7277100" cy="190992"/>
          </a:xfrm>
        </p:spPr>
        <p:txBody>
          <a:bodyPr/>
          <a:lstStyle>
            <a:lvl1pPr>
              <a:defRPr sz="1000"/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43FD89E-5E17-478C-9F81-DE66E9C57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7756" y="4919449"/>
            <a:ext cx="683941" cy="190992"/>
          </a:xfrm>
        </p:spPr>
        <p:txBody>
          <a:bodyPr/>
          <a:lstStyle>
            <a:lvl1pPr>
              <a:defRPr sz="1000"/>
            </a:lvl1pPr>
          </a:lstStyle>
          <a:p>
            <a:fld id="{79258198-EBFC-4421-8D9C-91EDED0B1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000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64" userDrawn="1">
          <p15:clr>
            <a:srgbClr val="FBAE40"/>
          </p15:clr>
        </p15:guide>
        <p15:guide id="3" pos="5496" userDrawn="1">
          <p15:clr>
            <a:srgbClr val="FBAE40"/>
          </p15:clr>
        </p15:guide>
        <p15:guide id="4" orient="horz" pos="524" userDrawn="1">
          <p15:clr>
            <a:srgbClr val="FBAE40"/>
          </p15:clr>
        </p15:guide>
        <p15:guide id="5" orient="horz" pos="288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1299D-3681-4547-A802-1C0F8AF3F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841375"/>
            <a:ext cx="7608038" cy="3657600"/>
          </a:xfrm>
        </p:spPr>
        <p:txBody>
          <a:bodyPr anchor="ctr">
            <a:normAutofit/>
          </a:bodyPr>
          <a:lstStyle>
            <a:lvl1pPr algn="ctr">
              <a:defRPr sz="24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BE45173C-58E8-42EB-A92F-1879D7B77001}"/>
              </a:ext>
            </a:extLst>
          </p:cNvPr>
          <p:cNvSpPr/>
          <p:nvPr userDrawn="1"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C6789303-D80B-4F91-8B68-1AB8263A8971}"/>
              </a:ext>
            </a:extLst>
          </p:cNvPr>
          <p:cNvSpPr/>
          <p:nvPr userDrawn="1"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37357607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647834-38CD-48BA-8AE6-E5C9DD9A8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028134-E7B7-4C74-9984-9CBF52304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F2F31-5424-47E1-8064-89881EE118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5A575-5E82-4CCC-864E-34B7DD910810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A8D97-5F56-440E-8DBB-2300C11FEE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2DFCD-2930-4EEF-9547-FA8276ABD5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58198-EBFC-4421-8D9C-91EDED0B1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52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63" r:id="rId3"/>
    <p:sldLayoutId id="2147483665" r:id="rId4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Sl6YUJKssG8?feature=oembed" TargetMode="External"/><Relationship Id="rId5" Type="http://schemas.openxmlformats.org/officeDocument/2006/relationships/hyperlink" Target="https://youtu.be/eQpyvR-B7hc?si=Ra_4N8UgPYgEdjnB" TargetMode="External"/><Relationship Id="rId4" Type="http://schemas.openxmlformats.org/officeDocument/2006/relationships/hyperlink" Target="https://blog.robozaps.com/b/best-humanoid-robots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o2fBnMtlE7Y?feature=oembed" TargetMode="External"/><Relationship Id="rId4" Type="http://schemas.openxmlformats.org/officeDocument/2006/relationships/hyperlink" Target="https://www.youtube.com/watch?v=o2fBnMtlE7Y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od01/KAS_TECHSPECS_1page_v8_0811.pdf" TargetMode="External"/><Relationship Id="rId2" Type="http://schemas.openxmlformats.org/officeDocument/2006/relationships/slideLayout" Target="../slideLayouts/slideLayout2.xml"/><Relationship Id="rId1" Type="http://schemas.openxmlformats.org/officeDocument/2006/relationships/video" Target="https://player.vimeo.com/video/761544043?app_id=122963" TargetMode="Externa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Mod01/KAS_TECHSPECS_1page_v8_0811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AmmEbYkYfHY?feature=oembed" TargetMode="External"/><Relationship Id="rId4" Type="http://schemas.openxmlformats.org/officeDocument/2006/relationships/hyperlink" Target="https://www.youtube.com/watch?v=AmmEbYkYfHY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ePkReRlyiRk" TargetMode="Externa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ePkReRlyiRk?feature=oembed" TargetMode="External"/><Relationship Id="rId4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0tyuk7cWiOQ?feature=oembed" TargetMode="External"/><Relationship Id="rId4" Type="http://schemas.openxmlformats.org/officeDocument/2006/relationships/hyperlink" Target="https://www.youtube.com/watch?v=0tyuk7cWiOQ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B8R148hFxPw" TargetMode="External"/><Relationship Id="rId2" Type="http://schemas.openxmlformats.org/officeDocument/2006/relationships/hyperlink" Target="https://waymo.com/waymo-driver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aymo.com/waymo-driver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61BD510-DDFE-4B2A-BEA1-5787F95E1D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marL="0" indent="0"/>
            <a:r>
              <a:rPr lang="en-US" sz="3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MOD-001</a:t>
            </a:r>
            <a:br>
              <a:rPr lang="en-US" sz="3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3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Trends &amp;</a:t>
            </a:r>
            <a:br>
              <a:rPr lang="en-US" sz="3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3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Landscape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6CBCA2C0-0393-4349-A62F-290977BAA3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  <a:p>
            <a:r>
              <a:rPr lang="de-DE" dirty="0"/>
              <a:t>Dr. Ahmad Abbadi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9E1CB0E-536E-42D9-8C75-240F6DBFD6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300" kern="0" spc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ROBOTS</a:t>
            </a:r>
            <a:endParaRPr lang="en-US" sz="1300" dirty="0"/>
          </a:p>
        </p:txBody>
      </p:sp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048F8-C3AE-4272-9AD4-CDCCE67FB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639DA-C752-4CAF-BD53-FFCF04307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Introduction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263EF-4718-4CF5-B214-8188BA2A0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FDB36B-B887-4E23-924E-BFC617D0E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07EF540-6748-4A71-83E7-75767F772D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912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Robot’s Domains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AA73-0D0F-4A89-823B-FFE32D26B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033E-2CF0-4A62-A346-1734B21219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35C503D-9DCE-4BDF-BEB4-E841347CC6E8}"/>
              </a:ext>
            </a:extLst>
          </p:cNvPr>
          <p:cNvSpPr/>
          <p:nvPr/>
        </p:nvSpPr>
        <p:spPr>
          <a:xfrm>
            <a:off x="3888953" y="1953303"/>
            <a:ext cx="1381968" cy="1236894"/>
          </a:xfrm>
          <a:prstGeom prst="ellipse">
            <a:avLst/>
          </a:prstGeom>
          <a:solidFill>
            <a:srgbClr val="0D47A1"/>
          </a:solidFill>
          <a:ln/>
        </p:spPr>
        <p:txBody>
          <a:bodyPr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What is MOBILE ROBOT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24580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Robot’s Domains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033E-2CF0-4A62-A346-1734B21219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35C503D-9DCE-4BDF-BEB4-E841347CC6E8}"/>
              </a:ext>
            </a:extLst>
          </p:cNvPr>
          <p:cNvSpPr/>
          <p:nvPr/>
        </p:nvSpPr>
        <p:spPr>
          <a:xfrm>
            <a:off x="3881015" y="906967"/>
            <a:ext cx="1381968" cy="1236894"/>
          </a:xfrm>
          <a:prstGeom prst="ellipse">
            <a:avLst/>
          </a:prstGeom>
          <a:solidFill>
            <a:srgbClr val="0D47A1"/>
          </a:solidFill>
          <a:ln/>
        </p:spPr>
        <p:txBody>
          <a:bodyPr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What is MOBILE ROBOT</a:t>
            </a:r>
            <a:endParaRPr 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6C2ABC-8ABA-4CA4-AE84-D98D4329FBBD}"/>
              </a:ext>
            </a:extLst>
          </p:cNvPr>
          <p:cNvSpPr txBox="1"/>
          <p:nvPr/>
        </p:nvSpPr>
        <p:spPr>
          <a:xfrm>
            <a:off x="6264462" y="1061018"/>
            <a:ext cx="2265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vehicles</a:t>
            </a:r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86E263-9695-4AA9-8BE4-118171ED4328}"/>
              </a:ext>
            </a:extLst>
          </p:cNvPr>
          <p:cNvSpPr txBox="1"/>
          <p:nvPr/>
        </p:nvSpPr>
        <p:spPr>
          <a:xfrm>
            <a:off x="6264462" y="1942102"/>
            <a:ext cx="2265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Robots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2FB870-2160-43D9-9677-268C3B2FB069}"/>
              </a:ext>
            </a:extLst>
          </p:cNvPr>
          <p:cNvSpPr txBox="1"/>
          <p:nvPr/>
        </p:nvSpPr>
        <p:spPr>
          <a:xfrm>
            <a:off x="5497260" y="2823187"/>
            <a:ext cx="2861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Warehouse &amp; Logistics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5AD4B4-CB85-4D51-AEBB-92D1A47476E9}"/>
              </a:ext>
            </a:extLst>
          </p:cNvPr>
          <p:cNvSpPr txBox="1"/>
          <p:nvPr/>
        </p:nvSpPr>
        <p:spPr>
          <a:xfrm>
            <a:off x="2091330" y="2852157"/>
            <a:ext cx="2265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Consumer robots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3D1EFC-FC0D-4D87-9194-9117275E54CC}"/>
              </a:ext>
            </a:extLst>
          </p:cNvPr>
          <p:cNvSpPr txBox="1"/>
          <p:nvPr/>
        </p:nvSpPr>
        <p:spPr>
          <a:xfrm>
            <a:off x="791036" y="1953980"/>
            <a:ext cx="2265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Assistant robots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8B2F07-4D98-4A2E-A751-EB79EE5A7D05}"/>
              </a:ext>
            </a:extLst>
          </p:cNvPr>
          <p:cNvSpPr txBox="1"/>
          <p:nvPr/>
        </p:nvSpPr>
        <p:spPr>
          <a:xfrm>
            <a:off x="791036" y="1061018"/>
            <a:ext cx="2265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Humanoid</a:t>
            </a:r>
          </a:p>
        </p:txBody>
      </p:sp>
    </p:spTree>
    <p:extLst>
      <p:ext uri="{BB962C8B-B14F-4D97-AF65-F5344CB8AC3E}">
        <p14:creationId xmlns:p14="http://schemas.microsoft.com/office/powerpoint/2010/main" val="569834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895E0-BAAA-41B6-9DE4-CB66B7C78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Robot’s Domains - Humanoid</a:t>
            </a:r>
            <a:endParaRPr lang="en-US" dirty="0"/>
          </a:p>
        </p:txBody>
      </p:sp>
      <p:pic>
        <p:nvPicPr>
          <p:cNvPr id="7" name="Online Media 6" title="Full HD: Martial arts robots dazzle at 2026 Spring Festival Gala #coolchina  #springfestival2026">
            <a:hlinkClick r:id="" action="ppaction://media"/>
            <a:extLst>
              <a:ext uri="{FF2B5EF4-FFF2-40B4-BE49-F238E27FC236}">
                <a16:creationId xmlns:a16="http://schemas.microsoft.com/office/drawing/2014/main" id="{B23EA3EF-3713-4956-B685-9DD801ED501E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346200" y="906463"/>
            <a:ext cx="5818830" cy="328803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52B17-C888-4151-8E59-6DF5EA47A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8AEF68-1052-427C-8003-6E470E8AC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86F904-C1DD-4E72-AA7A-150DE97DE5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hlinkClick r:id="rId4"/>
              </a:rPr>
              <a:t>28 Best Humanoid Robots [2026 Ranked] | </a:t>
            </a:r>
            <a:r>
              <a:rPr lang="en-US" dirty="0" err="1">
                <a:hlinkClick r:id="rId4"/>
              </a:rPr>
              <a:t>Robozaps</a:t>
            </a:r>
            <a:br>
              <a:rPr lang="en-US" dirty="0"/>
            </a:br>
            <a:r>
              <a:rPr lang="en-US" dirty="0">
                <a:hlinkClick r:id="rId5"/>
              </a:rPr>
              <a:t>https://youtu.be/eQpyvR-B7hc?si=Ra_4N8UgPYgEdjnB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620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01EE8-4141-4351-B421-764801359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25EC6-CAC4-470D-BD02-1D0F4408A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98" y="906967"/>
            <a:ext cx="5521285" cy="364598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Problem Solved:</a:t>
            </a:r>
            <a:r>
              <a:rPr lang="en-US" dirty="0"/>
              <a:t> </a:t>
            </a:r>
          </a:p>
          <a:p>
            <a:r>
              <a:rPr lang="en-US" dirty="0"/>
              <a:t>Labor shortage in manufacturing </a:t>
            </a:r>
          </a:p>
          <a:p>
            <a:r>
              <a:rPr lang="en-US" dirty="0"/>
              <a:t>replacing dangerous, </a:t>
            </a:r>
          </a:p>
          <a:p>
            <a:r>
              <a:rPr lang="en-US" dirty="0"/>
              <a:t>repetitive physical tasks (parts sorting, assembly) that humans find hazardous or tedious.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CAA3F-81CE-4FB5-9579-3ABC4D49E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95F896-CE33-429E-89CB-35B1A0A4B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8258D8A-8A63-43DC-AAEF-DD1436E486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DF8B51-3E96-47D9-BC9D-DB4533036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315" y="1097776"/>
            <a:ext cx="2229441" cy="326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111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A8C73-973C-429A-9E13-8757134CF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Robot’s Domains –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ervice 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obots</a:t>
            </a:r>
            <a:endParaRPr lang="en-US" dirty="0"/>
          </a:p>
        </p:txBody>
      </p:sp>
      <p:pic>
        <p:nvPicPr>
          <p:cNvPr id="7" name="Online Media 6" title="SwiftBot &amp; HolaBot serve at Alva Hotel by Royal in Hongkong | Pudu Robotics">
            <a:hlinkClick r:id="" action="ppaction://media"/>
            <a:extLst>
              <a:ext uri="{FF2B5EF4-FFF2-40B4-BE49-F238E27FC236}">
                <a16:creationId xmlns:a16="http://schemas.microsoft.com/office/drawing/2014/main" id="{4253F5F2-3856-4F08-BF56-C4A3CBD7FDFF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346200" y="906463"/>
            <a:ext cx="6453188" cy="364648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9FCE5-0396-4D84-BFCB-EFDF1E048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A19CE2-06E6-45C0-8509-A55C0E657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A1EE2D-BB4A-4A36-811F-24306EB241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hlinkClick r:id="rId4"/>
              </a:rPr>
              <a:t>https://www.youtube.com/watch?v=o2fBnMtlE7Y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315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895E0-BAAA-41B6-9DE4-CB66B7C78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Robot’s Domains – Cleaning 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obots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52B17-C888-4151-8E59-6DF5EA47A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8AEF68-1052-427C-8003-6E470E8AC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86F904-C1DD-4E72-AA7A-150DE97DE5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hlinkClick r:id="rId3" action="ppaction://hlinkfile"/>
              </a:rPr>
              <a:t>Tech Spec</a:t>
            </a:r>
            <a:endParaRPr lang="en-US" dirty="0"/>
          </a:p>
        </p:txBody>
      </p:sp>
      <p:pic>
        <p:nvPicPr>
          <p:cNvPr id="11" name="Online Media 10" title="Avidbots Autonomy: Providing superior intelligence for maximum value and an optimal clean">
            <a:hlinkClick r:id="" action="ppaction://media"/>
            <a:extLst>
              <a:ext uri="{FF2B5EF4-FFF2-40B4-BE49-F238E27FC236}">
                <a16:creationId xmlns:a16="http://schemas.microsoft.com/office/drawing/2014/main" id="{95C1E78D-143F-4A37-BE46-BAF69685E38F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336675" y="906463"/>
            <a:ext cx="6472238" cy="3646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701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895E0-BAAA-41B6-9DE4-CB66B7C78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Robot’s Domains – Cleaning 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obots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52B17-C888-4151-8E59-6DF5EA47A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8AEF68-1052-427C-8003-6E470E8AC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86F904-C1DD-4E72-AA7A-150DE97DE5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hlinkClick r:id="rId2" action="ppaction://hlinkfile"/>
              </a:rPr>
              <a:t>Tech Spec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B78E32E-EBA6-4929-8E58-688D201B5E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4681" y="2428460"/>
            <a:ext cx="6117730" cy="1111822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2E0C648-BB49-40A0-AB3B-168A4969CB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9905" y="936138"/>
            <a:ext cx="2335470" cy="373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211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35E43-FC33-465B-A532-DF0A55764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Robot’s Domains –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/>
              <a:t>Consumer Robot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731E9E2-4D94-4B23-ABEC-813E2398EE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0" y="2571750"/>
            <a:ext cx="2493419" cy="2304431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4EF1A-3999-42BE-837C-069EC9E49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B58093-8716-4D69-93C4-FB53E14F3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83D5DC-FBEF-44BB-9671-A99802BB33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Harmonia Sans Pro"/>
              </a:rPr>
              <a:t>SOURCE iRobot Corp</a:t>
            </a:r>
          </a:p>
        </p:txBody>
      </p:sp>
      <p:pic>
        <p:nvPicPr>
          <p:cNvPr id="14" name="Video Project 2">
            <a:hlinkClick r:id="" action="ppaction://media"/>
            <a:extLst>
              <a:ext uri="{FF2B5EF4-FFF2-40B4-BE49-F238E27FC236}">
                <a16:creationId xmlns:a16="http://schemas.microsoft.com/office/drawing/2014/main" id="{60645FB7-9FB2-4BF5-BB4B-97F1CF77233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583991" y="870773"/>
            <a:ext cx="2069491" cy="367808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357C5E1-7EE5-45CF-A06B-B3C6F3B7DC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2894" y="904568"/>
            <a:ext cx="2069491" cy="361049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2864A4E-6B93-4594-BC39-ACBEF8D268CF}"/>
              </a:ext>
            </a:extLst>
          </p:cNvPr>
          <p:cNvSpPr txBox="1"/>
          <p:nvPr/>
        </p:nvSpPr>
        <p:spPr>
          <a:xfrm>
            <a:off x="434897" y="972903"/>
            <a:ext cx="408124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Problem Solved:</a:t>
            </a:r>
            <a:r>
              <a:rPr lang="en-US" dirty="0"/>
              <a:t> Fully autonomous home floor cleaning without human intervention — recognizing and avoiding obstacles (pet waste, cords, socks), self-emptying, and adapting cleaning priority room-by-room.</a:t>
            </a:r>
          </a:p>
        </p:txBody>
      </p:sp>
    </p:spTree>
    <p:extLst>
      <p:ext uri="{BB962C8B-B14F-4D97-AF65-F5344CB8AC3E}">
        <p14:creationId xmlns:p14="http://schemas.microsoft.com/office/powerpoint/2010/main" val="397654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28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CAAA5-9391-40D5-8CA2-FAA54231F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Robot’s Domains –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/>
              <a:t>Consumer Robot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C51B0-8ACC-4A97-8B5B-60F5708E8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DC9BF1-A24D-4FE2-8F4A-1F2731684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5725B73-7564-44C7-B6D1-D37C2C5C76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06D57A1D-B66C-47E1-B7F3-3DCA26C84B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958698"/>
              </p:ext>
            </p:extLst>
          </p:nvPr>
        </p:nvGraphicFramePr>
        <p:xfrm>
          <a:off x="3283686" y="1250412"/>
          <a:ext cx="5496040" cy="276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294">
                  <a:extLst>
                    <a:ext uri="{9D8B030D-6E8A-4147-A177-3AD203B41FA5}">
                      <a16:colId xmlns:a16="http://schemas.microsoft.com/office/drawing/2014/main" val="4193181688"/>
                    </a:ext>
                  </a:extLst>
                </a:gridCol>
                <a:gridCol w="4195746">
                  <a:extLst>
                    <a:ext uri="{9D8B030D-6E8A-4147-A177-3AD203B41FA5}">
                      <a16:colId xmlns:a16="http://schemas.microsoft.com/office/drawing/2014/main" val="36906520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Stack 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Autonomy Component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124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Sensing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Front-facing RGB camera + cliff sensors + IR proximity sensors + wheel encoders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9404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Perception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PrecisionVision</a:t>
                      </a:r>
                      <a:r>
                        <a:rPr lang="en-US" sz="1200" dirty="0"/>
                        <a:t> Navigation — real-time object classification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4341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State Estimation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Wheel odometry + IMU for dead-reckoning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260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Localization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Imprint® Smart Mapping — visual SLAM, room-level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0539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Planning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Dirt Detective reactive coverage planner — prioritizes dirtiest rooms, adjusts suction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13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Control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Differential drive actuator + 3-stage cleaning motor interface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5558220"/>
                  </a:ext>
                </a:extLst>
              </a:tr>
            </a:tbl>
          </a:graphicData>
        </a:graphic>
      </p:graphicFrame>
      <p:pic>
        <p:nvPicPr>
          <p:cNvPr id="14" name="Content Placeholder 7">
            <a:extLst>
              <a:ext uri="{FF2B5EF4-FFF2-40B4-BE49-F238E27FC236}">
                <a16:creationId xmlns:a16="http://schemas.microsoft.com/office/drawing/2014/main" id="{D2D403DD-0236-444E-AC55-0BE7477B8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12" y="1588657"/>
            <a:ext cx="2493419" cy="2304431"/>
          </a:xfrm>
          <a:prstGeom prst="rect">
            <a:avLst/>
          </a:prstGeom>
        </p:spPr>
      </p:pic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AB8D7987-3AFA-422A-BE12-1F78261D02CE}"/>
              </a:ext>
            </a:extLst>
          </p:cNvPr>
          <p:cNvSpPr txBox="1">
            <a:spLocks/>
          </p:cNvSpPr>
          <p:nvPr/>
        </p:nvSpPr>
        <p:spPr>
          <a:xfrm>
            <a:off x="654487" y="3569857"/>
            <a:ext cx="8289925" cy="3286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000000"/>
                </a:solidFill>
                <a:latin typeface="Harmonia Sans Pro"/>
              </a:rPr>
              <a:t>SOURCE iRobot Corp</a:t>
            </a:r>
            <a:endParaRPr lang="en-US" dirty="0">
              <a:solidFill>
                <a:srgbClr val="000000"/>
              </a:solidFill>
              <a:latin typeface="Harmonia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741187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1D8EE-FE12-4C6A-AC53-31ACB3F45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Robot’s Domains –</a:t>
            </a:r>
            <a:r>
              <a:rPr lang="en-US" dirty="0"/>
              <a:t>Warehouse &amp; Logistics — Amazon Proteus AMR</a:t>
            </a:r>
          </a:p>
        </p:txBody>
      </p:sp>
      <p:pic>
        <p:nvPicPr>
          <p:cNvPr id="7" name="Online Media 6" title="Meet Amazon's First Fully Autonomous Mobile Robot | Amazon News">
            <a:hlinkClick r:id="" action="ppaction://media"/>
            <a:extLst>
              <a:ext uri="{FF2B5EF4-FFF2-40B4-BE49-F238E27FC236}">
                <a16:creationId xmlns:a16="http://schemas.microsoft.com/office/drawing/2014/main" id="{62A5D0D6-C1F6-4F48-A077-4A75F83E6BF5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571999" y="2067752"/>
            <a:ext cx="4256780" cy="240536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47C91-2FC9-4C88-AC24-07685D28C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A44560-B75D-466F-B23A-4807E3ADF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0EBB1A3-DC2A-4CD1-9F63-3D8DCA8D79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6BBE9A0A-15BA-4A8A-B78C-A3CCF528F6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170207"/>
              </p:ext>
            </p:extLst>
          </p:nvPr>
        </p:nvGraphicFramePr>
        <p:xfrm>
          <a:off x="266167" y="1855199"/>
          <a:ext cx="4157829" cy="276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663">
                  <a:extLst>
                    <a:ext uri="{9D8B030D-6E8A-4147-A177-3AD203B41FA5}">
                      <a16:colId xmlns:a16="http://schemas.microsoft.com/office/drawing/2014/main" val="241675742"/>
                    </a:ext>
                  </a:extLst>
                </a:gridCol>
                <a:gridCol w="3143166">
                  <a:extLst>
                    <a:ext uri="{9D8B030D-6E8A-4147-A177-3AD203B41FA5}">
                      <a16:colId xmlns:a16="http://schemas.microsoft.com/office/drawing/2014/main" val="19651840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Stack 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Autonomy Component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2313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Sensing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High-precision LiDAR + RGB cameras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9851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Perception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Person detection + </a:t>
                      </a:r>
                      <a:r>
                        <a:rPr lang="en-US" sz="1200" dirty="0" err="1"/>
                        <a:t>GoCart</a:t>
                      </a:r>
                      <a:r>
                        <a:rPr lang="en-US" sz="1200" dirty="0"/>
                        <a:t> recognition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6614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State Estimation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Wheel encoder odometry + IMU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907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Localization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Feature-based LiDAR SLAM (cm-level) + floor fiducial cross-reference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1020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Planning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Fleet-coordinated path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4701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Control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Differential drive + hydraulic lift mechanism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045347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95F1BD6-CEFF-4BB4-8E94-214D9210869D}"/>
              </a:ext>
            </a:extLst>
          </p:cNvPr>
          <p:cNvSpPr txBox="1"/>
          <p:nvPr/>
        </p:nvSpPr>
        <p:spPr>
          <a:xfrm>
            <a:off x="266167" y="783219"/>
            <a:ext cx="86681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Problem Solved:</a:t>
            </a:r>
            <a:r>
              <a:rPr lang="en-US" dirty="0"/>
              <a:t> 24/7 autonomous goods movement in fulfillment centers, eliminating the need for workers to manually push heavy </a:t>
            </a:r>
            <a:r>
              <a:rPr lang="en-US" dirty="0" err="1"/>
              <a:t>GoCarts</a:t>
            </a:r>
            <a:r>
              <a:rPr lang="en-US" dirty="0"/>
              <a:t>, while safely operating alongside humans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FA13B2-BD68-49A4-889A-429A509FE1E0}"/>
              </a:ext>
            </a:extLst>
          </p:cNvPr>
          <p:cNvSpPr txBox="1"/>
          <p:nvPr/>
        </p:nvSpPr>
        <p:spPr>
          <a:xfrm>
            <a:off x="4600220" y="445620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linkClick r:id="rId4"/>
              </a:rPr>
              <a:t>https://www.youtube.com/watch?v=AmmEbYkYfHY</a:t>
            </a:r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97858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DBEFE-C6A3-40CC-853E-7BEA9100F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EF029-56BA-4C56-9B27-C3CC27464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4B57B9-A7C2-47F3-B47F-9C8E6B5F4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F9E9BC-3E2D-4DD2-90FC-F056747AC2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 err="1"/>
              <a:t>BionicHIVE</a:t>
            </a:r>
            <a:r>
              <a:rPr lang="en-US" b="1" dirty="0"/>
              <a:t> 2023  - </a:t>
            </a:r>
            <a:r>
              <a:rPr lang="en-US" b="1" dirty="0">
                <a:hlinkClick r:id="rId3"/>
              </a:rPr>
              <a:t>https://www.youtube.com/watch?v=ePkReRlyiRk</a:t>
            </a:r>
            <a:endParaRPr lang="en-US" b="1" dirty="0"/>
          </a:p>
        </p:txBody>
      </p:sp>
      <p:pic>
        <p:nvPicPr>
          <p:cNvPr id="16" name="Online Media 15" title="BionicHIVE 2023">
            <a:hlinkClick r:id="" action="ppaction://media"/>
            <a:extLst>
              <a:ext uri="{FF2B5EF4-FFF2-40B4-BE49-F238E27FC236}">
                <a16:creationId xmlns:a16="http://schemas.microsoft.com/office/drawing/2014/main" id="{4420076E-D063-4B5E-8DF7-2FE7594A55D0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346200" y="906463"/>
            <a:ext cx="6453188" cy="3646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333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ABC18-7B6B-407A-A7B1-8DBA7AE14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Online Media 6" title="Meet the John Deere 8RX Autonomous Tractor">
            <a:hlinkClick r:id="" action="ppaction://media"/>
            <a:extLst>
              <a:ext uri="{FF2B5EF4-FFF2-40B4-BE49-F238E27FC236}">
                <a16:creationId xmlns:a16="http://schemas.microsoft.com/office/drawing/2014/main" id="{8D393498-9304-4C00-94EE-238D84F00629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579937" y="1586726"/>
            <a:ext cx="4405240" cy="248925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E290C-4EF5-4913-886C-70AC896D8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B85A8C-354E-4CA0-B3FD-BFDFD3F43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51C77BC-4325-44A9-BDD4-1FDC3722B9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9479BF-A307-407E-B392-090A2CD0C088}"/>
              </a:ext>
            </a:extLst>
          </p:cNvPr>
          <p:cNvSpPr txBox="1"/>
          <p:nvPr/>
        </p:nvSpPr>
        <p:spPr>
          <a:xfrm>
            <a:off x="502087" y="829927"/>
            <a:ext cx="85422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Problem Solved:</a:t>
            </a:r>
            <a:r>
              <a:rPr lang="en-US" dirty="0"/>
              <a:t> Agricultural labor shortage and precision farming at scale — enabling 24/7 driverless tillage, planting, and field work with inch-level accuracy.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25D433EB-5697-4E54-BB25-41E7079040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6877161"/>
              </p:ext>
            </p:extLst>
          </p:nvPr>
        </p:nvGraphicFramePr>
        <p:xfrm>
          <a:off x="182636" y="1592573"/>
          <a:ext cx="4309911" cy="321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0380">
                  <a:extLst>
                    <a:ext uri="{9D8B030D-6E8A-4147-A177-3AD203B41FA5}">
                      <a16:colId xmlns:a16="http://schemas.microsoft.com/office/drawing/2014/main" val="3781113363"/>
                    </a:ext>
                  </a:extLst>
                </a:gridCol>
                <a:gridCol w="3419531">
                  <a:extLst>
                    <a:ext uri="{9D8B030D-6E8A-4147-A177-3AD203B41FA5}">
                      <a16:colId xmlns:a16="http://schemas.microsoft.com/office/drawing/2014/main" val="42295846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Stack 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Autonomy Component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1186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Sensing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6× stereo camera pairs (360° coverage) + GPS + IMU; LiDAR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4903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Perception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Deep neural network pixel classifier,  obstacle detection at 3 frames/sec (processed by 2× NVIDIA GPUs)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0312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State Estimation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RTK-GNSS + fusion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5476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Localization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RTK GPS — &lt;2.5 cm accuracy + geofence boundary enforcement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8535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Planning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AB-Line / </a:t>
                      </a:r>
                      <a:r>
                        <a:rPr lang="en-US" sz="1200" dirty="0" err="1"/>
                        <a:t>AutoPath</a:t>
                      </a:r>
                      <a:r>
                        <a:rPr lang="en-US" sz="1200" dirty="0"/>
                        <a:t> adaptive field coverage planner + remote monitoring via Operations Center Mobile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2902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Control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Hydraulic auto-steer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003401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1B9F6F4-B2FC-4BC9-8030-414944AED06E}"/>
              </a:ext>
            </a:extLst>
          </p:cNvPr>
          <p:cNvSpPr txBox="1"/>
          <p:nvPr/>
        </p:nvSpPr>
        <p:spPr>
          <a:xfrm>
            <a:off x="4651455" y="4159636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linkClick r:id="rId4"/>
              </a:rPr>
              <a:t>https://www.youtube.com/watch?v=0tyuk7cWiOQ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54868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687DCBCF-E3FE-48DE-A2BB-2923D8FD7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Self-Driving Car Technology for a Reliable Ride - Waymo Driver</a:t>
            </a:r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FBAD07-B086-4ABA-9863-EE05A00E2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Robot’s Domains –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 (Car like robot)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CB45F-C1C9-4CCD-B894-F6F305C12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187EE6-7392-43B1-B138-CA0DEEA47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3D9D737-8C8D-464B-9F87-8841FB822C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https://www.youtube.com/watch?v=B8R148hFxPw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D74E60C-BFE8-417E-B526-C3422DEAFC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2747" y="1423782"/>
            <a:ext cx="4914380" cy="314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430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BAD07-B086-4ABA-9863-EE05A00E2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Robot’s Domains –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 (Car like robot)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CB45F-C1C9-4CCD-B894-F6F305C12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187EE6-7392-43B1-B138-CA0DEEA47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3D9D737-8C8D-464B-9F87-8841FB822C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Self-Driving Car Technology for a Reliable Ride - Waymo Driver</a:t>
            </a:r>
            <a:endParaRPr lang="en-US" dirty="0"/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D5DB804A-A891-4604-8B34-A42F5E5C930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664926" y="880109"/>
          <a:ext cx="4114800" cy="338328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3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Stack Layer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Waymo Component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Sensing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Camera / LiDAR / Radar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Perception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Sensor Fusion Encoder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State Estimation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GPS/IMU + HD Map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Localization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HD Map localization (cm)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Planning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Driving VLM (ML-based)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Control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Actuator interfaces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ED74E60C-BFE8-417E-B526-C3422DEAF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55" y="1717053"/>
            <a:ext cx="3218328" cy="206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567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56E8-402F-4178-A90C-82394EFA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Robot’s Domains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36C91-1937-4A1C-91EB-F6FF8A7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7A924-4133-4BF1-B013-2602D540E680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70410-26BC-4EB5-8DFC-0DF70975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35C503D-9DCE-4BDF-BEB4-E841347CC6E8}"/>
              </a:ext>
            </a:extLst>
          </p:cNvPr>
          <p:cNvSpPr/>
          <p:nvPr/>
        </p:nvSpPr>
        <p:spPr>
          <a:xfrm>
            <a:off x="3881015" y="906967"/>
            <a:ext cx="1381968" cy="1236894"/>
          </a:xfrm>
          <a:prstGeom prst="ellipse">
            <a:avLst/>
          </a:prstGeom>
          <a:solidFill>
            <a:srgbClr val="0D47A1"/>
          </a:solidFill>
          <a:ln/>
        </p:spPr>
        <p:txBody>
          <a:bodyPr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What is MOBILE ROBOT</a:t>
            </a:r>
            <a:endParaRPr 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6C2ABC-8ABA-4CA4-AE84-D98D4329FBBD}"/>
              </a:ext>
            </a:extLst>
          </p:cNvPr>
          <p:cNvSpPr txBox="1"/>
          <p:nvPr/>
        </p:nvSpPr>
        <p:spPr>
          <a:xfrm>
            <a:off x="6264462" y="1061018"/>
            <a:ext cx="2265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vehicles</a:t>
            </a:r>
            <a:endParaRPr lang="en-US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A38B49-2C40-42C8-AD81-DA794301ADAB}"/>
              </a:ext>
            </a:extLst>
          </p:cNvPr>
          <p:cNvSpPr txBox="1"/>
          <p:nvPr/>
        </p:nvSpPr>
        <p:spPr>
          <a:xfrm>
            <a:off x="6264462" y="1860198"/>
            <a:ext cx="2265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&amp; Security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86E263-9695-4AA9-8BE4-118171ED4328}"/>
              </a:ext>
            </a:extLst>
          </p:cNvPr>
          <p:cNvSpPr txBox="1"/>
          <p:nvPr/>
        </p:nvSpPr>
        <p:spPr>
          <a:xfrm>
            <a:off x="6264462" y="2684494"/>
            <a:ext cx="2265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Robots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1E4126-C6CC-47FA-8101-47AA144498E3}"/>
              </a:ext>
            </a:extLst>
          </p:cNvPr>
          <p:cNvSpPr txBox="1"/>
          <p:nvPr/>
        </p:nvSpPr>
        <p:spPr>
          <a:xfrm>
            <a:off x="6264462" y="3504847"/>
            <a:ext cx="2265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Last-Mile Delivery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2FB870-2160-43D9-9677-268C3B2FB069}"/>
              </a:ext>
            </a:extLst>
          </p:cNvPr>
          <p:cNvSpPr txBox="1"/>
          <p:nvPr/>
        </p:nvSpPr>
        <p:spPr>
          <a:xfrm>
            <a:off x="791036" y="3227848"/>
            <a:ext cx="16820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Warehouse &amp; Logistics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5AD4B4-CB85-4D51-AEBB-92D1A47476E9}"/>
              </a:ext>
            </a:extLst>
          </p:cNvPr>
          <p:cNvSpPr txBox="1"/>
          <p:nvPr/>
        </p:nvSpPr>
        <p:spPr>
          <a:xfrm>
            <a:off x="791036" y="2683688"/>
            <a:ext cx="2265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Consumer robots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3D1EFC-FC0D-4D87-9194-9117275E54CC}"/>
              </a:ext>
            </a:extLst>
          </p:cNvPr>
          <p:cNvSpPr txBox="1"/>
          <p:nvPr/>
        </p:nvSpPr>
        <p:spPr>
          <a:xfrm>
            <a:off x="1059480" y="1707729"/>
            <a:ext cx="22650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and assistant robots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8B2F07-4D98-4A2E-A751-EB79EE5A7D05}"/>
              </a:ext>
            </a:extLst>
          </p:cNvPr>
          <p:cNvSpPr txBox="1"/>
          <p:nvPr/>
        </p:nvSpPr>
        <p:spPr>
          <a:xfrm>
            <a:off x="1747022" y="1050426"/>
            <a:ext cx="2265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Humanoid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5116D9-3AD6-4E02-8DA2-C9E864DF7231}"/>
              </a:ext>
            </a:extLst>
          </p:cNvPr>
          <p:cNvSpPr txBox="1"/>
          <p:nvPr/>
        </p:nvSpPr>
        <p:spPr>
          <a:xfrm>
            <a:off x="3860264" y="4344460"/>
            <a:ext cx="2265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and many other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AFEFF4-080C-4276-9EF8-7EA95F4FBD0B}"/>
              </a:ext>
            </a:extLst>
          </p:cNvPr>
          <p:cNvSpPr txBox="1"/>
          <p:nvPr/>
        </p:nvSpPr>
        <p:spPr>
          <a:xfrm>
            <a:off x="2306971" y="3830913"/>
            <a:ext cx="2265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52E42B-AAAE-4698-8BC7-356370601C44}"/>
              </a:ext>
            </a:extLst>
          </p:cNvPr>
          <p:cNvSpPr txBox="1"/>
          <p:nvPr/>
        </p:nvSpPr>
        <p:spPr>
          <a:xfrm>
            <a:off x="864265" y="4098516"/>
            <a:ext cx="1682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Underwater</a:t>
            </a:r>
            <a:r>
              <a:rPr lang="en-US" b="0" i="0" dirty="0">
                <a:effectLst/>
                <a:latin typeface="pplxSerif"/>
              </a:rPr>
              <a:t> 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381AB1-031F-47CF-8299-CE4CF241F8F0}"/>
              </a:ext>
            </a:extLst>
          </p:cNvPr>
          <p:cNvSpPr txBox="1"/>
          <p:nvPr/>
        </p:nvSpPr>
        <p:spPr>
          <a:xfrm>
            <a:off x="3527749" y="3041459"/>
            <a:ext cx="2265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Mining and tunneling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954E9F-7A2D-46CB-9C70-1FCACA5036E2}"/>
              </a:ext>
            </a:extLst>
          </p:cNvPr>
          <p:cNvSpPr txBox="1"/>
          <p:nvPr/>
        </p:nvSpPr>
        <p:spPr>
          <a:xfrm>
            <a:off x="3232272" y="3698762"/>
            <a:ext cx="3032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Tracks &amp; Public transport</a:t>
            </a:r>
            <a:r>
              <a:rPr lang="en-US" b="0" i="0" dirty="0">
                <a:effectLst/>
                <a:latin typeface="pplxSerif"/>
              </a:rPr>
              <a:t> 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773D48-EFE4-47C3-915A-6CC1B53FFBEB}"/>
              </a:ext>
            </a:extLst>
          </p:cNvPr>
          <p:cNvSpPr txBox="1"/>
          <p:nvPr/>
        </p:nvSpPr>
        <p:spPr>
          <a:xfrm>
            <a:off x="2483499" y="3160049"/>
            <a:ext cx="1682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Trains</a:t>
            </a:r>
            <a:r>
              <a:rPr lang="en-US" b="0" i="0" dirty="0">
                <a:effectLst/>
                <a:latin typeface="pplxSerif"/>
              </a:rPr>
              <a:t> 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B0BF3E-FFAC-45EC-826A-B4BD61FDED9A}"/>
              </a:ext>
            </a:extLst>
          </p:cNvPr>
          <p:cNvSpPr txBox="1"/>
          <p:nvPr/>
        </p:nvSpPr>
        <p:spPr>
          <a:xfrm>
            <a:off x="3881015" y="2489202"/>
            <a:ext cx="2798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Ships</a:t>
            </a: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and Airplanes </a:t>
            </a:r>
            <a:r>
              <a:rPr lang="en-US" b="0" i="0" dirty="0">
                <a:effectLst/>
                <a:latin typeface="pplxSerif"/>
              </a:rPr>
              <a:t> 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990396-B775-4C86-8446-CF0E3A46D999}"/>
              </a:ext>
            </a:extLst>
          </p:cNvPr>
          <p:cNvSpPr txBox="1"/>
          <p:nvPr/>
        </p:nvSpPr>
        <p:spPr>
          <a:xfrm>
            <a:off x="6136365" y="4116833"/>
            <a:ext cx="2751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Drones and flying robots</a:t>
            </a:r>
          </a:p>
        </p:txBody>
      </p:sp>
    </p:spTree>
    <p:extLst>
      <p:ext uri="{BB962C8B-B14F-4D97-AF65-F5344CB8AC3E}">
        <p14:creationId xmlns:p14="http://schemas.microsoft.com/office/powerpoint/2010/main" val="27718906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70E24-A8C4-4018-B330-27942BEC0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4113-423E-49DC-AEE7-633BB506E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What Do All those Robots Share?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8940C-1314-437A-8FCC-A701DDB84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64AA42-5217-425F-BAE0-F4DBEF661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7CB527-29B5-46D3-8F9B-C511DEFA2B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998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70E24-A8C4-4018-B330-27942BEC0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Recognition: What Do All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 Share?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4113-423E-49DC-AEE7-633BB506E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around me?</a:t>
            </a:r>
          </a:p>
          <a:p>
            <a:pPr lvl="1"/>
            <a:r>
              <a:rPr lang="en-US" sz="18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Sensing &amp; Perception</a:t>
            </a:r>
          </a:p>
          <a:p>
            <a:r>
              <a:rPr lang="en-US" dirty="0"/>
              <a:t>WHERE am I?</a:t>
            </a:r>
          </a:p>
          <a:p>
            <a:pPr lvl="1"/>
            <a:r>
              <a:rPr lang="en-US" sz="18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State Estimation &amp; Localization</a:t>
            </a:r>
          </a:p>
          <a:p>
            <a:r>
              <a:rPr lang="en-US" dirty="0"/>
              <a:t>WHAT does the world look like?</a:t>
            </a:r>
          </a:p>
          <a:p>
            <a:pPr lvl="1"/>
            <a:r>
              <a:rPr lang="en-US" sz="18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Mapping</a:t>
            </a:r>
          </a:p>
          <a:p>
            <a:r>
              <a:rPr lang="en-US" dirty="0"/>
              <a:t>WHERE should I go, and HOW do I get there?</a:t>
            </a:r>
          </a:p>
          <a:p>
            <a:pPr lvl="1"/>
            <a:r>
              <a:rPr lang="en-US" sz="18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Planning &amp; Navigation &amp; control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8940C-1314-437A-8FCC-A701DDB84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64AA42-5217-425F-BAE0-F4DBEF661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7CB527-29B5-46D3-8F9B-C511DEFA2B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3598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37C03-C9F5-4194-9ADC-975BAFBC4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Autonomy stack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FE804-181C-4865-A054-C6C15398B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022D2-D55C-4206-8A17-91A905C61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AA57208-70C3-46C2-8CBF-43EA51F5D15E}"/>
              </a:ext>
            </a:extLst>
          </p:cNvPr>
          <p:cNvSpPr/>
          <p:nvPr/>
        </p:nvSpPr>
        <p:spPr>
          <a:xfrm>
            <a:off x="3699544" y="3966567"/>
            <a:ext cx="1744910" cy="58723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Real World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AA35873-A6E3-4231-934B-34880F22C2CC}"/>
              </a:ext>
            </a:extLst>
          </p:cNvPr>
          <p:cNvSpPr/>
          <p:nvPr/>
        </p:nvSpPr>
        <p:spPr>
          <a:xfrm>
            <a:off x="273226" y="2713719"/>
            <a:ext cx="1744910" cy="59467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Perception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1245562-F405-4927-A6A4-9000B64C25DD}"/>
              </a:ext>
            </a:extLst>
          </p:cNvPr>
          <p:cNvSpPr/>
          <p:nvPr/>
        </p:nvSpPr>
        <p:spPr>
          <a:xfrm>
            <a:off x="5922333" y="1077437"/>
            <a:ext cx="1744910" cy="58723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Planning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AF65C81-5828-493F-B2E4-5C4D4EA6C597}"/>
              </a:ext>
            </a:extLst>
          </p:cNvPr>
          <p:cNvSpPr/>
          <p:nvPr/>
        </p:nvSpPr>
        <p:spPr>
          <a:xfrm>
            <a:off x="7034816" y="2998443"/>
            <a:ext cx="1744910" cy="58723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Motion control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F8CFF88-0BF1-45BE-89F5-9F156D027722}"/>
              </a:ext>
            </a:extLst>
          </p:cNvPr>
          <p:cNvSpPr/>
          <p:nvPr/>
        </p:nvSpPr>
        <p:spPr>
          <a:xfrm>
            <a:off x="1284030" y="1093544"/>
            <a:ext cx="1744910" cy="58723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Localization and mapping</a:t>
            </a:r>
          </a:p>
        </p:txBody>
      </p: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15330A90-4326-40B6-9A92-FA2FF509D13F}"/>
              </a:ext>
            </a:extLst>
          </p:cNvPr>
          <p:cNvCxnSpPr>
            <a:stCxn id="7" idx="1"/>
            <a:endCxn id="8" idx="2"/>
          </p:cNvCxnSpPr>
          <p:nvPr/>
        </p:nvCxnSpPr>
        <p:spPr>
          <a:xfrm rot="10800000">
            <a:off x="1145682" y="3308394"/>
            <a:ext cx="2553863" cy="95178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35288CFB-A719-4B89-AFCE-F839D40447FB}"/>
              </a:ext>
            </a:extLst>
          </p:cNvPr>
          <p:cNvCxnSpPr>
            <a:stCxn id="8" idx="0"/>
            <a:endCxn id="14" idx="1"/>
          </p:cNvCxnSpPr>
          <p:nvPr/>
        </p:nvCxnSpPr>
        <p:spPr>
          <a:xfrm rot="5400000" flipH="1" flipV="1">
            <a:off x="551575" y="1981265"/>
            <a:ext cx="1326560" cy="13834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1919AF4E-0297-40E0-A764-8EBCD2ECC575}"/>
              </a:ext>
            </a:extLst>
          </p:cNvPr>
          <p:cNvCxnSpPr>
            <a:stCxn id="14" idx="3"/>
            <a:endCxn id="9" idx="1"/>
          </p:cNvCxnSpPr>
          <p:nvPr/>
        </p:nvCxnSpPr>
        <p:spPr>
          <a:xfrm flipV="1">
            <a:off x="3028940" y="1371052"/>
            <a:ext cx="2893393" cy="1610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B7F28D7D-53EB-402B-939A-6F45CA8EE213}"/>
              </a:ext>
            </a:extLst>
          </p:cNvPr>
          <p:cNvCxnSpPr>
            <a:cxnSpLocks/>
            <a:stCxn id="9" idx="3"/>
            <a:endCxn id="10" idx="0"/>
          </p:cNvCxnSpPr>
          <p:nvPr/>
        </p:nvCxnSpPr>
        <p:spPr>
          <a:xfrm>
            <a:off x="7667243" y="1371052"/>
            <a:ext cx="240028" cy="162739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CF607D68-F8D9-47C3-B72F-91D1310BBBB9}"/>
              </a:ext>
            </a:extLst>
          </p:cNvPr>
          <p:cNvCxnSpPr>
            <a:stCxn id="10" idx="2"/>
            <a:endCxn id="7" idx="3"/>
          </p:cNvCxnSpPr>
          <p:nvPr/>
        </p:nvCxnSpPr>
        <p:spPr>
          <a:xfrm rot="5400000">
            <a:off x="6338609" y="2691519"/>
            <a:ext cx="674509" cy="246281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66539CA-AD48-4B43-AC17-AC97B31D2F1D}"/>
              </a:ext>
            </a:extLst>
          </p:cNvPr>
          <p:cNvSpPr txBox="1"/>
          <p:nvPr/>
        </p:nvSpPr>
        <p:spPr>
          <a:xfrm>
            <a:off x="1083555" y="3778700"/>
            <a:ext cx="1771575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Sensing raw data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19DE8A8-71E1-4DF6-A415-503B66679CEF}"/>
              </a:ext>
            </a:extLst>
          </p:cNvPr>
          <p:cNvSpPr txBox="1"/>
          <p:nvPr/>
        </p:nvSpPr>
        <p:spPr>
          <a:xfrm>
            <a:off x="557594" y="1874081"/>
            <a:ext cx="2090572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Environment model </a:t>
            </a:r>
            <a:br>
              <a:rPr lang="en-US" dirty="0"/>
            </a:br>
            <a:r>
              <a:rPr lang="en-US" dirty="0"/>
              <a:t>&amp; surrounding map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5DF200D-2E7C-4F00-9113-9120E94681BA}"/>
              </a:ext>
            </a:extLst>
          </p:cNvPr>
          <p:cNvSpPr txBox="1"/>
          <p:nvPr/>
        </p:nvSpPr>
        <p:spPr>
          <a:xfrm>
            <a:off x="3279968" y="949042"/>
            <a:ext cx="2069990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Position on the map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78F87AC-D932-47B3-9C1E-83D1285D6177}"/>
              </a:ext>
            </a:extLst>
          </p:cNvPr>
          <p:cNvSpPr txBox="1"/>
          <p:nvPr/>
        </p:nvSpPr>
        <p:spPr>
          <a:xfrm>
            <a:off x="7312896" y="2139659"/>
            <a:ext cx="111831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Trajectory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1F7A46E-5401-403B-8666-EF71DB0DCFA6}"/>
              </a:ext>
            </a:extLst>
          </p:cNvPr>
          <p:cNvSpPr txBox="1"/>
          <p:nvPr/>
        </p:nvSpPr>
        <p:spPr>
          <a:xfrm>
            <a:off x="5769454" y="4294025"/>
            <a:ext cx="2588850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Movement &amp; interactions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7AE5A79-0062-43DA-80CD-528039E22880}"/>
              </a:ext>
            </a:extLst>
          </p:cNvPr>
          <p:cNvSpPr txBox="1"/>
          <p:nvPr/>
        </p:nvSpPr>
        <p:spPr>
          <a:xfrm>
            <a:off x="3538386" y="2423412"/>
            <a:ext cx="1709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Autonomy Stack</a:t>
            </a:r>
          </a:p>
        </p:txBody>
      </p:sp>
      <p:sp>
        <p:nvSpPr>
          <p:cNvPr id="52" name="Arrow: Curved Down 51">
            <a:extLst>
              <a:ext uri="{FF2B5EF4-FFF2-40B4-BE49-F238E27FC236}">
                <a16:creationId xmlns:a16="http://schemas.microsoft.com/office/drawing/2014/main" id="{86A08186-C21A-4B24-B2AA-56E3BE6CA3D7}"/>
              </a:ext>
            </a:extLst>
          </p:cNvPr>
          <p:cNvSpPr/>
          <p:nvPr/>
        </p:nvSpPr>
        <p:spPr>
          <a:xfrm>
            <a:off x="3536836" y="1629958"/>
            <a:ext cx="1813088" cy="830747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3" name="Arrow: Curved Down 52">
            <a:extLst>
              <a:ext uri="{FF2B5EF4-FFF2-40B4-BE49-F238E27FC236}">
                <a16:creationId xmlns:a16="http://schemas.microsoft.com/office/drawing/2014/main" id="{BE684C80-2BBF-4387-88A1-6B5C207CB51E}"/>
              </a:ext>
            </a:extLst>
          </p:cNvPr>
          <p:cNvSpPr/>
          <p:nvPr/>
        </p:nvSpPr>
        <p:spPr>
          <a:xfrm rot="10800000">
            <a:off x="3147348" y="2796683"/>
            <a:ext cx="1813088" cy="830747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60410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8FE80-E9BB-4412-AC12-3CD9EBDDE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FDD6D-4BD6-4E8B-8DAB-43089C3A8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ea typeface="Calibri" pitchFamily="34" charset="-122"/>
                <a:cs typeface="Calibri" pitchFamily="34" charset="-120"/>
              </a:rPr>
              <a:t>SENSING: </a:t>
            </a:r>
            <a:br>
              <a:rPr lang="en-US" sz="2000" dirty="0">
                <a:ea typeface="Calibri" pitchFamily="34" charset="-122"/>
                <a:cs typeface="Calibri" pitchFamily="34" charset="-120"/>
              </a:rPr>
            </a:br>
            <a:r>
              <a:rPr lang="en-US" sz="2000" dirty="0">
                <a:ea typeface="Calibri" pitchFamily="34" charset="-122"/>
                <a:cs typeface="Calibri" pitchFamily="34" charset="-120"/>
              </a:rPr>
              <a:t>Converting physical phenomena (light, distance, acceleration) into digital signals</a:t>
            </a:r>
            <a:endParaRPr lang="en-US" sz="2000" dirty="0"/>
          </a:p>
          <a:p>
            <a:pPr marL="457200" lvl="2" indent="0">
              <a:spcAft>
                <a:spcPts val="400"/>
              </a:spcAft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→ Camera: 2D pixel array (RGB, depth, stereo) — 30–90 Hz, low cost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marL="457200" lvl="2" indent="0">
              <a:spcAft>
                <a:spcPts val="400"/>
              </a:spcAft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→ LiDAR: Time-of-flight laser → 3D point cloud — 10–30 Hz, high accuracy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marL="457200" lvl="2" indent="0">
              <a:spcAft>
                <a:spcPts val="400"/>
              </a:spcAft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→ Radar: Doppler velocity + range, all-weather capability — penetrates fog/rain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marL="457200" lvl="2" indent="0">
              <a:spcAft>
                <a:spcPts val="400"/>
              </a:spcAft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→ IMU: Acceleration + angular velocity (6-DOF inertial) — 100–1000 Hz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marL="457200" lvl="2" indent="0">
              <a:spcAft>
                <a:spcPts val="400"/>
              </a:spcAft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→ GPS: Global position (meter-level) </a:t>
            </a:r>
          </a:p>
          <a:p>
            <a:pPr marL="342900" lvl="1" indent="-342900">
              <a:spcAft>
                <a:spcPts val="400"/>
              </a:spcAft>
            </a:pPr>
            <a:r>
              <a:rPr lang="en-US" sz="2200" dirty="0">
                <a:ea typeface="Calibri" pitchFamily="34" charset="-122"/>
                <a:cs typeface="Calibri" pitchFamily="34" charset="-120"/>
              </a:rPr>
              <a:t>Proprioceptive (internal state): Encoders, IMU, battery voltage</a:t>
            </a:r>
          </a:p>
          <a:p>
            <a:pPr marL="342900" lvl="1" indent="-342900">
              <a:spcAft>
                <a:spcPts val="400"/>
              </a:spcAft>
            </a:pPr>
            <a:r>
              <a:rPr lang="en-US" sz="2200" dirty="0">
                <a:ea typeface="Calibri" pitchFamily="34" charset="-122"/>
                <a:cs typeface="Calibri" pitchFamily="34" charset="-120"/>
              </a:rPr>
              <a:t>Exteroceptive (external world): LiDAR, cameras (RGB, depth, stereo), ultrasonic, GPS, force/torque</a:t>
            </a:r>
          </a:p>
          <a:p>
            <a:pPr marL="457200" lvl="2" indent="0">
              <a:spcAft>
                <a:spcPts val="400"/>
              </a:spcAft>
              <a:buNone/>
            </a:pPr>
            <a:endParaRPr lang="en-US" dirty="0"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F4744-A7B6-472C-923C-FBE8049E9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937AA8-2CC1-4BF5-B59D-81B6602E8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22DC3B-6031-43C3-A423-A8D637E9B4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3269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8FE80-E9BB-4412-AC12-3CD9EBDDE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FDD6D-4BD6-4E8B-8DAB-43089C3A8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521" y="910464"/>
            <a:ext cx="8274205" cy="3645984"/>
          </a:xfrm>
        </p:spPr>
        <p:txBody>
          <a:bodyPr>
            <a:normAutofit/>
          </a:bodyPr>
          <a:lstStyle/>
          <a:p>
            <a:pPr marL="285750" lvl="1" indent="-285750">
              <a:spcAft>
                <a:spcPts val="400"/>
              </a:spcAft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PERCEPTION: Extracting meaningful information from raw sensor data</a:t>
            </a:r>
            <a:endParaRPr lang="en-US" sz="2200" dirty="0"/>
          </a:p>
          <a:p>
            <a:pPr marL="457200" lvl="2" indent="0">
              <a:spcAft>
                <a:spcPts val="400"/>
              </a:spcAft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→ Object Detection: Identify and locate objects in sensor data</a:t>
            </a:r>
          </a:p>
          <a:p>
            <a:pPr marL="457200" lvl="2" indent="0">
              <a:spcAft>
                <a:spcPts val="400"/>
              </a:spcAft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→ Scene Classification: Understand environment type and context</a:t>
            </a:r>
          </a:p>
          <a:p>
            <a:pPr marL="457200" lvl="2" indent="0">
              <a:spcAft>
                <a:spcPts val="400"/>
              </a:spcAft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→ Sensor Fusion: Combine multiple sensor modalities for robust understanding</a:t>
            </a:r>
          </a:p>
          <a:p>
            <a:pPr marL="342900" lvl="1" indent="-342900">
              <a:spcAft>
                <a:spcPts val="400"/>
              </a:spcAft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pipeline: </a:t>
            </a:r>
          </a:p>
          <a:p>
            <a:pPr marL="457200" lvl="2" indent="0">
              <a:spcAft>
                <a:spcPts val="400"/>
              </a:spcAft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raw data → preprocessing → feature extraction → classification → output</a:t>
            </a:r>
          </a:p>
          <a:p>
            <a:pPr marL="800100" lvl="2" indent="-342900">
              <a:spcAft>
                <a:spcPts val="400"/>
              </a:spcAft>
            </a:pPr>
            <a:endParaRPr lang="en-US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F4744-A7B6-472C-923C-FBE8049E9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937AA8-2CC1-4BF5-B59D-81B6602E8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22DC3B-6031-43C3-A423-A8D637E9B4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4870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8FE80-E9BB-4412-AC12-3CD9EBDDE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Estimation &amp; </a:t>
            </a:r>
            <a:r>
              <a:rPr lang="en-US" dirty="0"/>
              <a:t>Localization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FDD6D-4BD6-4E8B-8DAB-43089C3A8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285750" lvl="1" indent="-285750">
              <a:spcAft>
                <a:spcPts val="400"/>
              </a:spcAft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ESTIMATION: Combining motion model + sensor data to track robot pose over time</a:t>
            </a:r>
          </a:p>
          <a:p>
            <a:pPr marL="457200" lvl="2" indent="0">
              <a:spcAft>
                <a:spcPts val="400"/>
              </a:spcAft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→ Output: Robot state vector [x, y, </a:t>
            </a:r>
            <a:r>
              <a:rPr lang="el-GR" dirty="0">
                <a:solidFill>
                  <a:schemeClr val="accent5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θ]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with uncertainty covariance P</a:t>
            </a:r>
          </a:p>
          <a:p>
            <a:pPr marL="457200" lvl="2" indent="0">
              <a:spcAft>
                <a:spcPts val="400"/>
              </a:spcAft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→ Kalman Filter (KF): Optimal estimator for linear Gaussian systems</a:t>
            </a:r>
          </a:p>
          <a:p>
            <a:pPr marL="457200" lvl="2" indent="0">
              <a:spcAft>
                <a:spcPts val="400"/>
              </a:spcAft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→ Extended Kalman Filter (EKF): Linearized for nonlinear systems — used in most real robots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LOCALIZATION: Matching state estimate to a known map</a:t>
            </a:r>
          </a:p>
          <a:p>
            <a:pPr marL="457200" lvl="2" indent="0">
              <a:spcAft>
                <a:spcPts val="400"/>
              </a:spcAft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Particle Filter / Monte Carlo Localization (MCL): Probabilistic set of pose hypotheses</a:t>
            </a:r>
          </a:p>
          <a:p>
            <a:pPr marL="457200" lvl="2" indent="0">
              <a:spcAft>
                <a:spcPts val="400"/>
              </a:spcAft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AMCL: Adaptive MCL — standard in ROS navigation stack</a:t>
            </a:r>
          </a:p>
          <a:p>
            <a:pPr marL="457200" lvl="2" indent="0">
              <a:spcAft>
                <a:spcPts val="400"/>
              </a:spcAft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Challenge: Kidnapped robot problem — what if the robot is moved without warning?</a:t>
            </a:r>
          </a:p>
          <a:p>
            <a:pPr marL="457200" lvl="2" indent="0">
              <a:spcAft>
                <a:spcPts val="400"/>
              </a:spcAft>
              <a:buNone/>
            </a:pPr>
            <a:endParaRPr lang="en-US" dirty="0">
              <a:solidFill>
                <a:schemeClr val="accent5">
                  <a:lumMod val="75000"/>
                </a:schemeClr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F4744-A7B6-472C-923C-FBE8049E9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937AA8-2CC1-4BF5-B59D-81B6602E8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22DC3B-6031-43C3-A423-A8D637E9B4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5045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D0EE3-3481-4AB7-8B30-9D4CB3DD3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Mapping, Planning &amp; Control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53AE7-623F-4682-8480-D7BCCD9A7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MAPPING: Representing the environment in computational form</a:t>
            </a:r>
            <a:endParaRPr lang="en-US" dirty="0"/>
          </a:p>
          <a:p>
            <a:pPr marL="457200" lvl="2" indent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accent5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→ Occupancy Grid: 2D/3D grid, each cell = occupied / free / unknown (most common)</a:t>
            </a:r>
          </a:p>
          <a:p>
            <a:pPr marL="457200" lvl="2" indent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accent5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→ SLAM: Simultaneous Localization And Mapping — build map + localize simultaneously</a:t>
            </a:r>
          </a:p>
          <a:p>
            <a:pPr marL="457200" lvl="2" indent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accent5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→ Topological Maps: Graph of nodes (places) + edges (paths) — memory-efficient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PLANNING: Finding a path from current pose to goal</a:t>
            </a:r>
            <a:endParaRPr lang="en-US" dirty="0"/>
          </a:p>
          <a:p>
            <a:pPr marL="457200" lvl="2" indent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accent5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→ A* Algorithm: Heuristic search on grid — optimal, complete</a:t>
            </a:r>
          </a:p>
          <a:p>
            <a:pPr marL="457200" lvl="2" indent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accent5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→ RRT / RRT*: Sampling-based planner for high-DOF, nonconvex spaces</a:t>
            </a:r>
          </a:p>
          <a:p>
            <a:pPr marL="457200" lvl="2" indent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accent5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→ Dynamic Window Approach (DWA): Real-time local planner in ROS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Executing motion commands on actuators</a:t>
            </a:r>
            <a:endParaRPr lang="en-US" dirty="0"/>
          </a:p>
          <a:p>
            <a:pPr marL="457200" lvl="2" indent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accent5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→ PID Controller: Simple, robust, widely used for velocity/heading control</a:t>
            </a:r>
          </a:p>
          <a:p>
            <a:pPr marL="457200" lvl="2" indent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accent5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→ Model Predictive Control (MPC): Predictive horizon, constraint handling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737BB-A146-48ED-908E-E98204496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A19F30-0A32-449B-A2B4-3ED4D4CBA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028563B-666C-4347-A513-E6FB7B61B3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3178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0CA6C-3443-4E8C-9E59-35A336AD4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Roadmap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F578E-4F20-4673-9AE8-5C9314AB8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060D07-A9E2-44E7-8376-36F2D933A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EC3098E-7A68-47C4-8625-B971CAB306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5E4BC33-DE65-47A0-B2F3-CE4E8DABED5C}"/>
              </a:ext>
            </a:extLst>
          </p:cNvPr>
          <p:cNvGrpSpPr/>
          <p:nvPr/>
        </p:nvGrpSpPr>
        <p:grpSpPr>
          <a:xfrm>
            <a:off x="838117" y="980215"/>
            <a:ext cx="1371600" cy="1737360"/>
            <a:chOff x="228600" y="1005840"/>
            <a:chExt cx="1371600" cy="1737360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0B15A102-0883-4167-B603-7006DE2B7307}"/>
                </a:ext>
              </a:extLst>
            </p:cNvPr>
            <p:cNvSpPr/>
            <p:nvPr/>
          </p:nvSpPr>
          <p:spPr>
            <a:xfrm>
              <a:off x="228600" y="1005840"/>
              <a:ext cx="1371600" cy="1737360"/>
            </a:xfrm>
            <a:prstGeom prst="rect">
              <a:avLst/>
            </a:prstGeom>
            <a:grpFill/>
            <a:ln w="19050">
              <a:solidFill>
                <a:srgbClr val="94A3B8"/>
              </a:solidFill>
              <a:prstDash val="solid"/>
            </a:ln>
          </p:spPr>
        </p:sp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292C8685-C92E-41F2-B3A8-B487467B941B}"/>
                </a:ext>
              </a:extLst>
            </p:cNvPr>
            <p:cNvSpPr/>
            <p:nvPr/>
          </p:nvSpPr>
          <p:spPr>
            <a:xfrm>
              <a:off x="228600" y="1005840"/>
              <a:ext cx="1371600" cy="292608"/>
            </a:xfrm>
            <a:prstGeom prst="rect">
              <a:avLst/>
            </a:prstGeom>
            <a:grpFill/>
            <a:ln/>
          </p:spPr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C86A460A-9786-47B5-8905-4A2ECA27CE88}"/>
                </a:ext>
              </a:extLst>
            </p:cNvPr>
            <p:cNvSpPr/>
            <p:nvPr/>
          </p:nvSpPr>
          <p:spPr>
            <a:xfrm>
              <a:off x="914400" y="1005840"/>
              <a:ext cx="685800" cy="292608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chemeClr val="bg1"/>
                  </a:solidFill>
                </a:rPr>
                <a:t>MOD-001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7F0F60A5-2338-44C9-AC4A-4CB71CB9F0B1}"/>
                </a:ext>
              </a:extLst>
            </p:cNvPr>
            <p:cNvSpPr/>
            <p:nvPr/>
          </p:nvSpPr>
          <p:spPr>
            <a:xfrm>
              <a:off x="274320" y="1344168"/>
              <a:ext cx="1280160" cy="64008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Industry Landscape</a:t>
              </a:r>
              <a:endParaRPr lang="en-US" sz="950" dirty="0">
                <a:solidFill>
                  <a:schemeClr val="bg1"/>
                </a:solidFill>
              </a:endParaRPr>
            </a:p>
          </p:txBody>
        </p:sp>
        <p:sp>
          <p:nvSpPr>
            <p:cNvPr id="13" name="Shape 11">
              <a:extLst>
                <a:ext uri="{FF2B5EF4-FFF2-40B4-BE49-F238E27FC236}">
                  <a16:creationId xmlns:a16="http://schemas.microsoft.com/office/drawing/2014/main" id="{8358F6F0-9B1E-4D6A-AB8B-97653794494E}"/>
                </a:ext>
              </a:extLst>
            </p:cNvPr>
            <p:cNvSpPr/>
            <p:nvPr/>
          </p:nvSpPr>
          <p:spPr>
            <a:xfrm>
              <a:off x="320040" y="2057400"/>
              <a:ext cx="1188720" cy="502920"/>
            </a:xfrm>
            <a:prstGeom prst="rect">
              <a:avLst/>
            </a:prstGeom>
            <a:grpFill/>
            <a:ln/>
          </p:spPr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9EC2FFEE-ABFC-4FE7-ACFD-44E0EE23E0C7}"/>
                </a:ext>
              </a:extLst>
            </p:cNvPr>
            <p:cNvSpPr/>
            <p:nvPr/>
          </p:nvSpPr>
          <p:spPr>
            <a:xfrm>
              <a:off x="320040" y="2057400"/>
              <a:ext cx="1188720" cy="50292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chemeClr val="bg1"/>
                  </a:solidFill>
                </a:rPr>
                <a:t>Overview</a:t>
              </a:r>
              <a:endParaRPr lang="en-US" sz="8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8D51A18-254C-4960-8A0B-9DA0B14B692F}"/>
              </a:ext>
            </a:extLst>
          </p:cNvPr>
          <p:cNvGrpSpPr/>
          <p:nvPr/>
        </p:nvGrpSpPr>
        <p:grpSpPr>
          <a:xfrm>
            <a:off x="2301157" y="980215"/>
            <a:ext cx="1371600" cy="1737360"/>
            <a:chOff x="1691640" y="1005840"/>
            <a:chExt cx="1371600" cy="1737360"/>
          </a:xfrm>
          <a:solidFill>
            <a:schemeClr val="accent1"/>
          </a:solidFill>
        </p:grpSpPr>
        <p:sp>
          <p:nvSpPr>
            <p:cNvPr id="16" name="Shape 13">
              <a:extLst>
                <a:ext uri="{FF2B5EF4-FFF2-40B4-BE49-F238E27FC236}">
                  <a16:creationId xmlns:a16="http://schemas.microsoft.com/office/drawing/2014/main" id="{462CA009-61F1-4175-AE63-758A07632736}"/>
                </a:ext>
              </a:extLst>
            </p:cNvPr>
            <p:cNvSpPr/>
            <p:nvPr/>
          </p:nvSpPr>
          <p:spPr>
            <a:xfrm>
              <a:off x="1691640" y="1005840"/>
              <a:ext cx="1371600" cy="1737360"/>
            </a:xfrm>
            <a:prstGeom prst="rect">
              <a:avLst/>
            </a:prstGeom>
            <a:grpFill/>
            <a:ln w="19050">
              <a:solidFill>
                <a:schemeClr val="accent1"/>
              </a:solidFill>
              <a:prstDash val="solid"/>
            </a:ln>
          </p:spPr>
        </p:sp>
        <p:sp>
          <p:nvSpPr>
            <p:cNvPr id="17" name="Shape 14">
              <a:extLst>
                <a:ext uri="{FF2B5EF4-FFF2-40B4-BE49-F238E27FC236}">
                  <a16:creationId xmlns:a16="http://schemas.microsoft.com/office/drawing/2014/main" id="{FC64EEB7-14A9-4786-BE92-B454992E197F}"/>
                </a:ext>
              </a:extLst>
            </p:cNvPr>
            <p:cNvSpPr/>
            <p:nvPr/>
          </p:nvSpPr>
          <p:spPr>
            <a:xfrm>
              <a:off x="1691640" y="1005840"/>
              <a:ext cx="1371600" cy="292608"/>
            </a:xfrm>
            <a:prstGeom prst="rect">
              <a:avLst/>
            </a:prstGeom>
            <a:grpFill/>
            <a:ln/>
          </p:spPr>
        </p:sp>
        <p:sp>
          <p:nvSpPr>
            <p:cNvPr id="19" name="Text 16">
              <a:extLst>
                <a:ext uri="{FF2B5EF4-FFF2-40B4-BE49-F238E27FC236}">
                  <a16:creationId xmlns:a16="http://schemas.microsoft.com/office/drawing/2014/main" id="{585043B8-EC1B-4892-BB1B-B8E05384FF8B}"/>
                </a:ext>
              </a:extLst>
            </p:cNvPr>
            <p:cNvSpPr/>
            <p:nvPr/>
          </p:nvSpPr>
          <p:spPr>
            <a:xfrm>
              <a:off x="2063692" y="1005840"/>
              <a:ext cx="999548" cy="292608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chemeClr val="bg1"/>
                  </a:solidFill>
                </a:rPr>
                <a:t>MOD-002 / MOD-003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20" name="Text 17">
              <a:extLst>
                <a:ext uri="{FF2B5EF4-FFF2-40B4-BE49-F238E27FC236}">
                  <a16:creationId xmlns:a16="http://schemas.microsoft.com/office/drawing/2014/main" id="{D25FDEF1-CCD0-41BE-A0BA-DEDC4FE526C4}"/>
                </a:ext>
              </a:extLst>
            </p:cNvPr>
            <p:cNvSpPr/>
            <p:nvPr/>
          </p:nvSpPr>
          <p:spPr>
            <a:xfrm>
              <a:off x="1737360" y="1344168"/>
              <a:ext cx="1280160" cy="64008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Locomotion </a:t>
              </a:r>
              <a:br>
                <a:rPr lang="en-US" sz="9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9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Kinematics</a:t>
              </a:r>
            </a:p>
            <a:p>
              <a:pPr marL="0" indent="0" algn="ctr">
                <a:buNone/>
              </a:pPr>
              <a:r>
                <a:rPr lang="en-US" sz="950" dirty="0">
                  <a:solidFill>
                    <a:schemeClr val="bg1"/>
                  </a:solidFill>
                </a:rPr>
                <a:t>Holonomy</a:t>
              </a:r>
            </a:p>
            <a:p>
              <a:pPr marL="0" indent="0" algn="ctr">
                <a:buNone/>
              </a:pPr>
              <a:r>
                <a:rPr lang="en-US" sz="950" dirty="0">
                  <a:solidFill>
                    <a:schemeClr val="bg1"/>
                  </a:solidFill>
                </a:rPr>
                <a:t>Degrees of Freedom</a:t>
              </a:r>
            </a:p>
          </p:txBody>
        </p:sp>
        <p:sp>
          <p:nvSpPr>
            <p:cNvPr id="21" name="Shape 18">
              <a:extLst>
                <a:ext uri="{FF2B5EF4-FFF2-40B4-BE49-F238E27FC236}">
                  <a16:creationId xmlns:a16="http://schemas.microsoft.com/office/drawing/2014/main" id="{FEC12FE9-4A04-4482-B2A4-A7E88AB4D714}"/>
                </a:ext>
              </a:extLst>
            </p:cNvPr>
            <p:cNvSpPr/>
            <p:nvPr/>
          </p:nvSpPr>
          <p:spPr>
            <a:xfrm>
              <a:off x="1783080" y="2057400"/>
              <a:ext cx="1188720" cy="502920"/>
            </a:xfrm>
            <a:prstGeom prst="rect">
              <a:avLst/>
            </a:prstGeom>
            <a:grpFill/>
            <a:ln/>
          </p:spPr>
        </p:sp>
        <p:sp>
          <p:nvSpPr>
            <p:cNvPr id="22" name="Text 19">
              <a:extLst>
                <a:ext uri="{FF2B5EF4-FFF2-40B4-BE49-F238E27FC236}">
                  <a16:creationId xmlns:a16="http://schemas.microsoft.com/office/drawing/2014/main" id="{C0CD4383-ADFF-414E-9778-31CBBA8344EF}"/>
                </a:ext>
              </a:extLst>
            </p:cNvPr>
            <p:cNvSpPr/>
            <p:nvPr/>
          </p:nvSpPr>
          <p:spPr>
            <a:xfrm>
              <a:off x="1783080" y="2057400"/>
              <a:ext cx="1188720" cy="50292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chemeClr val="bg1"/>
                  </a:solidFill>
                </a:rPr>
                <a:t>Introduction and basics</a:t>
              </a:r>
              <a:endParaRPr lang="en-US" sz="8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61F90F7-34F0-4E06-A039-37DC2164EFFD}"/>
              </a:ext>
            </a:extLst>
          </p:cNvPr>
          <p:cNvGrpSpPr/>
          <p:nvPr/>
        </p:nvGrpSpPr>
        <p:grpSpPr>
          <a:xfrm>
            <a:off x="3764197" y="980215"/>
            <a:ext cx="1371600" cy="1737360"/>
            <a:chOff x="3154680" y="1005840"/>
            <a:chExt cx="1371600" cy="1737360"/>
          </a:xfrm>
          <a:solidFill>
            <a:schemeClr val="accent1"/>
          </a:solidFill>
        </p:grpSpPr>
        <p:sp>
          <p:nvSpPr>
            <p:cNvPr id="24" name="Shape 20">
              <a:extLst>
                <a:ext uri="{FF2B5EF4-FFF2-40B4-BE49-F238E27FC236}">
                  <a16:creationId xmlns:a16="http://schemas.microsoft.com/office/drawing/2014/main" id="{58F26CE5-DCFA-456E-B558-C7673B8DBCA6}"/>
                </a:ext>
              </a:extLst>
            </p:cNvPr>
            <p:cNvSpPr/>
            <p:nvPr/>
          </p:nvSpPr>
          <p:spPr>
            <a:xfrm>
              <a:off x="3154680" y="1005840"/>
              <a:ext cx="1371600" cy="1737360"/>
            </a:xfrm>
            <a:prstGeom prst="rect">
              <a:avLst/>
            </a:prstGeom>
            <a:grpFill/>
            <a:ln w="19050">
              <a:solidFill>
                <a:srgbClr val="94A3B8"/>
              </a:solidFill>
              <a:prstDash val="solid"/>
            </a:ln>
          </p:spPr>
        </p:sp>
        <p:sp>
          <p:nvSpPr>
            <p:cNvPr id="25" name="Shape 21">
              <a:extLst>
                <a:ext uri="{FF2B5EF4-FFF2-40B4-BE49-F238E27FC236}">
                  <a16:creationId xmlns:a16="http://schemas.microsoft.com/office/drawing/2014/main" id="{63EEF11C-ED8E-425B-9B7D-0C02EF2C2F2F}"/>
                </a:ext>
              </a:extLst>
            </p:cNvPr>
            <p:cNvSpPr/>
            <p:nvPr/>
          </p:nvSpPr>
          <p:spPr>
            <a:xfrm>
              <a:off x="3154680" y="1005840"/>
              <a:ext cx="1371600" cy="292608"/>
            </a:xfrm>
            <a:prstGeom prst="rect">
              <a:avLst/>
            </a:prstGeom>
            <a:grpFill/>
            <a:ln/>
          </p:spPr>
        </p:sp>
        <p:sp>
          <p:nvSpPr>
            <p:cNvPr id="27" name="Text 23">
              <a:extLst>
                <a:ext uri="{FF2B5EF4-FFF2-40B4-BE49-F238E27FC236}">
                  <a16:creationId xmlns:a16="http://schemas.microsoft.com/office/drawing/2014/main" id="{6DDAE28E-7D05-4754-BC18-CA9192C9E40B}"/>
                </a:ext>
              </a:extLst>
            </p:cNvPr>
            <p:cNvSpPr/>
            <p:nvPr/>
          </p:nvSpPr>
          <p:spPr>
            <a:xfrm>
              <a:off x="3840480" y="1005840"/>
              <a:ext cx="685800" cy="292608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chemeClr val="bg1"/>
                  </a:solidFill>
                </a:rPr>
                <a:t>MOD-002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28" name="Text 24">
              <a:extLst>
                <a:ext uri="{FF2B5EF4-FFF2-40B4-BE49-F238E27FC236}">
                  <a16:creationId xmlns:a16="http://schemas.microsoft.com/office/drawing/2014/main" id="{AAD4C478-9202-4C12-8C93-E8289620572B}"/>
                </a:ext>
              </a:extLst>
            </p:cNvPr>
            <p:cNvSpPr/>
            <p:nvPr/>
          </p:nvSpPr>
          <p:spPr>
            <a:xfrm>
              <a:off x="3200400" y="1344168"/>
              <a:ext cx="1280160" cy="64008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ROS2 &amp; Dev Environment</a:t>
              </a:r>
              <a:endParaRPr lang="en-US" sz="950" dirty="0">
                <a:solidFill>
                  <a:schemeClr val="bg1"/>
                </a:solidFill>
              </a:endParaRPr>
            </a:p>
          </p:txBody>
        </p:sp>
        <p:sp>
          <p:nvSpPr>
            <p:cNvPr id="29" name="Shape 25">
              <a:extLst>
                <a:ext uri="{FF2B5EF4-FFF2-40B4-BE49-F238E27FC236}">
                  <a16:creationId xmlns:a16="http://schemas.microsoft.com/office/drawing/2014/main" id="{7B4497D0-EF0B-497F-B552-C9585B89DEDA}"/>
                </a:ext>
              </a:extLst>
            </p:cNvPr>
            <p:cNvSpPr/>
            <p:nvPr/>
          </p:nvSpPr>
          <p:spPr>
            <a:xfrm>
              <a:off x="3246120" y="2057400"/>
              <a:ext cx="1188720" cy="502920"/>
            </a:xfrm>
            <a:prstGeom prst="rect">
              <a:avLst/>
            </a:prstGeom>
            <a:grpFill/>
            <a:ln/>
          </p:spPr>
        </p:sp>
        <p:sp>
          <p:nvSpPr>
            <p:cNvPr id="30" name="Text 26">
              <a:extLst>
                <a:ext uri="{FF2B5EF4-FFF2-40B4-BE49-F238E27FC236}">
                  <a16:creationId xmlns:a16="http://schemas.microsoft.com/office/drawing/2014/main" id="{5AD4D067-67A9-440F-B02E-0EE3B4F0A8BB}"/>
                </a:ext>
              </a:extLst>
            </p:cNvPr>
            <p:cNvSpPr/>
            <p:nvPr/>
          </p:nvSpPr>
          <p:spPr>
            <a:xfrm>
              <a:off x="3246120" y="2057400"/>
              <a:ext cx="1188720" cy="50292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chemeClr val="bg1"/>
                  </a:solidFill>
                </a:rPr>
                <a:t>Framework</a:t>
              </a:r>
              <a:endParaRPr lang="en-US" sz="8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40CB5CB-131E-4CC8-81E4-1F1102BB68D7}"/>
              </a:ext>
            </a:extLst>
          </p:cNvPr>
          <p:cNvGrpSpPr/>
          <p:nvPr/>
        </p:nvGrpSpPr>
        <p:grpSpPr>
          <a:xfrm>
            <a:off x="5227237" y="980215"/>
            <a:ext cx="1371600" cy="1737360"/>
            <a:chOff x="4617720" y="1005840"/>
            <a:chExt cx="1371600" cy="1737360"/>
          </a:xfrm>
          <a:solidFill>
            <a:schemeClr val="accent6">
              <a:lumMod val="75000"/>
            </a:schemeClr>
          </a:solidFill>
        </p:grpSpPr>
        <p:sp>
          <p:nvSpPr>
            <p:cNvPr id="32" name="Shape 27">
              <a:extLst>
                <a:ext uri="{FF2B5EF4-FFF2-40B4-BE49-F238E27FC236}">
                  <a16:creationId xmlns:a16="http://schemas.microsoft.com/office/drawing/2014/main" id="{F6828B34-9785-410A-A81A-127BD608A50E}"/>
                </a:ext>
              </a:extLst>
            </p:cNvPr>
            <p:cNvSpPr/>
            <p:nvPr/>
          </p:nvSpPr>
          <p:spPr>
            <a:xfrm>
              <a:off x="4617720" y="1005840"/>
              <a:ext cx="1371600" cy="1737360"/>
            </a:xfrm>
            <a:prstGeom prst="rect">
              <a:avLst/>
            </a:prstGeom>
            <a:grpFill/>
            <a:ln w="19050">
              <a:solidFill>
                <a:srgbClr val="0D47A1"/>
              </a:solidFill>
              <a:prstDash val="solid"/>
            </a:ln>
          </p:spPr>
        </p:sp>
        <p:sp>
          <p:nvSpPr>
            <p:cNvPr id="33" name="Shape 28">
              <a:extLst>
                <a:ext uri="{FF2B5EF4-FFF2-40B4-BE49-F238E27FC236}">
                  <a16:creationId xmlns:a16="http://schemas.microsoft.com/office/drawing/2014/main" id="{D90A24FB-DF80-43FB-A92C-C7648A3178E4}"/>
                </a:ext>
              </a:extLst>
            </p:cNvPr>
            <p:cNvSpPr/>
            <p:nvPr/>
          </p:nvSpPr>
          <p:spPr>
            <a:xfrm>
              <a:off x="4617720" y="1005840"/>
              <a:ext cx="1371600" cy="292608"/>
            </a:xfrm>
            <a:prstGeom prst="rect">
              <a:avLst/>
            </a:prstGeom>
            <a:grpFill/>
            <a:ln/>
          </p:spPr>
        </p:sp>
        <p:sp>
          <p:nvSpPr>
            <p:cNvPr id="35" name="Text 30">
              <a:extLst>
                <a:ext uri="{FF2B5EF4-FFF2-40B4-BE49-F238E27FC236}">
                  <a16:creationId xmlns:a16="http://schemas.microsoft.com/office/drawing/2014/main" id="{992C1030-0D08-4C4A-A31F-4C84BAF2FE0A}"/>
                </a:ext>
              </a:extLst>
            </p:cNvPr>
            <p:cNvSpPr/>
            <p:nvPr/>
          </p:nvSpPr>
          <p:spPr>
            <a:xfrm>
              <a:off x="5303520" y="1005840"/>
              <a:ext cx="685800" cy="292608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chemeClr val="bg1"/>
                  </a:solidFill>
                </a:rPr>
                <a:t>MOD-004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36" name="Text 31">
              <a:extLst>
                <a:ext uri="{FF2B5EF4-FFF2-40B4-BE49-F238E27FC236}">
                  <a16:creationId xmlns:a16="http://schemas.microsoft.com/office/drawing/2014/main" id="{644E4285-0F29-4A34-9E78-18B634C1A0E2}"/>
                </a:ext>
              </a:extLst>
            </p:cNvPr>
            <p:cNvSpPr/>
            <p:nvPr/>
          </p:nvSpPr>
          <p:spPr>
            <a:xfrm>
              <a:off x="4663440" y="1344168"/>
              <a:ext cx="1280160" cy="64008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Sensors &amp; Modeling</a:t>
              </a:r>
              <a:endParaRPr lang="en-US" sz="950" dirty="0">
                <a:solidFill>
                  <a:schemeClr val="bg1"/>
                </a:solidFill>
              </a:endParaRPr>
            </a:p>
          </p:txBody>
        </p:sp>
        <p:sp>
          <p:nvSpPr>
            <p:cNvPr id="37" name="Shape 32">
              <a:extLst>
                <a:ext uri="{FF2B5EF4-FFF2-40B4-BE49-F238E27FC236}">
                  <a16:creationId xmlns:a16="http://schemas.microsoft.com/office/drawing/2014/main" id="{B3E19649-4F74-41FF-97A7-5FE974EC4C4F}"/>
                </a:ext>
              </a:extLst>
            </p:cNvPr>
            <p:cNvSpPr/>
            <p:nvPr/>
          </p:nvSpPr>
          <p:spPr>
            <a:xfrm>
              <a:off x="4709160" y="2057400"/>
              <a:ext cx="1188720" cy="502920"/>
            </a:xfrm>
            <a:prstGeom prst="rect">
              <a:avLst/>
            </a:prstGeom>
            <a:grpFill/>
            <a:ln/>
          </p:spPr>
        </p:sp>
        <p:sp>
          <p:nvSpPr>
            <p:cNvPr id="38" name="Text 33">
              <a:extLst>
                <a:ext uri="{FF2B5EF4-FFF2-40B4-BE49-F238E27FC236}">
                  <a16:creationId xmlns:a16="http://schemas.microsoft.com/office/drawing/2014/main" id="{60E1ADCF-B1EA-4050-A9B3-8F92127D1A8E}"/>
                </a:ext>
              </a:extLst>
            </p:cNvPr>
            <p:cNvSpPr/>
            <p:nvPr/>
          </p:nvSpPr>
          <p:spPr>
            <a:xfrm>
              <a:off x="4709160" y="2057400"/>
              <a:ext cx="1188720" cy="50292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chemeClr val="bg1"/>
                  </a:solidFill>
                </a:rPr>
                <a:t>Sensing</a:t>
              </a:r>
              <a:endParaRPr lang="en-US" sz="8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2704AFD-3130-47E9-AB8B-6AE8D6EA6984}"/>
              </a:ext>
            </a:extLst>
          </p:cNvPr>
          <p:cNvGrpSpPr/>
          <p:nvPr/>
        </p:nvGrpSpPr>
        <p:grpSpPr>
          <a:xfrm>
            <a:off x="6690277" y="980215"/>
            <a:ext cx="1371600" cy="1737360"/>
            <a:chOff x="6080760" y="1005840"/>
            <a:chExt cx="1371600" cy="1737360"/>
          </a:xfrm>
        </p:grpSpPr>
        <p:sp>
          <p:nvSpPr>
            <p:cNvPr id="40" name="Shape 34">
              <a:extLst>
                <a:ext uri="{FF2B5EF4-FFF2-40B4-BE49-F238E27FC236}">
                  <a16:creationId xmlns:a16="http://schemas.microsoft.com/office/drawing/2014/main" id="{9291C5DD-767E-4E8F-8C2B-27EEF760F534}"/>
                </a:ext>
              </a:extLst>
            </p:cNvPr>
            <p:cNvSpPr/>
            <p:nvPr/>
          </p:nvSpPr>
          <p:spPr>
            <a:xfrm>
              <a:off x="6080760" y="1005840"/>
              <a:ext cx="1371600" cy="1737360"/>
            </a:xfrm>
            <a:prstGeom prst="rect">
              <a:avLst/>
            </a:prstGeom>
            <a:solidFill>
              <a:srgbClr val="7C3AED">
                <a:alpha val="80000"/>
              </a:srgbClr>
            </a:solidFill>
            <a:ln w="19050">
              <a:solidFill>
                <a:srgbClr val="7C3AED"/>
              </a:solidFill>
              <a:prstDash val="solid"/>
            </a:ln>
          </p:spPr>
        </p:sp>
        <p:sp>
          <p:nvSpPr>
            <p:cNvPr id="41" name="Shape 35">
              <a:extLst>
                <a:ext uri="{FF2B5EF4-FFF2-40B4-BE49-F238E27FC236}">
                  <a16:creationId xmlns:a16="http://schemas.microsoft.com/office/drawing/2014/main" id="{93ACA334-DFB2-4A9F-B277-428303944553}"/>
                </a:ext>
              </a:extLst>
            </p:cNvPr>
            <p:cNvSpPr/>
            <p:nvPr/>
          </p:nvSpPr>
          <p:spPr>
            <a:xfrm>
              <a:off x="6080760" y="1005840"/>
              <a:ext cx="1371600" cy="292608"/>
            </a:xfrm>
            <a:prstGeom prst="rect">
              <a:avLst/>
            </a:prstGeom>
            <a:solidFill>
              <a:srgbClr val="7C3AED"/>
            </a:solidFill>
            <a:ln/>
          </p:spPr>
        </p:sp>
        <p:sp>
          <p:nvSpPr>
            <p:cNvPr id="43" name="Text 37">
              <a:extLst>
                <a:ext uri="{FF2B5EF4-FFF2-40B4-BE49-F238E27FC236}">
                  <a16:creationId xmlns:a16="http://schemas.microsoft.com/office/drawing/2014/main" id="{9868347C-47D7-4254-B610-0FF117459ADF}"/>
                </a:ext>
              </a:extLst>
            </p:cNvPr>
            <p:cNvSpPr/>
            <p:nvPr/>
          </p:nvSpPr>
          <p:spPr>
            <a:xfrm>
              <a:off x="6766560" y="1005840"/>
              <a:ext cx="6858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chemeClr val="bg1"/>
                  </a:solidFill>
                </a:rPr>
                <a:t>MOD-005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44" name="Text 38">
              <a:extLst>
                <a:ext uri="{FF2B5EF4-FFF2-40B4-BE49-F238E27FC236}">
                  <a16:creationId xmlns:a16="http://schemas.microsoft.com/office/drawing/2014/main" id="{A91B859B-347C-4D3B-AA37-812E3E8A5396}"/>
                </a:ext>
              </a:extLst>
            </p:cNvPr>
            <p:cNvSpPr/>
            <p:nvPr/>
          </p:nvSpPr>
          <p:spPr>
            <a:xfrm>
              <a:off x="6126480" y="1344168"/>
              <a:ext cx="128016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Probabilistic Robots</a:t>
              </a:r>
            </a:p>
            <a:p>
              <a:pPr marL="0" indent="0" algn="ctr">
                <a:buNone/>
              </a:pPr>
              <a:r>
                <a:rPr lang="en-US" sz="9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Bayes’ Rule</a:t>
              </a:r>
            </a:p>
            <a:p>
              <a:pPr marL="0" indent="0" algn="ctr">
                <a:buNone/>
              </a:pPr>
              <a:r>
                <a:rPr lang="en-US" sz="9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Kalman filter</a:t>
              </a:r>
              <a:endParaRPr lang="en-US" sz="950" dirty="0">
                <a:solidFill>
                  <a:schemeClr val="bg1"/>
                </a:solidFill>
              </a:endParaRPr>
            </a:p>
          </p:txBody>
        </p:sp>
        <p:sp>
          <p:nvSpPr>
            <p:cNvPr id="45" name="Shape 39">
              <a:extLst>
                <a:ext uri="{FF2B5EF4-FFF2-40B4-BE49-F238E27FC236}">
                  <a16:creationId xmlns:a16="http://schemas.microsoft.com/office/drawing/2014/main" id="{090585E7-093E-4801-AB78-94838AEBD9F9}"/>
                </a:ext>
              </a:extLst>
            </p:cNvPr>
            <p:cNvSpPr/>
            <p:nvPr/>
          </p:nvSpPr>
          <p:spPr>
            <a:xfrm>
              <a:off x="6172200" y="2057400"/>
              <a:ext cx="1188720" cy="502920"/>
            </a:xfrm>
            <a:prstGeom prst="rect">
              <a:avLst/>
            </a:prstGeom>
            <a:solidFill>
              <a:srgbClr val="7C3AED">
                <a:alpha val="50000"/>
              </a:srgbClr>
            </a:solidFill>
            <a:ln/>
          </p:spPr>
        </p:sp>
        <p:sp>
          <p:nvSpPr>
            <p:cNvPr id="46" name="Text 40">
              <a:extLst>
                <a:ext uri="{FF2B5EF4-FFF2-40B4-BE49-F238E27FC236}">
                  <a16:creationId xmlns:a16="http://schemas.microsoft.com/office/drawing/2014/main" id="{976F76E2-A761-44ED-883D-918D74C7385C}"/>
                </a:ext>
              </a:extLst>
            </p:cNvPr>
            <p:cNvSpPr/>
            <p:nvPr/>
          </p:nvSpPr>
          <p:spPr>
            <a:xfrm>
              <a:off x="6172200" y="2057400"/>
              <a:ext cx="11887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chemeClr val="bg1"/>
                  </a:solidFill>
                </a:rPr>
                <a:t>State Est.</a:t>
              </a:r>
              <a:endParaRPr lang="en-US" sz="8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22E0933-16E7-4361-BB13-4AB25C93403E}"/>
              </a:ext>
            </a:extLst>
          </p:cNvPr>
          <p:cNvGrpSpPr/>
          <p:nvPr/>
        </p:nvGrpSpPr>
        <p:grpSpPr>
          <a:xfrm>
            <a:off x="1563497" y="2785777"/>
            <a:ext cx="1371600" cy="1737360"/>
            <a:chOff x="7543800" y="1005840"/>
            <a:chExt cx="1371600" cy="1737360"/>
          </a:xfrm>
        </p:grpSpPr>
        <p:sp>
          <p:nvSpPr>
            <p:cNvPr id="48" name="Shape 41">
              <a:extLst>
                <a:ext uri="{FF2B5EF4-FFF2-40B4-BE49-F238E27FC236}">
                  <a16:creationId xmlns:a16="http://schemas.microsoft.com/office/drawing/2014/main" id="{C669CE4C-886B-4A2E-83C6-57F652E497A7}"/>
                </a:ext>
              </a:extLst>
            </p:cNvPr>
            <p:cNvSpPr/>
            <p:nvPr/>
          </p:nvSpPr>
          <p:spPr>
            <a:xfrm>
              <a:off x="7543800" y="1005840"/>
              <a:ext cx="1371600" cy="1737360"/>
            </a:xfrm>
            <a:prstGeom prst="rect">
              <a:avLst/>
            </a:prstGeom>
            <a:solidFill>
              <a:srgbClr val="0284C7">
                <a:alpha val="80000"/>
              </a:srgbClr>
            </a:solidFill>
            <a:ln w="19050">
              <a:solidFill>
                <a:srgbClr val="0284C7"/>
              </a:solidFill>
              <a:prstDash val="solid"/>
            </a:ln>
          </p:spPr>
        </p:sp>
        <p:sp>
          <p:nvSpPr>
            <p:cNvPr id="49" name="Shape 42">
              <a:extLst>
                <a:ext uri="{FF2B5EF4-FFF2-40B4-BE49-F238E27FC236}">
                  <a16:creationId xmlns:a16="http://schemas.microsoft.com/office/drawing/2014/main" id="{F5E479C5-E7F9-4CB1-AC9F-01F379AE7960}"/>
                </a:ext>
              </a:extLst>
            </p:cNvPr>
            <p:cNvSpPr/>
            <p:nvPr/>
          </p:nvSpPr>
          <p:spPr>
            <a:xfrm>
              <a:off x="7543800" y="1005840"/>
              <a:ext cx="1371600" cy="292608"/>
            </a:xfrm>
            <a:prstGeom prst="rect">
              <a:avLst/>
            </a:prstGeom>
            <a:solidFill>
              <a:srgbClr val="0284C7"/>
            </a:solidFill>
            <a:ln/>
          </p:spPr>
        </p:sp>
        <p:sp>
          <p:nvSpPr>
            <p:cNvPr id="51" name="Text 44">
              <a:extLst>
                <a:ext uri="{FF2B5EF4-FFF2-40B4-BE49-F238E27FC236}">
                  <a16:creationId xmlns:a16="http://schemas.microsoft.com/office/drawing/2014/main" id="{1BD43A9E-1917-4C63-A02D-7AAD6C5E05CE}"/>
                </a:ext>
              </a:extLst>
            </p:cNvPr>
            <p:cNvSpPr/>
            <p:nvPr/>
          </p:nvSpPr>
          <p:spPr>
            <a:xfrm>
              <a:off x="8229600" y="1005840"/>
              <a:ext cx="6858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chemeClr val="bg1"/>
                  </a:solidFill>
                </a:rPr>
                <a:t>MOD-006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52" name="Text 45">
              <a:extLst>
                <a:ext uri="{FF2B5EF4-FFF2-40B4-BE49-F238E27FC236}">
                  <a16:creationId xmlns:a16="http://schemas.microsoft.com/office/drawing/2014/main" id="{E8EAF20B-F45E-4EA4-A4B7-B2A270DD6C73}"/>
                </a:ext>
              </a:extLst>
            </p:cNvPr>
            <p:cNvSpPr/>
            <p:nvPr/>
          </p:nvSpPr>
          <p:spPr>
            <a:xfrm>
              <a:off x="7589520" y="1344168"/>
              <a:ext cx="128016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Localization</a:t>
              </a:r>
            </a:p>
            <a:p>
              <a:pPr marL="0" indent="0" algn="ctr">
                <a:buNone/>
              </a:pPr>
              <a:r>
                <a:rPr lang="en-US" sz="9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Markov Localization</a:t>
              </a:r>
            </a:p>
            <a:p>
              <a:pPr marL="0" indent="0" algn="ctr">
                <a:buNone/>
              </a:pPr>
              <a:r>
                <a:rPr lang="en-US" sz="9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Particle Filters</a:t>
              </a:r>
            </a:p>
          </p:txBody>
        </p:sp>
        <p:sp>
          <p:nvSpPr>
            <p:cNvPr id="53" name="Shape 46">
              <a:extLst>
                <a:ext uri="{FF2B5EF4-FFF2-40B4-BE49-F238E27FC236}">
                  <a16:creationId xmlns:a16="http://schemas.microsoft.com/office/drawing/2014/main" id="{BEA33722-25D3-42CC-9B89-52F0F55FD28B}"/>
                </a:ext>
              </a:extLst>
            </p:cNvPr>
            <p:cNvSpPr/>
            <p:nvPr/>
          </p:nvSpPr>
          <p:spPr>
            <a:xfrm>
              <a:off x="7635240" y="2057400"/>
              <a:ext cx="1188720" cy="502920"/>
            </a:xfrm>
            <a:prstGeom prst="rect">
              <a:avLst/>
            </a:prstGeom>
            <a:solidFill>
              <a:srgbClr val="0284C7">
                <a:alpha val="50000"/>
              </a:srgbClr>
            </a:solidFill>
            <a:ln/>
          </p:spPr>
        </p:sp>
        <p:sp>
          <p:nvSpPr>
            <p:cNvPr id="54" name="Text 47">
              <a:extLst>
                <a:ext uri="{FF2B5EF4-FFF2-40B4-BE49-F238E27FC236}">
                  <a16:creationId xmlns:a16="http://schemas.microsoft.com/office/drawing/2014/main" id="{37A87A65-7EA0-4CA7-AB45-EE52A3D6D774}"/>
                </a:ext>
              </a:extLst>
            </p:cNvPr>
            <p:cNvSpPr/>
            <p:nvPr/>
          </p:nvSpPr>
          <p:spPr>
            <a:xfrm>
              <a:off x="7635240" y="2057400"/>
              <a:ext cx="11887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chemeClr val="bg1"/>
                  </a:solidFill>
                </a:rPr>
                <a:t>Localization</a:t>
              </a:r>
              <a:endParaRPr lang="en-US" sz="8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057DB84-3983-4928-9AF4-C30E3FAC8DA4}"/>
              </a:ext>
            </a:extLst>
          </p:cNvPr>
          <p:cNvGrpSpPr/>
          <p:nvPr/>
        </p:nvGrpSpPr>
        <p:grpSpPr>
          <a:xfrm>
            <a:off x="3028114" y="2786539"/>
            <a:ext cx="1371600" cy="1737360"/>
            <a:chOff x="228600" y="2926080"/>
            <a:chExt cx="1371600" cy="1737360"/>
          </a:xfrm>
        </p:grpSpPr>
        <p:sp>
          <p:nvSpPr>
            <p:cNvPr id="56" name="Shape 48">
              <a:extLst>
                <a:ext uri="{FF2B5EF4-FFF2-40B4-BE49-F238E27FC236}">
                  <a16:creationId xmlns:a16="http://schemas.microsoft.com/office/drawing/2014/main" id="{D181A891-26C1-45DF-92C6-4324326ED3EE}"/>
                </a:ext>
              </a:extLst>
            </p:cNvPr>
            <p:cNvSpPr/>
            <p:nvPr/>
          </p:nvSpPr>
          <p:spPr>
            <a:xfrm>
              <a:off x="228600" y="2926080"/>
              <a:ext cx="1371600" cy="1737360"/>
            </a:xfrm>
            <a:prstGeom prst="rect">
              <a:avLst/>
            </a:prstGeom>
            <a:solidFill>
              <a:srgbClr val="7B61FF">
                <a:alpha val="80000"/>
              </a:srgbClr>
            </a:solidFill>
            <a:ln w="19050">
              <a:solidFill>
                <a:srgbClr val="7B61FF"/>
              </a:solidFill>
              <a:prstDash val="solid"/>
            </a:ln>
          </p:spPr>
        </p:sp>
        <p:sp>
          <p:nvSpPr>
            <p:cNvPr id="57" name="Shape 49">
              <a:extLst>
                <a:ext uri="{FF2B5EF4-FFF2-40B4-BE49-F238E27FC236}">
                  <a16:creationId xmlns:a16="http://schemas.microsoft.com/office/drawing/2014/main" id="{50D3E7C2-5C03-40B2-A94D-8575A352994F}"/>
                </a:ext>
              </a:extLst>
            </p:cNvPr>
            <p:cNvSpPr/>
            <p:nvPr/>
          </p:nvSpPr>
          <p:spPr>
            <a:xfrm>
              <a:off x="228600" y="2926080"/>
              <a:ext cx="1371600" cy="292608"/>
            </a:xfrm>
            <a:prstGeom prst="rect">
              <a:avLst/>
            </a:prstGeom>
            <a:solidFill>
              <a:srgbClr val="7B61FF"/>
            </a:solidFill>
            <a:ln/>
          </p:spPr>
        </p:sp>
        <p:sp>
          <p:nvSpPr>
            <p:cNvPr id="59" name="Text 51">
              <a:extLst>
                <a:ext uri="{FF2B5EF4-FFF2-40B4-BE49-F238E27FC236}">
                  <a16:creationId xmlns:a16="http://schemas.microsoft.com/office/drawing/2014/main" id="{BBE2C80E-6746-4D4B-BE4B-E0869F09B2EB}"/>
                </a:ext>
              </a:extLst>
            </p:cNvPr>
            <p:cNvSpPr/>
            <p:nvPr/>
          </p:nvSpPr>
          <p:spPr>
            <a:xfrm>
              <a:off x="914400" y="2926080"/>
              <a:ext cx="6858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chemeClr val="bg1"/>
                  </a:solidFill>
                </a:rPr>
                <a:t>MOD-007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60" name="Text 52">
              <a:extLst>
                <a:ext uri="{FF2B5EF4-FFF2-40B4-BE49-F238E27FC236}">
                  <a16:creationId xmlns:a16="http://schemas.microsoft.com/office/drawing/2014/main" id="{1077D6BC-DDE5-4B9D-B4D7-A98EE2C56CD7}"/>
                </a:ext>
              </a:extLst>
            </p:cNvPr>
            <p:cNvSpPr/>
            <p:nvPr/>
          </p:nvSpPr>
          <p:spPr>
            <a:xfrm>
              <a:off x="274320" y="3264408"/>
              <a:ext cx="128016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Perception</a:t>
              </a:r>
            </a:p>
            <a:p>
              <a:pPr marL="0" indent="0" algn="ctr">
                <a:buNone/>
              </a:pPr>
              <a:r>
                <a:rPr lang="en-US" sz="9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introduction</a:t>
              </a:r>
              <a:endParaRPr lang="en-US" sz="950" dirty="0">
                <a:solidFill>
                  <a:schemeClr val="bg1"/>
                </a:solidFill>
              </a:endParaRPr>
            </a:p>
          </p:txBody>
        </p:sp>
        <p:sp>
          <p:nvSpPr>
            <p:cNvPr id="61" name="Shape 53">
              <a:extLst>
                <a:ext uri="{FF2B5EF4-FFF2-40B4-BE49-F238E27FC236}">
                  <a16:creationId xmlns:a16="http://schemas.microsoft.com/office/drawing/2014/main" id="{69A24E61-494D-48A2-9873-31B5BBA13643}"/>
                </a:ext>
              </a:extLst>
            </p:cNvPr>
            <p:cNvSpPr/>
            <p:nvPr/>
          </p:nvSpPr>
          <p:spPr>
            <a:xfrm>
              <a:off x="320040" y="3977640"/>
              <a:ext cx="1188720" cy="502920"/>
            </a:xfrm>
            <a:prstGeom prst="rect">
              <a:avLst/>
            </a:prstGeom>
            <a:solidFill>
              <a:srgbClr val="7B61FF">
                <a:alpha val="50000"/>
              </a:srgbClr>
            </a:solidFill>
            <a:ln/>
          </p:spPr>
        </p:sp>
        <p:sp>
          <p:nvSpPr>
            <p:cNvPr id="62" name="Text 54">
              <a:extLst>
                <a:ext uri="{FF2B5EF4-FFF2-40B4-BE49-F238E27FC236}">
                  <a16:creationId xmlns:a16="http://schemas.microsoft.com/office/drawing/2014/main" id="{6F152F0D-8E9A-4E8B-949A-C9D7759E46C4}"/>
                </a:ext>
              </a:extLst>
            </p:cNvPr>
            <p:cNvSpPr/>
            <p:nvPr/>
          </p:nvSpPr>
          <p:spPr>
            <a:xfrm>
              <a:off x="320040" y="3977640"/>
              <a:ext cx="11887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chemeClr val="bg1"/>
                  </a:solidFill>
                </a:rPr>
                <a:t>Perception</a:t>
              </a:r>
              <a:endParaRPr lang="en-US" sz="8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1DA9ECB-3535-4FD3-84B6-38A724949CE5}"/>
              </a:ext>
            </a:extLst>
          </p:cNvPr>
          <p:cNvGrpSpPr/>
          <p:nvPr/>
        </p:nvGrpSpPr>
        <p:grpSpPr>
          <a:xfrm>
            <a:off x="4491154" y="2790727"/>
            <a:ext cx="1371600" cy="1737360"/>
            <a:chOff x="1691640" y="2926080"/>
            <a:chExt cx="1371600" cy="1737360"/>
          </a:xfrm>
        </p:grpSpPr>
        <p:sp>
          <p:nvSpPr>
            <p:cNvPr id="64" name="Shape 55">
              <a:extLst>
                <a:ext uri="{FF2B5EF4-FFF2-40B4-BE49-F238E27FC236}">
                  <a16:creationId xmlns:a16="http://schemas.microsoft.com/office/drawing/2014/main" id="{C9791F9E-808E-4110-B76D-F4634DF37EBE}"/>
                </a:ext>
              </a:extLst>
            </p:cNvPr>
            <p:cNvSpPr/>
            <p:nvPr/>
          </p:nvSpPr>
          <p:spPr>
            <a:xfrm>
              <a:off x="1691640" y="2926080"/>
              <a:ext cx="1371600" cy="1737360"/>
            </a:xfrm>
            <a:prstGeom prst="rect">
              <a:avLst/>
            </a:prstGeom>
            <a:solidFill>
              <a:srgbClr val="059669">
                <a:alpha val="80000"/>
              </a:srgbClr>
            </a:solidFill>
            <a:ln w="19050">
              <a:solidFill>
                <a:srgbClr val="059669"/>
              </a:solidFill>
              <a:prstDash val="solid"/>
            </a:ln>
          </p:spPr>
        </p:sp>
        <p:sp>
          <p:nvSpPr>
            <p:cNvPr id="65" name="Shape 56">
              <a:extLst>
                <a:ext uri="{FF2B5EF4-FFF2-40B4-BE49-F238E27FC236}">
                  <a16:creationId xmlns:a16="http://schemas.microsoft.com/office/drawing/2014/main" id="{B2D567AA-D70E-422E-BF8D-3E82DDA73734}"/>
                </a:ext>
              </a:extLst>
            </p:cNvPr>
            <p:cNvSpPr/>
            <p:nvPr/>
          </p:nvSpPr>
          <p:spPr>
            <a:xfrm>
              <a:off x="1691640" y="2926080"/>
              <a:ext cx="1371600" cy="292608"/>
            </a:xfrm>
            <a:prstGeom prst="rect">
              <a:avLst/>
            </a:prstGeom>
            <a:solidFill>
              <a:srgbClr val="059669"/>
            </a:solidFill>
            <a:ln/>
          </p:spPr>
        </p:sp>
        <p:sp>
          <p:nvSpPr>
            <p:cNvPr id="67" name="Text 58">
              <a:extLst>
                <a:ext uri="{FF2B5EF4-FFF2-40B4-BE49-F238E27FC236}">
                  <a16:creationId xmlns:a16="http://schemas.microsoft.com/office/drawing/2014/main" id="{85A0E8A5-5A06-4FB3-AAC7-DAEA04C35C1E}"/>
                </a:ext>
              </a:extLst>
            </p:cNvPr>
            <p:cNvSpPr/>
            <p:nvPr/>
          </p:nvSpPr>
          <p:spPr>
            <a:xfrm>
              <a:off x="2377440" y="2926080"/>
              <a:ext cx="6858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chemeClr val="bg1"/>
                  </a:solidFill>
                </a:rPr>
                <a:t>MOD-008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68" name="Text 59">
              <a:extLst>
                <a:ext uri="{FF2B5EF4-FFF2-40B4-BE49-F238E27FC236}">
                  <a16:creationId xmlns:a16="http://schemas.microsoft.com/office/drawing/2014/main" id="{7F0D0F2C-1B2E-472F-9C46-779EE566F1B3}"/>
                </a:ext>
              </a:extLst>
            </p:cNvPr>
            <p:cNvSpPr/>
            <p:nvPr/>
          </p:nvSpPr>
          <p:spPr>
            <a:xfrm>
              <a:off x="1737360" y="3264408"/>
              <a:ext cx="128016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SLAM</a:t>
              </a:r>
              <a:endParaRPr lang="en-US" sz="950" dirty="0">
                <a:solidFill>
                  <a:schemeClr val="bg1"/>
                </a:solidFill>
              </a:endParaRPr>
            </a:p>
          </p:txBody>
        </p:sp>
        <p:sp>
          <p:nvSpPr>
            <p:cNvPr id="69" name="Shape 60">
              <a:extLst>
                <a:ext uri="{FF2B5EF4-FFF2-40B4-BE49-F238E27FC236}">
                  <a16:creationId xmlns:a16="http://schemas.microsoft.com/office/drawing/2014/main" id="{418D9F95-DF1C-4405-90AF-3C1688B37B2F}"/>
                </a:ext>
              </a:extLst>
            </p:cNvPr>
            <p:cNvSpPr/>
            <p:nvPr/>
          </p:nvSpPr>
          <p:spPr>
            <a:xfrm>
              <a:off x="1783080" y="3977640"/>
              <a:ext cx="1188720" cy="502920"/>
            </a:xfrm>
            <a:prstGeom prst="rect">
              <a:avLst/>
            </a:prstGeom>
            <a:solidFill>
              <a:srgbClr val="059669">
                <a:alpha val="50000"/>
              </a:srgbClr>
            </a:solidFill>
            <a:ln/>
          </p:spPr>
        </p:sp>
        <p:sp>
          <p:nvSpPr>
            <p:cNvPr id="70" name="Text 61">
              <a:extLst>
                <a:ext uri="{FF2B5EF4-FFF2-40B4-BE49-F238E27FC236}">
                  <a16:creationId xmlns:a16="http://schemas.microsoft.com/office/drawing/2014/main" id="{0F4D5CBD-7881-45DD-B458-CFF80A11F3D5}"/>
                </a:ext>
              </a:extLst>
            </p:cNvPr>
            <p:cNvSpPr/>
            <p:nvPr/>
          </p:nvSpPr>
          <p:spPr>
            <a:xfrm>
              <a:off x="1783080" y="3977640"/>
              <a:ext cx="11887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chemeClr val="bg1"/>
                  </a:solidFill>
                </a:rPr>
                <a:t>Localization and Mapping</a:t>
              </a:r>
              <a:endParaRPr lang="en-US" sz="8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92B33DE-892C-4B8E-91F2-1DDB1B4F6E46}"/>
              </a:ext>
            </a:extLst>
          </p:cNvPr>
          <p:cNvGrpSpPr/>
          <p:nvPr/>
        </p:nvGrpSpPr>
        <p:grpSpPr>
          <a:xfrm>
            <a:off x="5954194" y="2784736"/>
            <a:ext cx="1371600" cy="1737360"/>
            <a:chOff x="3154680" y="2926080"/>
            <a:chExt cx="1371600" cy="1737360"/>
          </a:xfrm>
        </p:grpSpPr>
        <p:sp>
          <p:nvSpPr>
            <p:cNvPr id="72" name="Shape 62">
              <a:extLst>
                <a:ext uri="{FF2B5EF4-FFF2-40B4-BE49-F238E27FC236}">
                  <a16:creationId xmlns:a16="http://schemas.microsoft.com/office/drawing/2014/main" id="{602CEA6F-A208-4526-A743-17BE9ED4636B}"/>
                </a:ext>
              </a:extLst>
            </p:cNvPr>
            <p:cNvSpPr/>
            <p:nvPr/>
          </p:nvSpPr>
          <p:spPr>
            <a:xfrm>
              <a:off x="3154680" y="2926080"/>
              <a:ext cx="1371600" cy="1737360"/>
            </a:xfrm>
            <a:prstGeom prst="rect">
              <a:avLst/>
            </a:prstGeom>
            <a:solidFill>
              <a:srgbClr val="F97316">
                <a:alpha val="80000"/>
              </a:srgbClr>
            </a:solidFill>
            <a:ln w="19050">
              <a:solidFill>
                <a:srgbClr val="F97316"/>
              </a:solidFill>
              <a:prstDash val="solid"/>
            </a:ln>
          </p:spPr>
        </p:sp>
        <p:sp>
          <p:nvSpPr>
            <p:cNvPr id="73" name="Shape 63">
              <a:extLst>
                <a:ext uri="{FF2B5EF4-FFF2-40B4-BE49-F238E27FC236}">
                  <a16:creationId xmlns:a16="http://schemas.microsoft.com/office/drawing/2014/main" id="{1EA9A5AC-BBFF-4215-9577-73F06B1B905D}"/>
                </a:ext>
              </a:extLst>
            </p:cNvPr>
            <p:cNvSpPr/>
            <p:nvPr/>
          </p:nvSpPr>
          <p:spPr>
            <a:xfrm>
              <a:off x="3154680" y="2926080"/>
              <a:ext cx="1371600" cy="292608"/>
            </a:xfrm>
            <a:prstGeom prst="rect">
              <a:avLst/>
            </a:prstGeom>
            <a:solidFill>
              <a:srgbClr val="F97316"/>
            </a:solidFill>
            <a:ln/>
          </p:spPr>
        </p:sp>
        <p:sp>
          <p:nvSpPr>
            <p:cNvPr id="75" name="Text 65">
              <a:extLst>
                <a:ext uri="{FF2B5EF4-FFF2-40B4-BE49-F238E27FC236}">
                  <a16:creationId xmlns:a16="http://schemas.microsoft.com/office/drawing/2014/main" id="{F20B5875-CE37-448A-BFDE-D2F2C7BCC274}"/>
                </a:ext>
              </a:extLst>
            </p:cNvPr>
            <p:cNvSpPr/>
            <p:nvPr/>
          </p:nvSpPr>
          <p:spPr>
            <a:xfrm>
              <a:off x="3840480" y="2926080"/>
              <a:ext cx="6858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chemeClr val="bg1"/>
                  </a:solidFill>
                </a:rPr>
                <a:t>MOD-009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76" name="Text 66">
              <a:extLst>
                <a:ext uri="{FF2B5EF4-FFF2-40B4-BE49-F238E27FC236}">
                  <a16:creationId xmlns:a16="http://schemas.microsoft.com/office/drawing/2014/main" id="{03DB5F55-89CA-4B38-AC7A-48F8D89002B8}"/>
                </a:ext>
              </a:extLst>
            </p:cNvPr>
            <p:cNvSpPr/>
            <p:nvPr/>
          </p:nvSpPr>
          <p:spPr>
            <a:xfrm>
              <a:off x="3200400" y="3264408"/>
              <a:ext cx="128016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Path Planning</a:t>
              </a:r>
              <a:endParaRPr lang="en-US" sz="950" dirty="0">
                <a:solidFill>
                  <a:schemeClr val="bg1"/>
                </a:solidFill>
              </a:endParaRPr>
            </a:p>
          </p:txBody>
        </p:sp>
        <p:sp>
          <p:nvSpPr>
            <p:cNvPr id="77" name="Shape 67">
              <a:extLst>
                <a:ext uri="{FF2B5EF4-FFF2-40B4-BE49-F238E27FC236}">
                  <a16:creationId xmlns:a16="http://schemas.microsoft.com/office/drawing/2014/main" id="{602E1996-8F99-4965-8076-77AFD5A65648}"/>
                </a:ext>
              </a:extLst>
            </p:cNvPr>
            <p:cNvSpPr/>
            <p:nvPr/>
          </p:nvSpPr>
          <p:spPr>
            <a:xfrm>
              <a:off x="3246120" y="3977640"/>
              <a:ext cx="1188720" cy="502920"/>
            </a:xfrm>
            <a:prstGeom prst="rect">
              <a:avLst/>
            </a:prstGeom>
            <a:solidFill>
              <a:srgbClr val="F97316">
                <a:alpha val="50000"/>
              </a:srgbClr>
            </a:solidFill>
            <a:ln/>
          </p:spPr>
        </p:sp>
        <p:sp>
          <p:nvSpPr>
            <p:cNvPr id="78" name="Text 68">
              <a:extLst>
                <a:ext uri="{FF2B5EF4-FFF2-40B4-BE49-F238E27FC236}">
                  <a16:creationId xmlns:a16="http://schemas.microsoft.com/office/drawing/2014/main" id="{8FE8CF7C-17B9-41EF-9176-06A10817D944}"/>
                </a:ext>
              </a:extLst>
            </p:cNvPr>
            <p:cNvSpPr/>
            <p:nvPr/>
          </p:nvSpPr>
          <p:spPr>
            <a:xfrm>
              <a:off x="3246120" y="3977640"/>
              <a:ext cx="11887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chemeClr val="bg1"/>
                  </a:solidFill>
                </a:rPr>
                <a:t>Planning</a:t>
              </a:r>
              <a:endParaRPr lang="en-US" sz="85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00464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1DA1B-F00B-4286-8E02-993E9C1A3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Levels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447C9-64CE-4BD1-B92C-56C59201B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A8EA47-D463-4501-89D6-5DDBD0635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EFBA62D-F0B6-4FE4-9976-2E7DE4BE66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200" i="1" dirty="0">
                <a:solidFill>
                  <a:srgbClr val="94A3B8"/>
                </a:solidFill>
              </a:rPr>
              <a:t>Standard: IEEE 1872 — Ontologies for Robotics and Automation (ORA) | SAE J3016 for Automated Driving levels</a:t>
            </a:r>
            <a:endParaRPr lang="en-US" sz="1200" dirty="0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9E6C2524-DF27-4077-8E99-32BDFA5E7D34}"/>
              </a:ext>
            </a:extLst>
          </p:cNvPr>
          <p:cNvSpPr/>
          <p:nvPr/>
        </p:nvSpPr>
        <p:spPr>
          <a:xfrm>
            <a:off x="274320" y="1005840"/>
            <a:ext cx="8595360" cy="411480"/>
          </a:xfrm>
          <a:prstGeom prst="rect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26F655D0-3C2E-4257-8085-B313A6EA6921}"/>
              </a:ext>
            </a:extLst>
          </p:cNvPr>
          <p:cNvSpPr/>
          <p:nvPr/>
        </p:nvSpPr>
        <p:spPr>
          <a:xfrm>
            <a:off x="274320" y="10058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47A1"/>
                </a:solidFill>
              </a:rPr>
              <a:t>← More Human Control    |    More Robot Autonomy →</a:t>
            </a:r>
            <a:endParaRPr lang="en-US" sz="11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12CE1BB-190C-41EE-A169-DB5F60A929FF}"/>
              </a:ext>
            </a:extLst>
          </p:cNvPr>
          <p:cNvGrpSpPr/>
          <p:nvPr/>
        </p:nvGrpSpPr>
        <p:grpSpPr>
          <a:xfrm>
            <a:off x="274320" y="1508760"/>
            <a:ext cx="2011680" cy="1417320"/>
            <a:chOff x="274320" y="1508760"/>
            <a:chExt cx="2011680" cy="1417320"/>
          </a:xfrm>
        </p:grpSpPr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E0E4763F-7D08-4CEE-B0D7-B02926EB9AC1}"/>
                </a:ext>
              </a:extLst>
            </p:cNvPr>
            <p:cNvSpPr/>
            <p:nvPr/>
          </p:nvSpPr>
          <p:spPr>
            <a:xfrm>
              <a:off x="274320" y="1508760"/>
              <a:ext cx="2011680" cy="411480"/>
            </a:xfrm>
            <a:prstGeom prst="rect">
              <a:avLst/>
            </a:prstGeom>
            <a:solidFill>
              <a:srgbClr val="DC2626"/>
            </a:solidFill>
            <a:ln/>
          </p:spPr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024D34F7-C296-456E-8E46-45C458393BFB}"/>
                </a:ext>
              </a:extLst>
            </p:cNvPr>
            <p:cNvSpPr/>
            <p:nvPr/>
          </p:nvSpPr>
          <p:spPr>
            <a:xfrm>
              <a:off x="274320" y="1508760"/>
              <a:ext cx="20116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Teleoperated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(Remote Control)</a:t>
              </a:r>
              <a:endParaRPr lang="en-US" sz="1200" dirty="0"/>
            </a:p>
          </p:txBody>
        </p:sp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80ADA5B3-4F9B-49C6-A69F-FF48A7ED227D}"/>
                </a:ext>
              </a:extLst>
            </p:cNvPr>
            <p:cNvSpPr/>
            <p:nvPr/>
          </p:nvSpPr>
          <p:spPr>
            <a:xfrm>
              <a:off x="274320" y="1965960"/>
              <a:ext cx="2011680" cy="960120"/>
            </a:xfrm>
            <a:prstGeom prst="rect">
              <a:avLst/>
            </a:prstGeom>
            <a:solidFill>
              <a:srgbClr val="DC2626">
                <a:alpha val="20000"/>
              </a:srgbClr>
            </a:solidFill>
            <a:ln w="12700">
              <a:solidFill>
                <a:srgbClr val="DC2626"/>
              </a:solidFill>
              <a:prstDash val="solid"/>
            </a:ln>
          </p:spPr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800B8703-6FFD-4EA1-BFBF-C97BA45A1BF2}"/>
                </a:ext>
              </a:extLst>
            </p:cNvPr>
            <p:cNvSpPr/>
            <p:nvPr/>
          </p:nvSpPr>
          <p:spPr>
            <a:xfrm>
              <a:off x="320040" y="1993392"/>
              <a:ext cx="192024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A1A2E"/>
                  </a:solidFill>
                </a:rPr>
                <a:t>Human decides + executes.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A1A2E"/>
                  </a:solidFill>
                </a:rPr>
                <a:t>Robot = dumb actuator.</a:t>
              </a:r>
              <a:endParaRPr lang="en-US" sz="1200" dirty="0"/>
            </a:p>
          </p:txBody>
        </p:sp>
      </p:grpSp>
      <p:sp>
        <p:nvSpPr>
          <p:cNvPr id="14" name="Text 13">
            <a:extLst>
              <a:ext uri="{FF2B5EF4-FFF2-40B4-BE49-F238E27FC236}">
                <a16:creationId xmlns:a16="http://schemas.microsoft.com/office/drawing/2014/main" id="{432CFCA8-5442-4AD1-A6A6-A30F5604D482}"/>
              </a:ext>
            </a:extLst>
          </p:cNvPr>
          <p:cNvSpPr/>
          <p:nvPr/>
        </p:nvSpPr>
        <p:spPr>
          <a:xfrm>
            <a:off x="2423160" y="1508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Supervised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Autonomy</a:t>
            </a:r>
            <a:endParaRPr lang="en-US" sz="12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3D04AE1-B7A4-46AF-96B0-C0E63242873B}"/>
              </a:ext>
            </a:extLst>
          </p:cNvPr>
          <p:cNvGrpSpPr/>
          <p:nvPr/>
        </p:nvGrpSpPr>
        <p:grpSpPr>
          <a:xfrm>
            <a:off x="2423160" y="1508760"/>
            <a:ext cx="2011680" cy="1417320"/>
            <a:chOff x="2423160" y="1508760"/>
            <a:chExt cx="2011680" cy="1417320"/>
          </a:xfrm>
        </p:grpSpPr>
        <p:sp>
          <p:nvSpPr>
            <p:cNvPr id="16" name="Shape 12">
              <a:extLst>
                <a:ext uri="{FF2B5EF4-FFF2-40B4-BE49-F238E27FC236}">
                  <a16:creationId xmlns:a16="http://schemas.microsoft.com/office/drawing/2014/main" id="{DDE804AA-EDED-4A13-97D8-3B0607F1856F}"/>
                </a:ext>
              </a:extLst>
            </p:cNvPr>
            <p:cNvSpPr/>
            <p:nvPr/>
          </p:nvSpPr>
          <p:spPr>
            <a:xfrm>
              <a:off x="2423160" y="1508760"/>
              <a:ext cx="2011680" cy="411480"/>
            </a:xfrm>
            <a:prstGeom prst="rect">
              <a:avLst/>
            </a:prstGeom>
            <a:solidFill>
              <a:srgbClr val="F97316"/>
            </a:solidFill>
            <a:ln/>
          </p:spPr>
          <p:txBody>
            <a:bodyPr/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</a:rPr>
                <a:t>Supervised</a:t>
              </a:r>
            </a:p>
            <a:p>
              <a:pPr algn="ctr"/>
              <a:r>
                <a:rPr lang="en-US" sz="1200" b="1" dirty="0">
                  <a:solidFill>
                    <a:srgbClr val="FFFFFF"/>
                  </a:solidFill>
                </a:rPr>
                <a:t>Autonomy</a:t>
              </a:r>
            </a:p>
          </p:txBody>
        </p:sp>
        <p:sp>
          <p:nvSpPr>
            <p:cNvPr id="17" name="Shape 14">
              <a:extLst>
                <a:ext uri="{FF2B5EF4-FFF2-40B4-BE49-F238E27FC236}">
                  <a16:creationId xmlns:a16="http://schemas.microsoft.com/office/drawing/2014/main" id="{A29B18D8-FC69-4889-BEB9-FA23CA589B10}"/>
                </a:ext>
              </a:extLst>
            </p:cNvPr>
            <p:cNvSpPr/>
            <p:nvPr/>
          </p:nvSpPr>
          <p:spPr>
            <a:xfrm>
              <a:off x="2423160" y="1965960"/>
              <a:ext cx="2011680" cy="960120"/>
            </a:xfrm>
            <a:prstGeom prst="rect">
              <a:avLst/>
            </a:prstGeom>
            <a:solidFill>
              <a:srgbClr val="F97316">
                <a:alpha val="20000"/>
              </a:srgbClr>
            </a:solidFill>
            <a:ln w="12700">
              <a:solidFill>
                <a:srgbClr val="F97316"/>
              </a:solidFill>
              <a:prstDash val="solid"/>
            </a:ln>
          </p:spPr>
        </p:sp>
        <p:sp>
          <p:nvSpPr>
            <p:cNvPr id="18" name="Text 15">
              <a:extLst>
                <a:ext uri="{FF2B5EF4-FFF2-40B4-BE49-F238E27FC236}">
                  <a16:creationId xmlns:a16="http://schemas.microsoft.com/office/drawing/2014/main" id="{BB6C5375-B45D-4A7E-ACA1-E67048D907A6}"/>
                </a:ext>
              </a:extLst>
            </p:cNvPr>
            <p:cNvSpPr/>
            <p:nvPr/>
          </p:nvSpPr>
          <p:spPr>
            <a:xfrm>
              <a:off x="2468880" y="1993392"/>
              <a:ext cx="192024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A1A2E"/>
                  </a:solidFill>
                </a:rPr>
                <a:t>Human supervises.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A1A2E"/>
                  </a:solidFill>
                </a:rPr>
                <a:t>Robot handles tasks.</a:t>
              </a:r>
              <a:endParaRPr lang="en-US" sz="12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39FFB52-1D17-405E-99E4-644AE599F72B}"/>
              </a:ext>
            </a:extLst>
          </p:cNvPr>
          <p:cNvGrpSpPr/>
          <p:nvPr/>
        </p:nvGrpSpPr>
        <p:grpSpPr>
          <a:xfrm>
            <a:off x="4572000" y="1508760"/>
            <a:ext cx="2011680" cy="1417320"/>
            <a:chOff x="4572000" y="1508760"/>
            <a:chExt cx="2011680" cy="1417320"/>
          </a:xfrm>
        </p:grpSpPr>
        <p:sp>
          <p:nvSpPr>
            <p:cNvPr id="20" name="Shape 16">
              <a:extLst>
                <a:ext uri="{FF2B5EF4-FFF2-40B4-BE49-F238E27FC236}">
                  <a16:creationId xmlns:a16="http://schemas.microsoft.com/office/drawing/2014/main" id="{8C2DA731-F20B-4939-B826-1755430A145B}"/>
                </a:ext>
              </a:extLst>
            </p:cNvPr>
            <p:cNvSpPr/>
            <p:nvPr/>
          </p:nvSpPr>
          <p:spPr>
            <a:xfrm>
              <a:off x="4572000" y="1508760"/>
              <a:ext cx="2011680" cy="411480"/>
            </a:xfrm>
            <a:prstGeom prst="rect">
              <a:avLst/>
            </a:prstGeom>
            <a:solidFill>
              <a:srgbClr val="7C3AED"/>
            </a:solidFill>
            <a:ln/>
          </p:spPr>
        </p:sp>
        <p:sp>
          <p:nvSpPr>
            <p:cNvPr id="21" name="Text 17">
              <a:extLst>
                <a:ext uri="{FF2B5EF4-FFF2-40B4-BE49-F238E27FC236}">
                  <a16:creationId xmlns:a16="http://schemas.microsoft.com/office/drawing/2014/main" id="{416DFF01-7002-41A0-8A5F-56F39AF56D5B}"/>
                </a:ext>
              </a:extLst>
            </p:cNvPr>
            <p:cNvSpPr/>
            <p:nvPr/>
          </p:nvSpPr>
          <p:spPr>
            <a:xfrm>
              <a:off x="4572000" y="1508760"/>
              <a:ext cx="20116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Conditional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Autonomy</a:t>
              </a:r>
              <a:endParaRPr lang="en-US" sz="1200" dirty="0"/>
            </a:p>
          </p:txBody>
        </p:sp>
        <p:sp>
          <p:nvSpPr>
            <p:cNvPr id="22" name="Shape 18">
              <a:extLst>
                <a:ext uri="{FF2B5EF4-FFF2-40B4-BE49-F238E27FC236}">
                  <a16:creationId xmlns:a16="http://schemas.microsoft.com/office/drawing/2014/main" id="{B090F6D8-2965-4DAC-A9F0-153DD45A4D75}"/>
                </a:ext>
              </a:extLst>
            </p:cNvPr>
            <p:cNvSpPr/>
            <p:nvPr/>
          </p:nvSpPr>
          <p:spPr>
            <a:xfrm>
              <a:off x="4572000" y="1965960"/>
              <a:ext cx="2011680" cy="960120"/>
            </a:xfrm>
            <a:prstGeom prst="rect">
              <a:avLst/>
            </a:prstGeom>
            <a:solidFill>
              <a:srgbClr val="7C3AED">
                <a:alpha val="20000"/>
              </a:srgbClr>
            </a:solidFill>
            <a:ln w="12700">
              <a:solidFill>
                <a:srgbClr val="7C3AED"/>
              </a:solidFill>
              <a:prstDash val="solid"/>
            </a:ln>
          </p:spPr>
        </p:sp>
        <p:sp>
          <p:nvSpPr>
            <p:cNvPr id="23" name="Text 19">
              <a:extLst>
                <a:ext uri="{FF2B5EF4-FFF2-40B4-BE49-F238E27FC236}">
                  <a16:creationId xmlns:a16="http://schemas.microsoft.com/office/drawing/2014/main" id="{3D815444-A0E2-494B-8508-10C1674D473E}"/>
                </a:ext>
              </a:extLst>
            </p:cNvPr>
            <p:cNvSpPr/>
            <p:nvPr/>
          </p:nvSpPr>
          <p:spPr>
            <a:xfrm>
              <a:off x="4617720" y="1993392"/>
              <a:ext cx="192024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A1A2E"/>
                  </a:solidFill>
                </a:rPr>
                <a:t>Robot autonomous.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A1A2E"/>
                  </a:solidFill>
                </a:rPr>
                <a:t>Human fallback ready.</a:t>
              </a:r>
              <a:endParaRPr lang="en-US" sz="12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A4E17F1-DC4A-4B15-96BD-FDDEA118E5E1}"/>
              </a:ext>
            </a:extLst>
          </p:cNvPr>
          <p:cNvGrpSpPr/>
          <p:nvPr/>
        </p:nvGrpSpPr>
        <p:grpSpPr>
          <a:xfrm>
            <a:off x="6720840" y="1508760"/>
            <a:ext cx="2011680" cy="1417320"/>
            <a:chOff x="6720840" y="1508760"/>
            <a:chExt cx="2011680" cy="1417320"/>
          </a:xfrm>
        </p:grpSpPr>
        <p:sp>
          <p:nvSpPr>
            <p:cNvPr id="25" name="Shape 20">
              <a:extLst>
                <a:ext uri="{FF2B5EF4-FFF2-40B4-BE49-F238E27FC236}">
                  <a16:creationId xmlns:a16="http://schemas.microsoft.com/office/drawing/2014/main" id="{A4021F00-56A8-443D-9C7D-849262B16979}"/>
                </a:ext>
              </a:extLst>
            </p:cNvPr>
            <p:cNvSpPr/>
            <p:nvPr/>
          </p:nvSpPr>
          <p:spPr>
            <a:xfrm>
              <a:off x="6720840" y="1508760"/>
              <a:ext cx="2011680" cy="411480"/>
            </a:xfrm>
            <a:prstGeom prst="rect">
              <a:avLst/>
            </a:prstGeom>
            <a:solidFill>
              <a:srgbClr val="059669"/>
            </a:solidFill>
            <a:ln/>
          </p:spPr>
        </p:sp>
        <p:sp>
          <p:nvSpPr>
            <p:cNvPr id="26" name="Text 21">
              <a:extLst>
                <a:ext uri="{FF2B5EF4-FFF2-40B4-BE49-F238E27FC236}">
                  <a16:creationId xmlns:a16="http://schemas.microsoft.com/office/drawing/2014/main" id="{048B088E-84E8-4F4E-BE22-ECEE43B05096}"/>
                </a:ext>
              </a:extLst>
            </p:cNvPr>
            <p:cNvSpPr/>
            <p:nvPr/>
          </p:nvSpPr>
          <p:spPr>
            <a:xfrm>
              <a:off x="6720840" y="1508760"/>
              <a:ext cx="20116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Full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Autonomy</a:t>
              </a:r>
              <a:endParaRPr lang="en-US" sz="1200" dirty="0"/>
            </a:p>
          </p:txBody>
        </p:sp>
        <p:sp>
          <p:nvSpPr>
            <p:cNvPr id="27" name="Shape 22">
              <a:extLst>
                <a:ext uri="{FF2B5EF4-FFF2-40B4-BE49-F238E27FC236}">
                  <a16:creationId xmlns:a16="http://schemas.microsoft.com/office/drawing/2014/main" id="{A647885C-5871-4CC4-A3FF-BFE70031CF10}"/>
                </a:ext>
              </a:extLst>
            </p:cNvPr>
            <p:cNvSpPr/>
            <p:nvPr/>
          </p:nvSpPr>
          <p:spPr>
            <a:xfrm>
              <a:off x="6720840" y="1965960"/>
              <a:ext cx="2011680" cy="960120"/>
            </a:xfrm>
            <a:prstGeom prst="rect">
              <a:avLst/>
            </a:prstGeom>
            <a:solidFill>
              <a:srgbClr val="059669">
                <a:alpha val="20000"/>
              </a:srgbClr>
            </a:solidFill>
            <a:ln w="12700">
              <a:solidFill>
                <a:srgbClr val="059669"/>
              </a:solidFill>
              <a:prstDash val="solid"/>
            </a:ln>
          </p:spPr>
        </p:sp>
        <p:sp>
          <p:nvSpPr>
            <p:cNvPr id="28" name="Text 23">
              <a:extLst>
                <a:ext uri="{FF2B5EF4-FFF2-40B4-BE49-F238E27FC236}">
                  <a16:creationId xmlns:a16="http://schemas.microsoft.com/office/drawing/2014/main" id="{D189C577-4C94-42A4-9B41-811948605BF8}"/>
                </a:ext>
              </a:extLst>
            </p:cNvPr>
            <p:cNvSpPr/>
            <p:nvPr/>
          </p:nvSpPr>
          <p:spPr>
            <a:xfrm>
              <a:off x="6766560" y="1993392"/>
              <a:ext cx="192024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A1A2E"/>
                  </a:solidFill>
                </a:rPr>
                <a:t>Robot decides + executes.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A1A2E"/>
                  </a:solidFill>
                </a:rPr>
                <a:t>No human needed.</a:t>
              </a:r>
              <a:endParaRPr lang="en-US" sz="12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0F3226F-6BC7-433F-9B2A-21A7105151E7}"/>
              </a:ext>
            </a:extLst>
          </p:cNvPr>
          <p:cNvGrpSpPr/>
          <p:nvPr/>
        </p:nvGrpSpPr>
        <p:grpSpPr>
          <a:xfrm>
            <a:off x="274320" y="3063240"/>
            <a:ext cx="8595360" cy="1124712"/>
            <a:chOff x="274320" y="3063240"/>
            <a:chExt cx="8595360" cy="1124712"/>
          </a:xfrm>
        </p:grpSpPr>
        <p:sp>
          <p:nvSpPr>
            <p:cNvPr id="30" name="Shape 24">
              <a:extLst>
                <a:ext uri="{FF2B5EF4-FFF2-40B4-BE49-F238E27FC236}">
                  <a16:creationId xmlns:a16="http://schemas.microsoft.com/office/drawing/2014/main" id="{BA46249B-80C3-4970-937F-CC9344361E94}"/>
                </a:ext>
              </a:extLst>
            </p:cNvPr>
            <p:cNvSpPr/>
            <p:nvPr/>
          </p:nvSpPr>
          <p:spPr>
            <a:xfrm>
              <a:off x="274320" y="3063240"/>
              <a:ext cx="8595360" cy="256032"/>
            </a:xfrm>
            <a:prstGeom prst="rect">
              <a:avLst/>
            </a:prstGeom>
            <a:solidFill>
              <a:srgbClr val="0D47A1"/>
            </a:solidFill>
            <a:ln/>
          </p:spPr>
        </p:sp>
        <p:sp>
          <p:nvSpPr>
            <p:cNvPr id="31" name="Text 25">
              <a:extLst>
                <a:ext uri="{FF2B5EF4-FFF2-40B4-BE49-F238E27FC236}">
                  <a16:creationId xmlns:a16="http://schemas.microsoft.com/office/drawing/2014/main" id="{EC51D0F9-0E60-4F34-BBDE-E9D3DDD8B84B}"/>
                </a:ext>
              </a:extLst>
            </p:cNvPr>
            <p:cNvSpPr/>
            <p:nvPr/>
          </p:nvSpPr>
          <p:spPr>
            <a:xfrm>
              <a:off x="274320" y="3063240"/>
              <a:ext cx="859536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REAL-WORLD EXAMPLES</a:t>
              </a:r>
              <a:endParaRPr lang="en-US" sz="1200" dirty="0"/>
            </a:p>
          </p:txBody>
        </p:sp>
        <p:sp>
          <p:nvSpPr>
            <p:cNvPr id="32" name="Shape 26">
              <a:extLst>
                <a:ext uri="{FF2B5EF4-FFF2-40B4-BE49-F238E27FC236}">
                  <a16:creationId xmlns:a16="http://schemas.microsoft.com/office/drawing/2014/main" id="{B9428441-EAD7-4122-A589-8B05FC5B5324}"/>
                </a:ext>
              </a:extLst>
            </p:cNvPr>
            <p:cNvSpPr/>
            <p:nvPr/>
          </p:nvSpPr>
          <p:spPr>
            <a:xfrm>
              <a:off x="274320" y="3364992"/>
              <a:ext cx="2011680" cy="82296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C2626"/>
              </a:solidFill>
              <a:prstDash val="solid"/>
            </a:ln>
          </p:spPr>
        </p:sp>
        <p:sp>
          <p:nvSpPr>
            <p:cNvPr id="33" name="Text 27">
              <a:extLst>
                <a:ext uri="{FF2B5EF4-FFF2-40B4-BE49-F238E27FC236}">
                  <a16:creationId xmlns:a16="http://schemas.microsoft.com/office/drawing/2014/main" id="{335B11A2-A928-4DEB-9ADB-E5B24DF6BC4F}"/>
                </a:ext>
              </a:extLst>
            </p:cNvPr>
            <p:cNvSpPr/>
            <p:nvPr/>
          </p:nvSpPr>
          <p:spPr>
            <a:xfrm>
              <a:off x="320040" y="3401568"/>
              <a:ext cx="1920240" cy="7498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A1A2E"/>
                  </a:solidFill>
                </a:rPr>
                <a:t>Unmanned Ground Vehicle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A1A2E"/>
                  </a:solidFill>
                </a:rPr>
                <a:t>(operator-driven)</a:t>
              </a:r>
              <a:endParaRPr lang="en-US" sz="1200" dirty="0"/>
            </a:p>
          </p:txBody>
        </p:sp>
        <p:sp>
          <p:nvSpPr>
            <p:cNvPr id="34" name="Shape 28">
              <a:extLst>
                <a:ext uri="{FF2B5EF4-FFF2-40B4-BE49-F238E27FC236}">
                  <a16:creationId xmlns:a16="http://schemas.microsoft.com/office/drawing/2014/main" id="{24AE3512-98D5-4ECC-BB4D-05DCC81883B8}"/>
                </a:ext>
              </a:extLst>
            </p:cNvPr>
            <p:cNvSpPr/>
            <p:nvPr/>
          </p:nvSpPr>
          <p:spPr>
            <a:xfrm>
              <a:off x="2423160" y="3364992"/>
              <a:ext cx="2011680" cy="82296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97316"/>
              </a:solidFill>
              <a:prstDash val="solid"/>
            </a:ln>
          </p:spPr>
        </p:sp>
        <p:sp>
          <p:nvSpPr>
            <p:cNvPr id="35" name="Text 29">
              <a:extLst>
                <a:ext uri="{FF2B5EF4-FFF2-40B4-BE49-F238E27FC236}">
                  <a16:creationId xmlns:a16="http://schemas.microsoft.com/office/drawing/2014/main" id="{EA0C7309-0542-4E21-8277-957AF5E4207A}"/>
                </a:ext>
              </a:extLst>
            </p:cNvPr>
            <p:cNvSpPr/>
            <p:nvPr/>
          </p:nvSpPr>
          <p:spPr>
            <a:xfrm>
              <a:off x="2468880" y="3401568"/>
              <a:ext cx="1920240" cy="7498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A1A2E"/>
                  </a:solidFill>
                </a:rPr>
                <a:t>Tesla Autopilot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A1A2E"/>
                  </a:solidFill>
                </a:rPr>
                <a:t>(driver monitor)</a:t>
              </a:r>
              <a:endParaRPr lang="en-US" sz="1200" dirty="0"/>
            </a:p>
          </p:txBody>
        </p:sp>
        <p:sp>
          <p:nvSpPr>
            <p:cNvPr id="36" name="Shape 30">
              <a:extLst>
                <a:ext uri="{FF2B5EF4-FFF2-40B4-BE49-F238E27FC236}">
                  <a16:creationId xmlns:a16="http://schemas.microsoft.com/office/drawing/2014/main" id="{F83A40CD-64D0-4425-9A2D-3E64027EDD02}"/>
                </a:ext>
              </a:extLst>
            </p:cNvPr>
            <p:cNvSpPr/>
            <p:nvPr/>
          </p:nvSpPr>
          <p:spPr>
            <a:xfrm>
              <a:off x="4572000" y="3364992"/>
              <a:ext cx="2011680" cy="82296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7C3AED"/>
              </a:solidFill>
              <a:prstDash val="solid"/>
            </a:ln>
          </p:spPr>
        </p:sp>
        <p:sp>
          <p:nvSpPr>
            <p:cNvPr id="37" name="Text 31">
              <a:extLst>
                <a:ext uri="{FF2B5EF4-FFF2-40B4-BE49-F238E27FC236}">
                  <a16:creationId xmlns:a16="http://schemas.microsoft.com/office/drawing/2014/main" id="{1BED59A6-51C9-47E5-A5FB-DE8497A1C4F1}"/>
                </a:ext>
              </a:extLst>
            </p:cNvPr>
            <p:cNvSpPr/>
            <p:nvPr/>
          </p:nvSpPr>
          <p:spPr>
            <a:xfrm>
              <a:off x="4617720" y="3401568"/>
              <a:ext cx="1920240" cy="7498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A1A2E"/>
                  </a:solidFill>
                </a:rPr>
                <a:t>Waymo (geo-fenced)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A1A2E"/>
                  </a:solidFill>
                </a:rPr>
                <a:t>SAE Level 4</a:t>
              </a:r>
              <a:endParaRPr lang="en-US" sz="1200" dirty="0"/>
            </a:p>
          </p:txBody>
        </p:sp>
        <p:sp>
          <p:nvSpPr>
            <p:cNvPr id="38" name="Shape 32">
              <a:extLst>
                <a:ext uri="{FF2B5EF4-FFF2-40B4-BE49-F238E27FC236}">
                  <a16:creationId xmlns:a16="http://schemas.microsoft.com/office/drawing/2014/main" id="{462D856A-9314-4DA6-8366-EFA0876E6ED2}"/>
                </a:ext>
              </a:extLst>
            </p:cNvPr>
            <p:cNvSpPr/>
            <p:nvPr/>
          </p:nvSpPr>
          <p:spPr>
            <a:xfrm>
              <a:off x="6720840" y="3364992"/>
              <a:ext cx="2011680" cy="82296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59669"/>
              </a:solidFill>
              <a:prstDash val="solid"/>
            </a:ln>
          </p:spPr>
        </p:sp>
        <p:sp>
          <p:nvSpPr>
            <p:cNvPr id="39" name="Text 33">
              <a:extLst>
                <a:ext uri="{FF2B5EF4-FFF2-40B4-BE49-F238E27FC236}">
                  <a16:creationId xmlns:a16="http://schemas.microsoft.com/office/drawing/2014/main" id="{22861CE9-2E7B-4722-B3D9-FE7C0402D2AA}"/>
                </a:ext>
              </a:extLst>
            </p:cNvPr>
            <p:cNvSpPr/>
            <p:nvPr/>
          </p:nvSpPr>
          <p:spPr>
            <a:xfrm>
              <a:off x="6766560" y="3401568"/>
              <a:ext cx="1920240" cy="7498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A1A2E"/>
                  </a:solidFill>
                </a:rPr>
                <a:t>Vacuum cleaner Robots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6851741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152FA-A47F-4E7F-B32C-81D1B7D0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Roles in the Robotics Industry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3C915-A7F3-4568-9B95-D54629B17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F8E68E-ED81-4409-8C34-AC83CBFE7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39014F5-BEFB-4061-B8BD-C6E82A628E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6C69C21-4F46-4745-973A-5263470D9BF5}"/>
              </a:ext>
            </a:extLst>
          </p:cNvPr>
          <p:cNvGrpSpPr/>
          <p:nvPr/>
        </p:nvGrpSpPr>
        <p:grpSpPr>
          <a:xfrm>
            <a:off x="561044" y="1089545"/>
            <a:ext cx="3750214" cy="873746"/>
            <a:chOff x="502182" y="1338715"/>
            <a:chExt cx="3750214" cy="694944"/>
          </a:xfrm>
        </p:grpSpPr>
        <p:sp>
          <p:nvSpPr>
            <p:cNvPr id="7" name="Shape 6">
              <a:extLst>
                <a:ext uri="{FF2B5EF4-FFF2-40B4-BE49-F238E27FC236}">
                  <a16:creationId xmlns:a16="http://schemas.microsoft.com/office/drawing/2014/main" id="{718B0FE0-B3D9-400B-A4CD-E8FCC89EE8EB}"/>
                </a:ext>
              </a:extLst>
            </p:cNvPr>
            <p:cNvSpPr/>
            <p:nvPr/>
          </p:nvSpPr>
          <p:spPr>
            <a:xfrm>
              <a:off x="502182" y="1338715"/>
              <a:ext cx="3750214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7C3AED"/>
              </a:solidFill>
              <a:prstDash val="solid"/>
            </a:ln>
            <a:effectLst>
              <a:outerShdw blurRad="38100" dist="127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8" name="Shape 7">
              <a:extLst>
                <a:ext uri="{FF2B5EF4-FFF2-40B4-BE49-F238E27FC236}">
                  <a16:creationId xmlns:a16="http://schemas.microsoft.com/office/drawing/2014/main" id="{EEABEE8D-0290-4D4C-A7CA-CF542E0BE720}"/>
                </a:ext>
              </a:extLst>
            </p:cNvPr>
            <p:cNvSpPr/>
            <p:nvPr/>
          </p:nvSpPr>
          <p:spPr>
            <a:xfrm>
              <a:off x="502182" y="1338715"/>
              <a:ext cx="64008" cy="694944"/>
            </a:xfrm>
            <a:prstGeom prst="rect">
              <a:avLst/>
            </a:prstGeom>
            <a:solidFill>
              <a:srgbClr val="7C3AED"/>
            </a:solidFill>
            <a:ln/>
          </p:spPr>
        </p:sp>
        <p:sp>
          <p:nvSpPr>
            <p:cNvPr id="9" name="Text 8">
              <a:extLst>
                <a:ext uri="{FF2B5EF4-FFF2-40B4-BE49-F238E27FC236}">
                  <a16:creationId xmlns:a16="http://schemas.microsoft.com/office/drawing/2014/main" id="{8E5AEF23-F9D0-4D74-81D9-EC8ABB55CC71}"/>
                </a:ext>
              </a:extLst>
            </p:cNvPr>
            <p:cNvSpPr/>
            <p:nvPr/>
          </p:nvSpPr>
          <p:spPr>
            <a:xfrm>
              <a:off x="639342" y="1375291"/>
              <a:ext cx="34747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Robotics Software Engineer</a:t>
              </a:r>
              <a:endParaRPr lang="en-US" sz="1200" dirty="0"/>
            </a:p>
          </p:txBody>
        </p:sp>
        <p:sp>
          <p:nvSpPr>
            <p:cNvPr id="10" name="Text 9">
              <a:extLst>
                <a:ext uri="{FF2B5EF4-FFF2-40B4-BE49-F238E27FC236}">
                  <a16:creationId xmlns:a16="http://schemas.microsoft.com/office/drawing/2014/main" id="{BAC92FE8-4D44-42D7-8450-AF4BA7D0B0F4}"/>
                </a:ext>
              </a:extLst>
            </p:cNvPr>
            <p:cNvSpPr/>
            <p:nvPr/>
          </p:nvSpPr>
          <p:spPr>
            <a:xfrm>
              <a:off x="639342" y="1649611"/>
              <a:ext cx="347472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Skills: ROS, C++/Python, perception &amp; planning</a:t>
              </a:r>
              <a:endParaRPr lang="en-US" sz="1200" dirty="0"/>
            </a:p>
          </p:txBody>
        </p:sp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5B3DA6B8-1AEF-49C9-A963-200020430A7C}"/>
                </a:ext>
              </a:extLst>
            </p:cNvPr>
            <p:cNvSpPr/>
            <p:nvPr/>
          </p:nvSpPr>
          <p:spPr>
            <a:xfrm>
              <a:off x="639342" y="1841635"/>
              <a:ext cx="347472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Companies: Waymo, Boston Dynamics, Cruise</a:t>
              </a:r>
              <a:endParaRPr lang="en-US" sz="1200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3AE648B-CBFF-412F-A8CC-3CA951636714}"/>
              </a:ext>
            </a:extLst>
          </p:cNvPr>
          <p:cNvGrpSpPr/>
          <p:nvPr/>
        </p:nvGrpSpPr>
        <p:grpSpPr>
          <a:xfrm>
            <a:off x="561044" y="2140321"/>
            <a:ext cx="3750214" cy="902248"/>
            <a:chOff x="502182" y="2097667"/>
            <a:chExt cx="3750214" cy="694944"/>
          </a:xfrm>
        </p:grpSpPr>
        <p:sp>
          <p:nvSpPr>
            <p:cNvPr id="13" name="Shape 12">
              <a:extLst>
                <a:ext uri="{FF2B5EF4-FFF2-40B4-BE49-F238E27FC236}">
                  <a16:creationId xmlns:a16="http://schemas.microsoft.com/office/drawing/2014/main" id="{0A822143-FAD8-4427-9C33-34C6BCD70705}"/>
                </a:ext>
              </a:extLst>
            </p:cNvPr>
            <p:cNvSpPr/>
            <p:nvPr/>
          </p:nvSpPr>
          <p:spPr>
            <a:xfrm>
              <a:off x="502182" y="2097667"/>
              <a:ext cx="3750214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284C7"/>
              </a:solidFill>
              <a:prstDash val="solid"/>
            </a:ln>
            <a:effectLst>
              <a:outerShdw blurRad="38100" dist="127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4" name="Shape 13">
              <a:extLst>
                <a:ext uri="{FF2B5EF4-FFF2-40B4-BE49-F238E27FC236}">
                  <a16:creationId xmlns:a16="http://schemas.microsoft.com/office/drawing/2014/main" id="{6C6E07D5-694F-43A7-BB3C-05E237DFAC75}"/>
                </a:ext>
              </a:extLst>
            </p:cNvPr>
            <p:cNvSpPr/>
            <p:nvPr/>
          </p:nvSpPr>
          <p:spPr>
            <a:xfrm>
              <a:off x="502182" y="2097667"/>
              <a:ext cx="64008" cy="694944"/>
            </a:xfrm>
            <a:prstGeom prst="rect">
              <a:avLst/>
            </a:prstGeom>
            <a:solidFill>
              <a:srgbClr val="0284C7"/>
            </a:solidFill>
            <a:ln/>
          </p:spPr>
        </p:sp>
        <p:sp>
          <p:nvSpPr>
            <p:cNvPr id="15" name="Text 14">
              <a:extLst>
                <a:ext uri="{FF2B5EF4-FFF2-40B4-BE49-F238E27FC236}">
                  <a16:creationId xmlns:a16="http://schemas.microsoft.com/office/drawing/2014/main" id="{99DC171A-BAEF-459E-A035-A6B0A24032E2}"/>
                </a:ext>
              </a:extLst>
            </p:cNvPr>
            <p:cNvSpPr/>
            <p:nvPr/>
          </p:nvSpPr>
          <p:spPr>
            <a:xfrm>
              <a:off x="639342" y="2134243"/>
              <a:ext cx="2400716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284C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Perception Engineer</a:t>
              </a:r>
              <a:endParaRPr lang="en-US" sz="1200" dirty="0"/>
            </a:p>
          </p:txBody>
        </p:sp>
        <p:sp>
          <p:nvSpPr>
            <p:cNvPr id="16" name="Text 15">
              <a:extLst>
                <a:ext uri="{FF2B5EF4-FFF2-40B4-BE49-F238E27FC236}">
                  <a16:creationId xmlns:a16="http://schemas.microsoft.com/office/drawing/2014/main" id="{C6586185-8133-4B6C-8197-D1639DF03CB2}"/>
                </a:ext>
              </a:extLst>
            </p:cNvPr>
            <p:cNvSpPr/>
            <p:nvPr/>
          </p:nvSpPr>
          <p:spPr>
            <a:xfrm>
              <a:off x="639342" y="2408563"/>
              <a:ext cx="3613054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Skills: Computer vision, LiDAR processing, sensor fusion</a:t>
              </a:r>
              <a:endParaRPr lang="en-US" sz="1200" dirty="0"/>
            </a:p>
          </p:txBody>
        </p:sp>
        <p:sp>
          <p:nvSpPr>
            <p:cNvPr id="17" name="Text 16">
              <a:extLst>
                <a:ext uri="{FF2B5EF4-FFF2-40B4-BE49-F238E27FC236}">
                  <a16:creationId xmlns:a16="http://schemas.microsoft.com/office/drawing/2014/main" id="{9BD57242-6779-4E14-8372-BEB02E1A6993}"/>
                </a:ext>
              </a:extLst>
            </p:cNvPr>
            <p:cNvSpPr/>
            <p:nvPr/>
          </p:nvSpPr>
          <p:spPr>
            <a:xfrm>
              <a:off x="639342" y="2600587"/>
              <a:ext cx="347472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Companies: Waymo, Motional, Aurora</a:t>
              </a:r>
              <a:endParaRPr lang="en-US" sz="120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A4FEAD0-4740-4F08-9CBD-6FC9013BFB95}"/>
              </a:ext>
            </a:extLst>
          </p:cNvPr>
          <p:cNvGrpSpPr/>
          <p:nvPr/>
        </p:nvGrpSpPr>
        <p:grpSpPr>
          <a:xfrm>
            <a:off x="561044" y="3219600"/>
            <a:ext cx="3750214" cy="921870"/>
            <a:chOff x="502182" y="2856619"/>
            <a:chExt cx="3750214" cy="694944"/>
          </a:xfrm>
        </p:grpSpPr>
        <p:sp>
          <p:nvSpPr>
            <p:cNvPr id="19" name="Shape 18">
              <a:extLst>
                <a:ext uri="{FF2B5EF4-FFF2-40B4-BE49-F238E27FC236}">
                  <a16:creationId xmlns:a16="http://schemas.microsoft.com/office/drawing/2014/main" id="{8CB9C719-B2C1-4D12-B0B4-B7F32F4823E5}"/>
                </a:ext>
              </a:extLst>
            </p:cNvPr>
            <p:cNvSpPr/>
            <p:nvPr/>
          </p:nvSpPr>
          <p:spPr>
            <a:xfrm>
              <a:off x="502182" y="2856619"/>
              <a:ext cx="3750214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59669"/>
              </a:solidFill>
              <a:prstDash val="solid"/>
            </a:ln>
            <a:effectLst>
              <a:outerShdw blurRad="38100" dist="127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0" name="Shape 19">
              <a:extLst>
                <a:ext uri="{FF2B5EF4-FFF2-40B4-BE49-F238E27FC236}">
                  <a16:creationId xmlns:a16="http://schemas.microsoft.com/office/drawing/2014/main" id="{BB49E5AC-E313-421C-98AA-CB9BC54DD9E5}"/>
                </a:ext>
              </a:extLst>
            </p:cNvPr>
            <p:cNvSpPr/>
            <p:nvPr/>
          </p:nvSpPr>
          <p:spPr>
            <a:xfrm>
              <a:off x="502182" y="2856619"/>
              <a:ext cx="64008" cy="694944"/>
            </a:xfrm>
            <a:prstGeom prst="rect">
              <a:avLst/>
            </a:prstGeom>
            <a:solidFill>
              <a:srgbClr val="059669"/>
            </a:solidFill>
            <a:ln/>
          </p:spPr>
        </p:sp>
        <p:sp>
          <p:nvSpPr>
            <p:cNvPr id="21" name="Text 20">
              <a:extLst>
                <a:ext uri="{FF2B5EF4-FFF2-40B4-BE49-F238E27FC236}">
                  <a16:creationId xmlns:a16="http://schemas.microsoft.com/office/drawing/2014/main" id="{FEBE61E8-8F15-4989-8A62-E7B264EAD0D5}"/>
                </a:ext>
              </a:extLst>
            </p:cNvPr>
            <p:cNvSpPr/>
            <p:nvPr/>
          </p:nvSpPr>
          <p:spPr>
            <a:xfrm>
              <a:off x="639342" y="2893195"/>
              <a:ext cx="2400716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596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Localization &amp; Mapping Engineer</a:t>
              </a:r>
              <a:endParaRPr lang="en-US" sz="1200" dirty="0"/>
            </a:p>
          </p:txBody>
        </p:sp>
        <p:sp>
          <p:nvSpPr>
            <p:cNvPr id="22" name="Text 21">
              <a:extLst>
                <a:ext uri="{FF2B5EF4-FFF2-40B4-BE49-F238E27FC236}">
                  <a16:creationId xmlns:a16="http://schemas.microsoft.com/office/drawing/2014/main" id="{93776557-6DDF-4E35-B630-A26BADDF15A9}"/>
                </a:ext>
              </a:extLst>
            </p:cNvPr>
            <p:cNvSpPr/>
            <p:nvPr/>
          </p:nvSpPr>
          <p:spPr>
            <a:xfrm>
              <a:off x="639342" y="3167515"/>
              <a:ext cx="347472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Skills: SLAM, EKF, factor graphs, optimization</a:t>
              </a:r>
              <a:endParaRPr lang="en-US" sz="1200" dirty="0"/>
            </a:p>
          </p:txBody>
        </p:sp>
        <p:sp>
          <p:nvSpPr>
            <p:cNvPr id="23" name="Text 22">
              <a:extLst>
                <a:ext uri="{FF2B5EF4-FFF2-40B4-BE49-F238E27FC236}">
                  <a16:creationId xmlns:a16="http://schemas.microsoft.com/office/drawing/2014/main" id="{9A969951-1CD7-4AC2-AB56-F79435F42D6B}"/>
                </a:ext>
              </a:extLst>
            </p:cNvPr>
            <p:cNvSpPr/>
            <p:nvPr/>
          </p:nvSpPr>
          <p:spPr>
            <a:xfrm>
              <a:off x="625807" y="3368683"/>
              <a:ext cx="3580870" cy="1737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Companies: Apple Maps, HERE, Zoox</a:t>
              </a:r>
              <a:endParaRPr lang="en-US" sz="120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C5CAF13-8630-421E-B8E2-F631FE927700}"/>
              </a:ext>
            </a:extLst>
          </p:cNvPr>
          <p:cNvGrpSpPr/>
          <p:nvPr/>
        </p:nvGrpSpPr>
        <p:grpSpPr>
          <a:xfrm>
            <a:off x="4608090" y="1089545"/>
            <a:ext cx="3750214" cy="901753"/>
            <a:chOff x="4687542" y="1343413"/>
            <a:chExt cx="3750214" cy="694944"/>
          </a:xfrm>
        </p:grpSpPr>
        <p:sp>
          <p:nvSpPr>
            <p:cNvPr id="25" name="Shape 24">
              <a:extLst>
                <a:ext uri="{FF2B5EF4-FFF2-40B4-BE49-F238E27FC236}">
                  <a16:creationId xmlns:a16="http://schemas.microsoft.com/office/drawing/2014/main" id="{38812B00-1429-427D-96D2-EE3DF70B3866}"/>
                </a:ext>
              </a:extLst>
            </p:cNvPr>
            <p:cNvSpPr/>
            <p:nvPr/>
          </p:nvSpPr>
          <p:spPr>
            <a:xfrm>
              <a:off x="4687542" y="1343413"/>
              <a:ext cx="3750214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97316"/>
              </a:solidFill>
              <a:prstDash val="solid"/>
            </a:ln>
            <a:effectLst>
              <a:outerShdw blurRad="38100" dist="127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6" name="Shape 25">
              <a:extLst>
                <a:ext uri="{FF2B5EF4-FFF2-40B4-BE49-F238E27FC236}">
                  <a16:creationId xmlns:a16="http://schemas.microsoft.com/office/drawing/2014/main" id="{D8D27915-70AF-4150-87D0-E1CEE330A2C9}"/>
                </a:ext>
              </a:extLst>
            </p:cNvPr>
            <p:cNvSpPr/>
            <p:nvPr/>
          </p:nvSpPr>
          <p:spPr>
            <a:xfrm>
              <a:off x="4687542" y="1343413"/>
              <a:ext cx="45719" cy="694944"/>
            </a:xfrm>
            <a:prstGeom prst="rect">
              <a:avLst/>
            </a:prstGeom>
            <a:solidFill>
              <a:srgbClr val="F97316"/>
            </a:solidFill>
            <a:ln/>
          </p:spPr>
        </p:sp>
        <p:sp>
          <p:nvSpPr>
            <p:cNvPr id="27" name="Text 26">
              <a:extLst>
                <a:ext uri="{FF2B5EF4-FFF2-40B4-BE49-F238E27FC236}">
                  <a16:creationId xmlns:a16="http://schemas.microsoft.com/office/drawing/2014/main" id="{B160E1A7-44CB-47B0-87A1-85C982421A9F}"/>
                </a:ext>
              </a:extLst>
            </p:cNvPr>
            <p:cNvSpPr/>
            <p:nvPr/>
          </p:nvSpPr>
          <p:spPr>
            <a:xfrm>
              <a:off x="4824702" y="1379989"/>
              <a:ext cx="34747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9731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Motion Planning Engineer</a:t>
              </a:r>
              <a:endParaRPr lang="en-US" sz="1200" dirty="0"/>
            </a:p>
          </p:txBody>
        </p:sp>
        <p:sp>
          <p:nvSpPr>
            <p:cNvPr id="28" name="Text 27">
              <a:extLst>
                <a:ext uri="{FF2B5EF4-FFF2-40B4-BE49-F238E27FC236}">
                  <a16:creationId xmlns:a16="http://schemas.microsoft.com/office/drawing/2014/main" id="{E5169C7E-7E58-4844-A19E-4F6DF4A02747}"/>
                </a:ext>
              </a:extLst>
            </p:cNvPr>
            <p:cNvSpPr/>
            <p:nvPr/>
          </p:nvSpPr>
          <p:spPr>
            <a:xfrm>
              <a:off x="4824702" y="1654309"/>
              <a:ext cx="3549046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Skills: Path planning, trajectory optimization, real-time</a:t>
              </a:r>
              <a:endParaRPr lang="en-US" sz="1200" dirty="0"/>
            </a:p>
          </p:txBody>
        </p:sp>
        <p:sp>
          <p:nvSpPr>
            <p:cNvPr id="29" name="Text 28">
              <a:extLst>
                <a:ext uri="{FF2B5EF4-FFF2-40B4-BE49-F238E27FC236}">
                  <a16:creationId xmlns:a16="http://schemas.microsoft.com/office/drawing/2014/main" id="{7D79F12B-80DB-4145-917F-F30236EAC381}"/>
                </a:ext>
              </a:extLst>
            </p:cNvPr>
            <p:cNvSpPr/>
            <p:nvPr/>
          </p:nvSpPr>
          <p:spPr>
            <a:xfrm>
              <a:off x="4824702" y="1846333"/>
              <a:ext cx="3549046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Companies: Nuro, Argo AI, NVIDIA</a:t>
              </a:r>
              <a:endParaRPr lang="en-US" sz="1200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7666468-9453-404C-8F7E-DAF28EFB0A9A}"/>
              </a:ext>
            </a:extLst>
          </p:cNvPr>
          <p:cNvGrpSpPr/>
          <p:nvPr/>
        </p:nvGrpSpPr>
        <p:grpSpPr>
          <a:xfrm>
            <a:off x="4608090" y="2256682"/>
            <a:ext cx="3750214" cy="1096906"/>
            <a:chOff x="4687542" y="2614429"/>
            <a:chExt cx="3750214" cy="694944"/>
          </a:xfrm>
        </p:grpSpPr>
        <p:sp>
          <p:nvSpPr>
            <p:cNvPr id="31" name="Shape 30">
              <a:extLst>
                <a:ext uri="{FF2B5EF4-FFF2-40B4-BE49-F238E27FC236}">
                  <a16:creationId xmlns:a16="http://schemas.microsoft.com/office/drawing/2014/main" id="{6496B0CF-2D99-47B6-A534-AF218D822E12}"/>
                </a:ext>
              </a:extLst>
            </p:cNvPr>
            <p:cNvSpPr/>
            <p:nvPr/>
          </p:nvSpPr>
          <p:spPr>
            <a:xfrm>
              <a:off x="4687542" y="2614429"/>
              <a:ext cx="3750214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C2626"/>
              </a:solidFill>
              <a:prstDash val="solid"/>
            </a:ln>
            <a:effectLst>
              <a:outerShdw blurRad="38100" dist="127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32" name="Shape 31">
              <a:extLst>
                <a:ext uri="{FF2B5EF4-FFF2-40B4-BE49-F238E27FC236}">
                  <a16:creationId xmlns:a16="http://schemas.microsoft.com/office/drawing/2014/main" id="{B311E30B-DB27-4403-A1E2-C7814D57DFC3}"/>
                </a:ext>
              </a:extLst>
            </p:cNvPr>
            <p:cNvSpPr/>
            <p:nvPr/>
          </p:nvSpPr>
          <p:spPr>
            <a:xfrm>
              <a:off x="4687542" y="2614429"/>
              <a:ext cx="45719" cy="694944"/>
            </a:xfrm>
            <a:prstGeom prst="rect">
              <a:avLst/>
            </a:prstGeom>
            <a:solidFill>
              <a:srgbClr val="DC2626"/>
            </a:solidFill>
            <a:ln/>
          </p:spPr>
        </p:sp>
        <p:sp>
          <p:nvSpPr>
            <p:cNvPr id="33" name="Text 32">
              <a:extLst>
                <a:ext uri="{FF2B5EF4-FFF2-40B4-BE49-F238E27FC236}">
                  <a16:creationId xmlns:a16="http://schemas.microsoft.com/office/drawing/2014/main" id="{241EA436-F583-4966-B805-858C6A9AF2C9}"/>
                </a:ext>
              </a:extLst>
            </p:cNvPr>
            <p:cNvSpPr/>
            <p:nvPr/>
          </p:nvSpPr>
          <p:spPr>
            <a:xfrm>
              <a:off x="4824702" y="2651005"/>
              <a:ext cx="2452068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DC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Controls Engineer</a:t>
              </a:r>
              <a:endParaRPr lang="en-US" sz="1200" dirty="0"/>
            </a:p>
          </p:txBody>
        </p:sp>
        <p:sp>
          <p:nvSpPr>
            <p:cNvPr id="34" name="Text 33">
              <a:extLst>
                <a:ext uri="{FF2B5EF4-FFF2-40B4-BE49-F238E27FC236}">
                  <a16:creationId xmlns:a16="http://schemas.microsoft.com/office/drawing/2014/main" id="{9BCFC319-0CA1-4F2D-A0AB-6ACCFA73D716}"/>
                </a:ext>
              </a:extLst>
            </p:cNvPr>
            <p:cNvSpPr/>
            <p:nvPr/>
          </p:nvSpPr>
          <p:spPr>
            <a:xfrm>
              <a:off x="4824702" y="2925325"/>
              <a:ext cx="3549046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Skills: Low-level robot control, actuator interfaces, PID/MPC</a:t>
              </a:r>
              <a:endParaRPr lang="en-US" sz="1200" dirty="0"/>
            </a:p>
          </p:txBody>
        </p:sp>
        <p:sp>
          <p:nvSpPr>
            <p:cNvPr id="35" name="Text 34">
              <a:extLst>
                <a:ext uri="{FF2B5EF4-FFF2-40B4-BE49-F238E27FC236}">
                  <a16:creationId xmlns:a16="http://schemas.microsoft.com/office/drawing/2014/main" id="{82D419EC-27DF-4647-A16F-4D33D0F91837}"/>
                </a:ext>
              </a:extLst>
            </p:cNvPr>
            <p:cNvSpPr/>
            <p:nvPr/>
          </p:nvSpPr>
          <p:spPr>
            <a:xfrm>
              <a:off x="4824702" y="3117349"/>
              <a:ext cx="3549046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Companies: ABB, FANUC, Amazon Robotics</a:t>
              </a:r>
              <a:endParaRPr lang="en-US" sz="12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613951E-F517-4BF4-BC06-A18A19BE6301}"/>
              </a:ext>
            </a:extLst>
          </p:cNvPr>
          <p:cNvGrpSpPr/>
          <p:nvPr/>
        </p:nvGrpSpPr>
        <p:grpSpPr>
          <a:xfrm>
            <a:off x="4602224" y="3622832"/>
            <a:ext cx="3750214" cy="442953"/>
            <a:chOff x="502182" y="1338715"/>
            <a:chExt cx="3750214" cy="694944"/>
          </a:xfrm>
        </p:grpSpPr>
        <p:sp>
          <p:nvSpPr>
            <p:cNvPr id="44" name="Shape 6">
              <a:extLst>
                <a:ext uri="{FF2B5EF4-FFF2-40B4-BE49-F238E27FC236}">
                  <a16:creationId xmlns:a16="http://schemas.microsoft.com/office/drawing/2014/main" id="{6CC28C95-08B6-4520-BFCD-AC172F73088C}"/>
                </a:ext>
              </a:extLst>
            </p:cNvPr>
            <p:cNvSpPr/>
            <p:nvPr/>
          </p:nvSpPr>
          <p:spPr>
            <a:xfrm>
              <a:off x="502182" y="1338715"/>
              <a:ext cx="3750214" cy="69494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7C3AED"/>
              </a:solidFill>
              <a:prstDash val="solid"/>
            </a:ln>
            <a:effectLst>
              <a:outerShdw blurRad="38100" dist="127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45" name="Shape 7">
              <a:extLst>
                <a:ext uri="{FF2B5EF4-FFF2-40B4-BE49-F238E27FC236}">
                  <a16:creationId xmlns:a16="http://schemas.microsoft.com/office/drawing/2014/main" id="{AB408D15-8D35-4DF6-9993-9FF12E2C892F}"/>
                </a:ext>
              </a:extLst>
            </p:cNvPr>
            <p:cNvSpPr/>
            <p:nvPr/>
          </p:nvSpPr>
          <p:spPr>
            <a:xfrm>
              <a:off x="502182" y="1338715"/>
              <a:ext cx="64008" cy="694944"/>
            </a:xfrm>
            <a:prstGeom prst="rect">
              <a:avLst/>
            </a:prstGeom>
            <a:solidFill>
              <a:srgbClr val="7C3AED"/>
            </a:solidFill>
            <a:ln/>
          </p:spPr>
        </p:sp>
        <p:sp>
          <p:nvSpPr>
            <p:cNvPr id="46" name="Text 8">
              <a:extLst>
                <a:ext uri="{FF2B5EF4-FFF2-40B4-BE49-F238E27FC236}">
                  <a16:creationId xmlns:a16="http://schemas.microsoft.com/office/drawing/2014/main" id="{294429DA-8D8C-4C2A-A290-01C4816089CB}"/>
                </a:ext>
              </a:extLst>
            </p:cNvPr>
            <p:cNvSpPr/>
            <p:nvPr/>
          </p:nvSpPr>
          <p:spPr>
            <a:xfrm>
              <a:off x="639342" y="1375291"/>
              <a:ext cx="34747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…..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7555197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14FDF-99C2-46F0-8D28-B10B5BC62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7C531-CED5-4825-8DD9-77F84ACAF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① Robot’s Domains</a:t>
            </a:r>
            <a:endParaRPr lang="en-US" sz="2400" dirty="0"/>
          </a:p>
          <a:p>
            <a:pPr marL="0" indent="0">
              <a:spcAft>
                <a:spcPts val="600"/>
              </a:spcAft>
              <a:buNone/>
            </a:pPr>
            <a:r>
              <a:rPr lang="en-US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② The autonomy stack</a:t>
            </a:r>
            <a:endParaRPr lang="en-US" sz="2400" dirty="0"/>
          </a:p>
          <a:p>
            <a:pPr marL="0" indent="0">
              <a:spcAft>
                <a:spcPts val="600"/>
              </a:spcAft>
              <a:buNone/>
            </a:pPr>
            <a:r>
              <a:rPr lang="en-US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③ Mapping systems to stack</a:t>
            </a:r>
            <a:endParaRPr lang="en-US" sz="2400" dirty="0"/>
          </a:p>
          <a:p>
            <a:pPr marL="0" indent="0">
              <a:spcAft>
                <a:spcPts val="600"/>
              </a:spcAft>
              <a:buNone/>
            </a:pPr>
            <a:r>
              <a:rPr lang="en-US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④ Career </a:t>
            </a:r>
            <a:r>
              <a:rPr lang="en-US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roles + roadmap</a:t>
            </a:r>
            <a:endParaRPr lang="en-US" sz="2400" dirty="0"/>
          </a:p>
          <a:p>
            <a:pPr marL="0" indent="0">
              <a:spcAft>
                <a:spcPts val="600"/>
              </a:spcAft>
              <a:buNone/>
            </a:pP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13345-DFAF-4EEF-AA0E-4B01AEA49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463C80-774D-414F-AC1E-49527273A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0AD9A42-F1CD-43FE-A4C0-A4FAA30CCB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5467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B1806B-220D-4E83-909E-58385D5EB4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13800" dirty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7499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17A6D-7F3B-4CFA-B3C1-E9757D023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Robot’s Domains –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/>
              <a:t>Underwater Robot 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E034688C-2E48-417D-8C12-1E61095F52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4826718"/>
              </p:ext>
            </p:extLst>
          </p:nvPr>
        </p:nvGraphicFramePr>
        <p:xfrm>
          <a:off x="434975" y="1580584"/>
          <a:ext cx="4736211" cy="312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914">
                  <a:extLst>
                    <a:ext uri="{9D8B030D-6E8A-4147-A177-3AD203B41FA5}">
                      <a16:colId xmlns:a16="http://schemas.microsoft.com/office/drawing/2014/main" val="997023345"/>
                    </a:ext>
                  </a:extLst>
                </a:gridCol>
                <a:gridCol w="3615297">
                  <a:extLst>
                    <a:ext uri="{9D8B030D-6E8A-4147-A177-3AD203B41FA5}">
                      <a16:colId xmlns:a16="http://schemas.microsoft.com/office/drawing/2014/main" val="24733393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Stack 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Autonomy Component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6161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Sensing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HD stereo camera + multibeam imaging sonar + Doppler Velocity Log + depth/pressure sensor + IMU + magnetometer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961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Perception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Acoustic object detection + visual close-range inspection pipeline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9509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State Estimation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DVL velocity fusion + (attitude/heading) + depth sensor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8104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Localization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Acoustic USBL/LBL positioning + sonar-DVL-IMU SLAM (</a:t>
                      </a:r>
                      <a:r>
                        <a:rPr lang="en-US" sz="1200" dirty="0" err="1"/>
                        <a:t>ArduSub</a:t>
                      </a:r>
                      <a:r>
                        <a:rPr lang="en-US" sz="1200" dirty="0"/>
                        <a:t> stack)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0144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Planning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Waypoint + reactive mission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2280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/>
                        <a:t>Control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6-DOF thruster allocation matrix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8595036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E738C-5F55-4AB7-BF0D-9B383D8DE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AD9DF-DB58-4424-B183-AACA680B9DD1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D6638-CEDD-4A1B-93C5-EF37A38D8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58198-EBFC-4421-8D9C-91EDED0B1BE2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7A34FE-CD6B-4FE7-975B-02FC4714AF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FF1030-11E6-4390-BCB9-037C882E4E86}"/>
              </a:ext>
            </a:extLst>
          </p:cNvPr>
          <p:cNvSpPr txBox="1"/>
          <p:nvPr/>
        </p:nvSpPr>
        <p:spPr>
          <a:xfrm>
            <a:off x="434897" y="754848"/>
            <a:ext cx="8435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Problem Solved:</a:t>
            </a:r>
            <a:r>
              <a:rPr lang="en-US" dirty="0"/>
              <a:t> Inspection of submerged infrastructure (pipelines, ship hulls, dams, fish farms) without exposing human divers to hazardous, zero-visibility conditions.</a:t>
            </a:r>
          </a:p>
        </p:txBody>
      </p:sp>
    </p:spTree>
    <p:extLst>
      <p:ext uri="{BB962C8B-B14F-4D97-AF65-F5344CB8AC3E}">
        <p14:creationId xmlns:p14="http://schemas.microsoft.com/office/powerpoint/2010/main" val="28103352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1609</Words>
  <Application>Microsoft Office PowerPoint</Application>
  <PresentationFormat>On-screen Show (16:9)</PresentationFormat>
  <Paragraphs>347</Paragraphs>
  <Slides>30</Slides>
  <Notes>6</Notes>
  <HiddenSlides>1</HiddenSlides>
  <MMClips>7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Calibri</vt:lpstr>
      <vt:lpstr>Calibri Light</vt:lpstr>
      <vt:lpstr>Harmonia Sans Pro</vt:lpstr>
      <vt:lpstr>pplxSerif</vt:lpstr>
      <vt:lpstr>Roboto</vt:lpstr>
      <vt:lpstr>Custom Design</vt:lpstr>
      <vt:lpstr>MOD-001 Robotics Trends &amp; Industry Landscape</vt:lpstr>
      <vt:lpstr>PowerPoint Presentation</vt:lpstr>
      <vt:lpstr>Robot’s Domains</vt:lpstr>
      <vt:lpstr>Robot’s Domains</vt:lpstr>
      <vt:lpstr>Robot’s Domains - Humanoid</vt:lpstr>
      <vt:lpstr>PowerPoint Presentation</vt:lpstr>
      <vt:lpstr>Robot’s Domains –Service Robots</vt:lpstr>
      <vt:lpstr>Robot’s Domains – Cleaning Robots</vt:lpstr>
      <vt:lpstr>Robot’s Domains – Cleaning Robots</vt:lpstr>
      <vt:lpstr>Robot’s Domains – Consumer Robot </vt:lpstr>
      <vt:lpstr>Robot’s Domains – Consumer Robot </vt:lpstr>
      <vt:lpstr>Robot’s Domains –Warehouse &amp; Logistics — Amazon Proteus AMR</vt:lpstr>
      <vt:lpstr>PowerPoint Presentation</vt:lpstr>
      <vt:lpstr>PowerPoint Presentation</vt:lpstr>
      <vt:lpstr>Robot’s Domains –Autonomous Vehicle (Car like robot)</vt:lpstr>
      <vt:lpstr>Robot’s Domains –Autonomous Vehicle (Car like robot)</vt:lpstr>
      <vt:lpstr>Robot’s Domains</vt:lpstr>
      <vt:lpstr>Pattern Recognition</vt:lpstr>
      <vt:lpstr>Pattern Recognition: What Do All those Robots Share?</vt:lpstr>
      <vt:lpstr>Autonomy stack </vt:lpstr>
      <vt:lpstr>Sensing</vt:lpstr>
      <vt:lpstr>Perception</vt:lpstr>
      <vt:lpstr>State Estimation &amp; Localization</vt:lpstr>
      <vt:lpstr>Mapping, Planning &amp; Control</vt:lpstr>
      <vt:lpstr>Course Roadmap</vt:lpstr>
      <vt:lpstr>Autonomy Levels</vt:lpstr>
      <vt:lpstr>Career Roles in the Robotics Industry</vt:lpstr>
      <vt:lpstr>Learning Objectives</vt:lpstr>
      <vt:lpstr>?</vt:lpstr>
      <vt:lpstr>Robot’s Domains – Underwater Robot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MOD-001: Robotics Trends &amp; Industry Landscape</dc:title>
  <dc:subject>PptxGenJS Presentation</dc:subject>
  <dc:creator>Mobile Robots Course</dc:creator>
  <cp:lastModifiedBy>Ahmad Abbadi</cp:lastModifiedBy>
  <cp:revision>66</cp:revision>
  <dcterms:created xsi:type="dcterms:W3CDTF">2026-02-19T18:14:35Z</dcterms:created>
  <dcterms:modified xsi:type="dcterms:W3CDTF">2026-04-20T07:42:44Z</dcterms:modified>
</cp:coreProperties>
</file>