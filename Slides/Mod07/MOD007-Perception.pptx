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97"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8" d="100"/>
          <a:sy n="108" d="100"/>
        </p:scale>
        <p:origin x="65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63302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2527793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rpg.ifi.uzh.ch/docs/teaching/2023/06_feature_detection_2.pdf"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8"/>
        </a:solidFill>
        <a:effectLst/>
      </p:bgPr>
    </p:bg>
    <p:spTree>
      <p:nvGrpSpPr>
        <p:cNvPr id="1" name=""/>
        <p:cNvGrpSpPr/>
        <p:nvPr/>
      </p:nvGrpSpPr>
      <p:grpSpPr>
        <a:xfrm>
          <a:off x="0" y="0"/>
          <a:ext cx="0" cy="0"/>
          <a:chOff x="0" y="0"/>
          <a:chExt cx="0" cy="0"/>
        </a:xfrm>
      </p:grpSpPr>
      <p:sp>
        <p:nvSpPr>
          <p:cNvPr id="2" name="Shape 0"/>
          <p:cNvSpPr/>
          <p:nvPr/>
        </p:nvSpPr>
        <p:spPr>
          <a:xfrm>
            <a:off x="6858000" y="-1371600"/>
            <a:ext cx="4114800" cy="4114800"/>
          </a:xfrm>
          <a:prstGeom prst="ellipse">
            <a:avLst/>
          </a:prstGeom>
          <a:solidFill>
            <a:srgbClr val="1A4A6E">
              <a:alpha val="40000"/>
            </a:srgbClr>
          </a:solidFill>
          <a:ln/>
        </p:spPr>
      </p:sp>
      <p:sp>
        <p:nvSpPr>
          <p:cNvPr id="3" name="Shape 1"/>
          <p:cNvSpPr/>
          <p:nvPr/>
        </p:nvSpPr>
        <p:spPr>
          <a:xfrm>
            <a:off x="-1371600" y="2743200"/>
            <a:ext cx="3200400" cy="3200400"/>
          </a:xfrm>
          <a:prstGeom prst="ellipse">
            <a:avLst/>
          </a:prstGeom>
          <a:solidFill>
            <a:srgbClr val="3B2766">
              <a:alpha val="40000"/>
            </a:srgbClr>
          </a:solidFill>
          <a:ln/>
        </p:spPr>
      </p:sp>
      <p:sp>
        <p:nvSpPr>
          <p:cNvPr id="4" name="Text 2"/>
          <p:cNvSpPr/>
          <p:nvPr/>
        </p:nvSpPr>
        <p:spPr>
          <a:xfrm>
            <a:off x="548640" y="274320"/>
            <a:ext cx="5486400" cy="365760"/>
          </a:xfrm>
          <a:prstGeom prst="rect">
            <a:avLst/>
          </a:prstGeom>
          <a:noFill/>
          <a:ln/>
        </p:spPr>
        <p:txBody>
          <a:bodyPr wrap="square" rtlCol="0" anchor="ctr"/>
          <a:lstStyle/>
          <a:p>
            <a:pPr marL="0" indent="0">
              <a:buNone/>
            </a:pPr>
            <a:r>
              <a:rPr lang="en-US" sz="1200" kern="0" spc="400" dirty="0">
                <a:solidFill>
                  <a:srgbClr val="0D9488"/>
                </a:solidFill>
                <a:latin typeface="Arial" pitchFamily="34" charset="0"/>
                <a:ea typeface="Arial" pitchFamily="34" charset="-122"/>
                <a:cs typeface="Arial" pitchFamily="34" charset="-120"/>
              </a:rPr>
              <a:t>MOBILE ROBOTS</a:t>
            </a:r>
            <a:endParaRPr lang="en-US" sz="1200" dirty="0"/>
          </a:p>
        </p:txBody>
      </p:sp>
      <p:sp>
        <p:nvSpPr>
          <p:cNvPr id="5" name="Text 3"/>
          <p:cNvSpPr/>
          <p:nvPr/>
        </p:nvSpPr>
        <p:spPr>
          <a:xfrm>
            <a:off x="548640" y="1097280"/>
            <a:ext cx="6400800" cy="201168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MOD-07</a:t>
            </a:r>
            <a:endParaRPr lang="en-US" sz="3000" dirty="0"/>
          </a:p>
          <a:p>
            <a:pPr marL="0" indent="0">
              <a:buNone/>
            </a:pPr>
            <a:r>
              <a:rPr lang="en-US" sz="3000" b="1" dirty="0">
                <a:solidFill>
                  <a:srgbClr val="FFFFFF"/>
                </a:solidFill>
                <a:latin typeface="Arial" pitchFamily="34" charset="0"/>
                <a:ea typeface="Arial" pitchFamily="34" charset="-122"/>
                <a:cs typeface="Arial" pitchFamily="34" charset="-120"/>
              </a:rPr>
              <a:t>Robot Perception</a:t>
            </a:r>
            <a:endParaRPr lang="en-US" sz="3000" dirty="0"/>
          </a:p>
        </p:txBody>
      </p:sp>
      <p:sp>
        <p:nvSpPr>
          <p:cNvPr id="6" name="Shape 4"/>
          <p:cNvSpPr/>
          <p:nvPr/>
        </p:nvSpPr>
        <p:spPr>
          <a:xfrm>
            <a:off x="548640" y="3291840"/>
            <a:ext cx="3657600" cy="0"/>
          </a:xfrm>
          <a:prstGeom prst="line">
            <a:avLst/>
          </a:prstGeom>
          <a:noFill/>
          <a:ln w="38100">
            <a:solidFill>
              <a:srgbClr val="F97316"/>
            </a:solidFill>
            <a:prstDash val="solid"/>
          </a:ln>
        </p:spPr>
      </p:sp>
      <p:sp>
        <p:nvSpPr>
          <p:cNvPr id="7" name="Text 5"/>
          <p:cNvSpPr/>
          <p:nvPr/>
        </p:nvSpPr>
        <p:spPr>
          <a:xfrm>
            <a:off x="548640" y="3566160"/>
            <a:ext cx="6400800" cy="457200"/>
          </a:xfrm>
          <a:prstGeom prst="rect">
            <a:avLst/>
          </a:prstGeom>
          <a:noFill/>
          <a:ln/>
        </p:spPr>
        <p:txBody>
          <a:bodyPr wrap="square" rtlCol="0" anchor="ctr"/>
          <a:lstStyle/>
          <a:p>
            <a:pPr marL="0" indent="0">
              <a:buNone/>
            </a:pPr>
            <a:r>
              <a:rPr lang="en-US" sz="1300" dirty="0">
                <a:solidFill>
                  <a:srgbClr val="6B7280"/>
                </a:solidFill>
                <a:latin typeface="Arial" pitchFamily="34" charset="0"/>
                <a:ea typeface="Arial" pitchFamily="34" charset="-122"/>
                <a:cs typeface="Arial" pitchFamily="34" charset="-120"/>
              </a:rPr>
              <a:t>By Dr. Ahmad Abbadi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4C81"/>
        </a:solidFill>
        <a:effectLst/>
      </p:bgPr>
    </p:bg>
    <p:spTree>
      <p:nvGrpSpPr>
        <p:cNvPr id="1" name=""/>
        <p:cNvGrpSpPr/>
        <p:nvPr/>
      </p:nvGrpSpPr>
      <p:grpSpPr>
        <a:xfrm>
          <a:off x="0" y="0"/>
          <a:ext cx="0" cy="0"/>
          <a:chOff x="0" y="0"/>
          <a:chExt cx="0" cy="0"/>
        </a:xfrm>
      </p:grpSpPr>
      <p:sp>
        <p:nvSpPr>
          <p:cNvPr id="2" name="Text 0"/>
          <p:cNvSpPr/>
          <p:nvPr/>
        </p:nvSpPr>
        <p:spPr>
          <a:xfrm>
            <a:off x="548640" y="914400"/>
            <a:ext cx="4572000" cy="457200"/>
          </a:xfrm>
          <a:prstGeom prst="rect">
            <a:avLst/>
          </a:prstGeom>
          <a:noFill/>
          <a:ln/>
        </p:spPr>
        <p:txBody>
          <a:bodyPr wrap="square" rtlCol="0" anchor="ctr"/>
          <a:lstStyle/>
          <a:p>
            <a:pPr marL="0" indent="0">
              <a:buNone/>
            </a:pPr>
            <a:r>
              <a:rPr lang="en-US" sz="1400" b="1" kern="0" spc="300" dirty="0">
                <a:solidFill>
                  <a:srgbClr val="F59E0B"/>
                </a:solidFill>
                <a:latin typeface="Arial" pitchFamily="34" charset="0"/>
                <a:ea typeface="Arial" pitchFamily="34" charset="-122"/>
                <a:cs typeface="Arial" pitchFamily="34" charset="-120"/>
              </a:rPr>
              <a:t>BLOCK A</a:t>
            </a:r>
            <a:endParaRPr lang="en-US" sz="1400" dirty="0"/>
          </a:p>
        </p:txBody>
      </p:sp>
      <p:sp>
        <p:nvSpPr>
          <p:cNvPr id="3" name="Text 1"/>
          <p:cNvSpPr/>
          <p:nvPr/>
        </p:nvSpPr>
        <p:spPr>
          <a:xfrm>
            <a:off x="548640" y="1371600"/>
            <a:ext cx="7772400" cy="1280160"/>
          </a:xfrm>
          <a:prstGeom prst="rect">
            <a:avLst/>
          </a:prstGeom>
          <a:noFill/>
          <a:ln/>
        </p:spPr>
        <p:txBody>
          <a:bodyPr wrap="square" rtlCol="0" anchor="ctr"/>
          <a:lstStyle/>
          <a:p>
            <a:pPr marL="0" indent="0">
              <a:buNone/>
            </a:pPr>
            <a:r>
              <a:rPr lang="en-US" sz="2800" b="1" dirty="0">
                <a:solidFill>
                  <a:srgbClr val="FFFFFF"/>
                </a:solidFill>
                <a:latin typeface="Arial" pitchFamily="34" charset="0"/>
                <a:ea typeface="Arial" pitchFamily="34" charset="-122"/>
                <a:cs typeface="Arial" pitchFamily="34" charset="-120"/>
              </a:rPr>
              <a:t>Why Perception?</a:t>
            </a:r>
            <a:endParaRPr lang="en-US" sz="2800" dirty="0"/>
          </a:p>
        </p:txBody>
      </p:sp>
      <p:sp>
        <p:nvSpPr>
          <p:cNvPr id="4" name="Text 2"/>
          <p:cNvSpPr/>
          <p:nvPr/>
        </p:nvSpPr>
        <p:spPr>
          <a:xfrm>
            <a:off x="548640" y="2743200"/>
            <a:ext cx="7315200" cy="731520"/>
          </a:xfrm>
          <a:prstGeom prst="rect">
            <a:avLst/>
          </a:prstGeom>
          <a:noFill/>
          <a:ln/>
        </p:spPr>
        <p:txBody>
          <a:bodyPr wrap="square" rtlCol="0" anchor="ctr"/>
          <a:lstStyle/>
          <a:p>
            <a:pPr marL="0" indent="0">
              <a:buNone/>
            </a:pPr>
            <a:r>
              <a:rPr lang="en-US" sz="1500" dirty="0">
                <a:solidFill>
                  <a:srgbClr val="B0C4DE"/>
                </a:solidFill>
                <a:latin typeface="Arial" pitchFamily="34" charset="0"/>
                <a:ea typeface="Arial" pitchFamily="34" charset="-122"/>
                <a:cs typeface="Arial" pitchFamily="34" charset="-120"/>
              </a:rPr>
              <a:t>From raw pixels and point clouds to understanding the world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The Gap: Sensor Data ≠ Understanding</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3</a:t>
            </a:r>
            <a:endParaRPr lang="en-US" sz="800" dirty="0"/>
          </a:p>
        </p:txBody>
      </p:sp>
      <p:sp>
        <p:nvSpPr>
          <p:cNvPr id="5" name="Shape 3"/>
          <p:cNvSpPr/>
          <p:nvPr/>
        </p:nvSpPr>
        <p:spPr>
          <a:xfrm>
            <a:off x="274320" y="685800"/>
            <a:ext cx="8595360" cy="822960"/>
          </a:xfrm>
          <a:prstGeom prst="rect">
            <a:avLst/>
          </a:prstGeom>
          <a:solidFill>
            <a:srgbClr val="FFFBEB"/>
          </a:solidFill>
          <a:ln/>
          <a:effectLst>
            <a:outerShdw blurRad="50800" dist="25400" dir="8100000" algn="bl" rotWithShape="0">
              <a:srgbClr val="000000">
                <a:alpha val="12000"/>
              </a:srgbClr>
            </a:outerShdw>
          </a:effectLst>
        </p:spPr>
      </p:sp>
      <p:sp>
        <p:nvSpPr>
          <p:cNvPr id="6" name="Shape 4"/>
          <p:cNvSpPr/>
          <p:nvPr/>
        </p:nvSpPr>
        <p:spPr>
          <a:xfrm>
            <a:off x="274320" y="685800"/>
            <a:ext cx="54864" cy="822960"/>
          </a:xfrm>
          <a:prstGeom prst="rect">
            <a:avLst/>
          </a:prstGeom>
          <a:solidFill>
            <a:srgbClr val="F97316"/>
          </a:solidFill>
          <a:ln/>
        </p:spPr>
      </p:sp>
      <p:sp>
        <p:nvSpPr>
          <p:cNvPr id="7" name="Text 5"/>
          <p:cNvSpPr/>
          <p:nvPr/>
        </p:nvSpPr>
        <p:spPr>
          <a:xfrm>
            <a:off x="457200" y="758952"/>
            <a:ext cx="8275320" cy="685800"/>
          </a:xfrm>
          <a:prstGeom prst="rect">
            <a:avLst/>
          </a:prstGeom>
          <a:noFill/>
          <a:ln/>
        </p:spPr>
        <p:txBody>
          <a:bodyPr wrap="square" rtlCol="0" anchor="t"/>
          <a:lstStyle/>
          <a:p>
            <a:pPr marL="0" indent="0">
              <a:buNone/>
            </a:pPr>
            <a:r>
              <a:rPr lang="en-US" sz="1200" b="1" dirty="0">
                <a:solidFill>
                  <a:srgbClr val="F97316"/>
                </a:solidFill>
                <a:latin typeface="Arial" pitchFamily="34" charset="0"/>
                <a:ea typeface="Arial" pitchFamily="34" charset="-122"/>
                <a:cs typeface="Arial" pitchFamily="34" charset="-120"/>
              </a:rPr>
              <a:t>PBL SCENARIO: </a:t>
            </a:r>
            <a:r>
              <a:rPr lang="en-US" sz="1200" dirty="0">
                <a:solidFill>
                  <a:srgbClr val="1F2937"/>
                </a:solidFill>
                <a:latin typeface="Arial" pitchFamily="34" charset="0"/>
                <a:ea typeface="Arial" pitchFamily="34" charset="-122"/>
                <a:cs typeface="Arial" pitchFamily="34" charset="-120"/>
              </a:rPr>
              <a:t>MediBot's camera captures 640×480 = 307,200 pixels at 30 Hz. Its LiDAR returns 1,800 range values per scan (some car LIDAR output 12M/s). But MediBot needs to answer: "Is that a wheelchair or a cart? Is the door open or closed? Can I pass?" Raw numbers don't answer these questions.</a:t>
            </a:r>
            <a:endParaRPr lang="en-US" sz="1200" dirty="0"/>
          </a:p>
        </p:txBody>
      </p:sp>
      <p:sp>
        <p:nvSpPr>
          <p:cNvPr id="8" name="Shape 6"/>
          <p:cNvSpPr/>
          <p:nvPr/>
        </p:nvSpPr>
        <p:spPr>
          <a:xfrm>
            <a:off x="274320" y="1691640"/>
            <a:ext cx="4114800" cy="1371600"/>
          </a:xfrm>
          <a:prstGeom prst="rect">
            <a:avLst/>
          </a:prstGeom>
          <a:solidFill>
            <a:srgbClr val="FFFFFF"/>
          </a:solidFill>
          <a:ln/>
          <a:effectLst>
            <a:outerShdw blurRad="50800" dist="25400" dir="8100000" algn="bl" rotWithShape="0">
              <a:srgbClr val="000000">
                <a:alpha val="12000"/>
              </a:srgbClr>
            </a:outerShdw>
          </a:effectLst>
        </p:spPr>
      </p:sp>
      <p:sp>
        <p:nvSpPr>
          <p:cNvPr id="9" name="Shape 7"/>
          <p:cNvSpPr/>
          <p:nvPr/>
        </p:nvSpPr>
        <p:spPr>
          <a:xfrm>
            <a:off x="274320" y="1691640"/>
            <a:ext cx="54864" cy="1371600"/>
          </a:xfrm>
          <a:prstGeom prst="rect">
            <a:avLst/>
          </a:prstGeom>
          <a:solidFill>
            <a:srgbClr val="EF4444"/>
          </a:solidFill>
          <a:ln/>
        </p:spPr>
      </p:sp>
      <p:sp>
        <p:nvSpPr>
          <p:cNvPr id="10" name="Text 8"/>
          <p:cNvSpPr/>
          <p:nvPr/>
        </p:nvSpPr>
        <p:spPr>
          <a:xfrm>
            <a:off x="438912" y="174650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What sensors give (MOD-04):</a:t>
            </a:r>
            <a:endParaRPr lang="en-US" sz="1200" dirty="0"/>
          </a:p>
        </p:txBody>
      </p:sp>
      <p:sp>
        <p:nvSpPr>
          <p:cNvPr id="11" name="Text 9"/>
          <p:cNvSpPr/>
          <p:nvPr/>
        </p:nvSpPr>
        <p:spPr>
          <a:xfrm>
            <a:off x="438912" y="2039112"/>
            <a:ext cx="3840480" cy="9601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Camera: array of RGB pixel values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LiDAR: array of (range, angle) pairs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Depth camera: array of distance values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Radar: sparse (range, angle, velocity) tuples</a:t>
            </a:r>
            <a:endParaRPr lang="en-US" sz="1200" dirty="0"/>
          </a:p>
        </p:txBody>
      </p:sp>
      <p:sp>
        <p:nvSpPr>
          <p:cNvPr id="12" name="Shape 10"/>
          <p:cNvSpPr/>
          <p:nvPr/>
        </p:nvSpPr>
        <p:spPr>
          <a:xfrm>
            <a:off x="4663440" y="1691640"/>
            <a:ext cx="4206240" cy="1371600"/>
          </a:xfrm>
          <a:prstGeom prst="rect">
            <a:avLst/>
          </a:prstGeom>
          <a:solidFill>
            <a:srgbClr val="FFFFFF"/>
          </a:solidFill>
          <a:ln/>
          <a:effectLst>
            <a:outerShdw blurRad="50800" dist="25400" dir="8100000" algn="bl" rotWithShape="0">
              <a:srgbClr val="000000">
                <a:alpha val="12000"/>
              </a:srgbClr>
            </a:outerShdw>
          </a:effectLst>
        </p:spPr>
      </p:sp>
      <p:sp>
        <p:nvSpPr>
          <p:cNvPr id="13" name="Shape 11"/>
          <p:cNvSpPr/>
          <p:nvPr/>
        </p:nvSpPr>
        <p:spPr>
          <a:xfrm>
            <a:off x="4663440" y="1691640"/>
            <a:ext cx="54864" cy="1371600"/>
          </a:xfrm>
          <a:prstGeom prst="rect">
            <a:avLst/>
          </a:prstGeom>
          <a:solidFill>
            <a:srgbClr val="10B981"/>
          </a:solidFill>
          <a:ln/>
        </p:spPr>
      </p:sp>
      <p:sp>
        <p:nvSpPr>
          <p:cNvPr id="14" name="Text 12"/>
          <p:cNvSpPr/>
          <p:nvPr/>
        </p:nvSpPr>
        <p:spPr>
          <a:xfrm>
            <a:off x="4828032" y="174650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What the robot NEEDS:</a:t>
            </a:r>
            <a:endParaRPr lang="en-US" sz="1200" dirty="0"/>
          </a:p>
        </p:txBody>
      </p:sp>
      <p:sp>
        <p:nvSpPr>
          <p:cNvPr id="15" name="Text 13"/>
          <p:cNvSpPr/>
          <p:nvPr/>
        </p:nvSpPr>
        <p:spPr>
          <a:xfrm>
            <a:off x="4828032" y="2039112"/>
            <a:ext cx="3931920" cy="9601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"Wheelchair at (3.2, 1.5), moving left at 0.5 m/s"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"Door is OPEN — I can pass through"</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"Corridor wall corner at (5.0, 2.1) — landmark"</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"Free space ahead for 8 meters"</a:t>
            </a:r>
            <a:endParaRPr lang="en-US" sz="1200" dirty="0"/>
          </a:p>
        </p:txBody>
      </p:sp>
      <p:sp>
        <p:nvSpPr>
          <p:cNvPr id="16" name="Text 14"/>
          <p:cNvSpPr/>
          <p:nvPr/>
        </p:nvSpPr>
        <p:spPr>
          <a:xfrm>
            <a:off x="365760" y="3291840"/>
            <a:ext cx="8412480" cy="274320"/>
          </a:xfrm>
          <a:prstGeom prst="rect">
            <a:avLst/>
          </a:prstGeom>
          <a:noFill/>
          <a:ln/>
        </p:spPr>
        <p:txBody>
          <a:bodyPr wrap="square" rtlCol="0" anchor="ctr"/>
          <a:lstStyle/>
          <a:p>
            <a:pPr marL="0" indent="0">
              <a:buNone/>
            </a:pPr>
            <a:r>
              <a:rPr lang="en-US" sz="1300" b="1" dirty="0">
                <a:solidFill>
                  <a:srgbClr val="0F4C81"/>
                </a:solidFill>
                <a:latin typeface="Arial" pitchFamily="34" charset="0"/>
                <a:ea typeface="Arial" pitchFamily="34" charset="-122"/>
                <a:cs typeface="Arial" pitchFamily="34" charset="-120"/>
              </a:rPr>
              <a:t>Perception = the process of transforming raw sensor data into actionable understanding.</a:t>
            </a:r>
            <a:endParaRPr lang="en-US" sz="1300" dirty="0"/>
          </a:p>
        </p:txBody>
      </p:sp>
      <p:sp>
        <p:nvSpPr>
          <p:cNvPr id="17" name="Text 15"/>
          <p:cNvSpPr/>
          <p:nvPr/>
        </p:nvSpPr>
        <p:spPr>
          <a:xfrm>
            <a:off x="365760" y="3657600"/>
            <a:ext cx="8412480" cy="274320"/>
          </a:xfrm>
          <a:prstGeom prst="rect">
            <a:avLst/>
          </a:prstGeom>
          <a:noFill/>
          <a:ln/>
        </p:spPr>
        <p:txBody>
          <a:bodyPr wrap="square" rtlCol="0" anchor="ctr"/>
          <a:lstStyle/>
          <a:p>
            <a:pPr marL="0" indent="0">
              <a:buNone/>
            </a:pPr>
            <a:r>
              <a:rPr lang="en-US" sz="1200" dirty="0">
                <a:solidFill>
                  <a:srgbClr val="1F2937"/>
                </a:solidFill>
                <a:latin typeface="Arial" pitchFamily="34" charset="0"/>
                <a:ea typeface="Arial" pitchFamily="34" charset="-122"/>
                <a:cs typeface="Arial" pitchFamily="34" charset="-120"/>
              </a:rPr>
              <a:t>Without perception: localization has no landmarks, planning has no obstacles, SLAM has no features.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What Perception Must Deliver (Downstream Consumers)</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4</a:t>
            </a:r>
            <a:endParaRPr lang="en-US" sz="800" dirty="0"/>
          </a:p>
        </p:txBody>
      </p:sp>
      <p:sp>
        <p:nvSpPr>
          <p:cNvPr id="5" name="Shape 3"/>
          <p:cNvSpPr/>
          <p:nvPr/>
        </p:nvSpPr>
        <p:spPr>
          <a:xfrm>
            <a:off x="182880" y="731520"/>
            <a:ext cx="2834640" cy="2011680"/>
          </a:xfrm>
          <a:prstGeom prst="rect">
            <a:avLst/>
          </a:prstGeom>
          <a:solidFill>
            <a:srgbClr val="FFFFFF"/>
          </a:solidFill>
          <a:ln/>
          <a:effectLst>
            <a:outerShdw blurRad="50800" dist="25400" dir="8100000" algn="bl" rotWithShape="0">
              <a:srgbClr val="000000">
                <a:alpha val="12000"/>
              </a:srgbClr>
            </a:outerShdw>
          </a:effectLst>
        </p:spPr>
      </p:sp>
      <p:sp>
        <p:nvSpPr>
          <p:cNvPr id="6" name="Shape 4"/>
          <p:cNvSpPr/>
          <p:nvPr/>
        </p:nvSpPr>
        <p:spPr>
          <a:xfrm>
            <a:off x="182880" y="731520"/>
            <a:ext cx="54864" cy="2011680"/>
          </a:xfrm>
          <a:prstGeom prst="rect">
            <a:avLst/>
          </a:prstGeom>
          <a:solidFill>
            <a:srgbClr val="10B981"/>
          </a:solidFill>
          <a:ln/>
        </p:spPr>
      </p:sp>
      <p:sp>
        <p:nvSpPr>
          <p:cNvPr id="7" name="Text 5"/>
          <p:cNvSpPr/>
          <p:nvPr/>
        </p:nvSpPr>
        <p:spPr>
          <a:xfrm>
            <a:off x="347472" y="786384"/>
            <a:ext cx="25603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 MOD-06 Localization</a:t>
            </a:r>
            <a:endParaRPr lang="en-US" sz="1200" dirty="0"/>
          </a:p>
        </p:txBody>
      </p:sp>
      <p:sp>
        <p:nvSpPr>
          <p:cNvPr id="8" name="Text 6"/>
          <p:cNvSpPr/>
          <p:nvPr/>
        </p:nvSpPr>
        <p:spPr>
          <a:xfrm>
            <a:off x="347472" y="1078992"/>
            <a:ext cx="2560320" cy="160020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Detected landmarks (corners, lines)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Feature descriptors for matching</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Landmark identity (which corner?)</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Visual odometry estimates</a:t>
            </a:r>
            <a:endParaRPr lang="en-US" sz="1200" dirty="0"/>
          </a:p>
        </p:txBody>
      </p:sp>
      <p:sp>
        <p:nvSpPr>
          <p:cNvPr id="9" name="Shape 7"/>
          <p:cNvSpPr/>
          <p:nvPr/>
        </p:nvSpPr>
        <p:spPr>
          <a:xfrm>
            <a:off x="6033551" y="722128"/>
            <a:ext cx="2834640" cy="2011680"/>
          </a:xfrm>
          <a:prstGeom prst="rect">
            <a:avLst/>
          </a:prstGeom>
          <a:solidFill>
            <a:srgbClr val="FFFFFF"/>
          </a:solidFill>
          <a:ln/>
          <a:effectLst>
            <a:outerShdw blurRad="50800" dist="25400" dir="8100000" algn="bl" rotWithShape="0">
              <a:srgbClr val="000000">
                <a:alpha val="12000"/>
              </a:srgbClr>
            </a:outerShdw>
          </a:effectLst>
        </p:spPr>
      </p:sp>
      <p:sp>
        <p:nvSpPr>
          <p:cNvPr id="10" name="Shape 8"/>
          <p:cNvSpPr/>
          <p:nvPr/>
        </p:nvSpPr>
        <p:spPr>
          <a:xfrm>
            <a:off x="6033551" y="722128"/>
            <a:ext cx="54864" cy="2011680"/>
          </a:xfrm>
          <a:prstGeom prst="rect">
            <a:avLst/>
          </a:prstGeom>
          <a:solidFill>
            <a:srgbClr val="3B82F6"/>
          </a:solidFill>
          <a:ln/>
        </p:spPr>
      </p:sp>
      <p:sp>
        <p:nvSpPr>
          <p:cNvPr id="11" name="Text 9"/>
          <p:cNvSpPr/>
          <p:nvPr/>
        </p:nvSpPr>
        <p:spPr>
          <a:xfrm>
            <a:off x="6198143" y="776992"/>
            <a:ext cx="25603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 MOD-09 Planning</a:t>
            </a:r>
            <a:endParaRPr lang="en-US" sz="1200" dirty="0"/>
          </a:p>
        </p:txBody>
      </p:sp>
      <p:sp>
        <p:nvSpPr>
          <p:cNvPr id="12" name="Text 10"/>
          <p:cNvSpPr/>
          <p:nvPr/>
        </p:nvSpPr>
        <p:spPr>
          <a:xfrm>
            <a:off x="6198143" y="1069600"/>
            <a:ext cx="2560320" cy="160020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Obstacle positions and sizes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Free space map</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Semantic labels (door, wall, person)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Dynamic vs. static classification</a:t>
            </a:r>
            <a:endParaRPr lang="en-US" sz="1200" dirty="0"/>
          </a:p>
        </p:txBody>
      </p:sp>
      <p:sp>
        <p:nvSpPr>
          <p:cNvPr id="17" name="Shape 15"/>
          <p:cNvSpPr/>
          <p:nvPr/>
        </p:nvSpPr>
        <p:spPr>
          <a:xfrm>
            <a:off x="274320" y="3017520"/>
            <a:ext cx="8595360" cy="1737360"/>
          </a:xfrm>
          <a:prstGeom prst="rect">
            <a:avLst/>
          </a:prstGeom>
          <a:solidFill>
            <a:srgbClr val="FFFFFF"/>
          </a:solidFill>
          <a:ln/>
          <a:effectLst>
            <a:outerShdw blurRad="50800" dist="25400" dir="8100000" algn="bl" rotWithShape="0">
              <a:srgbClr val="000000">
                <a:alpha val="12000"/>
              </a:srgbClr>
            </a:outerShdw>
          </a:effectLst>
        </p:spPr>
      </p:sp>
      <p:sp>
        <p:nvSpPr>
          <p:cNvPr id="18" name="Text 16"/>
          <p:cNvSpPr/>
          <p:nvPr/>
        </p:nvSpPr>
        <p:spPr>
          <a:xfrm>
            <a:off x="457200" y="3063240"/>
            <a:ext cx="3657600" cy="274320"/>
          </a:xfrm>
          <a:prstGeom prst="rect">
            <a:avLst/>
          </a:prstGeom>
          <a:noFill/>
          <a:ln/>
        </p:spPr>
        <p:txBody>
          <a:bodyPr wrap="square" rtlCol="0" anchor="ctr"/>
          <a:lstStyle/>
          <a:p>
            <a:pPr marL="0" indent="0">
              <a:buNone/>
            </a:pPr>
            <a:r>
              <a:rPr lang="en-US" sz="1200" b="1" dirty="0">
                <a:solidFill>
                  <a:srgbClr val="0F4C81"/>
                </a:solidFill>
                <a:latin typeface="Arial" pitchFamily="34" charset="0"/>
                <a:ea typeface="Arial" pitchFamily="34" charset="-122"/>
                <a:cs typeface="Arial" pitchFamily="34" charset="-120"/>
              </a:rPr>
              <a:t>CDIO for this module:</a:t>
            </a:r>
            <a:endParaRPr lang="en-US" sz="1200" dirty="0"/>
          </a:p>
        </p:txBody>
      </p:sp>
      <p:sp>
        <p:nvSpPr>
          <p:cNvPr id="19" name="Shape 17"/>
          <p:cNvSpPr/>
          <p:nvPr/>
        </p:nvSpPr>
        <p:spPr>
          <a:xfrm>
            <a:off x="457200" y="3383280"/>
            <a:ext cx="411480" cy="411480"/>
          </a:xfrm>
          <a:prstGeom prst="ellipse">
            <a:avLst/>
          </a:prstGeom>
          <a:solidFill>
            <a:srgbClr val="3B82F6"/>
          </a:solidFill>
          <a:ln/>
        </p:spPr>
      </p:sp>
      <p:sp>
        <p:nvSpPr>
          <p:cNvPr id="20" name="Text 18"/>
          <p:cNvSpPr/>
          <p:nvPr/>
        </p:nvSpPr>
        <p:spPr>
          <a:xfrm>
            <a:off x="457200" y="3401568"/>
            <a:ext cx="411480" cy="384048"/>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21" name="Text 19"/>
          <p:cNvSpPr/>
          <p:nvPr/>
        </p:nvSpPr>
        <p:spPr>
          <a:xfrm>
            <a:off x="960120" y="3401568"/>
            <a:ext cx="7680960" cy="365760"/>
          </a:xfrm>
          <a:prstGeom prst="rect">
            <a:avLst/>
          </a:prstGeom>
          <a:noFill/>
          <a:ln/>
        </p:spPr>
        <p:txBody>
          <a:bodyPr wrap="square" rtlCol="0" anchor="ctr"/>
          <a:lstStyle/>
          <a:p>
            <a:pPr marL="0" indent="0">
              <a:buNone/>
            </a:pPr>
            <a:r>
              <a:rPr lang="en-US" sz="1200" b="1" dirty="0">
                <a:solidFill>
                  <a:srgbClr val="3B82F6"/>
                </a:solidFill>
                <a:latin typeface="Arial" pitchFamily="34" charset="0"/>
                <a:ea typeface="Arial" pitchFamily="34" charset="-122"/>
                <a:cs typeface="Arial" pitchFamily="34" charset="-120"/>
              </a:rPr>
              <a:t>CONCEIVE: </a:t>
            </a:r>
            <a:r>
              <a:rPr lang="en-US" sz="1200" dirty="0">
                <a:solidFill>
                  <a:srgbClr val="1F2937"/>
                </a:solidFill>
                <a:latin typeface="Arial" pitchFamily="34" charset="0"/>
                <a:ea typeface="Arial" pitchFamily="34" charset="-122"/>
                <a:cs typeface="Arial" pitchFamily="34" charset="-120"/>
              </a:rPr>
              <a:t>Understand what raw sensor data lacks and what perception must add (this block)</a:t>
            </a:r>
            <a:endParaRPr lang="en-US" sz="1200" dirty="0"/>
          </a:p>
        </p:txBody>
      </p:sp>
      <p:sp>
        <p:nvSpPr>
          <p:cNvPr id="22" name="Shape 20"/>
          <p:cNvSpPr/>
          <p:nvPr/>
        </p:nvSpPr>
        <p:spPr>
          <a:xfrm>
            <a:off x="457200" y="3749040"/>
            <a:ext cx="411480" cy="411480"/>
          </a:xfrm>
          <a:prstGeom prst="ellipse">
            <a:avLst/>
          </a:prstGeom>
          <a:solidFill>
            <a:srgbClr val="8B5CF6"/>
          </a:solidFill>
          <a:ln/>
        </p:spPr>
      </p:sp>
      <p:sp>
        <p:nvSpPr>
          <p:cNvPr id="23" name="Text 21"/>
          <p:cNvSpPr/>
          <p:nvPr/>
        </p:nvSpPr>
        <p:spPr>
          <a:xfrm>
            <a:off x="457200" y="3767328"/>
            <a:ext cx="411480" cy="384048"/>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24" name="Text 22"/>
          <p:cNvSpPr/>
          <p:nvPr/>
        </p:nvSpPr>
        <p:spPr>
          <a:xfrm>
            <a:off x="960120" y="3767328"/>
            <a:ext cx="7680960" cy="365760"/>
          </a:xfrm>
          <a:prstGeom prst="rect">
            <a:avLst/>
          </a:prstGeom>
          <a:noFill/>
          <a:ln/>
        </p:spPr>
        <p:txBody>
          <a:bodyPr wrap="square" rtlCol="0" anchor="ctr"/>
          <a:lstStyle/>
          <a:p>
            <a:pPr marL="0" indent="0">
              <a:buNone/>
            </a:pPr>
            <a:r>
              <a:rPr lang="en-US" sz="1200" b="1" dirty="0">
                <a:solidFill>
                  <a:srgbClr val="8B5CF6"/>
                </a:solidFill>
                <a:latin typeface="Arial" pitchFamily="34" charset="0"/>
                <a:ea typeface="Arial" pitchFamily="34" charset="-122"/>
                <a:cs typeface="Arial" pitchFamily="34" charset="-120"/>
              </a:rPr>
              <a:t>DESIGN: </a:t>
            </a:r>
            <a:r>
              <a:rPr lang="en-US" sz="1200" dirty="0">
                <a:solidFill>
                  <a:srgbClr val="1F2937"/>
                </a:solidFill>
                <a:latin typeface="Arial" pitchFamily="34" charset="0"/>
                <a:ea typeface="Arial" pitchFamily="34" charset="-122"/>
                <a:cs typeface="Arial" pitchFamily="34" charset="-120"/>
              </a:rPr>
              <a:t>Design a perception pipeline: which algorithms for which stage (Blocks B–I)</a:t>
            </a:r>
            <a:endParaRPr lang="en-US" sz="1200" dirty="0"/>
          </a:p>
        </p:txBody>
      </p:sp>
      <p:sp>
        <p:nvSpPr>
          <p:cNvPr id="25" name="Shape 23"/>
          <p:cNvSpPr/>
          <p:nvPr/>
        </p:nvSpPr>
        <p:spPr>
          <a:xfrm>
            <a:off x="457200" y="4114800"/>
            <a:ext cx="411480" cy="411480"/>
          </a:xfrm>
          <a:prstGeom prst="ellipse">
            <a:avLst/>
          </a:prstGeom>
          <a:solidFill>
            <a:srgbClr val="10B981"/>
          </a:solidFill>
          <a:ln/>
        </p:spPr>
      </p:sp>
      <p:sp>
        <p:nvSpPr>
          <p:cNvPr id="26" name="Text 24"/>
          <p:cNvSpPr/>
          <p:nvPr/>
        </p:nvSpPr>
        <p:spPr>
          <a:xfrm>
            <a:off x="457200" y="4133088"/>
            <a:ext cx="411480" cy="384048"/>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I</a:t>
            </a:r>
            <a:endParaRPr lang="en-US" sz="1400" dirty="0"/>
          </a:p>
        </p:txBody>
      </p:sp>
      <p:sp>
        <p:nvSpPr>
          <p:cNvPr id="27" name="Text 25"/>
          <p:cNvSpPr/>
          <p:nvPr/>
        </p:nvSpPr>
        <p:spPr>
          <a:xfrm>
            <a:off x="960120" y="4133088"/>
            <a:ext cx="7680960" cy="365760"/>
          </a:xfrm>
          <a:prstGeom prst="rect">
            <a:avLst/>
          </a:prstGeom>
          <a:noFill/>
          <a:ln/>
        </p:spPr>
        <p:txBody>
          <a:bodyPr wrap="square" rtlCol="0" anchor="ctr"/>
          <a:lstStyle/>
          <a:p>
            <a:pPr marL="0" indent="0">
              <a:buNone/>
            </a:pPr>
            <a:r>
              <a:rPr lang="en-US" sz="1200" b="1" dirty="0">
                <a:solidFill>
                  <a:srgbClr val="10B981"/>
                </a:solidFill>
                <a:latin typeface="Arial" pitchFamily="34" charset="0"/>
                <a:ea typeface="Arial" pitchFamily="34" charset="-122"/>
                <a:cs typeface="Arial" pitchFamily="34" charset="-120"/>
              </a:rPr>
              <a:t>IMPLEMENT: </a:t>
            </a:r>
            <a:r>
              <a:rPr lang="en-US" sz="1200" dirty="0">
                <a:solidFill>
                  <a:srgbClr val="1F2937"/>
                </a:solidFill>
                <a:latin typeface="Arial" pitchFamily="34" charset="0"/>
                <a:ea typeface="Arial" pitchFamily="34" charset="-122"/>
                <a:cs typeface="Arial" pitchFamily="34" charset="-120"/>
              </a:rPr>
              <a:t>Map the pipeline to ROS 2 nodes and topics (Block B)</a:t>
            </a:r>
            <a:endParaRPr lang="en-US" sz="1200" dirty="0"/>
          </a:p>
        </p:txBody>
      </p:sp>
      <p:sp>
        <p:nvSpPr>
          <p:cNvPr id="28" name="Shape 11">
            <a:extLst>
              <a:ext uri="{FF2B5EF4-FFF2-40B4-BE49-F238E27FC236}">
                <a16:creationId xmlns:a16="http://schemas.microsoft.com/office/drawing/2014/main" id="{2EA50B39-99FD-43D2-A398-0B6BF0EF7B65}"/>
              </a:ext>
            </a:extLst>
          </p:cNvPr>
          <p:cNvSpPr/>
          <p:nvPr/>
        </p:nvSpPr>
        <p:spPr>
          <a:xfrm>
            <a:off x="3106837" y="731520"/>
            <a:ext cx="2834640" cy="2011680"/>
          </a:xfrm>
          <a:prstGeom prst="rect">
            <a:avLst/>
          </a:prstGeom>
          <a:solidFill>
            <a:srgbClr val="FFFFFF"/>
          </a:solidFill>
          <a:ln/>
          <a:effectLst>
            <a:outerShdw blurRad="50800" dist="25400" dir="8100000" algn="bl" rotWithShape="0">
              <a:srgbClr val="000000">
                <a:alpha val="12000"/>
              </a:srgbClr>
            </a:outerShdw>
          </a:effectLst>
        </p:spPr>
      </p:sp>
      <p:sp>
        <p:nvSpPr>
          <p:cNvPr id="29" name="Shape 12">
            <a:extLst>
              <a:ext uri="{FF2B5EF4-FFF2-40B4-BE49-F238E27FC236}">
                <a16:creationId xmlns:a16="http://schemas.microsoft.com/office/drawing/2014/main" id="{B4058E13-2508-4361-81B6-7A08A9413760}"/>
              </a:ext>
            </a:extLst>
          </p:cNvPr>
          <p:cNvSpPr/>
          <p:nvPr/>
        </p:nvSpPr>
        <p:spPr>
          <a:xfrm>
            <a:off x="3106837" y="731520"/>
            <a:ext cx="54864" cy="2011680"/>
          </a:xfrm>
          <a:prstGeom prst="rect">
            <a:avLst/>
          </a:prstGeom>
          <a:solidFill>
            <a:srgbClr val="8B5CF6"/>
          </a:solidFill>
          <a:ln/>
        </p:spPr>
      </p:sp>
      <p:sp>
        <p:nvSpPr>
          <p:cNvPr id="30" name="Text 13">
            <a:extLst>
              <a:ext uri="{FF2B5EF4-FFF2-40B4-BE49-F238E27FC236}">
                <a16:creationId xmlns:a16="http://schemas.microsoft.com/office/drawing/2014/main" id="{1C7D3FF8-58B7-4B6F-8E7F-7AA84EA85B1C}"/>
              </a:ext>
            </a:extLst>
          </p:cNvPr>
          <p:cNvSpPr/>
          <p:nvPr/>
        </p:nvSpPr>
        <p:spPr>
          <a:xfrm>
            <a:off x="3271429" y="786384"/>
            <a:ext cx="25603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 MOD-08 SLAM</a:t>
            </a:r>
            <a:endParaRPr lang="en-US" sz="1200" dirty="0"/>
          </a:p>
        </p:txBody>
      </p:sp>
      <p:sp>
        <p:nvSpPr>
          <p:cNvPr id="31" name="Text 14">
            <a:extLst>
              <a:ext uri="{FF2B5EF4-FFF2-40B4-BE49-F238E27FC236}">
                <a16:creationId xmlns:a16="http://schemas.microsoft.com/office/drawing/2014/main" id="{D62635E7-2CF4-418C-AB3E-D6AE95FBC00A}"/>
              </a:ext>
            </a:extLst>
          </p:cNvPr>
          <p:cNvSpPr/>
          <p:nvPr/>
        </p:nvSpPr>
        <p:spPr>
          <a:xfrm>
            <a:off x="3271429" y="1078992"/>
            <a:ext cx="2560320" cy="160020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Visual features for loop closure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Point cloud segments for registration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Distinctive places for re-recognition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Consistent features across visits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4C81"/>
        </a:solidFill>
        <a:effectLst/>
      </p:bgPr>
    </p:bg>
    <p:spTree>
      <p:nvGrpSpPr>
        <p:cNvPr id="1" name=""/>
        <p:cNvGrpSpPr/>
        <p:nvPr/>
      </p:nvGrpSpPr>
      <p:grpSpPr>
        <a:xfrm>
          <a:off x="0" y="0"/>
          <a:ext cx="0" cy="0"/>
          <a:chOff x="0" y="0"/>
          <a:chExt cx="0" cy="0"/>
        </a:xfrm>
      </p:grpSpPr>
      <p:sp>
        <p:nvSpPr>
          <p:cNvPr id="2" name="Text 0"/>
          <p:cNvSpPr/>
          <p:nvPr/>
        </p:nvSpPr>
        <p:spPr>
          <a:xfrm>
            <a:off x="548640" y="914400"/>
            <a:ext cx="4572000" cy="457200"/>
          </a:xfrm>
          <a:prstGeom prst="rect">
            <a:avLst/>
          </a:prstGeom>
          <a:noFill/>
          <a:ln/>
        </p:spPr>
        <p:txBody>
          <a:bodyPr wrap="square" rtlCol="0" anchor="ctr"/>
          <a:lstStyle/>
          <a:p>
            <a:pPr marL="0" indent="0">
              <a:buNone/>
            </a:pPr>
            <a:r>
              <a:rPr lang="en-US" sz="1400" b="1" kern="0" spc="300" dirty="0">
                <a:solidFill>
                  <a:srgbClr val="F59E0B"/>
                </a:solidFill>
                <a:latin typeface="Arial" pitchFamily="34" charset="0"/>
                <a:ea typeface="Arial" pitchFamily="34" charset="-122"/>
                <a:cs typeface="Arial" pitchFamily="34" charset="-120"/>
              </a:rPr>
              <a:t>BLOCK B</a:t>
            </a:r>
            <a:endParaRPr lang="en-US" sz="1400" dirty="0"/>
          </a:p>
        </p:txBody>
      </p:sp>
      <p:sp>
        <p:nvSpPr>
          <p:cNvPr id="3" name="Text 1"/>
          <p:cNvSpPr/>
          <p:nvPr/>
        </p:nvSpPr>
        <p:spPr>
          <a:xfrm>
            <a:off x="548640" y="1371600"/>
            <a:ext cx="7772400" cy="1280160"/>
          </a:xfrm>
          <a:prstGeom prst="rect">
            <a:avLst/>
          </a:prstGeom>
          <a:noFill/>
          <a:ln/>
        </p:spPr>
        <p:txBody>
          <a:bodyPr wrap="square" rtlCol="0" anchor="ctr"/>
          <a:lstStyle/>
          <a:p>
            <a:pPr marL="0" indent="0">
              <a:buNone/>
            </a:pPr>
            <a:r>
              <a:rPr lang="en-US" sz="2800" b="1" dirty="0">
                <a:solidFill>
                  <a:srgbClr val="FFFFFF"/>
                </a:solidFill>
                <a:latin typeface="Arial" pitchFamily="34" charset="0"/>
                <a:ea typeface="Arial" pitchFamily="34" charset="-122"/>
                <a:cs typeface="Arial" pitchFamily="34" charset="-120"/>
              </a:rPr>
              <a:t>Perception Pipeline</a:t>
            </a:r>
            <a:endParaRPr lang="en-US" sz="2800" dirty="0"/>
          </a:p>
          <a:p>
            <a:pPr marL="0" indent="0">
              <a:buNone/>
            </a:pPr>
            <a:r>
              <a:rPr lang="en-US" sz="2800" b="1" dirty="0">
                <a:solidFill>
                  <a:srgbClr val="FFFFFF"/>
                </a:solidFill>
                <a:latin typeface="Arial" pitchFamily="34" charset="0"/>
                <a:ea typeface="Arial" pitchFamily="34" charset="-122"/>
                <a:cs typeface="Arial" pitchFamily="34" charset="-120"/>
              </a:rPr>
              <a:t>Architecture</a:t>
            </a:r>
            <a:endParaRPr lang="en-US" sz="2800" dirty="0"/>
          </a:p>
        </p:txBody>
      </p:sp>
      <p:sp>
        <p:nvSpPr>
          <p:cNvPr id="4" name="Text 2"/>
          <p:cNvSpPr/>
          <p:nvPr/>
        </p:nvSpPr>
        <p:spPr>
          <a:xfrm>
            <a:off x="548640" y="2743200"/>
            <a:ext cx="7315200" cy="731520"/>
          </a:xfrm>
          <a:prstGeom prst="rect">
            <a:avLst/>
          </a:prstGeom>
          <a:noFill/>
          <a:ln/>
        </p:spPr>
        <p:txBody>
          <a:bodyPr wrap="square" rtlCol="0" anchor="ctr"/>
          <a:lstStyle/>
          <a:p>
            <a:pPr marL="0" indent="0">
              <a:buNone/>
            </a:pPr>
            <a:r>
              <a:rPr lang="en-US" sz="1500" dirty="0">
                <a:solidFill>
                  <a:srgbClr val="B0C4DE"/>
                </a:solidFill>
                <a:latin typeface="Arial" pitchFamily="34" charset="0"/>
                <a:ea typeface="Arial" pitchFamily="34" charset="-122"/>
                <a:cs typeface="Arial" pitchFamily="34" charset="-120"/>
              </a:rPr>
              <a:t>The assembly line from raw data to understanding</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The Abstract Pipeline: 5 Stages</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6</a:t>
            </a:r>
            <a:endParaRPr lang="en-US" sz="800" dirty="0"/>
          </a:p>
        </p:txBody>
      </p:sp>
      <p:sp>
        <p:nvSpPr>
          <p:cNvPr id="5" name="Shape 3"/>
          <p:cNvSpPr/>
          <p:nvPr/>
        </p:nvSpPr>
        <p:spPr>
          <a:xfrm>
            <a:off x="228600" y="822960"/>
            <a:ext cx="1600200" cy="1463040"/>
          </a:xfrm>
          <a:prstGeom prst="rect">
            <a:avLst/>
          </a:prstGeom>
          <a:solidFill>
            <a:srgbClr val="3B82F6"/>
          </a:solidFill>
          <a:ln/>
          <a:effectLst>
            <a:outerShdw blurRad="50800" dist="25400" dir="8100000" algn="bl" rotWithShape="0">
              <a:srgbClr val="000000">
                <a:alpha val="12000"/>
              </a:srgbClr>
            </a:outerShdw>
          </a:effectLst>
        </p:spPr>
      </p:sp>
      <p:sp>
        <p:nvSpPr>
          <p:cNvPr id="6" name="Text 4"/>
          <p:cNvSpPr/>
          <p:nvPr/>
        </p:nvSpPr>
        <p:spPr>
          <a:xfrm>
            <a:off x="228600" y="868680"/>
            <a:ext cx="1600200" cy="45720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SENSE</a:t>
            </a:r>
            <a:endParaRPr lang="en-US" sz="1400" dirty="0"/>
          </a:p>
        </p:txBody>
      </p:sp>
      <p:sp>
        <p:nvSpPr>
          <p:cNvPr id="7" name="Text 5"/>
          <p:cNvSpPr/>
          <p:nvPr/>
        </p:nvSpPr>
        <p:spPr>
          <a:xfrm>
            <a:off x="228600" y="1371600"/>
            <a:ext cx="1600200" cy="822960"/>
          </a:xfrm>
          <a:prstGeom prst="rect">
            <a:avLst/>
          </a:prstGeom>
          <a:noFill/>
          <a:ln/>
        </p:spPr>
        <p:txBody>
          <a:bodyPr wrap="square" rtlCol="0" anchor="ctr"/>
          <a:lstStyle/>
          <a:p>
            <a:pPr marL="0" indent="0" algn="ctr">
              <a:buNone/>
            </a:pPr>
            <a:r>
              <a:rPr lang="en-US" sz="1200" dirty="0">
                <a:solidFill>
                  <a:srgbClr val="FFFFFF"/>
                </a:solidFill>
                <a:latin typeface="Arial" pitchFamily="34" charset="0"/>
                <a:ea typeface="Arial" pitchFamily="34" charset="-122"/>
                <a:cs typeface="Arial" pitchFamily="34" charset="-120"/>
              </a:rPr>
              <a:t>Raw data from</a:t>
            </a:r>
            <a:endParaRPr lang="en-US" sz="1200" dirty="0"/>
          </a:p>
          <a:p>
            <a:pPr marL="0" indent="0" algn="ctr">
              <a:buNone/>
            </a:pPr>
            <a:r>
              <a:rPr lang="en-US" sz="1200" dirty="0">
                <a:solidFill>
                  <a:srgbClr val="FFFFFF"/>
                </a:solidFill>
                <a:latin typeface="Arial" pitchFamily="34" charset="0"/>
                <a:ea typeface="Arial" pitchFamily="34" charset="-122"/>
                <a:cs typeface="Arial" pitchFamily="34" charset="-120"/>
              </a:rPr>
              <a:t>camera, LiDAR</a:t>
            </a:r>
            <a:endParaRPr lang="en-US" sz="1200" dirty="0"/>
          </a:p>
        </p:txBody>
      </p:sp>
      <p:sp>
        <p:nvSpPr>
          <p:cNvPr id="8" name="Text 6"/>
          <p:cNvSpPr/>
          <p:nvPr/>
        </p:nvSpPr>
        <p:spPr>
          <a:xfrm>
            <a:off x="1828800" y="1188720"/>
            <a:ext cx="182880" cy="457200"/>
          </a:xfrm>
          <a:prstGeom prst="rect">
            <a:avLst/>
          </a:prstGeom>
          <a:noFill/>
          <a:ln/>
        </p:spPr>
        <p:txBody>
          <a:bodyPr wrap="square" rtlCol="0" anchor="ctr"/>
          <a:lstStyle/>
          <a:p>
            <a:pPr marL="0" indent="0">
              <a:buNone/>
            </a:pPr>
            <a:r>
              <a:rPr lang="en-US" sz="1600" dirty="0">
                <a:solidFill>
                  <a:srgbClr val="6B7280"/>
                </a:solidFill>
                <a:latin typeface="Arial" pitchFamily="34" charset="0"/>
                <a:ea typeface="Arial" pitchFamily="34" charset="-122"/>
                <a:cs typeface="Arial" pitchFamily="34" charset="-120"/>
              </a:rPr>
              <a:t>→</a:t>
            </a:r>
            <a:endParaRPr lang="en-US" sz="1600" dirty="0"/>
          </a:p>
        </p:txBody>
      </p:sp>
      <p:sp>
        <p:nvSpPr>
          <p:cNvPr id="9" name="Shape 7"/>
          <p:cNvSpPr/>
          <p:nvPr/>
        </p:nvSpPr>
        <p:spPr>
          <a:xfrm>
            <a:off x="2011680" y="822960"/>
            <a:ext cx="1600200" cy="1463040"/>
          </a:xfrm>
          <a:prstGeom prst="rect">
            <a:avLst/>
          </a:prstGeom>
          <a:solidFill>
            <a:srgbClr val="0D9488"/>
          </a:solidFill>
          <a:ln/>
          <a:effectLst>
            <a:outerShdw blurRad="50800" dist="25400" dir="8100000" algn="bl" rotWithShape="0">
              <a:srgbClr val="000000">
                <a:alpha val="12000"/>
              </a:srgbClr>
            </a:outerShdw>
          </a:effectLst>
        </p:spPr>
      </p:sp>
      <p:sp>
        <p:nvSpPr>
          <p:cNvPr id="10" name="Text 8"/>
          <p:cNvSpPr/>
          <p:nvPr/>
        </p:nvSpPr>
        <p:spPr>
          <a:xfrm>
            <a:off x="2011680" y="868680"/>
            <a:ext cx="1600200" cy="45720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PREPROCESS</a:t>
            </a:r>
            <a:endParaRPr lang="en-US" sz="1400" dirty="0"/>
          </a:p>
        </p:txBody>
      </p:sp>
      <p:sp>
        <p:nvSpPr>
          <p:cNvPr id="11" name="Text 9"/>
          <p:cNvSpPr/>
          <p:nvPr/>
        </p:nvSpPr>
        <p:spPr>
          <a:xfrm>
            <a:off x="2011680" y="1371600"/>
            <a:ext cx="1600200" cy="822960"/>
          </a:xfrm>
          <a:prstGeom prst="rect">
            <a:avLst/>
          </a:prstGeom>
          <a:noFill/>
          <a:ln/>
        </p:spPr>
        <p:txBody>
          <a:bodyPr wrap="square" rtlCol="0" anchor="ctr"/>
          <a:lstStyle/>
          <a:p>
            <a:pPr marL="0" indent="0" algn="ctr">
              <a:buNone/>
            </a:pPr>
            <a:r>
              <a:rPr lang="en-US" sz="1200" dirty="0">
                <a:solidFill>
                  <a:srgbClr val="FFFFFF"/>
                </a:solidFill>
                <a:latin typeface="Arial" pitchFamily="34" charset="0"/>
                <a:ea typeface="Arial" pitchFamily="34" charset="-122"/>
                <a:cs typeface="Arial" pitchFamily="34" charset="-120"/>
              </a:rPr>
              <a:t>Filter noise,</a:t>
            </a:r>
            <a:endParaRPr lang="en-US" sz="1200" dirty="0"/>
          </a:p>
          <a:p>
            <a:pPr marL="0" indent="0" algn="ctr">
              <a:buNone/>
            </a:pPr>
            <a:r>
              <a:rPr lang="en-US" sz="1200" dirty="0">
                <a:solidFill>
                  <a:srgbClr val="FFFFFF"/>
                </a:solidFill>
                <a:latin typeface="Arial" pitchFamily="34" charset="0"/>
                <a:ea typeface="Arial" pitchFamily="34" charset="-122"/>
                <a:cs typeface="Arial" pitchFamily="34" charset="-120"/>
              </a:rPr>
              <a:t>enhance features</a:t>
            </a:r>
            <a:endParaRPr lang="en-US" sz="1200" dirty="0"/>
          </a:p>
        </p:txBody>
      </p:sp>
      <p:sp>
        <p:nvSpPr>
          <p:cNvPr id="12" name="Text 10"/>
          <p:cNvSpPr/>
          <p:nvPr/>
        </p:nvSpPr>
        <p:spPr>
          <a:xfrm>
            <a:off x="3611880" y="1188720"/>
            <a:ext cx="182880" cy="457200"/>
          </a:xfrm>
          <a:prstGeom prst="rect">
            <a:avLst/>
          </a:prstGeom>
          <a:noFill/>
          <a:ln/>
        </p:spPr>
        <p:txBody>
          <a:bodyPr wrap="square" rtlCol="0" anchor="ctr"/>
          <a:lstStyle/>
          <a:p>
            <a:pPr marL="0" indent="0">
              <a:buNone/>
            </a:pPr>
            <a:r>
              <a:rPr lang="en-US" sz="1600" dirty="0">
                <a:solidFill>
                  <a:srgbClr val="6B7280"/>
                </a:solidFill>
                <a:latin typeface="Arial" pitchFamily="34" charset="0"/>
                <a:ea typeface="Arial" pitchFamily="34" charset="-122"/>
                <a:cs typeface="Arial" pitchFamily="34" charset="-120"/>
              </a:rPr>
              <a:t>→</a:t>
            </a:r>
            <a:endParaRPr lang="en-US" sz="1600" dirty="0"/>
          </a:p>
        </p:txBody>
      </p:sp>
      <p:sp>
        <p:nvSpPr>
          <p:cNvPr id="13" name="Shape 11"/>
          <p:cNvSpPr/>
          <p:nvPr/>
        </p:nvSpPr>
        <p:spPr>
          <a:xfrm>
            <a:off x="3794760" y="822960"/>
            <a:ext cx="1600200" cy="1463040"/>
          </a:xfrm>
          <a:prstGeom prst="rect">
            <a:avLst/>
          </a:prstGeom>
          <a:solidFill>
            <a:srgbClr val="F59E0B"/>
          </a:solidFill>
          <a:ln/>
          <a:effectLst>
            <a:outerShdw blurRad="50800" dist="25400" dir="8100000" algn="bl" rotWithShape="0">
              <a:srgbClr val="000000">
                <a:alpha val="12000"/>
              </a:srgbClr>
            </a:outerShdw>
          </a:effectLst>
        </p:spPr>
      </p:sp>
      <p:sp>
        <p:nvSpPr>
          <p:cNvPr id="14" name="Text 12"/>
          <p:cNvSpPr/>
          <p:nvPr/>
        </p:nvSpPr>
        <p:spPr>
          <a:xfrm>
            <a:off x="3794760" y="868680"/>
            <a:ext cx="1600200" cy="45720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DETECT</a:t>
            </a:r>
            <a:endParaRPr lang="en-US" sz="1400" dirty="0"/>
          </a:p>
        </p:txBody>
      </p:sp>
      <p:sp>
        <p:nvSpPr>
          <p:cNvPr id="15" name="Text 13"/>
          <p:cNvSpPr/>
          <p:nvPr/>
        </p:nvSpPr>
        <p:spPr>
          <a:xfrm>
            <a:off x="3794760" y="1371600"/>
            <a:ext cx="1600200" cy="822960"/>
          </a:xfrm>
          <a:prstGeom prst="rect">
            <a:avLst/>
          </a:prstGeom>
          <a:noFill/>
          <a:ln/>
        </p:spPr>
        <p:txBody>
          <a:bodyPr wrap="square" rtlCol="0" anchor="ctr"/>
          <a:lstStyle/>
          <a:p>
            <a:pPr marL="0" indent="0" algn="ctr">
              <a:buNone/>
            </a:pPr>
            <a:r>
              <a:rPr lang="en-US" sz="1200" dirty="0">
                <a:solidFill>
                  <a:srgbClr val="FFFFFF"/>
                </a:solidFill>
                <a:latin typeface="Arial" pitchFamily="34" charset="0"/>
                <a:ea typeface="Arial" pitchFamily="34" charset="-122"/>
                <a:cs typeface="Arial" pitchFamily="34" charset="-120"/>
              </a:rPr>
              <a:t>Find objects,</a:t>
            </a:r>
            <a:endParaRPr lang="en-US" sz="1200" dirty="0"/>
          </a:p>
          <a:p>
            <a:pPr marL="0" indent="0" algn="ctr">
              <a:buNone/>
            </a:pPr>
            <a:r>
              <a:rPr lang="en-US" sz="1200" dirty="0">
                <a:solidFill>
                  <a:srgbClr val="FFFFFF"/>
                </a:solidFill>
                <a:latin typeface="Arial" pitchFamily="34" charset="0"/>
                <a:ea typeface="Arial" pitchFamily="34" charset="-122"/>
                <a:cs typeface="Arial" pitchFamily="34" charset="-120"/>
              </a:rPr>
              <a:t>edges, features</a:t>
            </a:r>
            <a:endParaRPr lang="en-US" sz="1200" dirty="0"/>
          </a:p>
        </p:txBody>
      </p:sp>
      <p:sp>
        <p:nvSpPr>
          <p:cNvPr id="16" name="Text 14"/>
          <p:cNvSpPr/>
          <p:nvPr/>
        </p:nvSpPr>
        <p:spPr>
          <a:xfrm>
            <a:off x="5394960" y="1188720"/>
            <a:ext cx="182880" cy="457200"/>
          </a:xfrm>
          <a:prstGeom prst="rect">
            <a:avLst/>
          </a:prstGeom>
          <a:noFill/>
          <a:ln/>
        </p:spPr>
        <p:txBody>
          <a:bodyPr wrap="square" rtlCol="0" anchor="ctr"/>
          <a:lstStyle/>
          <a:p>
            <a:pPr marL="0" indent="0">
              <a:buNone/>
            </a:pPr>
            <a:r>
              <a:rPr lang="en-US" sz="1600" dirty="0">
                <a:solidFill>
                  <a:srgbClr val="6B7280"/>
                </a:solidFill>
                <a:latin typeface="Arial" pitchFamily="34" charset="0"/>
                <a:ea typeface="Arial" pitchFamily="34" charset="-122"/>
                <a:cs typeface="Arial" pitchFamily="34" charset="-120"/>
              </a:rPr>
              <a:t>→</a:t>
            </a:r>
            <a:endParaRPr lang="en-US" sz="1600" dirty="0"/>
          </a:p>
        </p:txBody>
      </p:sp>
      <p:sp>
        <p:nvSpPr>
          <p:cNvPr id="17" name="Shape 15"/>
          <p:cNvSpPr/>
          <p:nvPr/>
        </p:nvSpPr>
        <p:spPr>
          <a:xfrm>
            <a:off x="5577840" y="822960"/>
            <a:ext cx="1600200" cy="1463040"/>
          </a:xfrm>
          <a:prstGeom prst="rect">
            <a:avLst/>
          </a:prstGeom>
          <a:solidFill>
            <a:srgbClr val="8B5CF6"/>
          </a:solidFill>
          <a:ln/>
          <a:effectLst>
            <a:outerShdw blurRad="50800" dist="25400" dir="8100000" algn="bl" rotWithShape="0">
              <a:srgbClr val="000000">
                <a:alpha val="12000"/>
              </a:srgbClr>
            </a:outerShdw>
          </a:effectLst>
        </p:spPr>
      </p:sp>
      <p:sp>
        <p:nvSpPr>
          <p:cNvPr id="18" name="Text 16"/>
          <p:cNvSpPr/>
          <p:nvPr/>
        </p:nvSpPr>
        <p:spPr>
          <a:xfrm>
            <a:off x="5577840" y="868680"/>
            <a:ext cx="1600200" cy="45720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CLASSIFY</a:t>
            </a:r>
            <a:endParaRPr lang="en-US" sz="1400" dirty="0"/>
          </a:p>
        </p:txBody>
      </p:sp>
      <p:sp>
        <p:nvSpPr>
          <p:cNvPr id="19" name="Text 17"/>
          <p:cNvSpPr/>
          <p:nvPr/>
        </p:nvSpPr>
        <p:spPr>
          <a:xfrm>
            <a:off x="5577840" y="1371600"/>
            <a:ext cx="1600200" cy="822960"/>
          </a:xfrm>
          <a:prstGeom prst="rect">
            <a:avLst/>
          </a:prstGeom>
          <a:noFill/>
          <a:ln/>
        </p:spPr>
        <p:txBody>
          <a:bodyPr wrap="square" rtlCol="0" anchor="ctr"/>
          <a:lstStyle/>
          <a:p>
            <a:pPr marL="0" indent="0" algn="ctr">
              <a:buNone/>
            </a:pPr>
            <a:r>
              <a:rPr lang="en-US" sz="1200" dirty="0">
                <a:solidFill>
                  <a:srgbClr val="FFFFFF"/>
                </a:solidFill>
                <a:latin typeface="Arial" pitchFamily="34" charset="0"/>
                <a:ea typeface="Arial" pitchFamily="34" charset="-122"/>
                <a:cs typeface="Arial" pitchFamily="34" charset="-120"/>
              </a:rPr>
              <a:t>What IS it?</a:t>
            </a:r>
            <a:endParaRPr lang="en-US" sz="1200" dirty="0"/>
          </a:p>
          <a:p>
            <a:pPr marL="0" indent="0" algn="ctr">
              <a:buNone/>
            </a:pPr>
            <a:r>
              <a:rPr lang="en-US" sz="1200" dirty="0">
                <a:solidFill>
                  <a:srgbClr val="FFFFFF"/>
                </a:solidFill>
                <a:latin typeface="Arial" pitchFamily="34" charset="0"/>
                <a:ea typeface="Arial" pitchFamily="34" charset="-122"/>
                <a:cs typeface="Arial" pitchFamily="34" charset="-120"/>
              </a:rPr>
              <a:t>chair, door, wall</a:t>
            </a:r>
            <a:endParaRPr lang="en-US" sz="1200" dirty="0"/>
          </a:p>
        </p:txBody>
      </p:sp>
      <p:sp>
        <p:nvSpPr>
          <p:cNvPr id="20" name="Text 18"/>
          <p:cNvSpPr/>
          <p:nvPr/>
        </p:nvSpPr>
        <p:spPr>
          <a:xfrm>
            <a:off x="7178040" y="1188720"/>
            <a:ext cx="182880" cy="457200"/>
          </a:xfrm>
          <a:prstGeom prst="rect">
            <a:avLst/>
          </a:prstGeom>
          <a:noFill/>
          <a:ln/>
        </p:spPr>
        <p:txBody>
          <a:bodyPr wrap="square" rtlCol="0" anchor="ctr"/>
          <a:lstStyle/>
          <a:p>
            <a:pPr marL="0" indent="0">
              <a:buNone/>
            </a:pPr>
            <a:r>
              <a:rPr lang="en-US" sz="1600" dirty="0">
                <a:solidFill>
                  <a:srgbClr val="6B7280"/>
                </a:solidFill>
                <a:latin typeface="Arial" pitchFamily="34" charset="0"/>
                <a:ea typeface="Arial" pitchFamily="34" charset="-122"/>
                <a:cs typeface="Arial" pitchFamily="34" charset="-120"/>
              </a:rPr>
              <a:t>→</a:t>
            </a:r>
            <a:endParaRPr lang="en-US" sz="1600" dirty="0"/>
          </a:p>
        </p:txBody>
      </p:sp>
      <p:sp>
        <p:nvSpPr>
          <p:cNvPr id="21" name="Shape 19"/>
          <p:cNvSpPr/>
          <p:nvPr/>
        </p:nvSpPr>
        <p:spPr>
          <a:xfrm>
            <a:off x="7360920" y="822960"/>
            <a:ext cx="1600200" cy="1463040"/>
          </a:xfrm>
          <a:prstGeom prst="rect">
            <a:avLst/>
          </a:prstGeom>
          <a:solidFill>
            <a:srgbClr val="10B981"/>
          </a:solidFill>
          <a:ln/>
          <a:effectLst>
            <a:outerShdw blurRad="50800" dist="25400" dir="8100000" algn="bl" rotWithShape="0">
              <a:srgbClr val="000000">
                <a:alpha val="12000"/>
              </a:srgbClr>
            </a:outerShdw>
          </a:effectLst>
        </p:spPr>
      </p:sp>
      <p:sp>
        <p:nvSpPr>
          <p:cNvPr id="22" name="Text 20"/>
          <p:cNvSpPr/>
          <p:nvPr/>
        </p:nvSpPr>
        <p:spPr>
          <a:xfrm>
            <a:off x="7360920" y="868680"/>
            <a:ext cx="1600200" cy="45720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INTERPRET</a:t>
            </a:r>
            <a:endParaRPr lang="en-US" sz="1400" dirty="0"/>
          </a:p>
        </p:txBody>
      </p:sp>
      <p:sp>
        <p:nvSpPr>
          <p:cNvPr id="23" name="Text 21"/>
          <p:cNvSpPr/>
          <p:nvPr/>
        </p:nvSpPr>
        <p:spPr>
          <a:xfrm>
            <a:off x="7360920" y="1371600"/>
            <a:ext cx="1600200" cy="822960"/>
          </a:xfrm>
          <a:prstGeom prst="rect">
            <a:avLst/>
          </a:prstGeom>
          <a:noFill/>
          <a:ln/>
        </p:spPr>
        <p:txBody>
          <a:bodyPr wrap="square" rtlCol="0" anchor="ctr"/>
          <a:lstStyle/>
          <a:p>
            <a:pPr marL="0" indent="0" algn="ctr">
              <a:buNone/>
            </a:pPr>
            <a:r>
              <a:rPr lang="en-US" sz="1200" dirty="0">
                <a:solidFill>
                  <a:srgbClr val="FFFFFF"/>
                </a:solidFill>
                <a:latin typeface="Arial" pitchFamily="34" charset="0"/>
                <a:ea typeface="Arial" pitchFamily="34" charset="-122"/>
                <a:cs typeface="Arial" pitchFamily="34" charset="-120"/>
              </a:rPr>
              <a:t>What does it</a:t>
            </a:r>
            <a:endParaRPr lang="en-US" sz="1200" dirty="0"/>
          </a:p>
          <a:p>
            <a:pPr marL="0" indent="0" algn="ctr">
              <a:buNone/>
            </a:pPr>
            <a:r>
              <a:rPr lang="en-US" sz="1200" dirty="0">
                <a:solidFill>
                  <a:srgbClr val="FFFFFF"/>
                </a:solidFill>
                <a:latin typeface="Arial" pitchFamily="34" charset="0"/>
                <a:ea typeface="Arial" pitchFamily="34" charset="-122"/>
                <a:cs typeface="Arial" pitchFamily="34" charset="-120"/>
              </a:rPr>
              <a:t>MEAN for the robot?</a:t>
            </a:r>
            <a:endParaRPr lang="en-US" sz="1200" dirty="0"/>
          </a:p>
        </p:txBody>
      </p:sp>
      <p:sp>
        <p:nvSpPr>
          <p:cNvPr id="24" name="Text 22"/>
          <p:cNvSpPr/>
          <p:nvPr/>
        </p:nvSpPr>
        <p:spPr>
          <a:xfrm>
            <a:off x="365760" y="2560320"/>
            <a:ext cx="8412480" cy="822960"/>
          </a:xfrm>
          <a:prstGeom prst="rect">
            <a:avLst/>
          </a:prstGeom>
          <a:noFill/>
          <a:ln/>
        </p:spPr>
        <p:txBody>
          <a:bodyPr wrap="square" rtlCol="0" anchor="ctr"/>
          <a:lstStyle/>
          <a:p>
            <a:pPr marL="0" indent="0">
              <a:buNone/>
            </a:pPr>
            <a:r>
              <a:rPr lang="en-US" sz="1200" b="1" dirty="0">
                <a:solidFill>
                  <a:srgbClr val="0F4C81"/>
                </a:solidFill>
                <a:latin typeface="Arial" pitchFamily="34" charset="0"/>
                <a:ea typeface="Arial" pitchFamily="34" charset="-122"/>
                <a:cs typeface="Arial" pitchFamily="34" charset="-120"/>
              </a:rPr>
              <a:t>Every perception system follows this pattern, regardless of sensor or robot.
</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Each stage reduces data volume and increases information value:
</a:t>
            </a:r>
            <a:endParaRPr lang="en-US" sz="1200" dirty="0"/>
          </a:p>
          <a:p>
            <a:pPr marL="0" indent="0">
              <a:buNone/>
            </a:pPr>
            <a:r>
              <a:rPr lang="en-US" sz="1200" i="1" dirty="0">
                <a:solidFill>
                  <a:srgbClr val="6B7280"/>
                </a:solidFill>
                <a:latin typeface="Arial" pitchFamily="34" charset="0"/>
                <a:ea typeface="Arial" pitchFamily="34" charset="-122"/>
                <a:cs typeface="Arial" pitchFamily="34" charset="-120"/>
              </a:rPr>
              <a:t>Camera: 921,600 bytes/frame → 50 features → 5 objects → 2 decisions</a:t>
            </a:r>
            <a:endParaRPr lang="en-US" sz="1200" dirty="0"/>
          </a:p>
        </p:txBody>
      </p:sp>
      <p:sp>
        <p:nvSpPr>
          <p:cNvPr id="25" name="Text 23"/>
          <p:cNvSpPr/>
          <p:nvPr/>
        </p:nvSpPr>
        <p:spPr>
          <a:xfrm>
            <a:off x="365760" y="3474720"/>
            <a:ext cx="8412480" cy="274320"/>
          </a:xfrm>
          <a:prstGeom prst="rect">
            <a:avLst/>
          </a:prstGeom>
          <a:noFill/>
          <a:ln/>
        </p:spPr>
        <p:txBody>
          <a:bodyPr wrap="square" rtlCol="0" anchor="ctr"/>
          <a:lstStyle/>
          <a:p>
            <a:pPr marL="0" indent="0">
              <a:buNone/>
            </a:pPr>
            <a:r>
              <a:rPr lang="en-US" sz="1200" b="1" dirty="0">
                <a:solidFill>
                  <a:srgbClr val="1F2937"/>
                </a:solidFill>
                <a:latin typeface="Arial" pitchFamily="34" charset="0"/>
                <a:ea typeface="Arial" pitchFamily="34" charset="-122"/>
                <a:cs typeface="Arial" pitchFamily="34" charset="-120"/>
              </a:rPr>
              <a:t>This module teaches the algorithms inside each arrow.</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How the Pipeline Maps to ROS 2</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7</a:t>
            </a:r>
            <a:endParaRPr lang="en-US" sz="800" dirty="0"/>
          </a:p>
        </p:txBody>
      </p:sp>
      <p:sp>
        <p:nvSpPr>
          <p:cNvPr id="5" name="Text 3"/>
          <p:cNvSpPr/>
          <p:nvPr/>
        </p:nvSpPr>
        <p:spPr>
          <a:xfrm>
            <a:off x="365760" y="685800"/>
            <a:ext cx="8412480" cy="274320"/>
          </a:xfrm>
          <a:prstGeom prst="rect">
            <a:avLst/>
          </a:prstGeom>
          <a:noFill/>
          <a:ln/>
        </p:spPr>
        <p:txBody>
          <a:bodyPr wrap="square" rtlCol="0" anchor="ctr"/>
          <a:lstStyle/>
          <a:p>
            <a:pPr marL="0" indent="0">
              <a:buNone/>
            </a:pPr>
            <a:r>
              <a:rPr lang="en-US" sz="1300" dirty="0">
                <a:solidFill>
                  <a:srgbClr val="1F2937"/>
                </a:solidFill>
                <a:latin typeface="Arial" pitchFamily="34" charset="0"/>
                <a:ea typeface="Arial" pitchFamily="34" charset="-122"/>
                <a:cs typeface="Arial" pitchFamily="34" charset="-120"/>
              </a:rPr>
              <a:t>The abstract pipeline becomes a graph of ROS 2 nodes connected by topics:</a:t>
            </a:r>
            <a:endParaRPr lang="en-US" sz="1300" dirty="0"/>
          </a:p>
        </p:txBody>
      </p:sp>
      <p:sp>
        <p:nvSpPr>
          <p:cNvPr id="6" name="Text 4"/>
          <p:cNvSpPr/>
          <p:nvPr/>
        </p:nvSpPr>
        <p:spPr>
          <a:xfrm>
            <a:off x="365760" y="1051560"/>
            <a:ext cx="2743200" cy="274320"/>
          </a:xfrm>
          <a:prstGeom prst="rect">
            <a:avLst/>
          </a:prstGeom>
          <a:noFill/>
          <a:ln/>
        </p:spPr>
        <p:txBody>
          <a:bodyPr wrap="square" rtlCol="0" anchor="ctr"/>
          <a:lstStyle/>
          <a:p>
            <a:pPr marL="0" indent="0">
              <a:buNone/>
            </a:pPr>
            <a:r>
              <a:rPr lang="en-US" sz="1200" b="1" dirty="0">
                <a:solidFill>
                  <a:srgbClr val="3B82F6"/>
                </a:solidFill>
                <a:latin typeface="Arial" pitchFamily="34" charset="0"/>
                <a:ea typeface="Arial" pitchFamily="34" charset="-122"/>
                <a:cs typeface="Arial" pitchFamily="34" charset="-120"/>
              </a:rPr>
              <a:t>Camera Pipeline:</a:t>
            </a:r>
            <a:endParaRPr lang="en-US" sz="1200" dirty="0"/>
          </a:p>
        </p:txBody>
      </p:sp>
      <p:sp>
        <p:nvSpPr>
          <p:cNvPr id="7" name="Shape 5"/>
          <p:cNvSpPr/>
          <p:nvPr/>
        </p:nvSpPr>
        <p:spPr>
          <a:xfrm>
            <a:off x="365760" y="1371600"/>
            <a:ext cx="1920240" cy="640080"/>
          </a:xfrm>
          <a:prstGeom prst="rect">
            <a:avLst/>
          </a:prstGeom>
          <a:solidFill>
            <a:srgbClr val="3B82F6"/>
          </a:solidFill>
          <a:ln/>
          <a:effectLst>
            <a:outerShdw blurRad="50800" dist="25400" dir="8100000" algn="bl" rotWithShape="0">
              <a:srgbClr val="000000">
                <a:alpha val="12000"/>
              </a:srgbClr>
            </a:outerShdw>
          </a:effectLst>
        </p:spPr>
      </p:sp>
      <p:sp>
        <p:nvSpPr>
          <p:cNvPr id="8" name="Text 6"/>
          <p:cNvSpPr/>
          <p:nvPr/>
        </p:nvSpPr>
        <p:spPr>
          <a:xfrm>
            <a:off x="365760" y="1389888"/>
            <a:ext cx="1920240" cy="60350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camera_driver</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/image_raw</a:t>
            </a:r>
            <a:endParaRPr lang="en-US" sz="1200" dirty="0"/>
          </a:p>
        </p:txBody>
      </p:sp>
      <p:sp>
        <p:nvSpPr>
          <p:cNvPr id="9" name="Text 7"/>
          <p:cNvSpPr/>
          <p:nvPr/>
        </p:nvSpPr>
        <p:spPr>
          <a:xfrm>
            <a:off x="2286000" y="1463040"/>
            <a:ext cx="228600" cy="457200"/>
          </a:xfrm>
          <a:prstGeom prst="rect">
            <a:avLst/>
          </a:prstGeom>
          <a:noFill/>
          <a:ln/>
        </p:spPr>
        <p:txBody>
          <a:bodyPr wrap="square" rtlCol="0" anchor="ctr"/>
          <a:lstStyle/>
          <a:p>
            <a:pPr marL="0" indent="0">
              <a:buNone/>
            </a:pPr>
            <a:r>
              <a:rPr lang="en-US" sz="1400" dirty="0">
                <a:solidFill>
                  <a:srgbClr val="6B7280"/>
                </a:solidFill>
                <a:latin typeface="Arial" pitchFamily="34" charset="0"/>
                <a:ea typeface="Arial" pitchFamily="34" charset="-122"/>
                <a:cs typeface="Arial" pitchFamily="34" charset="-120"/>
              </a:rPr>
              <a:t>→</a:t>
            </a:r>
            <a:endParaRPr lang="en-US" sz="1400" dirty="0"/>
          </a:p>
        </p:txBody>
      </p:sp>
      <p:sp>
        <p:nvSpPr>
          <p:cNvPr id="10" name="Shape 8"/>
          <p:cNvSpPr/>
          <p:nvPr/>
        </p:nvSpPr>
        <p:spPr>
          <a:xfrm>
            <a:off x="2514600" y="1371600"/>
            <a:ext cx="1920240" cy="640080"/>
          </a:xfrm>
          <a:prstGeom prst="rect">
            <a:avLst/>
          </a:prstGeom>
          <a:solidFill>
            <a:srgbClr val="0D9488"/>
          </a:solidFill>
          <a:ln/>
          <a:effectLst>
            <a:outerShdw blurRad="50800" dist="25400" dir="8100000" algn="bl" rotWithShape="0">
              <a:srgbClr val="000000">
                <a:alpha val="12000"/>
              </a:srgbClr>
            </a:outerShdw>
          </a:effectLst>
        </p:spPr>
      </p:sp>
      <p:sp>
        <p:nvSpPr>
          <p:cNvPr id="11" name="Text 9"/>
          <p:cNvSpPr/>
          <p:nvPr/>
        </p:nvSpPr>
        <p:spPr>
          <a:xfrm>
            <a:off x="2514600" y="1389888"/>
            <a:ext cx="1920240" cy="60350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image_proc</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/image_rect</a:t>
            </a:r>
            <a:endParaRPr lang="en-US" sz="1200" dirty="0"/>
          </a:p>
        </p:txBody>
      </p:sp>
      <p:sp>
        <p:nvSpPr>
          <p:cNvPr id="12" name="Text 10"/>
          <p:cNvSpPr/>
          <p:nvPr/>
        </p:nvSpPr>
        <p:spPr>
          <a:xfrm>
            <a:off x="4434840" y="1463040"/>
            <a:ext cx="228600" cy="457200"/>
          </a:xfrm>
          <a:prstGeom prst="rect">
            <a:avLst/>
          </a:prstGeom>
          <a:noFill/>
          <a:ln/>
        </p:spPr>
        <p:txBody>
          <a:bodyPr wrap="square" rtlCol="0" anchor="ctr"/>
          <a:lstStyle/>
          <a:p>
            <a:pPr marL="0" indent="0">
              <a:buNone/>
            </a:pPr>
            <a:r>
              <a:rPr lang="en-US" sz="1400" dirty="0">
                <a:solidFill>
                  <a:srgbClr val="6B7280"/>
                </a:solidFill>
                <a:latin typeface="Arial" pitchFamily="34" charset="0"/>
                <a:ea typeface="Arial" pitchFamily="34" charset="-122"/>
                <a:cs typeface="Arial" pitchFamily="34" charset="-120"/>
              </a:rPr>
              <a:t>→</a:t>
            </a:r>
            <a:endParaRPr lang="en-US" sz="1400" dirty="0"/>
          </a:p>
        </p:txBody>
      </p:sp>
      <p:sp>
        <p:nvSpPr>
          <p:cNvPr id="13" name="Shape 11"/>
          <p:cNvSpPr/>
          <p:nvPr/>
        </p:nvSpPr>
        <p:spPr>
          <a:xfrm>
            <a:off x="4663440" y="1371600"/>
            <a:ext cx="1920240" cy="640080"/>
          </a:xfrm>
          <a:prstGeom prst="rect">
            <a:avLst/>
          </a:prstGeom>
          <a:solidFill>
            <a:srgbClr val="F59E0B"/>
          </a:solidFill>
          <a:ln/>
          <a:effectLst>
            <a:outerShdw blurRad="50800" dist="25400" dir="8100000" algn="bl" rotWithShape="0">
              <a:srgbClr val="000000">
                <a:alpha val="12000"/>
              </a:srgbClr>
            </a:outerShdw>
          </a:effectLst>
        </p:spPr>
      </p:sp>
      <p:sp>
        <p:nvSpPr>
          <p:cNvPr id="14" name="Text 12"/>
          <p:cNvSpPr/>
          <p:nvPr/>
        </p:nvSpPr>
        <p:spPr>
          <a:xfrm>
            <a:off x="4663440" y="1389888"/>
            <a:ext cx="1920240" cy="60350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feature_node</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/features</a:t>
            </a:r>
            <a:endParaRPr lang="en-US" sz="1200" dirty="0"/>
          </a:p>
        </p:txBody>
      </p:sp>
      <p:sp>
        <p:nvSpPr>
          <p:cNvPr id="15" name="Text 13"/>
          <p:cNvSpPr/>
          <p:nvPr/>
        </p:nvSpPr>
        <p:spPr>
          <a:xfrm>
            <a:off x="6583680" y="1463040"/>
            <a:ext cx="228600" cy="457200"/>
          </a:xfrm>
          <a:prstGeom prst="rect">
            <a:avLst/>
          </a:prstGeom>
          <a:noFill/>
          <a:ln/>
        </p:spPr>
        <p:txBody>
          <a:bodyPr wrap="square" rtlCol="0" anchor="ctr"/>
          <a:lstStyle/>
          <a:p>
            <a:pPr marL="0" indent="0">
              <a:buNone/>
            </a:pPr>
            <a:r>
              <a:rPr lang="en-US" sz="1400" dirty="0">
                <a:solidFill>
                  <a:srgbClr val="6B7280"/>
                </a:solidFill>
                <a:latin typeface="Arial" pitchFamily="34" charset="0"/>
                <a:ea typeface="Arial" pitchFamily="34" charset="-122"/>
                <a:cs typeface="Arial" pitchFamily="34" charset="-120"/>
              </a:rPr>
              <a:t>→</a:t>
            </a:r>
            <a:endParaRPr lang="en-US" sz="1400" dirty="0"/>
          </a:p>
        </p:txBody>
      </p:sp>
      <p:sp>
        <p:nvSpPr>
          <p:cNvPr id="16" name="Shape 14"/>
          <p:cNvSpPr/>
          <p:nvPr/>
        </p:nvSpPr>
        <p:spPr>
          <a:xfrm>
            <a:off x="6812280" y="1371600"/>
            <a:ext cx="1920240" cy="640080"/>
          </a:xfrm>
          <a:prstGeom prst="rect">
            <a:avLst/>
          </a:prstGeom>
          <a:solidFill>
            <a:srgbClr val="8B5CF6"/>
          </a:solidFill>
          <a:ln/>
          <a:effectLst>
            <a:outerShdw blurRad="50800" dist="25400" dir="8100000" algn="bl" rotWithShape="0">
              <a:srgbClr val="000000">
                <a:alpha val="12000"/>
              </a:srgbClr>
            </a:outerShdw>
          </a:effectLst>
        </p:spPr>
      </p:sp>
      <p:sp>
        <p:nvSpPr>
          <p:cNvPr id="17" name="Text 15"/>
          <p:cNvSpPr/>
          <p:nvPr/>
        </p:nvSpPr>
        <p:spPr>
          <a:xfrm>
            <a:off x="6812280" y="1389888"/>
            <a:ext cx="1920240" cy="60350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detector_node</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/detections</a:t>
            </a:r>
            <a:endParaRPr lang="en-US" sz="1200" dirty="0"/>
          </a:p>
        </p:txBody>
      </p:sp>
      <p:sp>
        <p:nvSpPr>
          <p:cNvPr id="18" name="Text 16"/>
          <p:cNvSpPr/>
          <p:nvPr/>
        </p:nvSpPr>
        <p:spPr>
          <a:xfrm>
            <a:off x="365760" y="2194560"/>
            <a:ext cx="2743200" cy="274320"/>
          </a:xfrm>
          <a:prstGeom prst="rect">
            <a:avLst/>
          </a:prstGeom>
          <a:noFill/>
          <a:ln/>
        </p:spPr>
        <p:txBody>
          <a:bodyPr wrap="square" rtlCol="0" anchor="ctr"/>
          <a:lstStyle/>
          <a:p>
            <a:pPr marL="0" indent="0">
              <a:buNone/>
            </a:pPr>
            <a:r>
              <a:rPr lang="en-US" sz="1200" b="1" dirty="0">
                <a:solidFill>
                  <a:srgbClr val="EF4444"/>
                </a:solidFill>
                <a:latin typeface="Arial" pitchFamily="34" charset="0"/>
                <a:ea typeface="Arial" pitchFamily="34" charset="-122"/>
                <a:cs typeface="Arial" pitchFamily="34" charset="-120"/>
              </a:rPr>
              <a:t>LiDAR Pipeline:</a:t>
            </a:r>
            <a:endParaRPr lang="en-US" sz="1200" dirty="0"/>
          </a:p>
        </p:txBody>
      </p:sp>
      <p:sp>
        <p:nvSpPr>
          <p:cNvPr id="19" name="Shape 17"/>
          <p:cNvSpPr/>
          <p:nvPr/>
        </p:nvSpPr>
        <p:spPr>
          <a:xfrm>
            <a:off x="365760" y="2514600"/>
            <a:ext cx="1920240" cy="640080"/>
          </a:xfrm>
          <a:prstGeom prst="rect">
            <a:avLst/>
          </a:prstGeom>
          <a:solidFill>
            <a:srgbClr val="EF4444"/>
          </a:solidFill>
          <a:ln/>
          <a:effectLst>
            <a:outerShdw blurRad="50800" dist="25400" dir="8100000" algn="bl" rotWithShape="0">
              <a:srgbClr val="000000">
                <a:alpha val="12000"/>
              </a:srgbClr>
            </a:outerShdw>
          </a:effectLst>
        </p:spPr>
      </p:sp>
      <p:sp>
        <p:nvSpPr>
          <p:cNvPr id="20" name="Text 18"/>
          <p:cNvSpPr/>
          <p:nvPr/>
        </p:nvSpPr>
        <p:spPr>
          <a:xfrm>
            <a:off x="365760" y="2532888"/>
            <a:ext cx="1920240" cy="60350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lidar_driver</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/scan</a:t>
            </a:r>
            <a:endParaRPr lang="en-US" sz="1200" dirty="0"/>
          </a:p>
        </p:txBody>
      </p:sp>
      <p:sp>
        <p:nvSpPr>
          <p:cNvPr id="21" name="Text 19"/>
          <p:cNvSpPr/>
          <p:nvPr/>
        </p:nvSpPr>
        <p:spPr>
          <a:xfrm>
            <a:off x="2286000" y="2606040"/>
            <a:ext cx="228600" cy="457200"/>
          </a:xfrm>
          <a:prstGeom prst="rect">
            <a:avLst/>
          </a:prstGeom>
          <a:noFill/>
          <a:ln/>
        </p:spPr>
        <p:txBody>
          <a:bodyPr wrap="square" rtlCol="0" anchor="ctr"/>
          <a:lstStyle/>
          <a:p>
            <a:pPr marL="0" indent="0">
              <a:buNone/>
            </a:pPr>
            <a:r>
              <a:rPr lang="en-US" sz="1400" dirty="0">
                <a:solidFill>
                  <a:srgbClr val="6B7280"/>
                </a:solidFill>
                <a:latin typeface="Arial" pitchFamily="34" charset="0"/>
                <a:ea typeface="Arial" pitchFamily="34" charset="-122"/>
                <a:cs typeface="Arial" pitchFamily="34" charset="-120"/>
              </a:rPr>
              <a:t>→</a:t>
            </a:r>
            <a:endParaRPr lang="en-US" sz="1400" dirty="0"/>
          </a:p>
        </p:txBody>
      </p:sp>
      <p:sp>
        <p:nvSpPr>
          <p:cNvPr id="22" name="Shape 20"/>
          <p:cNvSpPr/>
          <p:nvPr/>
        </p:nvSpPr>
        <p:spPr>
          <a:xfrm>
            <a:off x="2514600" y="2514600"/>
            <a:ext cx="1920240" cy="640080"/>
          </a:xfrm>
          <a:prstGeom prst="rect">
            <a:avLst/>
          </a:prstGeom>
          <a:solidFill>
            <a:srgbClr val="0D9488"/>
          </a:solidFill>
          <a:ln/>
          <a:effectLst>
            <a:outerShdw blurRad="50800" dist="25400" dir="8100000" algn="bl" rotWithShape="0">
              <a:srgbClr val="000000">
                <a:alpha val="12000"/>
              </a:srgbClr>
            </a:outerShdw>
          </a:effectLst>
        </p:spPr>
      </p:sp>
      <p:sp>
        <p:nvSpPr>
          <p:cNvPr id="23" name="Text 21"/>
          <p:cNvSpPr/>
          <p:nvPr/>
        </p:nvSpPr>
        <p:spPr>
          <a:xfrm>
            <a:off x="2514600" y="2532888"/>
            <a:ext cx="1920240" cy="60350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pcl_filter</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/cloud_filtered</a:t>
            </a:r>
            <a:endParaRPr lang="en-US" sz="1200" dirty="0"/>
          </a:p>
        </p:txBody>
      </p:sp>
      <p:sp>
        <p:nvSpPr>
          <p:cNvPr id="24" name="Text 22"/>
          <p:cNvSpPr/>
          <p:nvPr/>
        </p:nvSpPr>
        <p:spPr>
          <a:xfrm>
            <a:off x="4434840" y="2606040"/>
            <a:ext cx="228600" cy="457200"/>
          </a:xfrm>
          <a:prstGeom prst="rect">
            <a:avLst/>
          </a:prstGeom>
          <a:noFill/>
          <a:ln/>
        </p:spPr>
        <p:txBody>
          <a:bodyPr wrap="square" rtlCol="0" anchor="ctr"/>
          <a:lstStyle/>
          <a:p>
            <a:pPr marL="0" indent="0">
              <a:buNone/>
            </a:pPr>
            <a:r>
              <a:rPr lang="en-US" sz="1400" dirty="0">
                <a:solidFill>
                  <a:srgbClr val="6B7280"/>
                </a:solidFill>
                <a:latin typeface="Arial" pitchFamily="34" charset="0"/>
                <a:ea typeface="Arial" pitchFamily="34" charset="-122"/>
                <a:cs typeface="Arial" pitchFamily="34" charset="-120"/>
              </a:rPr>
              <a:t>→</a:t>
            </a:r>
            <a:endParaRPr lang="en-US" sz="1400" dirty="0"/>
          </a:p>
        </p:txBody>
      </p:sp>
      <p:sp>
        <p:nvSpPr>
          <p:cNvPr id="25" name="Shape 23"/>
          <p:cNvSpPr/>
          <p:nvPr/>
        </p:nvSpPr>
        <p:spPr>
          <a:xfrm>
            <a:off x="4663440" y="2514600"/>
            <a:ext cx="1920240" cy="640080"/>
          </a:xfrm>
          <a:prstGeom prst="rect">
            <a:avLst/>
          </a:prstGeom>
          <a:solidFill>
            <a:srgbClr val="F59E0B"/>
          </a:solidFill>
          <a:ln/>
          <a:effectLst>
            <a:outerShdw blurRad="50800" dist="25400" dir="8100000" algn="bl" rotWithShape="0">
              <a:srgbClr val="000000">
                <a:alpha val="12000"/>
              </a:srgbClr>
            </a:outerShdw>
          </a:effectLst>
        </p:spPr>
      </p:sp>
      <p:sp>
        <p:nvSpPr>
          <p:cNvPr id="26" name="Text 24"/>
          <p:cNvSpPr/>
          <p:nvPr/>
        </p:nvSpPr>
        <p:spPr>
          <a:xfrm>
            <a:off x="4663440" y="2532888"/>
            <a:ext cx="1920240" cy="60350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ground_remove</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/cloud_objects</a:t>
            </a:r>
            <a:endParaRPr lang="en-US" sz="1200" dirty="0"/>
          </a:p>
        </p:txBody>
      </p:sp>
      <p:sp>
        <p:nvSpPr>
          <p:cNvPr id="27" name="Text 25"/>
          <p:cNvSpPr/>
          <p:nvPr/>
        </p:nvSpPr>
        <p:spPr>
          <a:xfrm>
            <a:off x="6583680" y="2606040"/>
            <a:ext cx="228600" cy="457200"/>
          </a:xfrm>
          <a:prstGeom prst="rect">
            <a:avLst/>
          </a:prstGeom>
          <a:noFill/>
          <a:ln/>
        </p:spPr>
        <p:txBody>
          <a:bodyPr wrap="square" rtlCol="0" anchor="ctr"/>
          <a:lstStyle/>
          <a:p>
            <a:pPr marL="0" indent="0">
              <a:buNone/>
            </a:pPr>
            <a:r>
              <a:rPr lang="en-US" sz="1400" dirty="0">
                <a:solidFill>
                  <a:srgbClr val="6B7280"/>
                </a:solidFill>
                <a:latin typeface="Arial" pitchFamily="34" charset="0"/>
                <a:ea typeface="Arial" pitchFamily="34" charset="-122"/>
                <a:cs typeface="Arial" pitchFamily="34" charset="-120"/>
              </a:rPr>
              <a:t>→</a:t>
            </a:r>
            <a:endParaRPr lang="en-US" sz="1400" dirty="0"/>
          </a:p>
        </p:txBody>
      </p:sp>
      <p:sp>
        <p:nvSpPr>
          <p:cNvPr id="28" name="Shape 26"/>
          <p:cNvSpPr/>
          <p:nvPr/>
        </p:nvSpPr>
        <p:spPr>
          <a:xfrm>
            <a:off x="6812280" y="2514600"/>
            <a:ext cx="1920240" cy="640080"/>
          </a:xfrm>
          <a:prstGeom prst="rect">
            <a:avLst/>
          </a:prstGeom>
          <a:solidFill>
            <a:srgbClr val="10B981"/>
          </a:solidFill>
          <a:ln/>
          <a:effectLst>
            <a:outerShdw blurRad="50800" dist="25400" dir="8100000" algn="bl" rotWithShape="0">
              <a:srgbClr val="000000">
                <a:alpha val="12000"/>
              </a:srgbClr>
            </a:outerShdw>
          </a:effectLst>
        </p:spPr>
      </p:sp>
      <p:sp>
        <p:nvSpPr>
          <p:cNvPr id="29" name="Text 27"/>
          <p:cNvSpPr/>
          <p:nvPr/>
        </p:nvSpPr>
        <p:spPr>
          <a:xfrm>
            <a:off x="6812280" y="2532888"/>
            <a:ext cx="1920240" cy="60350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clustering</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/obstacles</a:t>
            </a:r>
            <a:endParaRPr lang="en-US" sz="1200" dirty="0"/>
          </a:p>
        </p:txBody>
      </p:sp>
      <p:sp>
        <p:nvSpPr>
          <p:cNvPr id="30" name="Shape 28"/>
          <p:cNvSpPr/>
          <p:nvPr/>
        </p:nvSpPr>
        <p:spPr>
          <a:xfrm>
            <a:off x="274320" y="3383280"/>
            <a:ext cx="8595360" cy="1645920"/>
          </a:xfrm>
          <a:prstGeom prst="rect">
            <a:avLst/>
          </a:prstGeom>
          <a:solidFill>
            <a:srgbClr val="FFFFFF"/>
          </a:solidFill>
          <a:ln/>
          <a:effectLst>
            <a:outerShdw blurRad="50800" dist="25400" dir="8100000" algn="bl" rotWithShape="0">
              <a:srgbClr val="000000">
                <a:alpha val="12000"/>
              </a:srgbClr>
            </a:outerShdw>
          </a:effectLst>
        </p:spPr>
      </p:sp>
      <p:sp>
        <p:nvSpPr>
          <p:cNvPr id="31" name="Text 29"/>
          <p:cNvSpPr/>
          <p:nvPr/>
        </p:nvSpPr>
        <p:spPr>
          <a:xfrm>
            <a:off x="457200" y="3429000"/>
            <a:ext cx="3657600" cy="274320"/>
          </a:xfrm>
          <a:prstGeom prst="rect">
            <a:avLst/>
          </a:prstGeom>
          <a:noFill/>
          <a:ln/>
        </p:spPr>
        <p:txBody>
          <a:bodyPr wrap="square" rtlCol="0" anchor="ctr"/>
          <a:lstStyle/>
          <a:p>
            <a:pPr marL="0" indent="0">
              <a:buNone/>
            </a:pPr>
            <a:r>
              <a:rPr lang="en-US" sz="1200" b="1" dirty="0">
                <a:solidFill>
                  <a:srgbClr val="0F4C81"/>
                </a:solidFill>
                <a:latin typeface="Arial" pitchFamily="34" charset="0"/>
                <a:ea typeface="Arial" pitchFamily="34" charset="-122"/>
                <a:cs typeface="Arial" pitchFamily="34" charset="-120"/>
              </a:rPr>
              <a:t>Key ROS 2 tools for perception:</a:t>
            </a:r>
            <a:endParaRPr lang="en-US" sz="1200" dirty="0"/>
          </a:p>
        </p:txBody>
      </p:sp>
      <p:sp>
        <p:nvSpPr>
          <p:cNvPr id="32" name="Text 30"/>
          <p:cNvSpPr/>
          <p:nvPr/>
        </p:nvSpPr>
        <p:spPr>
          <a:xfrm>
            <a:off x="640080" y="4026762"/>
            <a:ext cx="8229600" cy="685800"/>
          </a:xfrm>
          <a:prstGeom prst="rect">
            <a:avLst/>
          </a:prstGeom>
          <a:noFill/>
          <a:ln/>
        </p:spPr>
        <p:txBody>
          <a:bodyPr wrap="square" rtlCol="0" anchor="ctr"/>
          <a:lstStyle/>
          <a:p>
            <a:pPr marL="0" indent="0">
              <a:buNone/>
            </a:pPr>
            <a:r>
              <a:rPr lang="en-US" sz="1200" dirty="0">
                <a:solidFill>
                  <a:srgbClr val="1F2937"/>
                </a:solidFill>
                <a:latin typeface="Arial" pitchFamily="34" charset="0"/>
                <a:ea typeface="Arial" pitchFamily="34" charset="-122"/>
                <a:cs typeface="Arial" pitchFamily="34" charset="-120"/>
              </a:rPr>
              <a:t>cv_bridge: converts ROS Image messages ↔ OpenCV matrices (numpy arrays)
</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image_transport: efficient image streaming (compressed, theora)
</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sensor_msgs/PointCloud2: standard message for 3D point clouds
</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vision_msgs/Detection2D: standard message for object detections (bounding box + class + confidence)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Pipeline Design Decisions</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8</a:t>
            </a:r>
            <a:endParaRPr lang="en-US" sz="800" dirty="0"/>
          </a:p>
        </p:txBody>
      </p:sp>
      <p:graphicFrame>
        <p:nvGraphicFramePr>
          <p:cNvPr id="9" name="Table 0"/>
          <p:cNvGraphicFramePr>
            <a:graphicFrameLocks noGrp="1"/>
          </p:cNvGraphicFramePr>
          <p:nvPr>
            <p:extLst>
              <p:ext uri="{D42A27DB-BD31-4B8C-83A1-F6EECF244321}">
                <p14:modId xmlns:p14="http://schemas.microsoft.com/office/powerpoint/2010/main" val="2338929529"/>
              </p:ext>
            </p:extLst>
          </p:nvPr>
        </p:nvGraphicFramePr>
        <p:xfrm>
          <a:off x="182880" y="731520"/>
          <a:ext cx="8778240" cy="1828800"/>
        </p:xfrm>
        <a:graphic>
          <a:graphicData uri="http://schemas.openxmlformats.org/drawingml/2006/table">
            <a:tbl>
              <a:tblPr/>
              <a:tblGrid>
                <a:gridCol w="1828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0">
                <a:tc>
                  <a:txBody>
                    <a:bodyPr/>
                    <a:lstStyle/>
                    <a:p>
                      <a:pPr marL="0" indent="0">
                        <a:buNone/>
                      </a:pPr>
                      <a:r>
                        <a:rPr lang="en-US" sz="1200" b="1" dirty="0">
                          <a:solidFill>
                            <a:srgbClr val="FFFFFF"/>
                          </a:solidFill>
                          <a:latin typeface="Arial" pitchFamily="34" charset="0"/>
                          <a:ea typeface="Arial" pitchFamily="34" charset="-122"/>
                          <a:cs typeface="Arial" pitchFamily="34" charset="-120"/>
                        </a:rPr>
                        <a:t>Decision</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4C81"/>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Option A</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4C81"/>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Option B</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4C81"/>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Trade-off</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4C81"/>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000000"/>
                          </a:solidFill>
                          <a:latin typeface="Arial" pitchFamily="34" charset="0"/>
                          <a:ea typeface="Arial" pitchFamily="34" charset="-122"/>
                          <a:cs typeface="Arial" pitchFamily="34" charset="-120"/>
                        </a:rPr>
                        <a:t>Process on robot vs. offboard</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On-robot (low latency)</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Cloud (more compute)</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Latency vs. capability</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dirty="0">
                          <a:solidFill>
                            <a:srgbClr val="000000"/>
                          </a:solidFill>
                          <a:latin typeface="Arial" pitchFamily="34" charset="0"/>
                          <a:ea typeface="Arial" pitchFamily="34" charset="-122"/>
                          <a:cs typeface="Arial" pitchFamily="34" charset="-120"/>
                        </a:rPr>
                        <a:t>Frame rate</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Full 30 Hz</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Skip frames (10 Hz)</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Accuracy vs. CPU load</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00" dirty="0">
                          <a:solidFill>
                            <a:srgbClr val="000000"/>
                          </a:solidFill>
                          <a:latin typeface="Arial" pitchFamily="34" charset="0"/>
                          <a:ea typeface="Arial" pitchFamily="34" charset="-122"/>
                          <a:cs typeface="Arial" pitchFamily="34" charset="-120"/>
                        </a:rPr>
                        <a:t>Resolution</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Full 640×480</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Downscaled 320×240</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Detail vs. speed</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dirty="0">
                          <a:solidFill>
                            <a:srgbClr val="000000"/>
                          </a:solidFill>
                          <a:latin typeface="Arial" pitchFamily="34" charset="0"/>
                          <a:ea typeface="Arial" pitchFamily="34" charset="-122"/>
                          <a:cs typeface="Arial" pitchFamily="34" charset="-120"/>
                        </a:rPr>
                        <a:t>Feature type</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Classical</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Deep learning</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Interpretable vs. powerful</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200" dirty="0">
                          <a:solidFill>
                            <a:srgbClr val="000000"/>
                          </a:solidFill>
                          <a:latin typeface="Arial" pitchFamily="34" charset="0"/>
                          <a:ea typeface="Arial" pitchFamily="34" charset="-122"/>
                          <a:cs typeface="Arial" pitchFamily="34" charset="-120"/>
                        </a:rPr>
                        <a:t>2D vs. 3D</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2D image detection</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3D point cloud</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Simple vs. complete</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Shape 3"/>
          <p:cNvSpPr/>
          <p:nvPr/>
        </p:nvSpPr>
        <p:spPr>
          <a:xfrm>
            <a:off x="457200" y="3246120"/>
            <a:ext cx="411480" cy="411480"/>
          </a:xfrm>
          <a:prstGeom prst="ellipse">
            <a:avLst/>
          </a:prstGeom>
          <a:solidFill>
            <a:srgbClr val="8B5CF6"/>
          </a:solidFill>
          <a:ln/>
        </p:spPr>
      </p:sp>
      <p:sp>
        <p:nvSpPr>
          <p:cNvPr id="7" name="Text 4"/>
          <p:cNvSpPr/>
          <p:nvPr/>
        </p:nvSpPr>
        <p:spPr>
          <a:xfrm>
            <a:off x="457200" y="3273552"/>
            <a:ext cx="411480" cy="384048"/>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8" name="Text 5"/>
          <p:cNvSpPr/>
          <p:nvPr/>
        </p:nvSpPr>
        <p:spPr>
          <a:xfrm>
            <a:off x="960120" y="3310128"/>
            <a:ext cx="7680960" cy="365760"/>
          </a:xfrm>
          <a:prstGeom prst="rect">
            <a:avLst/>
          </a:prstGeom>
          <a:noFill/>
          <a:ln/>
        </p:spPr>
        <p:txBody>
          <a:bodyPr wrap="square" rtlCol="0" anchor="ctr"/>
          <a:lstStyle/>
          <a:p>
            <a:pPr marL="0" indent="0">
              <a:buNone/>
            </a:pPr>
            <a:r>
              <a:rPr lang="en-US" sz="1200" b="1" dirty="0">
                <a:solidFill>
                  <a:srgbClr val="8B5CF6"/>
                </a:solidFill>
                <a:latin typeface="Arial" pitchFamily="34" charset="0"/>
                <a:ea typeface="Arial" pitchFamily="34" charset="-122"/>
                <a:cs typeface="Arial" pitchFamily="34" charset="-120"/>
              </a:rPr>
              <a:t>DESIGN: </a:t>
            </a:r>
            <a:r>
              <a:rPr lang="en-US" sz="1200" dirty="0">
                <a:solidFill>
                  <a:srgbClr val="1F2937"/>
                </a:solidFill>
                <a:latin typeface="Arial" pitchFamily="34" charset="0"/>
                <a:ea typeface="Arial" pitchFamily="34" charset="-122"/>
                <a:cs typeface="Arial" pitchFamily="34" charset="-120"/>
              </a:rPr>
              <a:t>Every perception system involves these trade-offs. The 'best' choice depends on your robot's compute, speed, and task.</a:t>
            </a:r>
            <a:endParaRPr lang="en-US" sz="1200" dirty="0"/>
          </a:p>
        </p:txBody>
      </p:sp>
      <p:sp>
        <p:nvSpPr>
          <p:cNvPr id="5" name="Shape 6"/>
          <p:cNvSpPr/>
          <p:nvPr/>
        </p:nvSpPr>
        <p:spPr>
          <a:xfrm>
            <a:off x="457200" y="3657600"/>
            <a:ext cx="411480" cy="411480"/>
          </a:xfrm>
          <a:prstGeom prst="ellipse">
            <a:avLst/>
          </a:prstGeom>
          <a:solidFill>
            <a:srgbClr val="F97316"/>
          </a:solidFill>
          <a:ln/>
        </p:spPr>
      </p:sp>
      <p:sp>
        <p:nvSpPr>
          <p:cNvPr id="10" name="Text 7"/>
          <p:cNvSpPr/>
          <p:nvPr/>
        </p:nvSpPr>
        <p:spPr>
          <a:xfrm>
            <a:off x="457200" y="3675888"/>
            <a:ext cx="411480" cy="384048"/>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O</a:t>
            </a:r>
            <a:endParaRPr lang="en-US" sz="1400" dirty="0"/>
          </a:p>
        </p:txBody>
      </p:sp>
      <p:sp>
        <p:nvSpPr>
          <p:cNvPr id="11" name="Text 8"/>
          <p:cNvSpPr/>
          <p:nvPr/>
        </p:nvSpPr>
        <p:spPr>
          <a:xfrm>
            <a:off x="960120" y="3675888"/>
            <a:ext cx="7680960" cy="365760"/>
          </a:xfrm>
          <a:prstGeom prst="rect">
            <a:avLst/>
          </a:prstGeom>
          <a:noFill/>
          <a:ln/>
        </p:spPr>
        <p:txBody>
          <a:bodyPr wrap="square" rtlCol="0" anchor="ctr"/>
          <a:lstStyle/>
          <a:p>
            <a:pPr marL="0" indent="0">
              <a:buNone/>
            </a:pPr>
            <a:r>
              <a:rPr lang="en-US" sz="1200" b="1" dirty="0">
                <a:solidFill>
                  <a:srgbClr val="F97316"/>
                </a:solidFill>
                <a:latin typeface="Arial" pitchFamily="34" charset="0"/>
                <a:ea typeface="Arial" pitchFamily="34" charset="-122"/>
                <a:cs typeface="Arial" pitchFamily="34" charset="-120"/>
              </a:rPr>
              <a:t>OPERATE: </a:t>
            </a:r>
            <a:r>
              <a:rPr lang="en-US" sz="1200" dirty="0">
                <a:solidFill>
                  <a:srgbClr val="1F2937"/>
                </a:solidFill>
                <a:latin typeface="Arial" pitchFamily="34" charset="0"/>
                <a:ea typeface="Arial" pitchFamily="34" charset="-122"/>
                <a:cs typeface="Arial" pitchFamily="34" charset="-120"/>
              </a:rPr>
              <a:t>MediBot (hospital): low speed, safety-critical → full resolution, 15 Hz, classical + DL backup.</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4C81"/>
        </a:solidFill>
        <a:effectLst/>
      </p:bgPr>
    </p:bg>
    <p:spTree>
      <p:nvGrpSpPr>
        <p:cNvPr id="1" name=""/>
        <p:cNvGrpSpPr/>
        <p:nvPr/>
      </p:nvGrpSpPr>
      <p:grpSpPr>
        <a:xfrm>
          <a:off x="0" y="0"/>
          <a:ext cx="0" cy="0"/>
          <a:chOff x="0" y="0"/>
          <a:chExt cx="0" cy="0"/>
        </a:xfrm>
      </p:grpSpPr>
      <p:sp>
        <p:nvSpPr>
          <p:cNvPr id="2" name="Text 0"/>
          <p:cNvSpPr/>
          <p:nvPr/>
        </p:nvSpPr>
        <p:spPr>
          <a:xfrm>
            <a:off x="548640" y="914400"/>
            <a:ext cx="4572000" cy="457200"/>
          </a:xfrm>
          <a:prstGeom prst="rect">
            <a:avLst/>
          </a:prstGeom>
          <a:noFill/>
          <a:ln/>
        </p:spPr>
        <p:txBody>
          <a:bodyPr wrap="square" rtlCol="0" anchor="ctr"/>
          <a:lstStyle/>
          <a:p>
            <a:pPr marL="0" indent="0">
              <a:buNone/>
            </a:pPr>
            <a:r>
              <a:rPr lang="en-US" sz="1400" b="1" kern="0" spc="300" dirty="0">
                <a:solidFill>
                  <a:srgbClr val="F59E0B"/>
                </a:solidFill>
                <a:latin typeface="Arial" pitchFamily="34" charset="0"/>
                <a:ea typeface="Arial" pitchFamily="34" charset="-122"/>
                <a:cs typeface="Arial" pitchFamily="34" charset="-120"/>
              </a:rPr>
              <a:t>BLOCK C</a:t>
            </a:r>
            <a:endParaRPr lang="en-US" sz="1400" dirty="0"/>
          </a:p>
        </p:txBody>
      </p:sp>
      <p:sp>
        <p:nvSpPr>
          <p:cNvPr id="3" name="Text 1"/>
          <p:cNvSpPr/>
          <p:nvPr/>
        </p:nvSpPr>
        <p:spPr>
          <a:xfrm>
            <a:off x="548640" y="1371600"/>
            <a:ext cx="7772400" cy="1280160"/>
          </a:xfrm>
          <a:prstGeom prst="rect">
            <a:avLst/>
          </a:prstGeom>
          <a:noFill/>
          <a:ln/>
        </p:spPr>
        <p:txBody>
          <a:bodyPr wrap="square" rtlCol="0" anchor="ctr"/>
          <a:lstStyle/>
          <a:p>
            <a:pPr marL="0" indent="0">
              <a:buNone/>
            </a:pPr>
            <a:r>
              <a:rPr lang="en-US" sz="2800" b="1" dirty="0">
                <a:solidFill>
                  <a:srgbClr val="FFFFFF"/>
                </a:solidFill>
                <a:latin typeface="Arial" pitchFamily="34" charset="0"/>
                <a:ea typeface="Arial" pitchFamily="34" charset="-122"/>
                <a:cs typeface="Arial" pitchFamily="34" charset="-120"/>
              </a:rPr>
              <a:t>Image Preprocessing</a:t>
            </a:r>
            <a:endParaRPr lang="en-US" sz="2800" dirty="0"/>
          </a:p>
        </p:txBody>
      </p:sp>
      <p:sp>
        <p:nvSpPr>
          <p:cNvPr id="4" name="Text 2"/>
          <p:cNvSpPr/>
          <p:nvPr/>
        </p:nvSpPr>
        <p:spPr>
          <a:xfrm>
            <a:off x="548640" y="2743200"/>
            <a:ext cx="7315200" cy="731520"/>
          </a:xfrm>
          <a:prstGeom prst="rect">
            <a:avLst/>
          </a:prstGeom>
          <a:noFill/>
          <a:ln/>
        </p:spPr>
        <p:txBody>
          <a:bodyPr wrap="square" rtlCol="0" anchor="ctr"/>
          <a:lstStyle/>
          <a:p>
            <a:pPr marL="0" indent="0">
              <a:buNone/>
            </a:pPr>
            <a:r>
              <a:rPr lang="en-US" sz="1500" dirty="0">
                <a:solidFill>
                  <a:srgbClr val="B0C4DE"/>
                </a:solidFill>
                <a:latin typeface="Arial" pitchFamily="34" charset="0"/>
                <a:ea typeface="Arial" pitchFamily="34" charset="-122"/>
                <a:cs typeface="Arial" pitchFamily="34" charset="-120"/>
              </a:rPr>
              <a:t>Clean the data before trying to understand it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Fluorescent Flicker Ruins Everything</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10</a:t>
            </a:r>
            <a:endParaRPr lang="en-US" sz="800" dirty="0"/>
          </a:p>
        </p:txBody>
      </p:sp>
      <p:sp>
        <p:nvSpPr>
          <p:cNvPr id="5" name="Shape 3"/>
          <p:cNvSpPr/>
          <p:nvPr/>
        </p:nvSpPr>
        <p:spPr>
          <a:xfrm>
            <a:off x="274320" y="685800"/>
            <a:ext cx="8595360" cy="731520"/>
          </a:xfrm>
          <a:prstGeom prst="rect">
            <a:avLst/>
          </a:prstGeom>
          <a:solidFill>
            <a:srgbClr val="FFFBEB"/>
          </a:solidFill>
          <a:ln/>
          <a:effectLst>
            <a:outerShdw blurRad="50800" dist="25400" dir="8100000" algn="bl" rotWithShape="0">
              <a:srgbClr val="000000">
                <a:alpha val="12000"/>
              </a:srgbClr>
            </a:outerShdw>
          </a:effectLst>
        </p:spPr>
      </p:sp>
      <p:sp>
        <p:nvSpPr>
          <p:cNvPr id="6" name="Shape 4"/>
          <p:cNvSpPr/>
          <p:nvPr/>
        </p:nvSpPr>
        <p:spPr>
          <a:xfrm>
            <a:off x="274320" y="685800"/>
            <a:ext cx="54864" cy="731520"/>
          </a:xfrm>
          <a:prstGeom prst="rect">
            <a:avLst/>
          </a:prstGeom>
          <a:solidFill>
            <a:srgbClr val="F97316"/>
          </a:solidFill>
          <a:ln/>
        </p:spPr>
      </p:sp>
      <p:sp>
        <p:nvSpPr>
          <p:cNvPr id="7" name="Text 5"/>
          <p:cNvSpPr/>
          <p:nvPr/>
        </p:nvSpPr>
        <p:spPr>
          <a:xfrm>
            <a:off x="457200" y="758952"/>
            <a:ext cx="8275320" cy="594360"/>
          </a:xfrm>
          <a:prstGeom prst="rect">
            <a:avLst/>
          </a:prstGeom>
          <a:noFill/>
          <a:ln/>
        </p:spPr>
        <p:txBody>
          <a:bodyPr wrap="square" rtlCol="0" anchor="t"/>
          <a:lstStyle/>
          <a:p>
            <a:pPr marL="0" indent="0">
              <a:buNone/>
            </a:pPr>
            <a:r>
              <a:rPr lang="en-US" sz="1200" b="1" dirty="0">
                <a:solidFill>
                  <a:srgbClr val="F97316"/>
                </a:solidFill>
                <a:latin typeface="Arial" pitchFamily="34" charset="0"/>
                <a:ea typeface="Arial" pitchFamily="34" charset="-122"/>
                <a:cs typeface="Arial" pitchFamily="34" charset="-120"/>
              </a:rPr>
              <a:t>SCENARIO: </a:t>
            </a:r>
            <a:r>
              <a:rPr lang="en-US" sz="1200" dirty="0">
                <a:solidFill>
                  <a:srgbClr val="1F2937"/>
                </a:solidFill>
                <a:latin typeface="Arial" pitchFamily="34" charset="0"/>
                <a:ea typeface="Arial" pitchFamily="34" charset="-122"/>
                <a:cs typeface="Arial" pitchFamily="34" charset="-120"/>
              </a:rPr>
              <a:t>MediBot's camera captures images under fluorescent lights. Every other frame has a color shift. JPEG compression adds block artifacts. Feature detection on raw images finds hundreds of phantom features on compression boundaries. We must CLEAN the image first.</a:t>
            </a:r>
            <a:endParaRPr lang="en-US" sz="1200" dirty="0"/>
          </a:p>
        </p:txBody>
      </p:sp>
      <p:sp>
        <p:nvSpPr>
          <p:cNvPr id="8" name="Shape 6"/>
          <p:cNvSpPr/>
          <p:nvPr/>
        </p:nvSpPr>
        <p:spPr>
          <a:xfrm>
            <a:off x="274320" y="1600199"/>
            <a:ext cx="4114800" cy="2125981"/>
          </a:xfrm>
          <a:prstGeom prst="rect">
            <a:avLst/>
          </a:prstGeom>
          <a:solidFill>
            <a:srgbClr val="FFFFFF"/>
          </a:solidFill>
          <a:ln/>
          <a:effectLst>
            <a:outerShdw blurRad="50800" dist="25400" dir="8100000" algn="bl" rotWithShape="0">
              <a:srgbClr val="000000">
                <a:alpha val="12000"/>
              </a:srgbClr>
            </a:outerShdw>
          </a:effectLst>
        </p:spPr>
      </p:sp>
      <p:sp>
        <p:nvSpPr>
          <p:cNvPr id="9" name="Shape 7"/>
          <p:cNvSpPr/>
          <p:nvPr/>
        </p:nvSpPr>
        <p:spPr>
          <a:xfrm>
            <a:off x="274320" y="1600200"/>
            <a:ext cx="54864" cy="2011680"/>
          </a:xfrm>
          <a:prstGeom prst="rect">
            <a:avLst/>
          </a:prstGeom>
          <a:solidFill>
            <a:srgbClr val="0D9488"/>
          </a:solidFill>
          <a:ln/>
        </p:spPr>
      </p:sp>
      <p:sp>
        <p:nvSpPr>
          <p:cNvPr id="10" name="Text 8"/>
          <p:cNvSpPr/>
          <p:nvPr/>
        </p:nvSpPr>
        <p:spPr>
          <a:xfrm>
            <a:off x="438912" y="165506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Why Preprocess?</a:t>
            </a:r>
            <a:endParaRPr lang="en-US" sz="1200" dirty="0"/>
          </a:p>
        </p:txBody>
      </p:sp>
      <p:sp>
        <p:nvSpPr>
          <p:cNvPr id="11" name="Text 9"/>
          <p:cNvSpPr/>
          <p:nvPr/>
        </p:nvSpPr>
        <p:spPr>
          <a:xfrm>
            <a:off x="438912" y="1947672"/>
            <a:ext cx="3840480" cy="160020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Reduce noise (sensor, compression, lighting)</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Enhance features (sharpen edges, normalize contrast)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Standardize input (consistent brightness, color)</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Remove irrelevant info (background, known patterns)</a:t>
            </a:r>
            <a:endParaRPr lang="en-US" sz="1200" dirty="0"/>
          </a:p>
          <a:p>
            <a:pPr marL="342900" indent="-342900">
              <a:buSzPct val="100000"/>
              <a:buChar char="•"/>
            </a:pP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Bad preprocessing = bad features = bad everything</a:t>
            </a:r>
            <a:endParaRPr lang="en-US" sz="1200" dirty="0"/>
          </a:p>
        </p:txBody>
      </p:sp>
      <p:sp>
        <p:nvSpPr>
          <p:cNvPr id="12" name="Shape 10"/>
          <p:cNvSpPr/>
          <p:nvPr/>
        </p:nvSpPr>
        <p:spPr>
          <a:xfrm>
            <a:off x="4663440" y="1600200"/>
            <a:ext cx="4206240" cy="2125980"/>
          </a:xfrm>
          <a:prstGeom prst="rect">
            <a:avLst/>
          </a:prstGeom>
          <a:solidFill>
            <a:srgbClr val="FFFFFF"/>
          </a:solidFill>
          <a:ln/>
          <a:effectLst>
            <a:outerShdw blurRad="50800" dist="25400" dir="8100000" algn="bl" rotWithShape="0">
              <a:srgbClr val="000000">
                <a:alpha val="12000"/>
              </a:srgbClr>
            </a:outerShdw>
          </a:effectLst>
        </p:spPr>
      </p:sp>
      <p:sp>
        <p:nvSpPr>
          <p:cNvPr id="13" name="Shape 11"/>
          <p:cNvSpPr/>
          <p:nvPr/>
        </p:nvSpPr>
        <p:spPr>
          <a:xfrm>
            <a:off x="4663440" y="1600200"/>
            <a:ext cx="54864" cy="2011680"/>
          </a:xfrm>
          <a:prstGeom prst="rect">
            <a:avLst/>
          </a:prstGeom>
          <a:solidFill>
            <a:srgbClr val="3B82F6"/>
          </a:solidFill>
          <a:ln/>
        </p:spPr>
      </p:sp>
      <p:sp>
        <p:nvSpPr>
          <p:cNvPr id="14" name="Text 12"/>
          <p:cNvSpPr/>
          <p:nvPr/>
        </p:nvSpPr>
        <p:spPr>
          <a:xfrm>
            <a:off x="4828032" y="165506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Key Operations:</a:t>
            </a:r>
            <a:endParaRPr lang="en-US" sz="1200" dirty="0"/>
          </a:p>
        </p:txBody>
      </p:sp>
      <p:sp>
        <p:nvSpPr>
          <p:cNvPr id="15" name="Text 13"/>
          <p:cNvSpPr/>
          <p:nvPr/>
        </p:nvSpPr>
        <p:spPr>
          <a:xfrm>
            <a:off x="4828032" y="1947672"/>
            <a:ext cx="3931920" cy="160020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Color conversion: RGB → Grayscale, HSV, Lab</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(many algorithms work on grayscale only)</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Gaussian blur: smooth out noise (kernel 3×3, 5×5)</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Median filter: remove salt-and-pepper noise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Histogram equalization: normalize contrast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Undistortion: correct lens distortion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Edge Detection: Finding Boundaries</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11</a:t>
            </a:r>
            <a:endParaRPr lang="en-US" sz="800" dirty="0"/>
          </a:p>
        </p:txBody>
      </p:sp>
      <p:sp>
        <p:nvSpPr>
          <p:cNvPr id="5" name="Text 3"/>
          <p:cNvSpPr/>
          <p:nvPr/>
        </p:nvSpPr>
        <p:spPr>
          <a:xfrm>
            <a:off x="365760" y="685800"/>
            <a:ext cx="8229600" cy="274320"/>
          </a:xfrm>
          <a:prstGeom prst="rect">
            <a:avLst/>
          </a:prstGeom>
          <a:noFill/>
          <a:ln/>
        </p:spPr>
        <p:txBody>
          <a:bodyPr wrap="square" rtlCol="0" anchor="ctr"/>
          <a:lstStyle/>
          <a:p>
            <a:pPr marL="0" indent="0">
              <a:buNone/>
            </a:pPr>
            <a:r>
              <a:rPr lang="en-US" sz="1300" b="1" dirty="0">
                <a:solidFill>
                  <a:srgbClr val="1F2937"/>
                </a:solidFill>
                <a:latin typeface="Arial" pitchFamily="34" charset="0"/>
                <a:ea typeface="Arial" pitchFamily="34" charset="-122"/>
                <a:cs typeface="Arial" pitchFamily="34" charset="-120"/>
              </a:rPr>
              <a:t>Edges = rapid changes in pixel intensity → boundaries of objects</a:t>
            </a:r>
            <a:endParaRPr lang="en-US" sz="1300" dirty="0"/>
          </a:p>
        </p:txBody>
      </p:sp>
      <p:sp>
        <p:nvSpPr>
          <p:cNvPr id="6" name="Shape 4"/>
          <p:cNvSpPr/>
          <p:nvPr/>
        </p:nvSpPr>
        <p:spPr>
          <a:xfrm>
            <a:off x="274320" y="1051560"/>
            <a:ext cx="4114800" cy="1600200"/>
          </a:xfrm>
          <a:prstGeom prst="rect">
            <a:avLst/>
          </a:prstGeom>
          <a:solidFill>
            <a:srgbClr val="FFFFFF"/>
          </a:solidFill>
          <a:ln/>
          <a:effectLst>
            <a:outerShdw blurRad="50800" dist="25400" dir="8100000" algn="bl" rotWithShape="0">
              <a:srgbClr val="000000">
                <a:alpha val="12000"/>
              </a:srgbClr>
            </a:outerShdw>
          </a:effectLst>
        </p:spPr>
      </p:sp>
      <p:sp>
        <p:nvSpPr>
          <p:cNvPr id="7" name="Shape 5"/>
          <p:cNvSpPr/>
          <p:nvPr/>
        </p:nvSpPr>
        <p:spPr>
          <a:xfrm>
            <a:off x="274320" y="1051560"/>
            <a:ext cx="54864" cy="1463040"/>
          </a:xfrm>
          <a:prstGeom prst="rect">
            <a:avLst/>
          </a:prstGeom>
          <a:solidFill>
            <a:srgbClr val="3B82F6"/>
          </a:solidFill>
          <a:ln/>
        </p:spPr>
      </p:sp>
      <p:sp>
        <p:nvSpPr>
          <p:cNvPr id="8" name="Text 6"/>
          <p:cNvSpPr/>
          <p:nvPr/>
        </p:nvSpPr>
        <p:spPr>
          <a:xfrm>
            <a:off x="438912" y="110642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Sobel Filter (gradient)</a:t>
            </a:r>
            <a:endParaRPr lang="en-US" sz="1200" dirty="0"/>
          </a:p>
        </p:txBody>
      </p:sp>
      <p:sp>
        <p:nvSpPr>
          <p:cNvPr id="9" name="Text 7"/>
          <p:cNvSpPr/>
          <p:nvPr/>
        </p:nvSpPr>
        <p:spPr>
          <a:xfrm>
            <a:off x="438912" y="1399032"/>
            <a:ext cx="3840480" cy="105156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Computes image gradient in x and y</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G_x = [-1 0 1; -2 0 2; -1 0 1] * Image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Edge strength = √(G_x² + G_y²)</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Edge direction = atan2(G_y, G_x)</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Simple, fast, but detects too many edges</a:t>
            </a:r>
            <a:endParaRPr lang="en-US" sz="1200" dirty="0"/>
          </a:p>
        </p:txBody>
      </p:sp>
      <p:sp>
        <p:nvSpPr>
          <p:cNvPr id="10" name="Shape 8"/>
          <p:cNvSpPr/>
          <p:nvPr/>
        </p:nvSpPr>
        <p:spPr>
          <a:xfrm>
            <a:off x="4663440" y="1051560"/>
            <a:ext cx="4206240" cy="1600200"/>
          </a:xfrm>
          <a:prstGeom prst="rect">
            <a:avLst/>
          </a:prstGeom>
          <a:solidFill>
            <a:srgbClr val="FFFFFF"/>
          </a:solidFill>
          <a:ln/>
          <a:effectLst>
            <a:outerShdw blurRad="50800" dist="25400" dir="8100000" algn="bl" rotWithShape="0">
              <a:srgbClr val="000000">
                <a:alpha val="12000"/>
              </a:srgbClr>
            </a:outerShdw>
          </a:effectLst>
        </p:spPr>
      </p:sp>
      <p:sp>
        <p:nvSpPr>
          <p:cNvPr id="11" name="Shape 9"/>
          <p:cNvSpPr/>
          <p:nvPr/>
        </p:nvSpPr>
        <p:spPr>
          <a:xfrm>
            <a:off x="4663440" y="1051560"/>
            <a:ext cx="54864" cy="1463040"/>
          </a:xfrm>
          <a:prstGeom prst="rect">
            <a:avLst/>
          </a:prstGeom>
          <a:solidFill>
            <a:srgbClr val="10B981"/>
          </a:solidFill>
          <a:ln/>
        </p:spPr>
      </p:sp>
      <p:sp>
        <p:nvSpPr>
          <p:cNvPr id="12" name="Text 10"/>
          <p:cNvSpPr/>
          <p:nvPr/>
        </p:nvSpPr>
        <p:spPr>
          <a:xfrm>
            <a:off x="4828032" y="110642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Canny Edge Detector (best practice)</a:t>
            </a:r>
            <a:endParaRPr lang="en-US" sz="1200" dirty="0"/>
          </a:p>
        </p:txBody>
      </p:sp>
      <p:sp>
        <p:nvSpPr>
          <p:cNvPr id="13" name="Text 11"/>
          <p:cNvSpPr/>
          <p:nvPr/>
        </p:nvSpPr>
        <p:spPr>
          <a:xfrm>
            <a:off x="4828032" y="1399032"/>
            <a:ext cx="3931920" cy="105156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1. Gaussian blur (remove noise)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2. Sobel gradient (find edges)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3. Non-maximum suppression (thin edges)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4. Hysteresis thresholding (keep strong edges,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keep weak edges connected to strong ones)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Result: clean, 1-pixel-wide edges</a:t>
            </a:r>
            <a:endParaRPr lang="en-US" sz="1200" dirty="0"/>
          </a:p>
        </p:txBody>
      </p:sp>
      <p:sp>
        <p:nvSpPr>
          <p:cNvPr id="14" name="Text 12"/>
          <p:cNvSpPr/>
          <p:nvPr/>
        </p:nvSpPr>
        <p:spPr>
          <a:xfrm>
            <a:off x="365760" y="2743200"/>
            <a:ext cx="8412480" cy="274320"/>
          </a:xfrm>
          <a:prstGeom prst="rect">
            <a:avLst/>
          </a:prstGeom>
          <a:noFill/>
          <a:ln/>
        </p:spPr>
        <p:txBody>
          <a:bodyPr wrap="square" rtlCol="0" anchor="ctr"/>
          <a:lstStyle/>
          <a:p>
            <a:pPr marL="0" indent="0">
              <a:buNone/>
            </a:pPr>
            <a:r>
              <a:rPr lang="en-US" sz="1200" dirty="0">
                <a:solidFill>
                  <a:srgbClr val="1F2937"/>
                </a:solidFill>
                <a:latin typeface="Arial" pitchFamily="34" charset="0"/>
                <a:ea typeface="Arial" pitchFamily="34" charset="-122"/>
                <a:cs typeface="Arial" pitchFamily="34" charset="-120"/>
              </a:rPr>
              <a:t>Edges are the INPUT to many higher-level algorithms: line detection, corner detection, contour extraction.</a:t>
            </a:r>
            <a:endParaRPr lang="en-US" sz="1200" dirty="0"/>
          </a:p>
        </p:txBody>
      </p:sp>
      <p:sp>
        <p:nvSpPr>
          <p:cNvPr id="15" name="Text 13"/>
          <p:cNvSpPr/>
          <p:nvPr/>
        </p:nvSpPr>
        <p:spPr>
          <a:xfrm>
            <a:off x="365760" y="3108960"/>
            <a:ext cx="8412480" cy="274320"/>
          </a:xfrm>
          <a:prstGeom prst="rect">
            <a:avLst/>
          </a:prstGeom>
          <a:noFill/>
          <a:ln/>
        </p:spPr>
        <p:txBody>
          <a:bodyPr wrap="square" rtlCol="0" anchor="ctr"/>
          <a:lstStyle/>
          <a:p>
            <a:pPr marL="0" indent="0">
              <a:buNone/>
            </a:pPr>
            <a:r>
              <a:rPr lang="en-US" sz="1200" i="1" dirty="0">
                <a:solidFill>
                  <a:srgbClr val="6B7280"/>
                </a:solidFill>
                <a:latin typeface="Arial" pitchFamily="34" charset="0"/>
                <a:ea typeface="Arial" pitchFamily="34" charset="-122"/>
                <a:cs typeface="Arial" pitchFamily="34" charset="-120"/>
              </a:rPr>
              <a:t>In ROS: edges computed by OpenCV inside a perception node, NOT transmitted as a topic (too much data).</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4C81"/>
        </a:solidFill>
        <a:effectLst/>
      </p:bgPr>
    </p:bg>
    <p:spTree>
      <p:nvGrpSpPr>
        <p:cNvPr id="1" name=""/>
        <p:cNvGrpSpPr/>
        <p:nvPr/>
      </p:nvGrpSpPr>
      <p:grpSpPr>
        <a:xfrm>
          <a:off x="0" y="0"/>
          <a:ext cx="0" cy="0"/>
          <a:chOff x="0" y="0"/>
          <a:chExt cx="0" cy="0"/>
        </a:xfrm>
      </p:grpSpPr>
      <p:sp>
        <p:nvSpPr>
          <p:cNvPr id="2" name="Text 0"/>
          <p:cNvSpPr/>
          <p:nvPr/>
        </p:nvSpPr>
        <p:spPr>
          <a:xfrm>
            <a:off x="548640" y="914400"/>
            <a:ext cx="4572000" cy="457200"/>
          </a:xfrm>
          <a:prstGeom prst="rect">
            <a:avLst/>
          </a:prstGeom>
          <a:noFill/>
          <a:ln/>
        </p:spPr>
        <p:txBody>
          <a:bodyPr wrap="square" rtlCol="0" anchor="ctr"/>
          <a:lstStyle/>
          <a:p>
            <a:pPr marL="0" indent="0">
              <a:buNone/>
            </a:pPr>
            <a:r>
              <a:rPr lang="en-US" sz="1400" b="1" kern="0" spc="300" dirty="0">
                <a:solidFill>
                  <a:srgbClr val="F59E0B"/>
                </a:solidFill>
                <a:latin typeface="Arial" pitchFamily="34" charset="0"/>
                <a:ea typeface="Arial" pitchFamily="34" charset="-122"/>
                <a:cs typeface="Arial" pitchFamily="34" charset="-120"/>
              </a:rPr>
              <a:t>BLOCK D</a:t>
            </a:r>
            <a:endParaRPr lang="en-US" sz="1400" dirty="0"/>
          </a:p>
        </p:txBody>
      </p:sp>
      <p:sp>
        <p:nvSpPr>
          <p:cNvPr id="3" name="Text 1"/>
          <p:cNvSpPr/>
          <p:nvPr/>
        </p:nvSpPr>
        <p:spPr>
          <a:xfrm>
            <a:off x="548640" y="1371600"/>
            <a:ext cx="7772400" cy="1280160"/>
          </a:xfrm>
          <a:prstGeom prst="rect">
            <a:avLst/>
          </a:prstGeom>
          <a:noFill/>
          <a:ln/>
        </p:spPr>
        <p:txBody>
          <a:bodyPr wrap="square" rtlCol="0" anchor="ctr"/>
          <a:lstStyle/>
          <a:p>
            <a:pPr marL="0" indent="0">
              <a:buNone/>
            </a:pPr>
            <a:r>
              <a:rPr lang="en-US" sz="2800" b="1" dirty="0">
                <a:solidFill>
                  <a:srgbClr val="FFFFFF"/>
                </a:solidFill>
                <a:latin typeface="Arial" pitchFamily="34" charset="0"/>
                <a:ea typeface="Arial" pitchFamily="34" charset="-122"/>
                <a:cs typeface="Arial" pitchFamily="34" charset="-120"/>
              </a:rPr>
              <a:t>Feature Extraction</a:t>
            </a:r>
            <a:endParaRPr lang="en-US" sz="2800" dirty="0"/>
          </a:p>
        </p:txBody>
      </p:sp>
      <p:sp>
        <p:nvSpPr>
          <p:cNvPr id="4" name="Text 2"/>
          <p:cNvSpPr/>
          <p:nvPr/>
        </p:nvSpPr>
        <p:spPr>
          <a:xfrm>
            <a:off x="548640" y="2743200"/>
            <a:ext cx="7315200" cy="731520"/>
          </a:xfrm>
          <a:prstGeom prst="rect">
            <a:avLst/>
          </a:prstGeom>
          <a:noFill/>
          <a:ln/>
        </p:spPr>
        <p:txBody>
          <a:bodyPr wrap="square" rtlCol="0" anchor="ctr"/>
          <a:lstStyle/>
          <a:p>
            <a:pPr marL="0" indent="0">
              <a:buNone/>
            </a:pPr>
            <a:r>
              <a:rPr lang="en-US" sz="1500" dirty="0">
                <a:solidFill>
                  <a:srgbClr val="B0C4DE"/>
                </a:solidFill>
                <a:latin typeface="Arial" pitchFamily="34" charset="0"/>
                <a:ea typeface="Arial" pitchFamily="34" charset="-122"/>
                <a:cs typeface="Arial" pitchFamily="34" charset="-120"/>
              </a:rPr>
              <a:t>Finding distinctive, repeatable points in images and scans</a:t>
            </a:r>
            <a:endParaRPr lang="en-US" sz="1500" dirty="0"/>
          </a:p>
        </p:txBody>
      </p:sp>
      <p:sp>
        <p:nvSpPr>
          <p:cNvPr id="6" name="TextBox 5">
            <a:extLst>
              <a:ext uri="{FF2B5EF4-FFF2-40B4-BE49-F238E27FC236}">
                <a16:creationId xmlns:a16="http://schemas.microsoft.com/office/drawing/2014/main" id="{16B9A717-3076-4D41-A748-96C7D5128174}"/>
              </a:ext>
            </a:extLst>
          </p:cNvPr>
          <p:cNvSpPr txBox="1"/>
          <p:nvPr/>
        </p:nvSpPr>
        <p:spPr>
          <a:xfrm>
            <a:off x="202019" y="4681226"/>
            <a:ext cx="6978502" cy="646331"/>
          </a:xfrm>
          <a:prstGeom prst="rect">
            <a:avLst/>
          </a:prstGeom>
          <a:noFill/>
        </p:spPr>
        <p:txBody>
          <a:bodyPr wrap="square">
            <a:spAutoFit/>
          </a:bodyPr>
          <a:lstStyle/>
          <a:p>
            <a:r>
              <a:rPr lang="en-US" dirty="0">
                <a:hlinkClick r:id="rId3"/>
              </a:rPr>
              <a:t>https://rpg.ifi.uzh.ch/docs/teaching/2023/06_feature_detection_2.pdf</a:t>
            </a:r>
            <a:endParaRPr lang="en-US" dirty="0"/>
          </a:p>
          <a:p>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Re-Recognizing a Corridor Corner</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13</a:t>
            </a:r>
            <a:endParaRPr lang="en-US" sz="800" dirty="0"/>
          </a:p>
        </p:txBody>
      </p:sp>
      <p:sp>
        <p:nvSpPr>
          <p:cNvPr id="5" name="Shape 3"/>
          <p:cNvSpPr/>
          <p:nvPr/>
        </p:nvSpPr>
        <p:spPr>
          <a:xfrm>
            <a:off x="274320" y="685800"/>
            <a:ext cx="8595360" cy="731520"/>
          </a:xfrm>
          <a:prstGeom prst="rect">
            <a:avLst/>
          </a:prstGeom>
          <a:solidFill>
            <a:srgbClr val="FFFBEB"/>
          </a:solidFill>
          <a:ln/>
          <a:effectLst>
            <a:outerShdw blurRad="50800" dist="25400" dir="8100000" algn="bl" rotWithShape="0">
              <a:srgbClr val="000000">
                <a:alpha val="12000"/>
              </a:srgbClr>
            </a:outerShdw>
          </a:effectLst>
        </p:spPr>
      </p:sp>
      <p:sp>
        <p:nvSpPr>
          <p:cNvPr id="6" name="Shape 4"/>
          <p:cNvSpPr/>
          <p:nvPr/>
        </p:nvSpPr>
        <p:spPr>
          <a:xfrm>
            <a:off x="274320" y="685800"/>
            <a:ext cx="54864" cy="731520"/>
          </a:xfrm>
          <a:prstGeom prst="rect">
            <a:avLst/>
          </a:prstGeom>
          <a:solidFill>
            <a:srgbClr val="F97316"/>
          </a:solidFill>
          <a:ln/>
        </p:spPr>
      </p:sp>
      <p:sp>
        <p:nvSpPr>
          <p:cNvPr id="7" name="Text 5"/>
          <p:cNvSpPr/>
          <p:nvPr/>
        </p:nvSpPr>
        <p:spPr>
          <a:xfrm>
            <a:off x="457200" y="758952"/>
            <a:ext cx="8275320" cy="594360"/>
          </a:xfrm>
          <a:prstGeom prst="rect">
            <a:avLst/>
          </a:prstGeom>
          <a:noFill/>
          <a:ln/>
        </p:spPr>
        <p:txBody>
          <a:bodyPr wrap="square" rtlCol="0" anchor="t"/>
          <a:lstStyle/>
          <a:p>
            <a:pPr marL="0" indent="0">
              <a:buNone/>
            </a:pPr>
            <a:r>
              <a:rPr lang="en-US" sz="1200" b="1" dirty="0">
                <a:solidFill>
                  <a:srgbClr val="F97316"/>
                </a:solidFill>
                <a:latin typeface="Arial" pitchFamily="34" charset="0"/>
                <a:ea typeface="Arial" pitchFamily="34" charset="-122"/>
                <a:cs typeface="Arial" pitchFamily="34" charset="-120"/>
              </a:rPr>
              <a:t>SCENARIO: </a:t>
            </a:r>
            <a:r>
              <a:rPr lang="en-US" sz="1200" dirty="0">
                <a:solidFill>
                  <a:srgbClr val="1F2937"/>
                </a:solidFill>
                <a:latin typeface="Arial" pitchFamily="34" charset="0"/>
                <a:ea typeface="Arial" pitchFamily="34" charset="-122"/>
                <a:cs typeface="Arial" pitchFamily="34" charset="-120"/>
              </a:rPr>
              <a:t>MediBot saw a corridor corner 10 seconds ago from 5m away. Now it sees it again from 3m away, at a different angle. How does it know it's the SAME corner? It needs to DESCRIBE the corner in a way that's the same regardless of viewpoint.</a:t>
            </a:r>
            <a:endParaRPr lang="en-US" sz="1200" dirty="0"/>
          </a:p>
        </p:txBody>
      </p:sp>
      <p:sp>
        <p:nvSpPr>
          <p:cNvPr id="8" name="Text 6"/>
          <p:cNvSpPr/>
          <p:nvPr/>
        </p:nvSpPr>
        <p:spPr>
          <a:xfrm>
            <a:off x="365760" y="1600200"/>
            <a:ext cx="8229600" cy="274320"/>
          </a:xfrm>
          <a:prstGeom prst="rect">
            <a:avLst/>
          </a:prstGeom>
          <a:noFill/>
          <a:ln/>
        </p:spPr>
        <p:txBody>
          <a:bodyPr wrap="square" rtlCol="0" anchor="ctr"/>
          <a:lstStyle/>
          <a:p>
            <a:pPr marL="0" indent="0">
              <a:buNone/>
            </a:pPr>
            <a:r>
              <a:rPr lang="en-US" sz="1300" b="1" dirty="0">
                <a:solidFill>
                  <a:srgbClr val="0F4C81"/>
                </a:solidFill>
                <a:latin typeface="Arial" pitchFamily="34" charset="0"/>
                <a:ea typeface="Arial" pitchFamily="34" charset="-122"/>
                <a:cs typeface="Arial" pitchFamily="34" charset="-120"/>
              </a:rPr>
              <a:t>This requires two things:</a:t>
            </a:r>
            <a:endParaRPr lang="en-US" sz="1300" dirty="0"/>
          </a:p>
        </p:txBody>
      </p:sp>
      <p:sp>
        <p:nvSpPr>
          <p:cNvPr id="9" name="Shape 7"/>
          <p:cNvSpPr/>
          <p:nvPr/>
        </p:nvSpPr>
        <p:spPr>
          <a:xfrm>
            <a:off x="274320" y="1965960"/>
            <a:ext cx="4114800" cy="1613668"/>
          </a:xfrm>
          <a:prstGeom prst="rect">
            <a:avLst/>
          </a:prstGeom>
          <a:solidFill>
            <a:srgbClr val="FFFFFF"/>
          </a:solidFill>
          <a:ln/>
          <a:effectLst>
            <a:outerShdw blurRad="50800" dist="25400" dir="8100000" algn="bl" rotWithShape="0">
              <a:srgbClr val="000000">
                <a:alpha val="12000"/>
              </a:srgbClr>
            </a:outerShdw>
          </a:effectLst>
        </p:spPr>
      </p:sp>
      <p:sp>
        <p:nvSpPr>
          <p:cNvPr id="10" name="Shape 8"/>
          <p:cNvSpPr/>
          <p:nvPr/>
        </p:nvSpPr>
        <p:spPr>
          <a:xfrm>
            <a:off x="274320" y="1965960"/>
            <a:ext cx="54864" cy="1463040"/>
          </a:xfrm>
          <a:prstGeom prst="rect">
            <a:avLst/>
          </a:prstGeom>
          <a:solidFill>
            <a:srgbClr val="3B82F6"/>
          </a:solidFill>
          <a:ln/>
        </p:spPr>
      </p:sp>
      <p:sp>
        <p:nvSpPr>
          <p:cNvPr id="11" name="Text 9"/>
          <p:cNvSpPr/>
          <p:nvPr/>
        </p:nvSpPr>
        <p:spPr>
          <a:xfrm>
            <a:off x="438912" y="202082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1. Feature DETECTOR</a:t>
            </a:r>
            <a:endParaRPr lang="en-US" sz="1200" dirty="0"/>
          </a:p>
        </p:txBody>
      </p:sp>
      <p:sp>
        <p:nvSpPr>
          <p:cNvPr id="12" name="Text 10"/>
          <p:cNvSpPr/>
          <p:nvPr/>
        </p:nvSpPr>
        <p:spPr>
          <a:xfrm>
            <a:off x="438912" y="2313432"/>
            <a:ext cx="3840480" cy="105156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"WHERE in the image is something interesting?"</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Finds distinctive points (corners, blobs)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Must be REPEATABLE: same point found again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Output: list of (x, y) pixel locations</a:t>
            </a:r>
            <a:endParaRPr lang="en-US" sz="1200" dirty="0"/>
          </a:p>
        </p:txBody>
      </p:sp>
      <p:sp>
        <p:nvSpPr>
          <p:cNvPr id="13" name="Shape 11"/>
          <p:cNvSpPr/>
          <p:nvPr/>
        </p:nvSpPr>
        <p:spPr>
          <a:xfrm>
            <a:off x="4663440" y="1965960"/>
            <a:ext cx="4206240" cy="1613668"/>
          </a:xfrm>
          <a:prstGeom prst="rect">
            <a:avLst/>
          </a:prstGeom>
          <a:solidFill>
            <a:srgbClr val="FFFFFF"/>
          </a:solidFill>
          <a:ln/>
          <a:effectLst>
            <a:outerShdw blurRad="50800" dist="25400" dir="8100000" algn="bl" rotWithShape="0">
              <a:srgbClr val="000000">
                <a:alpha val="12000"/>
              </a:srgbClr>
            </a:outerShdw>
          </a:effectLst>
        </p:spPr>
      </p:sp>
      <p:sp>
        <p:nvSpPr>
          <p:cNvPr id="14" name="Shape 12"/>
          <p:cNvSpPr/>
          <p:nvPr/>
        </p:nvSpPr>
        <p:spPr>
          <a:xfrm>
            <a:off x="4663440" y="1965960"/>
            <a:ext cx="54864" cy="1463040"/>
          </a:xfrm>
          <a:prstGeom prst="rect">
            <a:avLst/>
          </a:prstGeom>
          <a:solidFill>
            <a:srgbClr val="8B5CF6"/>
          </a:solidFill>
          <a:ln/>
        </p:spPr>
      </p:sp>
      <p:sp>
        <p:nvSpPr>
          <p:cNvPr id="15" name="Text 13"/>
          <p:cNvSpPr/>
          <p:nvPr/>
        </p:nvSpPr>
        <p:spPr>
          <a:xfrm>
            <a:off x="4828032" y="202082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2. Feature DESCRIPTOR</a:t>
            </a:r>
            <a:endParaRPr lang="en-US" sz="1200" dirty="0"/>
          </a:p>
        </p:txBody>
      </p:sp>
      <p:sp>
        <p:nvSpPr>
          <p:cNvPr id="16" name="Text 14"/>
          <p:cNvSpPr/>
          <p:nvPr/>
        </p:nvSpPr>
        <p:spPr>
          <a:xfrm>
            <a:off x="4828032" y="2313432"/>
            <a:ext cx="3931920" cy="105156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"WHAT does this point look like?"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Compact summary of the patch around the point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Must be DISTINCTIVE: different points have different descriptors. Same point has similar descriptors.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Output: vector of numbers (32–128 values)</a:t>
            </a:r>
            <a:endParaRPr lang="en-US" sz="1200" dirty="0"/>
          </a:p>
        </p:txBody>
      </p:sp>
      <p:sp>
        <p:nvSpPr>
          <p:cNvPr id="17" name="Text 15"/>
          <p:cNvSpPr/>
          <p:nvPr/>
        </p:nvSpPr>
        <p:spPr>
          <a:xfrm>
            <a:off x="365760" y="3657600"/>
            <a:ext cx="8412480" cy="274320"/>
          </a:xfrm>
          <a:prstGeom prst="rect">
            <a:avLst/>
          </a:prstGeom>
          <a:noFill/>
          <a:ln/>
        </p:spPr>
        <p:txBody>
          <a:bodyPr wrap="square" rtlCol="0" anchor="ctr"/>
          <a:lstStyle/>
          <a:p>
            <a:pPr marL="0" indent="0">
              <a:buNone/>
            </a:pPr>
            <a:r>
              <a:rPr lang="en-US" sz="1200" b="1" dirty="0">
                <a:solidFill>
                  <a:srgbClr val="1F2937"/>
                </a:solidFill>
                <a:latin typeface="Arial" pitchFamily="34" charset="0"/>
                <a:ea typeface="Arial" pitchFamily="34" charset="-122"/>
                <a:cs typeface="Arial" pitchFamily="34" charset="-120"/>
              </a:rPr>
              <a:t>Detector = WHERE.  Descriptor = WHAT.  Together = you can find and re-recognize features.</a:t>
            </a:r>
            <a:endParaRPr lang="en-US" sz="1200" dirty="0"/>
          </a:p>
        </p:txBody>
      </p:sp>
      <p:pic>
        <p:nvPicPr>
          <p:cNvPr id="21" name="Picture 20">
            <a:extLst>
              <a:ext uri="{FF2B5EF4-FFF2-40B4-BE49-F238E27FC236}">
                <a16:creationId xmlns:a16="http://schemas.microsoft.com/office/drawing/2014/main" id="{18E26393-D424-4F5E-9640-978BEDCAB24F}"/>
              </a:ext>
            </a:extLst>
          </p:cNvPr>
          <p:cNvPicPr>
            <a:picLocks noChangeAspect="1"/>
          </p:cNvPicPr>
          <p:nvPr/>
        </p:nvPicPr>
        <p:blipFill>
          <a:blip r:embed="rId3"/>
          <a:stretch>
            <a:fillRect/>
          </a:stretch>
        </p:blipFill>
        <p:spPr>
          <a:xfrm>
            <a:off x="182880" y="3904918"/>
            <a:ext cx="2027841" cy="122029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Corner Detection: Harris &amp; Shi-Tomasi</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14</a:t>
            </a:r>
            <a:endParaRPr lang="en-US" sz="800" dirty="0"/>
          </a:p>
        </p:txBody>
      </p:sp>
      <p:sp>
        <p:nvSpPr>
          <p:cNvPr id="5" name="Text 3"/>
          <p:cNvSpPr/>
          <p:nvPr/>
        </p:nvSpPr>
        <p:spPr>
          <a:xfrm>
            <a:off x="365760" y="685800"/>
            <a:ext cx="8412480" cy="274320"/>
          </a:xfrm>
          <a:prstGeom prst="rect">
            <a:avLst/>
          </a:prstGeom>
          <a:noFill/>
          <a:ln/>
        </p:spPr>
        <p:txBody>
          <a:bodyPr wrap="square" rtlCol="0" anchor="ctr"/>
          <a:lstStyle/>
          <a:p>
            <a:pPr marL="0" indent="0">
              <a:buNone/>
            </a:pPr>
            <a:r>
              <a:rPr lang="en-US" sz="1300" dirty="0">
                <a:solidFill>
                  <a:srgbClr val="1F2937"/>
                </a:solidFill>
                <a:latin typeface="Arial" pitchFamily="34" charset="0"/>
                <a:ea typeface="Arial" pitchFamily="34" charset="-122"/>
                <a:cs typeface="Arial" pitchFamily="34" charset="-120"/>
              </a:rPr>
              <a:t>A corner is where the image changes significantly in BOTH x and y directions.</a:t>
            </a:r>
            <a:endParaRPr lang="en-US" sz="1300" dirty="0"/>
          </a:p>
        </p:txBody>
      </p:sp>
      <p:sp>
        <p:nvSpPr>
          <p:cNvPr id="6" name="Shape 4"/>
          <p:cNvSpPr/>
          <p:nvPr/>
        </p:nvSpPr>
        <p:spPr>
          <a:xfrm>
            <a:off x="274320" y="1051560"/>
            <a:ext cx="2743200" cy="2011680"/>
          </a:xfrm>
          <a:prstGeom prst="rect">
            <a:avLst/>
          </a:prstGeom>
          <a:solidFill>
            <a:srgbClr val="FFFFFF"/>
          </a:solidFill>
          <a:ln/>
          <a:effectLst>
            <a:outerShdw blurRad="50800" dist="25400" dir="8100000" algn="bl" rotWithShape="0">
              <a:srgbClr val="000000">
                <a:alpha val="12000"/>
              </a:srgbClr>
            </a:outerShdw>
          </a:effectLst>
        </p:spPr>
      </p:sp>
      <p:sp>
        <p:nvSpPr>
          <p:cNvPr id="7" name="Shape 5"/>
          <p:cNvSpPr/>
          <p:nvPr/>
        </p:nvSpPr>
        <p:spPr>
          <a:xfrm>
            <a:off x="274320" y="1051560"/>
            <a:ext cx="54864" cy="2011680"/>
          </a:xfrm>
          <a:prstGeom prst="rect">
            <a:avLst/>
          </a:prstGeom>
          <a:solidFill>
            <a:srgbClr val="EF4444"/>
          </a:solidFill>
          <a:ln/>
        </p:spPr>
      </p:sp>
      <p:sp>
        <p:nvSpPr>
          <p:cNvPr id="8" name="Text 6"/>
          <p:cNvSpPr/>
          <p:nvPr/>
        </p:nvSpPr>
        <p:spPr>
          <a:xfrm>
            <a:off x="438912" y="1106424"/>
            <a:ext cx="24688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Flat Region</a:t>
            </a:r>
            <a:endParaRPr lang="en-US" sz="1200" dirty="0"/>
          </a:p>
        </p:txBody>
      </p:sp>
      <p:sp>
        <p:nvSpPr>
          <p:cNvPr id="9" name="Text 7"/>
          <p:cNvSpPr/>
          <p:nvPr/>
        </p:nvSpPr>
        <p:spPr>
          <a:xfrm>
            <a:off x="438912" y="1399032"/>
            <a:ext cx="2468880" cy="160020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No change in any direction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Sliding a window → same everywhere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NOT a feature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Example: white wall</a:t>
            </a:r>
            <a:endParaRPr lang="en-US" sz="1200" dirty="0"/>
          </a:p>
        </p:txBody>
      </p:sp>
      <p:sp>
        <p:nvSpPr>
          <p:cNvPr id="10" name="Shape 8"/>
          <p:cNvSpPr/>
          <p:nvPr/>
        </p:nvSpPr>
        <p:spPr>
          <a:xfrm>
            <a:off x="3200400" y="1051560"/>
            <a:ext cx="2743200" cy="2011680"/>
          </a:xfrm>
          <a:prstGeom prst="rect">
            <a:avLst/>
          </a:prstGeom>
          <a:solidFill>
            <a:srgbClr val="FFFFFF"/>
          </a:solidFill>
          <a:ln/>
          <a:effectLst>
            <a:outerShdw blurRad="50800" dist="25400" dir="8100000" algn="bl" rotWithShape="0">
              <a:srgbClr val="000000">
                <a:alpha val="12000"/>
              </a:srgbClr>
            </a:outerShdw>
          </a:effectLst>
        </p:spPr>
      </p:sp>
      <p:sp>
        <p:nvSpPr>
          <p:cNvPr id="11" name="Shape 9"/>
          <p:cNvSpPr/>
          <p:nvPr/>
        </p:nvSpPr>
        <p:spPr>
          <a:xfrm>
            <a:off x="3200400" y="1051560"/>
            <a:ext cx="54864" cy="2011680"/>
          </a:xfrm>
          <a:prstGeom prst="rect">
            <a:avLst/>
          </a:prstGeom>
          <a:solidFill>
            <a:srgbClr val="F59E0B"/>
          </a:solidFill>
          <a:ln/>
        </p:spPr>
      </p:sp>
      <p:sp>
        <p:nvSpPr>
          <p:cNvPr id="12" name="Text 10"/>
          <p:cNvSpPr/>
          <p:nvPr/>
        </p:nvSpPr>
        <p:spPr>
          <a:xfrm>
            <a:off x="3364992" y="1106424"/>
            <a:ext cx="24688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Edge</a:t>
            </a:r>
            <a:endParaRPr lang="en-US" sz="1200" dirty="0"/>
          </a:p>
        </p:txBody>
      </p:sp>
      <p:sp>
        <p:nvSpPr>
          <p:cNvPr id="13" name="Text 11"/>
          <p:cNvSpPr/>
          <p:nvPr/>
        </p:nvSpPr>
        <p:spPr>
          <a:xfrm>
            <a:off x="3364992" y="1399032"/>
            <a:ext cx="2468880" cy="160020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Change in ONE direction only</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Sliding along edge → no change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Ambiguous — can't pinpoint location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Example: corridor wall line</a:t>
            </a:r>
            <a:endParaRPr lang="en-US" sz="1200" dirty="0"/>
          </a:p>
        </p:txBody>
      </p:sp>
      <p:sp>
        <p:nvSpPr>
          <p:cNvPr id="14" name="Shape 12"/>
          <p:cNvSpPr/>
          <p:nvPr/>
        </p:nvSpPr>
        <p:spPr>
          <a:xfrm>
            <a:off x="6126480" y="1051560"/>
            <a:ext cx="2743200" cy="2011680"/>
          </a:xfrm>
          <a:prstGeom prst="rect">
            <a:avLst/>
          </a:prstGeom>
          <a:solidFill>
            <a:srgbClr val="FFFFFF"/>
          </a:solidFill>
          <a:ln/>
          <a:effectLst>
            <a:outerShdw blurRad="50800" dist="25400" dir="8100000" algn="bl" rotWithShape="0">
              <a:srgbClr val="000000">
                <a:alpha val="12000"/>
              </a:srgbClr>
            </a:outerShdw>
          </a:effectLst>
        </p:spPr>
      </p:sp>
      <p:sp>
        <p:nvSpPr>
          <p:cNvPr id="15" name="Shape 13"/>
          <p:cNvSpPr/>
          <p:nvPr/>
        </p:nvSpPr>
        <p:spPr>
          <a:xfrm>
            <a:off x="6126480" y="1051560"/>
            <a:ext cx="54864" cy="2011680"/>
          </a:xfrm>
          <a:prstGeom prst="rect">
            <a:avLst/>
          </a:prstGeom>
          <a:solidFill>
            <a:srgbClr val="10B981"/>
          </a:solidFill>
          <a:ln/>
        </p:spPr>
      </p:sp>
      <p:sp>
        <p:nvSpPr>
          <p:cNvPr id="16" name="Text 14"/>
          <p:cNvSpPr/>
          <p:nvPr/>
        </p:nvSpPr>
        <p:spPr>
          <a:xfrm>
            <a:off x="6291072" y="1106424"/>
            <a:ext cx="24688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Corner ✓</a:t>
            </a:r>
            <a:endParaRPr lang="en-US" sz="1200" dirty="0"/>
          </a:p>
        </p:txBody>
      </p:sp>
      <p:sp>
        <p:nvSpPr>
          <p:cNvPr id="17" name="Text 15"/>
          <p:cNvSpPr/>
          <p:nvPr/>
        </p:nvSpPr>
        <p:spPr>
          <a:xfrm>
            <a:off x="6291072" y="1399032"/>
            <a:ext cx="2468880" cy="160020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Change in BOTH directions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Sliding window → changes everywhere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UNIQUE location — can pinpoint!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Example: door frame corner</a:t>
            </a:r>
            <a:endParaRPr lang="en-US" sz="1200" dirty="0"/>
          </a:p>
        </p:txBody>
      </p:sp>
      <p:sp>
        <p:nvSpPr>
          <p:cNvPr id="18" name="Shape 16"/>
          <p:cNvSpPr/>
          <p:nvPr/>
        </p:nvSpPr>
        <p:spPr>
          <a:xfrm>
            <a:off x="274320" y="3291839"/>
            <a:ext cx="8595360" cy="1737361"/>
          </a:xfrm>
          <a:prstGeom prst="rect">
            <a:avLst/>
          </a:prstGeom>
          <a:solidFill>
            <a:srgbClr val="EBF5FF"/>
          </a:solidFill>
          <a:ln/>
          <a:effectLst>
            <a:outerShdw blurRad="50800" dist="25400" dir="8100000" algn="bl" rotWithShape="0">
              <a:srgbClr val="000000">
                <a:alpha val="12000"/>
              </a:srgbClr>
            </a:outerShdw>
          </a:effectLst>
        </p:spPr>
      </p:sp>
      <p:sp>
        <p:nvSpPr>
          <p:cNvPr id="19" name="Text 17"/>
          <p:cNvSpPr/>
          <p:nvPr/>
        </p:nvSpPr>
        <p:spPr>
          <a:xfrm>
            <a:off x="411480" y="3337559"/>
            <a:ext cx="8321040" cy="1188721"/>
          </a:xfrm>
          <a:prstGeom prst="rect">
            <a:avLst/>
          </a:prstGeom>
          <a:noFill/>
          <a:ln/>
        </p:spPr>
        <p:txBody>
          <a:bodyPr wrap="square" rtlCol="0" anchor="ctr"/>
          <a:lstStyle/>
          <a:p>
            <a:pPr marL="0" indent="0">
              <a:buNone/>
            </a:pPr>
            <a:r>
              <a:rPr lang="en-US" sz="1200" dirty="0"/>
              <a:t>Harris and Shi-</a:t>
            </a:r>
            <a:r>
              <a:rPr lang="en-US" sz="1200" dirty="0" err="1"/>
              <a:t>Tomasi</a:t>
            </a:r>
            <a:r>
              <a:rPr lang="en-US" sz="1200" dirty="0"/>
              <a:t> are classic corner detection algorithms used in computer vision to find “interest points” in an image (points where intensity changes strongly in two directions).</a:t>
            </a:r>
          </a:p>
          <a:p>
            <a:pPr marL="0" indent="0">
              <a:buNone/>
            </a:pPr>
            <a:endParaRPr lang="en-US" sz="1200" dirty="0"/>
          </a:p>
          <a:p>
            <a:pPr marL="0" indent="0">
              <a:buNone/>
            </a:pPr>
            <a:r>
              <a:rPr lang="en-US" sz="1200" dirty="0"/>
              <a:t>Harris detects corners; Shi-</a:t>
            </a:r>
            <a:r>
              <a:rPr lang="en-US" sz="1200" dirty="0" err="1"/>
              <a:t>Tomasi</a:t>
            </a:r>
            <a:r>
              <a:rPr lang="en-US" sz="1200" dirty="0"/>
              <a:t> is a refined version</a:t>
            </a:r>
          </a:p>
          <a:p>
            <a:pPr marL="0" indent="0">
              <a:buNone/>
            </a:pPr>
            <a:r>
              <a:rPr lang="en-US" sz="1200" dirty="0"/>
              <a:t> that selects the </a:t>
            </a:r>
            <a:r>
              <a:rPr lang="en-US" sz="1200" b="1" dirty="0"/>
              <a:t>best corners for tracking</a:t>
            </a:r>
            <a:r>
              <a:rPr lang="en-US" sz="1200" dirty="0"/>
              <a:t>.</a:t>
            </a:r>
          </a:p>
        </p:txBody>
      </p:sp>
      <p:pic>
        <p:nvPicPr>
          <p:cNvPr id="22" name="Picture 21">
            <a:extLst>
              <a:ext uri="{FF2B5EF4-FFF2-40B4-BE49-F238E27FC236}">
                <a16:creationId xmlns:a16="http://schemas.microsoft.com/office/drawing/2014/main" id="{B255A349-4314-4539-8031-B4912A5520C9}"/>
              </a:ext>
            </a:extLst>
          </p:cNvPr>
          <p:cNvPicPr>
            <a:picLocks noChangeAspect="1"/>
          </p:cNvPicPr>
          <p:nvPr/>
        </p:nvPicPr>
        <p:blipFill>
          <a:blip r:embed="rId3"/>
          <a:stretch>
            <a:fillRect/>
          </a:stretch>
        </p:blipFill>
        <p:spPr>
          <a:xfrm>
            <a:off x="5363441" y="3712463"/>
            <a:ext cx="3506239" cy="131673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Feature Descriptors: ORB and BRIEF</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15</a:t>
            </a:r>
            <a:endParaRPr lang="en-US" sz="800" dirty="0"/>
          </a:p>
        </p:txBody>
      </p:sp>
      <p:pic>
        <p:nvPicPr>
          <p:cNvPr id="15" name="Picture 14">
            <a:extLst>
              <a:ext uri="{FF2B5EF4-FFF2-40B4-BE49-F238E27FC236}">
                <a16:creationId xmlns:a16="http://schemas.microsoft.com/office/drawing/2014/main" id="{DF466755-0EDE-4C56-92F7-C2891EA9EC1E}"/>
              </a:ext>
            </a:extLst>
          </p:cNvPr>
          <p:cNvPicPr>
            <a:picLocks noChangeAspect="1"/>
          </p:cNvPicPr>
          <p:nvPr/>
        </p:nvPicPr>
        <p:blipFill>
          <a:blip r:embed="rId3"/>
          <a:stretch>
            <a:fillRect/>
          </a:stretch>
        </p:blipFill>
        <p:spPr>
          <a:xfrm>
            <a:off x="92133" y="710964"/>
            <a:ext cx="8959733" cy="3742164"/>
          </a:xfrm>
          <a:prstGeom prst="rect">
            <a:avLst/>
          </a:prstGeom>
        </p:spPr>
      </p:pic>
    </p:spTree>
    <p:extLst>
      <p:ext uri="{BB962C8B-B14F-4D97-AF65-F5344CB8AC3E}">
        <p14:creationId xmlns:p14="http://schemas.microsoft.com/office/powerpoint/2010/main" val="11008496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Feature Descriptors: ORB and BRIEF</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15</a:t>
            </a:r>
            <a:endParaRPr lang="en-US" sz="800" dirty="0"/>
          </a:p>
        </p:txBody>
      </p:sp>
      <p:sp>
        <p:nvSpPr>
          <p:cNvPr id="5" name="Shape 3"/>
          <p:cNvSpPr/>
          <p:nvPr/>
        </p:nvSpPr>
        <p:spPr>
          <a:xfrm>
            <a:off x="274320" y="731520"/>
            <a:ext cx="4114800" cy="2194560"/>
          </a:xfrm>
          <a:prstGeom prst="rect">
            <a:avLst/>
          </a:prstGeom>
          <a:solidFill>
            <a:srgbClr val="FFFFFF"/>
          </a:solidFill>
          <a:ln/>
          <a:effectLst>
            <a:outerShdw blurRad="50800" dist="25400" dir="8100000" algn="bl" rotWithShape="0">
              <a:srgbClr val="000000">
                <a:alpha val="12000"/>
              </a:srgbClr>
            </a:outerShdw>
          </a:effectLst>
        </p:spPr>
      </p:sp>
      <p:sp>
        <p:nvSpPr>
          <p:cNvPr id="6" name="Shape 4"/>
          <p:cNvSpPr/>
          <p:nvPr/>
        </p:nvSpPr>
        <p:spPr>
          <a:xfrm>
            <a:off x="274320" y="731520"/>
            <a:ext cx="54864" cy="2194560"/>
          </a:xfrm>
          <a:prstGeom prst="rect">
            <a:avLst/>
          </a:prstGeom>
          <a:solidFill>
            <a:srgbClr val="3B82F6"/>
          </a:solidFill>
          <a:ln/>
        </p:spPr>
      </p:sp>
      <p:sp>
        <p:nvSpPr>
          <p:cNvPr id="7" name="Text 5"/>
          <p:cNvSpPr/>
          <p:nvPr/>
        </p:nvSpPr>
        <p:spPr>
          <a:xfrm>
            <a:off x="438912" y="78638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ORB (Oriented FAST and Rotated BRIEF)</a:t>
            </a:r>
            <a:endParaRPr lang="en-US" sz="1200" dirty="0"/>
          </a:p>
        </p:txBody>
      </p:sp>
      <p:sp>
        <p:nvSpPr>
          <p:cNvPr id="8" name="Text 6"/>
          <p:cNvSpPr/>
          <p:nvPr/>
        </p:nvSpPr>
        <p:spPr>
          <a:xfrm>
            <a:off x="438912" y="1078992"/>
            <a:ext cx="3840480" cy="178308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The go-to descriptor for real-time robotics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Detector: FAST corners (very fast!)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 orientation from intensity centroid</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Descriptor: rotated BRIEF (binary, 256 bits)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Matching: Hamming distance (XOR — super fast)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Free, open-source, no patents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Used in: ORB-SLAM, ROS feature matchers</a:t>
            </a:r>
            <a:endParaRPr lang="en-US" sz="1200" dirty="0"/>
          </a:p>
        </p:txBody>
      </p:sp>
      <p:sp>
        <p:nvSpPr>
          <p:cNvPr id="9" name="Shape 7"/>
          <p:cNvSpPr/>
          <p:nvPr/>
        </p:nvSpPr>
        <p:spPr>
          <a:xfrm>
            <a:off x="4663440" y="731520"/>
            <a:ext cx="4206240" cy="2194560"/>
          </a:xfrm>
          <a:prstGeom prst="rect">
            <a:avLst/>
          </a:prstGeom>
          <a:solidFill>
            <a:srgbClr val="FFFFFF"/>
          </a:solidFill>
          <a:ln/>
          <a:effectLst>
            <a:outerShdw blurRad="50800" dist="25400" dir="8100000" algn="bl" rotWithShape="0">
              <a:srgbClr val="000000">
                <a:alpha val="12000"/>
              </a:srgbClr>
            </a:outerShdw>
          </a:effectLst>
        </p:spPr>
      </p:sp>
      <p:sp>
        <p:nvSpPr>
          <p:cNvPr id="10" name="Shape 8"/>
          <p:cNvSpPr/>
          <p:nvPr/>
        </p:nvSpPr>
        <p:spPr>
          <a:xfrm>
            <a:off x="4663440" y="731520"/>
            <a:ext cx="54864" cy="2194560"/>
          </a:xfrm>
          <a:prstGeom prst="rect">
            <a:avLst/>
          </a:prstGeom>
          <a:solidFill>
            <a:srgbClr val="8B5CF6"/>
          </a:solidFill>
          <a:ln/>
        </p:spPr>
      </p:sp>
      <p:sp>
        <p:nvSpPr>
          <p:cNvPr id="11" name="Text 9"/>
          <p:cNvSpPr/>
          <p:nvPr/>
        </p:nvSpPr>
        <p:spPr>
          <a:xfrm>
            <a:off x="4828032" y="78638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SIFT (Scale-Invariant Feature Transform)</a:t>
            </a:r>
            <a:endParaRPr lang="en-US" sz="1200" dirty="0"/>
          </a:p>
        </p:txBody>
      </p:sp>
      <p:sp>
        <p:nvSpPr>
          <p:cNvPr id="12" name="Text 10"/>
          <p:cNvSpPr/>
          <p:nvPr/>
        </p:nvSpPr>
        <p:spPr>
          <a:xfrm>
            <a:off x="4828032" y="1078992"/>
            <a:ext cx="3931920" cy="178308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Most robust descriptor (gold standard)</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Scale-invariant: finds features at multiple sizes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Rotation-invariant: works from any angle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Descriptor: 128-float vector (gradient histogram)</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Matching: L2 distance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Slower than ORB, more memory</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Was patented until 2020, now free in OpenCV</a:t>
            </a:r>
            <a:endParaRPr lang="en-US" sz="1200" dirty="0"/>
          </a:p>
        </p:txBody>
      </p:sp>
      <p:sp>
        <p:nvSpPr>
          <p:cNvPr id="13" name="Text 11"/>
          <p:cNvSpPr/>
          <p:nvPr/>
        </p:nvSpPr>
        <p:spPr>
          <a:xfrm>
            <a:off x="274320" y="2980944"/>
            <a:ext cx="8412480" cy="457200"/>
          </a:xfrm>
          <a:prstGeom prst="rect">
            <a:avLst/>
          </a:prstGeom>
          <a:noFill/>
          <a:ln/>
        </p:spPr>
        <p:txBody>
          <a:bodyPr wrap="square" rtlCol="0" anchor="ctr"/>
          <a:lstStyle/>
          <a:p>
            <a:pPr marL="0" indent="0">
              <a:buNone/>
            </a:pPr>
            <a:r>
              <a:rPr lang="en-US" sz="1200" b="1" dirty="0">
                <a:solidFill>
                  <a:srgbClr val="10B981"/>
                </a:solidFill>
                <a:latin typeface="Arial" pitchFamily="34" charset="0"/>
                <a:ea typeface="Arial" pitchFamily="34" charset="-122"/>
                <a:cs typeface="Arial" pitchFamily="34" charset="-120"/>
              </a:rPr>
              <a:t>For real-time robotics: use ORB (fast, free, good enough).
</a:t>
            </a:r>
            <a:r>
              <a:rPr lang="en-US" sz="1200" dirty="0">
                <a:solidFill>
                  <a:srgbClr val="1F2937"/>
                </a:solidFill>
                <a:latin typeface="Arial" pitchFamily="34" charset="0"/>
                <a:ea typeface="Arial" pitchFamily="34" charset="-122"/>
                <a:cs typeface="Arial" pitchFamily="34" charset="-120"/>
              </a:rPr>
              <a:t>For offline processing or when accuracy matters most: use SIFT.</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From MOD-04 to MOD-07: Features Revisited</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16</a:t>
            </a:r>
            <a:endParaRPr lang="en-US" sz="800" dirty="0"/>
          </a:p>
        </p:txBody>
      </p:sp>
      <p:sp>
        <p:nvSpPr>
          <p:cNvPr id="5" name="Text 3"/>
          <p:cNvSpPr/>
          <p:nvPr/>
        </p:nvSpPr>
        <p:spPr>
          <a:xfrm>
            <a:off x="365760" y="685800"/>
            <a:ext cx="8412480" cy="274320"/>
          </a:xfrm>
          <a:prstGeom prst="rect">
            <a:avLst/>
          </a:prstGeom>
          <a:noFill/>
          <a:ln/>
        </p:spPr>
        <p:txBody>
          <a:bodyPr wrap="square" rtlCol="0" anchor="ctr"/>
          <a:lstStyle/>
          <a:p>
            <a:pPr marL="0" indent="0">
              <a:buNone/>
            </a:pPr>
            <a:r>
              <a:rPr lang="en-US" sz="1300" b="1" dirty="0">
                <a:solidFill>
                  <a:srgbClr val="0F4C81"/>
                </a:solidFill>
                <a:latin typeface="Arial" pitchFamily="34" charset="0"/>
                <a:ea typeface="Arial" pitchFamily="34" charset="-122"/>
                <a:cs typeface="Arial" pitchFamily="34" charset="-120"/>
              </a:rPr>
              <a:t>MOD-04 showed WHAT features each sensor extracts. MOD-07 shows HOW and WHY.</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82880" y="1051560"/>
          <a:ext cx="8778240" cy="1371600"/>
        </p:xfrm>
        <a:graphic>
          <a:graphicData uri="http://schemas.openxmlformats.org/drawingml/2006/table">
            <a:tbl>
              <a:tblPr/>
              <a:tblGrid>
                <a:gridCol w="118872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0">
                <a:tc>
                  <a:txBody>
                    <a:bodyPr/>
                    <a:lstStyle/>
                    <a:p>
                      <a:pPr marL="0" indent="0">
                        <a:buNone/>
                      </a:pPr>
                      <a:r>
                        <a:rPr lang="en-US" sz="1200" b="1" dirty="0">
                          <a:solidFill>
                            <a:srgbClr val="FFFFFF"/>
                          </a:solidFill>
                          <a:latin typeface="Arial" pitchFamily="34" charset="0"/>
                          <a:ea typeface="Arial" pitchFamily="34" charset="-122"/>
                          <a:cs typeface="Arial" pitchFamily="34" charset="-120"/>
                        </a:rPr>
                        <a:t>Sensor</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4C81"/>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MOD-04: What features</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4C81"/>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MOD-07: How to extract them</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4C81"/>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Used by</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4C81"/>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000000"/>
                          </a:solidFill>
                          <a:latin typeface="Arial" pitchFamily="34" charset="0"/>
                          <a:ea typeface="Arial" pitchFamily="34" charset="-122"/>
                          <a:cs typeface="Arial" pitchFamily="34" charset="-120"/>
                        </a:rPr>
                        <a:t>Camera</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Corner points, edges</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Harris/ORB detector + descriptor</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VO, SLAM, localization</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dirty="0">
                          <a:solidFill>
                            <a:srgbClr val="000000"/>
                          </a:solidFill>
                          <a:latin typeface="Arial" pitchFamily="34" charset="0"/>
                          <a:ea typeface="Arial" pitchFamily="34" charset="-122"/>
                          <a:cs typeface="Arial" pitchFamily="34" charset="-120"/>
                        </a:rPr>
                        <a:t>LiDAR</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Lines, corners, planes</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Hough transform, RANSAC plane fit</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Scan matching, SLAM</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00" dirty="0">
                          <a:solidFill>
                            <a:srgbClr val="000000"/>
                          </a:solidFill>
                          <a:latin typeface="Arial" pitchFamily="34" charset="0"/>
                          <a:ea typeface="Arial" pitchFamily="34" charset="-122"/>
                          <a:cs typeface="Arial" pitchFamily="34" charset="-120"/>
                        </a:rPr>
                        <a:t>Depth camera</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Dense 3D points</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Ground removal, clustering</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Obstacle detection</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dirty="0">
                          <a:solidFill>
                            <a:srgbClr val="000000"/>
                          </a:solidFill>
                          <a:latin typeface="Arial" pitchFamily="34" charset="0"/>
                          <a:ea typeface="Arial" pitchFamily="34" charset="-122"/>
                          <a:cs typeface="Arial" pitchFamily="34" charset="-120"/>
                        </a:rPr>
                        <a:t>Radar</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Doppler velocity</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CFAR detection, clustering</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200" dirty="0">
                          <a:solidFill>
                            <a:srgbClr val="000000"/>
                          </a:solidFill>
                          <a:latin typeface="Arial" pitchFamily="34" charset="0"/>
                          <a:ea typeface="Arial" pitchFamily="34" charset="-122"/>
                          <a:cs typeface="Arial" pitchFamily="34" charset="-120"/>
                        </a:rPr>
                        <a:t>Moving object detection</a:t>
                      </a:r>
                      <a:endParaRPr lang="en-US" sz="1200" dirty="0">
                        <a:latin typeface="Arial" charset="0"/>
                        <a:ea typeface="Arial" charset="0"/>
                        <a:cs typeface="Arial" charset="0"/>
                      </a:endParaRPr>
                    </a:p>
                  </a:txBody>
                  <a:tcP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365760" y="3200400"/>
            <a:ext cx="8412480" cy="274320"/>
          </a:xfrm>
          <a:prstGeom prst="rect">
            <a:avLst/>
          </a:prstGeom>
          <a:noFill/>
          <a:ln/>
        </p:spPr>
        <p:txBody>
          <a:bodyPr wrap="square" rtlCol="0" anchor="ctr"/>
          <a:lstStyle/>
          <a:p>
            <a:pPr marL="0" indent="0">
              <a:buNone/>
            </a:pPr>
            <a:r>
              <a:rPr lang="en-US" sz="1200" b="1" i="1" dirty="0">
                <a:solidFill>
                  <a:srgbClr val="1F2937"/>
                </a:solidFill>
                <a:latin typeface="Arial" pitchFamily="34" charset="0"/>
                <a:ea typeface="Arial" pitchFamily="34" charset="-122"/>
                <a:cs typeface="Arial" pitchFamily="34" charset="-120"/>
              </a:rPr>
              <a:t>MOD-04 = "sensors can extract features." MOD-07 = "here's the algorithm to actually do it."</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F4C81"/>
        </a:solidFill>
        <a:effectLst/>
      </p:bgPr>
    </p:bg>
    <p:spTree>
      <p:nvGrpSpPr>
        <p:cNvPr id="1" name=""/>
        <p:cNvGrpSpPr/>
        <p:nvPr/>
      </p:nvGrpSpPr>
      <p:grpSpPr>
        <a:xfrm>
          <a:off x="0" y="0"/>
          <a:ext cx="0" cy="0"/>
          <a:chOff x="0" y="0"/>
          <a:chExt cx="0" cy="0"/>
        </a:xfrm>
      </p:grpSpPr>
      <p:sp>
        <p:nvSpPr>
          <p:cNvPr id="2" name="Text 0"/>
          <p:cNvSpPr/>
          <p:nvPr/>
        </p:nvSpPr>
        <p:spPr>
          <a:xfrm>
            <a:off x="548640" y="914400"/>
            <a:ext cx="4572000" cy="457200"/>
          </a:xfrm>
          <a:prstGeom prst="rect">
            <a:avLst/>
          </a:prstGeom>
          <a:noFill/>
          <a:ln/>
        </p:spPr>
        <p:txBody>
          <a:bodyPr wrap="square" rtlCol="0" anchor="ctr"/>
          <a:lstStyle/>
          <a:p>
            <a:pPr marL="0" indent="0">
              <a:buNone/>
            </a:pPr>
            <a:r>
              <a:rPr lang="en-US" sz="1400" b="1" kern="0" spc="300" dirty="0">
                <a:solidFill>
                  <a:srgbClr val="F59E0B"/>
                </a:solidFill>
                <a:latin typeface="Arial" pitchFamily="34" charset="0"/>
                <a:ea typeface="Arial" pitchFamily="34" charset="-122"/>
                <a:cs typeface="Arial" pitchFamily="34" charset="-120"/>
              </a:rPr>
              <a:t>BLOCK E</a:t>
            </a:r>
            <a:endParaRPr lang="en-US" sz="1400" dirty="0"/>
          </a:p>
        </p:txBody>
      </p:sp>
      <p:sp>
        <p:nvSpPr>
          <p:cNvPr id="3" name="Text 1"/>
          <p:cNvSpPr/>
          <p:nvPr/>
        </p:nvSpPr>
        <p:spPr>
          <a:xfrm>
            <a:off x="548640" y="1371600"/>
            <a:ext cx="7772400" cy="1280160"/>
          </a:xfrm>
          <a:prstGeom prst="rect">
            <a:avLst/>
          </a:prstGeom>
          <a:noFill/>
          <a:ln/>
        </p:spPr>
        <p:txBody>
          <a:bodyPr wrap="square" rtlCol="0" anchor="ctr"/>
          <a:lstStyle/>
          <a:p>
            <a:pPr marL="0" indent="0">
              <a:buNone/>
            </a:pPr>
            <a:r>
              <a:rPr lang="en-US" sz="2800" b="1" dirty="0">
                <a:solidFill>
                  <a:srgbClr val="FFFFFF"/>
                </a:solidFill>
                <a:latin typeface="Arial" pitchFamily="34" charset="0"/>
                <a:ea typeface="Arial" pitchFamily="34" charset="-122"/>
                <a:cs typeface="Arial" pitchFamily="34" charset="-120"/>
              </a:rPr>
              <a:t>Feature Matching &amp;</a:t>
            </a:r>
            <a:endParaRPr lang="en-US" sz="2800" dirty="0"/>
          </a:p>
          <a:p>
            <a:pPr marL="0" indent="0">
              <a:buNone/>
            </a:pPr>
            <a:r>
              <a:rPr lang="en-US" sz="2800" b="1" dirty="0">
                <a:solidFill>
                  <a:srgbClr val="FFFFFF"/>
                </a:solidFill>
                <a:latin typeface="Arial" pitchFamily="34" charset="0"/>
                <a:ea typeface="Arial" pitchFamily="34" charset="-122"/>
                <a:cs typeface="Arial" pitchFamily="34" charset="-120"/>
              </a:rPr>
              <a:t>Geometric Verification</a:t>
            </a:r>
            <a:endParaRPr lang="en-US" sz="2800" dirty="0"/>
          </a:p>
        </p:txBody>
      </p:sp>
      <p:sp>
        <p:nvSpPr>
          <p:cNvPr id="4" name="Text 2"/>
          <p:cNvSpPr/>
          <p:nvPr/>
        </p:nvSpPr>
        <p:spPr>
          <a:xfrm>
            <a:off x="548640" y="2743200"/>
            <a:ext cx="7315200" cy="731520"/>
          </a:xfrm>
          <a:prstGeom prst="rect">
            <a:avLst/>
          </a:prstGeom>
          <a:noFill/>
          <a:ln/>
        </p:spPr>
        <p:txBody>
          <a:bodyPr wrap="square" rtlCol="0" anchor="ctr"/>
          <a:lstStyle/>
          <a:p>
            <a:pPr marL="0" indent="0">
              <a:buNone/>
            </a:pPr>
            <a:r>
              <a:rPr lang="en-US" sz="1500" dirty="0">
                <a:solidFill>
                  <a:srgbClr val="B0C4DE"/>
                </a:solidFill>
                <a:latin typeface="Arial" pitchFamily="34" charset="0"/>
                <a:ea typeface="Arial" pitchFamily="34" charset="-122"/>
                <a:cs typeface="Arial" pitchFamily="34" charset="-120"/>
              </a:rPr>
              <a:t>Finding the same feature again — and rejecting impostors</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PBL: 200 Matches, 40 Are Wrong</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18</a:t>
            </a:r>
            <a:endParaRPr lang="en-US" sz="800" dirty="0"/>
          </a:p>
        </p:txBody>
      </p:sp>
      <p:sp>
        <p:nvSpPr>
          <p:cNvPr id="5" name="Shape 3"/>
          <p:cNvSpPr/>
          <p:nvPr/>
        </p:nvSpPr>
        <p:spPr>
          <a:xfrm>
            <a:off x="274320" y="685800"/>
            <a:ext cx="8595360" cy="731520"/>
          </a:xfrm>
          <a:prstGeom prst="rect">
            <a:avLst/>
          </a:prstGeom>
          <a:solidFill>
            <a:srgbClr val="FFFBEB"/>
          </a:solidFill>
          <a:ln/>
          <a:effectLst>
            <a:outerShdw blurRad="50800" dist="25400" dir="8100000" algn="bl" rotWithShape="0">
              <a:srgbClr val="000000">
                <a:alpha val="12000"/>
              </a:srgbClr>
            </a:outerShdw>
          </a:effectLst>
        </p:spPr>
      </p:sp>
      <p:sp>
        <p:nvSpPr>
          <p:cNvPr id="6" name="Shape 4"/>
          <p:cNvSpPr/>
          <p:nvPr/>
        </p:nvSpPr>
        <p:spPr>
          <a:xfrm>
            <a:off x="274320" y="685800"/>
            <a:ext cx="54864" cy="731520"/>
          </a:xfrm>
          <a:prstGeom prst="rect">
            <a:avLst/>
          </a:prstGeom>
          <a:solidFill>
            <a:srgbClr val="F97316"/>
          </a:solidFill>
          <a:ln/>
        </p:spPr>
      </p:sp>
      <p:sp>
        <p:nvSpPr>
          <p:cNvPr id="7" name="Text 5"/>
          <p:cNvSpPr/>
          <p:nvPr/>
        </p:nvSpPr>
        <p:spPr>
          <a:xfrm>
            <a:off x="457200" y="758952"/>
            <a:ext cx="8275320" cy="594360"/>
          </a:xfrm>
          <a:prstGeom prst="rect">
            <a:avLst/>
          </a:prstGeom>
          <a:noFill/>
          <a:ln/>
        </p:spPr>
        <p:txBody>
          <a:bodyPr wrap="square" rtlCol="0" anchor="t"/>
          <a:lstStyle/>
          <a:p>
            <a:pPr marL="0" indent="0">
              <a:buNone/>
            </a:pPr>
            <a:r>
              <a:rPr lang="en-US" sz="1200" b="1" dirty="0">
                <a:solidFill>
                  <a:srgbClr val="F97316"/>
                </a:solidFill>
                <a:latin typeface="Arial" pitchFamily="34" charset="0"/>
                <a:ea typeface="Arial" pitchFamily="34" charset="-122"/>
                <a:cs typeface="Arial" pitchFamily="34" charset="-120"/>
              </a:rPr>
              <a:t>PBL SCENARIO: </a:t>
            </a:r>
            <a:r>
              <a:rPr lang="en-US" sz="1200" dirty="0">
                <a:solidFill>
                  <a:srgbClr val="1F2937"/>
                </a:solidFill>
                <a:latin typeface="Arial" pitchFamily="34" charset="0"/>
                <a:ea typeface="Arial" pitchFamily="34" charset="-122"/>
                <a:cs typeface="Arial" pitchFamily="34" charset="-120"/>
              </a:rPr>
              <a:t>MediBot matched 200 ORB features between the current image and the previous one. But the hospital floor has repetitive tiles — 40 matches are WRONG (they matched similar-looking but different tiles). If we use wrong matches, the position estimate will be garbage.</a:t>
            </a:r>
            <a:endParaRPr lang="en-US" sz="1200" dirty="0"/>
          </a:p>
        </p:txBody>
      </p:sp>
      <p:sp>
        <p:nvSpPr>
          <p:cNvPr id="8" name="Shape 6"/>
          <p:cNvSpPr/>
          <p:nvPr/>
        </p:nvSpPr>
        <p:spPr>
          <a:xfrm>
            <a:off x="274320" y="1600200"/>
            <a:ext cx="4114800" cy="1828800"/>
          </a:xfrm>
          <a:prstGeom prst="rect">
            <a:avLst/>
          </a:prstGeom>
          <a:solidFill>
            <a:srgbClr val="FFFFFF"/>
          </a:solidFill>
          <a:ln/>
          <a:effectLst>
            <a:outerShdw blurRad="50800" dist="25400" dir="8100000" algn="bl" rotWithShape="0">
              <a:srgbClr val="000000">
                <a:alpha val="12000"/>
              </a:srgbClr>
            </a:outerShdw>
          </a:effectLst>
        </p:spPr>
      </p:sp>
      <p:sp>
        <p:nvSpPr>
          <p:cNvPr id="9" name="Shape 7"/>
          <p:cNvSpPr/>
          <p:nvPr/>
        </p:nvSpPr>
        <p:spPr>
          <a:xfrm>
            <a:off x="274320" y="1600200"/>
            <a:ext cx="54864" cy="1828800"/>
          </a:xfrm>
          <a:prstGeom prst="rect">
            <a:avLst/>
          </a:prstGeom>
          <a:solidFill>
            <a:srgbClr val="3B82F6"/>
          </a:solidFill>
          <a:ln/>
        </p:spPr>
      </p:sp>
      <p:sp>
        <p:nvSpPr>
          <p:cNvPr id="10" name="Text 8"/>
          <p:cNvSpPr/>
          <p:nvPr/>
        </p:nvSpPr>
        <p:spPr>
          <a:xfrm>
            <a:off x="438912" y="165506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Step 1: Brute-Force Matching</a:t>
            </a:r>
            <a:endParaRPr lang="en-US" sz="1200" dirty="0"/>
          </a:p>
        </p:txBody>
      </p:sp>
      <p:sp>
        <p:nvSpPr>
          <p:cNvPr id="11" name="Text 9"/>
          <p:cNvSpPr/>
          <p:nvPr/>
        </p:nvSpPr>
        <p:spPr>
          <a:xfrm>
            <a:off x="438912" y="1947672"/>
            <a:ext cx="3840480" cy="14173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For each feature in image A:</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Compute distance to ALL features in image B</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Pick the closest one as the match</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ORB: Hamming distance (count different bits)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SIFT: Euclidean distance</a:t>
            </a:r>
            <a:endParaRPr lang="en-US" sz="1200" dirty="0"/>
          </a:p>
        </p:txBody>
      </p:sp>
      <p:sp>
        <p:nvSpPr>
          <p:cNvPr id="12" name="Shape 10"/>
          <p:cNvSpPr/>
          <p:nvPr/>
        </p:nvSpPr>
        <p:spPr>
          <a:xfrm>
            <a:off x="4663440" y="1600200"/>
            <a:ext cx="4206240" cy="1828800"/>
          </a:xfrm>
          <a:prstGeom prst="rect">
            <a:avLst/>
          </a:prstGeom>
          <a:solidFill>
            <a:srgbClr val="FFFFFF"/>
          </a:solidFill>
          <a:ln/>
          <a:effectLst>
            <a:outerShdw blurRad="50800" dist="25400" dir="8100000" algn="bl" rotWithShape="0">
              <a:srgbClr val="000000">
                <a:alpha val="12000"/>
              </a:srgbClr>
            </a:outerShdw>
          </a:effectLst>
        </p:spPr>
      </p:sp>
      <p:sp>
        <p:nvSpPr>
          <p:cNvPr id="13" name="Shape 11"/>
          <p:cNvSpPr/>
          <p:nvPr/>
        </p:nvSpPr>
        <p:spPr>
          <a:xfrm>
            <a:off x="4663440" y="1600200"/>
            <a:ext cx="54864" cy="1828800"/>
          </a:xfrm>
          <a:prstGeom prst="rect">
            <a:avLst/>
          </a:prstGeom>
          <a:solidFill>
            <a:srgbClr val="10B981"/>
          </a:solidFill>
          <a:ln/>
        </p:spPr>
      </p:sp>
      <p:sp>
        <p:nvSpPr>
          <p:cNvPr id="14" name="Text 12"/>
          <p:cNvSpPr/>
          <p:nvPr/>
        </p:nvSpPr>
        <p:spPr>
          <a:xfrm>
            <a:off x="4828032" y="165506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Step 2: Lowe's Ratio Test</a:t>
            </a:r>
            <a:endParaRPr lang="en-US" sz="1200" dirty="0"/>
          </a:p>
        </p:txBody>
      </p:sp>
      <p:sp>
        <p:nvSpPr>
          <p:cNvPr id="15" name="Text 13"/>
          <p:cNvSpPr/>
          <p:nvPr/>
        </p:nvSpPr>
        <p:spPr>
          <a:xfrm>
            <a:off x="4828032" y="1947672"/>
            <a:ext cx="3931920" cy="14173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For each match, find the 2 closest descriptors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If best_distance / second_best &lt; 0.75: KEEP</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Otherwise: REJECT (ambiguous match)</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Intuition: a good match should be MUCH closer</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to the best than to the second-best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Removes ~50% of wrong matches</a:t>
            </a:r>
            <a:endParaRPr lang="en-US" sz="1200" dirty="0"/>
          </a:p>
        </p:txBody>
      </p:sp>
      <p:sp>
        <p:nvSpPr>
          <p:cNvPr id="16" name="Text 14"/>
          <p:cNvSpPr/>
          <p:nvPr/>
        </p:nvSpPr>
        <p:spPr>
          <a:xfrm>
            <a:off x="365760" y="3657600"/>
            <a:ext cx="8412480" cy="274320"/>
          </a:xfrm>
          <a:prstGeom prst="rect">
            <a:avLst/>
          </a:prstGeom>
          <a:noFill/>
          <a:ln/>
        </p:spPr>
        <p:txBody>
          <a:bodyPr wrap="square" rtlCol="0" anchor="ctr"/>
          <a:lstStyle/>
          <a:p>
            <a:pPr marL="0" indent="0">
              <a:buNone/>
            </a:pPr>
            <a:r>
              <a:rPr lang="en-US" sz="1200" b="1" dirty="0">
                <a:solidFill>
                  <a:srgbClr val="EF4444"/>
                </a:solidFill>
                <a:latin typeface="Arial" pitchFamily="34" charset="0"/>
                <a:ea typeface="Arial" pitchFamily="34" charset="-122"/>
                <a:cs typeface="Arial" pitchFamily="34" charset="-120"/>
              </a:rPr>
              <a:t>After ratio test: ~160 matches remain, but ~20 are STILL wrong. We need geometric verification.</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RANSAC: Rejecting Outliers Geometrically</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19</a:t>
            </a:r>
            <a:endParaRPr lang="en-US" sz="800" dirty="0"/>
          </a:p>
        </p:txBody>
      </p:sp>
      <p:sp>
        <p:nvSpPr>
          <p:cNvPr id="5" name="Text 3"/>
          <p:cNvSpPr/>
          <p:nvPr/>
        </p:nvSpPr>
        <p:spPr>
          <a:xfrm>
            <a:off x="365760" y="685800"/>
            <a:ext cx="8412480" cy="274320"/>
          </a:xfrm>
          <a:prstGeom prst="rect">
            <a:avLst/>
          </a:prstGeom>
          <a:noFill/>
          <a:ln/>
        </p:spPr>
        <p:txBody>
          <a:bodyPr wrap="square" rtlCol="0" anchor="ctr"/>
          <a:lstStyle/>
          <a:p>
            <a:pPr marL="0" indent="0">
              <a:buNone/>
            </a:pPr>
            <a:r>
              <a:rPr lang="en-US" sz="1300" b="1" dirty="0">
                <a:solidFill>
                  <a:srgbClr val="10B981"/>
                </a:solidFill>
                <a:latin typeface="Arial" pitchFamily="34" charset="0"/>
                <a:ea typeface="Arial" pitchFamily="34" charset="-122"/>
                <a:cs typeface="Arial" pitchFamily="34" charset="-120"/>
              </a:rPr>
              <a:t>RANSAC = RANdom SAmple Consensus — the workhorse of robust estimation in robotics.</a:t>
            </a:r>
            <a:endParaRPr lang="en-US" sz="1300" dirty="0"/>
          </a:p>
        </p:txBody>
      </p:sp>
      <p:sp>
        <p:nvSpPr>
          <p:cNvPr id="6" name="Shape 4"/>
          <p:cNvSpPr/>
          <p:nvPr/>
        </p:nvSpPr>
        <p:spPr>
          <a:xfrm>
            <a:off x="274320" y="1051560"/>
            <a:ext cx="2011680" cy="2011680"/>
          </a:xfrm>
          <a:prstGeom prst="rect">
            <a:avLst/>
          </a:prstGeom>
          <a:solidFill>
            <a:srgbClr val="FFFFFF"/>
          </a:solidFill>
          <a:ln/>
          <a:effectLst>
            <a:outerShdw blurRad="50800" dist="25400" dir="8100000" algn="bl" rotWithShape="0">
              <a:srgbClr val="000000">
                <a:alpha val="12000"/>
              </a:srgbClr>
            </a:outerShdw>
          </a:effectLst>
        </p:spPr>
      </p:sp>
      <p:sp>
        <p:nvSpPr>
          <p:cNvPr id="7" name="Shape 5"/>
          <p:cNvSpPr/>
          <p:nvPr/>
        </p:nvSpPr>
        <p:spPr>
          <a:xfrm>
            <a:off x="274320" y="1051560"/>
            <a:ext cx="54864" cy="2011680"/>
          </a:xfrm>
          <a:prstGeom prst="rect">
            <a:avLst/>
          </a:prstGeom>
          <a:solidFill>
            <a:srgbClr val="3B82F6"/>
          </a:solidFill>
          <a:ln/>
        </p:spPr>
      </p:sp>
      <p:sp>
        <p:nvSpPr>
          <p:cNvPr id="8" name="Text 6"/>
          <p:cNvSpPr/>
          <p:nvPr/>
        </p:nvSpPr>
        <p:spPr>
          <a:xfrm>
            <a:off x="438912" y="1106424"/>
            <a:ext cx="173736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1. SAMPLE</a:t>
            </a:r>
            <a:endParaRPr lang="en-US" sz="1200" dirty="0"/>
          </a:p>
        </p:txBody>
      </p:sp>
      <p:sp>
        <p:nvSpPr>
          <p:cNvPr id="9" name="Text 7"/>
          <p:cNvSpPr/>
          <p:nvPr/>
        </p:nvSpPr>
        <p:spPr>
          <a:xfrm>
            <a:off x="438912" y="1399032"/>
            <a:ext cx="1737360" cy="1600200"/>
          </a:xfrm>
          <a:prstGeom prst="rect">
            <a:avLst/>
          </a:prstGeom>
          <a:noFill/>
          <a:ln/>
        </p:spPr>
        <p:txBody>
          <a:bodyPr wrap="square" rtlCol="0" anchor="t"/>
          <a:lstStyle/>
          <a:p>
            <a:pPr>
              <a:buSzPct val="100000"/>
            </a:pPr>
            <a:r>
              <a:rPr lang="en-US" sz="1200" dirty="0">
                <a:solidFill>
                  <a:srgbClr val="6B7280"/>
                </a:solidFill>
                <a:latin typeface="Arial" pitchFamily="34" charset="0"/>
                <a:ea typeface="Arial" pitchFamily="34" charset="-122"/>
                <a:cs typeface="Arial" pitchFamily="34" charset="-120"/>
              </a:rPr>
              <a:t>Pick random minimal</a:t>
            </a:r>
            <a:r>
              <a:rPr lang="en-US" sz="1200" dirty="0"/>
              <a:t> </a:t>
            </a:r>
            <a:r>
              <a:rPr lang="en-US" sz="1200" dirty="0">
                <a:solidFill>
                  <a:srgbClr val="6B7280"/>
                </a:solidFill>
                <a:latin typeface="Arial" pitchFamily="34" charset="0"/>
                <a:ea typeface="Arial" pitchFamily="34" charset="-122"/>
                <a:cs typeface="Arial" pitchFamily="34" charset="-120"/>
              </a:rPr>
              <a:t>set of matches (e.g., 4 for homography)</a:t>
            </a:r>
            <a:endParaRPr lang="en-US" sz="1200" dirty="0"/>
          </a:p>
          <a:p>
            <a:pPr marL="342900" indent="-342900">
              <a:buSzPct val="100000"/>
              <a:buChar char="•"/>
            </a:pPr>
            <a:endParaRPr lang="en-US" sz="1200" dirty="0"/>
          </a:p>
        </p:txBody>
      </p:sp>
      <p:sp>
        <p:nvSpPr>
          <p:cNvPr id="10" name="Shape 8"/>
          <p:cNvSpPr/>
          <p:nvPr/>
        </p:nvSpPr>
        <p:spPr>
          <a:xfrm>
            <a:off x="2423160" y="1051560"/>
            <a:ext cx="2011680" cy="2011680"/>
          </a:xfrm>
          <a:prstGeom prst="rect">
            <a:avLst/>
          </a:prstGeom>
          <a:solidFill>
            <a:srgbClr val="FFFFFF"/>
          </a:solidFill>
          <a:ln/>
          <a:effectLst>
            <a:outerShdw blurRad="50800" dist="25400" dir="8100000" algn="bl" rotWithShape="0">
              <a:srgbClr val="000000">
                <a:alpha val="12000"/>
              </a:srgbClr>
            </a:outerShdw>
          </a:effectLst>
        </p:spPr>
      </p:sp>
      <p:sp>
        <p:nvSpPr>
          <p:cNvPr id="11" name="Shape 9"/>
          <p:cNvSpPr/>
          <p:nvPr/>
        </p:nvSpPr>
        <p:spPr>
          <a:xfrm>
            <a:off x="2423160" y="1051560"/>
            <a:ext cx="54864" cy="2011680"/>
          </a:xfrm>
          <a:prstGeom prst="rect">
            <a:avLst/>
          </a:prstGeom>
          <a:solidFill>
            <a:srgbClr val="8B5CF6"/>
          </a:solidFill>
          <a:ln/>
        </p:spPr>
      </p:sp>
      <p:sp>
        <p:nvSpPr>
          <p:cNvPr id="12" name="Text 10"/>
          <p:cNvSpPr/>
          <p:nvPr/>
        </p:nvSpPr>
        <p:spPr>
          <a:xfrm>
            <a:off x="2587752" y="1106424"/>
            <a:ext cx="173736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2. MODEL</a:t>
            </a:r>
            <a:endParaRPr lang="en-US" sz="1200" dirty="0"/>
          </a:p>
        </p:txBody>
      </p:sp>
      <p:sp>
        <p:nvSpPr>
          <p:cNvPr id="13" name="Text 11"/>
          <p:cNvSpPr/>
          <p:nvPr/>
        </p:nvSpPr>
        <p:spPr>
          <a:xfrm>
            <a:off x="2587752" y="1399032"/>
            <a:ext cx="1737360" cy="1600200"/>
          </a:xfrm>
          <a:prstGeom prst="rect">
            <a:avLst/>
          </a:prstGeom>
          <a:noFill/>
          <a:ln/>
        </p:spPr>
        <p:txBody>
          <a:bodyPr wrap="square" rtlCol="0" anchor="t"/>
          <a:lstStyle/>
          <a:p>
            <a:pPr>
              <a:buSzPct val="100000"/>
            </a:pPr>
            <a:r>
              <a:rPr lang="en-US" sz="1200" dirty="0">
                <a:solidFill>
                  <a:srgbClr val="6B7280"/>
                </a:solidFill>
                <a:latin typeface="Arial" pitchFamily="34" charset="0"/>
                <a:ea typeface="Arial" pitchFamily="34" charset="-122"/>
                <a:cs typeface="Arial" pitchFamily="34" charset="-120"/>
              </a:rPr>
              <a:t>Compute the geometric transformation from these 4 matches (rotation + translation)</a:t>
            </a:r>
            <a:endParaRPr lang="en-US" sz="1200" dirty="0"/>
          </a:p>
        </p:txBody>
      </p:sp>
      <p:sp>
        <p:nvSpPr>
          <p:cNvPr id="14" name="Shape 12"/>
          <p:cNvSpPr/>
          <p:nvPr/>
        </p:nvSpPr>
        <p:spPr>
          <a:xfrm>
            <a:off x="4572000" y="1051560"/>
            <a:ext cx="2011680" cy="2011680"/>
          </a:xfrm>
          <a:prstGeom prst="rect">
            <a:avLst/>
          </a:prstGeom>
          <a:solidFill>
            <a:srgbClr val="FFFFFF"/>
          </a:solidFill>
          <a:ln/>
          <a:effectLst>
            <a:outerShdw blurRad="50800" dist="25400" dir="8100000" algn="bl" rotWithShape="0">
              <a:srgbClr val="000000">
                <a:alpha val="12000"/>
              </a:srgbClr>
            </a:outerShdw>
          </a:effectLst>
        </p:spPr>
      </p:sp>
      <p:sp>
        <p:nvSpPr>
          <p:cNvPr id="15" name="Shape 13"/>
          <p:cNvSpPr/>
          <p:nvPr/>
        </p:nvSpPr>
        <p:spPr>
          <a:xfrm>
            <a:off x="4572000" y="1051560"/>
            <a:ext cx="54864" cy="2011680"/>
          </a:xfrm>
          <a:prstGeom prst="rect">
            <a:avLst/>
          </a:prstGeom>
          <a:solidFill>
            <a:srgbClr val="10B981"/>
          </a:solidFill>
          <a:ln/>
        </p:spPr>
      </p:sp>
      <p:sp>
        <p:nvSpPr>
          <p:cNvPr id="16" name="Text 14"/>
          <p:cNvSpPr/>
          <p:nvPr/>
        </p:nvSpPr>
        <p:spPr>
          <a:xfrm>
            <a:off x="4736592" y="1106424"/>
            <a:ext cx="173736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3. COUNT</a:t>
            </a:r>
            <a:endParaRPr lang="en-US" sz="1200" dirty="0"/>
          </a:p>
        </p:txBody>
      </p:sp>
      <p:sp>
        <p:nvSpPr>
          <p:cNvPr id="17" name="Text 15"/>
          <p:cNvSpPr/>
          <p:nvPr/>
        </p:nvSpPr>
        <p:spPr>
          <a:xfrm>
            <a:off x="4736592" y="1399032"/>
            <a:ext cx="1737360" cy="1600200"/>
          </a:xfrm>
          <a:prstGeom prst="rect">
            <a:avLst/>
          </a:prstGeom>
          <a:noFill/>
          <a:ln/>
        </p:spPr>
        <p:txBody>
          <a:bodyPr wrap="square" rtlCol="0" anchor="t"/>
          <a:lstStyle/>
          <a:p>
            <a:pPr>
              <a:buSzPct val="100000"/>
            </a:pPr>
            <a:r>
              <a:rPr lang="en-US" sz="1200" dirty="0">
                <a:solidFill>
                  <a:srgbClr val="6B7280"/>
                </a:solidFill>
                <a:latin typeface="Arial" pitchFamily="34" charset="0"/>
                <a:ea typeface="Arial" pitchFamily="34" charset="-122"/>
                <a:cs typeface="Arial" pitchFamily="34" charset="-120"/>
              </a:rPr>
              <a:t>How many OTHER matches agree with this transformation?</a:t>
            </a:r>
            <a:endParaRPr lang="en-US" sz="1200" dirty="0"/>
          </a:p>
          <a:p>
            <a:pPr>
              <a:buSzPct val="100000"/>
            </a:pPr>
            <a:endParaRPr lang="en-US" sz="1200" dirty="0">
              <a:solidFill>
                <a:srgbClr val="6B7280"/>
              </a:solidFill>
              <a:latin typeface="Arial" pitchFamily="34" charset="0"/>
              <a:ea typeface="Arial" pitchFamily="34" charset="-122"/>
              <a:cs typeface="Arial" pitchFamily="34" charset="-120"/>
            </a:endParaRPr>
          </a:p>
          <a:p>
            <a:pPr>
              <a:buSzPct val="100000"/>
            </a:pPr>
            <a:r>
              <a:rPr lang="en-US" sz="1200" dirty="0">
                <a:solidFill>
                  <a:srgbClr val="6B7280"/>
                </a:solidFill>
                <a:latin typeface="Arial" pitchFamily="34" charset="0"/>
                <a:ea typeface="Arial" pitchFamily="34" charset="-122"/>
                <a:cs typeface="Arial" pitchFamily="34" charset="-120"/>
              </a:rPr>
              <a:t>These are INLIERS</a:t>
            </a:r>
            <a:endParaRPr lang="en-US" sz="1200" dirty="0"/>
          </a:p>
        </p:txBody>
      </p:sp>
      <p:sp>
        <p:nvSpPr>
          <p:cNvPr id="18" name="Shape 16"/>
          <p:cNvSpPr/>
          <p:nvPr/>
        </p:nvSpPr>
        <p:spPr>
          <a:xfrm>
            <a:off x="6720840" y="1051560"/>
            <a:ext cx="2194560" cy="2011680"/>
          </a:xfrm>
          <a:prstGeom prst="rect">
            <a:avLst/>
          </a:prstGeom>
          <a:solidFill>
            <a:srgbClr val="FFFFFF"/>
          </a:solidFill>
          <a:ln/>
          <a:effectLst>
            <a:outerShdw blurRad="50800" dist="25400" dir="8100000" algn="bl" rotWithShape="0">
              <a:srgbClr val="000000">
                <a:alpha val="12000"/>
              </a:srgbClr>
            </a:outerShdw>
          </a:effectLst>
        </p:spPr>
      </p:sp>
      <p:sp>
        <p:nvSpPr>
          <p:cNvPr id="19" name="Shape 17"/>
          <p:cNvSpPr/>
          <p:nvPr/>
        </p:nvSpPr>
        <p:spPr>
          <a:xfrm>
            <a:off x="6720840" y="1051560"/>
            <a:ext cx="54864" cy="2011680"/>
          </a:xfrm>
          <a:prstGeom prst="rect">
            <a:avLst/>
          </a:prstGeom>
          <a:solidFill>
            <a:srgbClr val="F97316"/>
          </a:solidFill>
          <a:ln/>
        </p:spPr>
      </p:sp>
      <p:sp>
        <p:nvSpPr>
          <p:cNvPr id="20" name="Text 18"/>
          <p:cNvSpPr/>
          <p:nvPr/>
        </p:nvSpPr>
        <p:spPr>
          <a:xfrm>
            <a:off x="6885432" y="1106424"/>
            <a:ext cx="192024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4. REPEAT</a:t>
            </a:r>
            <a:endParaRPr lang="en-US" sz="1200" dirty="0"/>
          </a:p>
        </p:txBody>
      </p:sp>
      <p:sp>
        <p:nvSpPr>
          <p:cNvPr id="21" name="Text 19"/>
          <p:cNvSpPr/>
          <p:nvPr/>
        </p:nvSpPr>
        <p:spPr>
          <a:xfrm>
            <a:off x="6885432" y="1399032"/>
            <a:ext cx="1920240" cy="1600200"/>
          </a:xfrm>
          <a:prstGeom prst="rect">
            <a:avLst/>
          </a:prstGeom>
          <a:noFill/>
          <a:ln/>
        </p:spPr>
        <p:txBody>
          <a:bodyPr wrap="square" rtlCol="0" anchor="t"/>
          <a:lstStyle/>
          <a:p>
            <a:pPr>
              <a:buSzPct val="100000"/>
            </a:pPr>
            <a:r>
              <a:rPr lang="en-US" sz="1200" dirty="0">
                <a:solidFill>
                  <a:srgbClr val="6B7280"/>
                </a:solidFill>
                <a:latin typeface="Arial" pitchFamily="34" charset="0"/>
                <a:ea typeface="Arial" pitchFamily="34" charset="-122"/>
                <a:cs typeface="Arial" pitchFamily="34" charset="-120"/>
              </a:rPr>
              <a:t>Try many random sets</a:t>
            </a:r>
          </a:p>
          <a:p>
            <a:pPr>
              <a:buSzPct val="100000"/>
            </a:pPr>
            <a:endParaRPr lang="en-US" sz="1200" dirty="0">
              <a:solidFill>
                <a:srgbClr val="6B7280"/>
              </a:solidFill>
              <a:latin typeface="Arial" pitchFamily="34" charset="0"/>
              <a:ea typeface="Arial" pitchFamily="34" charset="-122"/>
              <a:cs typeface="Arial" pitchFamily="34" charset="-120"/>
            </a:endParaRPr>
          </a:p>
          <a:p>
            <a:pPr>
              <a:buSzPct val="100000"/>
            </a:pPr>
            <a:r>
              <a:rPr lang="en-US" sz="1200" dirty="0">
                <a:solidFill>
                  <a:srgbClr val="6B7280"/>
                </a:solidFill>
                <a:latin typeface="Arial" pitchFamily="34" charset="0"/>
                <a:ea typeface="Arial" pitchFamily="34" charset="-122"/>
                <a:cs typeface="Arial" pitchFamily="34" charset="-120"/>
              </a:rPr>
              <a:t>Keep the model with the MOST inliers</a:t>
            </a:r>
            <a:endParaRPr lang="en-US" sz="1200" dirty="0"/>
          </a:p>
          <a:p>
            <a:pPr>
              <a:buSzPct val="100000"/>
            </a:pPr>
            <a:endParaRPr lang="en-US" sz="1200" dirty="0">
              <a:solidFill>
                <a:srgbClr val="6B7280"/>
              </a:solidFill>
              <a:latin typeface="Arial" pitchFamily="34" charset="0"/>
              <a:ea typeface="Arial" pitchFamily="34" charset="-122"/>
              <a:cs typeface="Arial" pitchFamily="34" charset="-120"/>
            </a:endParaRPr>
          </a:p>
          <a:p>
            <a:pPr>
              <a:buSzPct val="100000"/>
            </a:pPr>
            <a:r>
              <a:rPr lang="en-US" sz="1200" dirty="0">
                <a:solidFill>
                  <a:srgbClr val="6B7280"/>
                </a:solidFill>
                <a:latin typeface="Arial" pitchFamily="34" charset="0"/>
                <a:ea typeface="Arial" pitchFamily="34" charset="-122"/>
                <a:cs typeface="Arial" pitchFamily="34" charset="-120"/>
              </a:rPr>
              <a:t>Outliers are rejected!</a:t>
            </a:r>
            <a:endParaRPr lang="en-US" sz="1200" dirty="0"/>
          </a:p>
        </p:txBody>
      </p:sp>
      <p:sp>
        <p:nvSpPr>
          <p:cNvPr id="22" name="Text 20"/>
          <p:cNvSpPr/>
          <p:nvPr/>
        </p:nvSpPr>
        <p:spPr>
          <a:xfrm>
            <a:off x="365760" y="3291840"/>
            <a:ext cx="8412480" cy="274320"/>
          </a:xfrm>
          <a:prstGeom prst="rect">
            <a:avLst/>
          </a:prstGeom>
          <a:noFill/>
          <a:ln/>
        </p:spPr>
        <p:txBody>
          <a:bodyPr wrap="square" rtlCol="0" anchor="ctr"/>
          <a:lstStyle/>
          <a:p>
            <a:pPr marL="0" indent="0">
              <a:buNone/>
            </a:pPr>
            <a:r>
              <a:rPr lang="en-US" sz="1200" b="1" dirty="0">
                <a:solidFill>
                  <a:srgbClr val="10B981"/>
                </a:solidFill>
                <a:latin typeface="Arial" pitchFamily="34" charset="0"/>
                <a:ea typeface="Arial" pitchFamily="34" charset="-122"/>
                <a:cs typeface="Arial" pitchFamily="34" charset="-120"/>
              </a:rPr>
              <a:t>After RANSAC: ~140 inlier matches, ~20 outliers identified and REMOVED. Robust result!</a:t>
            </a:r>
            <a:endParaRPr lang="en-US" sz="1200" dirty="0"/>
          </a:p>
        </p:txBody>
      </p:sp>
      <p:sp>
        <p:nvSpPr>
          <p:cNvPr id="23" name="Text 21"/>
          <p:cNvSpPr/>
          <p:nvPr/>
        </p:nvSpPr>
        <p:spPr>
          <a:xfrm>
            <a:off x="365760" y="3657600"/>
            <a:ext cx="8412480" cy="274320"/>
          </a:xfrm>
          <a:prstGeom prst="rect">
            <a:avLst/>
          </a:prstGeom>
          <a:noFill/>
          <a:ln/>
        </p:spPr>
        <p:txBody>
          <a:bodyPr wrap="square" rtlCol="0" anchor="ctr"/>
          <a:lstStyle/>
          <a:p>
            <a:pPr marL="0" indent="0">
              <a:buNone/>
            </a:pPr>
            <a:r>
              <a:rPr lang="en-US" sz="1200" i="1" dirty="0">
                <a:solidFill>
                  <a:srgbClr val="6B7280"/>
                </a:solidFill>
                <a:latin typeface="Arial" pitchFamily="34" charset="0"/>
                <a:ea typeface="Arial" pitchFamily="34" charset="-122"/>
                <a:cs typeface="Arial" pitchFamily="34" charset="-120"/>
              </a:rPr>
              <a:t>You saw RANSAC in MOD-04 (plane fitting in point clouds). Same algorithm, different application.</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0F4C81"/>
        </a:solidFill>
        <a:effectLst/>
      </p:bgPr>
    </p:bg>
    <p:spTree>
      <p:nvGrpSpPr>
        <p:cNvPr id="1" name=""/>
        <p:cNvGrpSpPr/>
        <p:nvPr/>
      </p:nvGrpSpPr>
      <p:grpSpPr>
        <a:xfrm>
          <a:off x="0" y="0"/>
          <a:ext cx="0" cy="0"/>
          <a:chOff x="0" y="0"/>
          <a:chExt cx="0" cy="0"/>
        </a:xfrm>
      </p:grpSpPr>
      <p:sp>
        <p:nvSpPr>
          <p:cNvPr id="2" name="Text 0"/>
          <p:cNvSpPr/>
          <p:nvPr/>
        </p:nvSpPr>
        <p:spPr>
          <a:xfrm>
            <a:off x="548640" y="914400"/>
            <a:ext cx="4572000" cy="457200"/>
          </a:xfrm>
          <a:prstGeom prst="rect">
            <a:avLst/>
          </a:prstGeom>
          <a:noFill/>
          <a:ln/>
        </p:spPr>
        <p:txBody>
          <a:bodyPr wrap="square" rtlCol="0" anchor="ctr"/>
          <a:lstStyle/>
          <a:p>
            <a:pPr marL="0" indent="0">
              <a:buNone/>
            </a:pPr>
            <a:r>
              <a:rPr lang="en-US" sz="1400" b="1" kern="0" spc="300" dirty="0">
                <a:solidFill>
                  <a:srgbClr val="F59E0B"/>
                </a:solidFill>
                <a:latin typeface="Arial" pitchFamily="34" charset="0"/>
                <a:ea typeface="Arial" pitchFamily="34" charset="-122"/>
                <a:cs typeface="Arial" pitchFamily="34" charset="-120"/>
              </a:rPr>
              <a:t>BLOCK F</a:t>
            </a:r>
            <a:endParaRPr lang="en-US" sz="1400" dirty="0"/>
          </a:p>
        </p:txBody>
      </p:sp>
      <p:sp>
        <p:nvSpPr>
          <p:cNvPr id="3" name="Text 1"/>
          <p:cNvSpPr/>
          <p:nvPr/>
        </p:nvSpPr>
        <p:spPr>
          <a:xfrm>
            <a:off x="548640" y="1371600"/>
            <a:ext cx="7772400" cy="1280160"/>
          </a:xfrm>
          <a:prstGeom prst="rect">
            <a:avLst/>
          </a:prstGeom>
          <a:noFill/>
          <a:ln/>
        </p:spPr>
        <p:txBody>
          <a:bodyPr wrap="square" rtlCol="0" anchor="ctr"/>
          <a:lstStyle/>
          <a:p>
            <a:pPr marL="0" indent="0">
              <a:buNone/>
            </a:pPr>
            <a:r>
              <a:rPr lang="en-US" sz="2800" b="1" dirty="0">
                <a:solidFill>
                  <a:srgbClr val="FFFFFF"/>
                </a:solidFill>
                <a:latin typeface="Arial" pitchFamily="34" charset="0"/>
                <a:ea typeface="Arial" pitchFamily="34" charset="-122"/>
                <a:cs typeface="Arial" pitchFamily="34" charset="-120"/>
              </a:rPr>
              <a:t>Visual Odometry</a:t>
            </a:r>
            <a:endParaRPr lang="en-US" sz="2800" dirty="0"/>
          </a:p>
        </p:txBody>
      </p:sp>
      <p:sp>
        <p:nvSpPr>
          <p:cNvPr id="4" name="Text 2"/>
          <p:cNvSpPr/>
          <p:nvPr/>
        </p:nvSpPr>
        <p:spPr>
          <a:xfrm>
            <a:off x="548640" y="2743200"/>
            <a:ext cx="7315200" cy="731520"/>
          </a:xfrm>
          <a:prstGeom prst="rect">
            <a:avLst/>
          </a:prstGeom>
          <a:noFill/>
          <a:ln/>
        </p:spPr>
        <p:txBody>
          <a:bodyPr wrap="square" rtlCol="0" anchor="ctr"/>
          <a:lstStyle/>
          <a:p>
            <a:pPr marL="0" indent="0">
              <a:buNone/>
            </a:pPr>
            <a:r>
              <a:rPr lang="en-US" sz="1500" dirty="0">
                <a:solidFill>
                  <a:srgbClr val="B0C4DE"/>
                </a:solidFill>
                <a:latin typeface="Arial" pitchFamily="34" charset="0"/>
                <a:ea typeface="Arial" pitchFamily="34" charset="-122"/>
                <a:cs typeface="Arial" pitchFamily="34" charset="-120"/>
              </a:rPr>
              <a:t>Estimating robot motion from camera images alone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PBL: Elevator Doors Closed — Only Camera Works</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21</a:t>
            </a:r>
            <a:endParaRPr lang="en-US" sz="800" dirty="0"/>
          </a:p>
        </p:txBody>
      </p:sp>
      <p:sp>
        <p:nvSpPr>
          <p:cNvPr id="5" name="Shape 3"/>
          <p:cNvSpPr/>
          <p:nvPr/>
        </p:nvSpPr>
        <p:spPr>
          <a:xfrm>
            <a:off x="274320" y="685800"/>
            <a:ext cx="8595360" cy="731520"/>
          </a:xfrm>
          <a:prstGeom prst="rect">
            <a:avLst/>
          </a:prstGeom>
          <a:solidFill>
            <a:srgbClr val="FFFBEB"/>
          </a:solidFill>
          <a:ln/>
          <a:effectLst>
            <a:outerShdw blurRad="50800" dist="25400" dir="8100000" algn="bl" rotWithShape="0">
              <a:srgbClr val="000000">
                <a:alpha val="12000"/>
              </a:srgbClr>
            </a:outerShdw>
          </a:effectLst>
        </p:spPr>
      </p:sp>
      <p:sp>
        <p:nvSpPr>
          <p:cNvPr id="6" name="Shape 4"/>
          <p:cNvSpPr/>
          <p:nvPr/>
        </p:nvSpPr>
        <p:spPr>
          <a:xfrm>
            <a:off x="274320" y="685800"/>
            <a:ext cx="54864" cy="731520"/>
          </a:xfrm>
          <a:prstGeom prst="rect">
            <a:avLst/>
          </a:prstGeom>
          <a:solidFill>
            <a:srgbClr val="F97316"/>
          </a:solidFill>
          <a:ln/>
        </p:spPr>
      </p:sp>
      <p:sp>
        <p:nvSpPr>
          <p:cNvPr id="7" name="Text 5"/>
          <p:cNvSpPr/>
          <p:nvPr/>
        </p:nvSpPr>
        <p:spPr>
          <a:xfrm>
            <a:off x="457200" y="758952"/>
            <a:ext cx="8275320" cy="594360"/>
          </a:xfrm>
          <a:prstGeom prst="rect">
            <a:avLst/>
          </a:prstGeom>
          <a:noFill/>
          <a:ln/>
        </p:spPr>
        <p:txBody>
          <a:bodyPr wrap="square" rtlCol="0" anchor="t"/>
          <a:lstStyle/>
          <a:p>
            <a:pPr marL="0" indent="0">
              <a:buNone/>
            </a:pPr>
            <a:r>
              <a:rPr lang="en-US" sz="1200" b="1" dirty="0">
                <a:solidFill>
                  <a:srgbClr val="F97316"/>
                </a:solidFill>
                <a:latin typeface="Arial" pitchFamily="34" charset="0"/>
                <a:ea typeface="Arial" pitchFamily="34" charset="-122"/>
                <a:cs typeface="Arial" pitchFamily="34" charset="-120"/>
              </a:rPr>
              <a:t>PBL SCENARIO: </a:t>
            </a:r>
            <a:r>
              <a:rPr lang="en-US" sz="1200" dirty="0">
                <a:solidFill>
                  <a:srgbClr val="1F2937"/>
                </a:solidFill>
                <a:latin typeface="Arial" pitchFamily="34" charset="0"/>
                <a:ea typeface="Arial" pitchFamily="34" charset="-122"/>
                <a:cs typeface="Arial" pitchFamily="34" charset="-120"/>
              </a:rPr>
              <a:t>MediBot is in the elevator. LiDAR is blocked (enclosed box). Encoders are slipping on the smooth floor. But the camera can see the elevator walls and buttons. Can it estimate how MediBot is moving using ONLY image changes?</a:t>
            </a:r>
            <a:endParaRPr lang="en-US" sz="1200" dirty="0"/>
          </a:p>
        </p:txBody>
      </p:sp>
      <p:sp>
        <p:nvSpPr>
          <p:cNvPr id="8" name="Text 6"/>
          <p:cNvSpPr/>
          <p:nvPr/>
        </p:nvSpPr>
        <p:spPr>
          <a:xfrm>
            <a:off x="365760" y="1600200"/>
            <a:ext cx="8229600" cy="274320"/>
          </a:xfrm>
          <a:prstGeom prst="rect">
            <a:avLst/>
          </a:prstGeom>
          <a:noFill/>
          <a:ln/>
        </p:spPr>
        <p:txBody>
          <a:bodyPr wrap="square" rtlCol="0" anchor="ctr"/>
          <a:lstStyle/>
          <a:p>
            <a:pPr marL="0" indent="0">
              <a:buNone/>
            </a:pPr>
            <a:r>
              <a:rPr lang="en-US" sz="1400" b="1" dirty="0">
                <a:solidFill>
                  <a:srgbClr val="0F4C81"/>
                </a:solidFill>
                <a:latin typeface="Arial" pitchFamily="34" charset="0"/>
                <a:ea typeface="Arial" pitchFamily="34" charset="-122"/>
                <a:cs typeface="Arial" pitchFamily="34" charset="-120"/>
              </a:rPr>
              <a:t>Visual Odometry (VO): estimate robot motion from sequences of images.</a:t>
            </a:r>
            <a:endParaRPr lang="en-US" sz="1400" dirty="0"/>
          </a:p>
        </p:txBody>
      </p:sp>
      <p:sp>
        <p:nvSpPr>
          <p:cNvPr id="9" name="Shape 7"/>
          <p:cNvSpPr/>
          <p:nvPr/>
        </p:nvSpPr>
        <p:spPr>
          <a:xfrm>
            <a:off x="457200" y="2011680"/>
            <a:ext cx="1828800" cy="731520"/>
          </a:xfrm>
          <a:prstGeom prst="rect">
            <a:avLst/>
          </a:prstGeom>
          <a:solidFill>
            <a:srgbClr val="3B82F6"/>
          </a:solidFill>
          <a:ln/>
          <a:effectLst>
            <a:outerShdw blurRad="50800" dist="25400" dir="8100000" algn="bl" rotWithShape="0">
              <a:srgbClr val="000000">
                <a:alpha val="12000"/>
              </a:srgbClr>
            </a:outerShdw>
          </a:effectLst>
        </p:spPr>
      </p:sp>
      <p:sp>
        <p:nvSpPr>
          <p:cNvPr id="10" name="Text 8"/>
          <p:cNvSpPr/>
          <p:nvPr/>
        </p:nvSpPr>
        <p:spPr>
          <a:xfrm>
            <a:off x="457200" y="2029968"/>
            <a:ext cx="1828800" cy="69494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Detect</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Features</a:t>
            </a:r>
            <a:endParaRPr lang="en-US" sz="1200" dirty="0"/>
          </a:p>
        </p:txBody>
      </p:sp>
      <p:sp>
        <p:nvSpPr>
          <p:cNvPr id="11" name="Text 9"/>
          <p:cNvSpPr/>
          <p:nvPr/>
        </p:nvSpPr>
        <p:spPr>
          <a:xfrm>
            <a:off x="2286000" y="2148840"/>
            <a:ext cx="274320" cy="457200"/>
          </a:xfrm>
          <a:prstGeom prst="rect">
            <a:avLst/>
          </a:prstGeom>
          <a:noFill/>
          <a:ln/>
        </p:spPr>
        <p:txBody>
          <a:bodyPr wrap="square" rtlCol="0" anchor="ctr"/>
          <a:lstStyle/>
          <a:p>
            <a:pPr marL="0" indent="0">
              <a:buNone/>
            </a:pPr>
            <a:r>
              <a:rPr lang="en-US" sz="1600" dirty="0">
                <a:solidFill>
                  <a:srgbClr val="6B7280"/>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560320" y="2011680"/>
            <a:ext cx="1828800" cy="731520"/>
          </a:xfrm>
          <a:prstGeom prst="rect">
            <a:avLst/>
          </a:prstGeom>
          <a:solidFill>
            <a:srgbClr val="8B5CF6"/>
          </a:solidFill>
          <a:ln/>
          <a:effectLst>
            <a:outerShdw blurRad="50800" dist="25400" dir="8100000" algn="bl" rotWithShape="0">
              <a:srgbClr val="000000">
                <a:alpha val="12000"/>
              </a:srgbClr>
            </a:outerShdw>
          </a:effectLst>
        </p:spPr>
      </p:sp>
      <p:sp>
        <p:nvSpPr>
          <p:cNvPr id="13" name="Text 11"/>
          <p:cNvSpPr/>
          <p:nvPr/>
        </p:nvSpPr>
        <p:spPr>
          <a:xfrm>
            <a:off x="2560320" y="2029968"/>
            <a:ext cx="1828800" cy="69494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Match Across</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Frames</a:t>
            </a:r>
            <a:endParaRPr lang="en-US" sz="1200" dirty="0"/>
          </a:p>
        </p:txBody>
      </p:sp>
      <p:sp>
        <p:nvSpPr>
          <p:cNvPr id="14" name="Text 12"/>
          <p:cNvSpPr/>
          <p:nvPr/>
        </p:nvSpPr>
        <p:spPr>
          <a:xfrm>
            <a:off x="4389120" y="2148840"/>
            <a:ext cx="274320" cy="457200"/>
          </a:xfrm>
          <a:prstGeom prst="rect">
            <a:avLst/>
          </a:prstGeom>
          <a:noFill/>
          <a:ln/>
        </p:spPr>
        <p:txBody>
          <a:bodyPr wrap="square" rtlCol="0" anchor="ctr"/>
          <a:lstStyle/>
          <a:p>
            <a:pPr marL="0" indent="0">
              <a:buNone/>
            </a:pPr>
            <a:r>
              <a:rPr lang="en-US" sz="1600" dirty="0">
                <a:solidFill>
                  <a:srgbClr val="6B7280"/>
                </a:solidFill>
                <a:latin typeface="Arial" pitchFamily="34" charset="0"/>
                <a:ea typeface="Arial" pitchFamily="34" charset="-122"/>
                <a:cs typeface="Arial" pitchFamily="34" charset="-120"/>
              </a:rPr>
              <a:t>→</a:t>
            </a:r>
            <a:endParaRPr lang="en-US" sz="1600" dirty="0"/>
          </a:p>
        </p:txBody>
      </p:sp>
      <p:sp>
        <p:nvSpPr>
          <p:cNvPr id="15" name="Shape 13"/>
          <p:cNvSpPr/>
          <p:nvPr/>
        </p:nvSpPr>
        <p:spPr>
          <a:xfrm>
            <a:off x="4663440" y="2011680"/>
            <a:ext cx="1828800" cy="731520"/>
          </a:xfrm>
          <a:prstGeom prst="rect">
            <a:avLst/>
          </a:prstGeom>
          <a:solidFill>
            <a:srgbClr val="10B981"/>
          </a:solidFill>
          <a:ln/>
          <a:effectLst>
            <a:outerShdw blurRad="50800" dist="25400" dir="8100000" algn="bl" rotWithShape="0">
              <a:srgbClr val="000000">
                <a:alpha val="12000"/>
              </a:srgbClr>
            </a:outerShdw>
          </a:effectLst>
        </p:spPr>
      </p:sp>
      <p:sp>
        <p:nvSpPr>
          <p:cNvPr id="16" name="Text 14"/>
          <p:cNvSpPr/>
          <p:nvPr/>
        </p:nvSpPr>
        <p:spPr>
          <a:xfrm>
            <a:off x="4663440" y="2029968"/>
            <a:ext cx="1828800" cy="69494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Estimate</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Motion (R, t)</a:t>
            </a:r>
            <a:endParaRPr lang="en-US" sz="1200" dirty="0"/>
          </a:p>
        </p:txBody>
      </p:sp>
      <p:sp>
        <p:nvSpPr>
          <p:cNvPr id="17" name="Text 15"/>
          <p:cNvSpPr/>
          <p:nvPr/>
        </p:nvSpPr>
        <p:spPr>
          <a:xfrm>
            <a:off x="6492240" y="2148840"/>
            <a:ext cx="274320" cy="457200"/>
          </a:xfrm>
          <a:prstGeom prst="rect">
            <a:avLst/>
          </a:prstGeom>
          <a:noFill/>
          <a:ln/>
        </p:spPr>
        <p:txBody>
          <a:bodyPr wrap="square" rtlCol="0" anchor="ctr"/>
          <a:lstStyle/>
          <a:p>
            <a:pPr marL="0" indent="0">
              <a:buNone/>
            </a:pPr>
            <a:r>
              <a:rPr lang="en-US" sz="1600" dirty="0">
                <a:solidFill>
                  <a:srgbClr val="6B7280"/>
                </a:solidFill>
                <a:latin typeface="Arial" pitchFamily="34" charset="0"/>
                <a:ea typeface="Arial" pitchFamily="34" charset="-122"/>
                <a:cs typeface="Arial" pitchFamily="34" charset="-120"/>
              </a:rPr>
              <a:t>→</a:t>
            </a:r>
            <a:endParaRPr lang="en-US" sz="1600" dirty="0"/>
          </a:p>
        </p:txBody>
      </p:sp>
      <p:sp>
        <p:nvSpPr>
          <p:cNvPr id="18" name="Shape 16"/>
          <p:cNvSpPr/>
          <p:nvPr/>
        </p:nvSpPr>
        <p:spPr>
          <a:xfrm>
            <a:off x="6766560" y="2011680"/>
            <a:ext cx="1828800" cy="731520"/>
          </a:xfrm>
          <a:prstGeom prst="rect">
            <a:avLst/>
          </a:prstGeom>
          <a:solidFill>
            <a:srgbClr val="F97316"/>
          </a:solidFill>
          <a:ln/>
          <a:effectLst>
            <a:outerShdw blurRad="50800" dist="25400" dir="8100000" algn="bl" rotWithShape="0">
              <a:srgbClr val="000000">
                <a:alpha val="12000"/>
              </a:srgbClr>
            </a:outerShdw>
          </a:effectLst>
        </p:spPr>
      </p:sp>
      <p:sp>
        <p:nvSpPr>
          <p:cNvPr id="19" name="Text 17"/>
          <p:cNvSpPr/>
          <p:nvPr/>
        </p:nvSpPr>
        <p:spPr>
          <a:xfrm>
            <a:off x="6766560" y="2029968"/>
            <a:ext cx="1828800" cy="69494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Integrate</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Trajectory</a:t>
            </a:r>
            <a:endParaRPr lang="en-US" sz="1200" dirty="0"/>
          </a:p>
        </p:txBody>
      </p:sp>
      <mc:AlternateContent xmlns:mc="http://schemas.openxmlformats.org/markup-compatibility/2006">
        <mc:Choice xmlns:a14="http://schemas.microsoft.com/office/drawing/2010/main" Requires="a14">
          <p:sp>
            <p:nvSpPr>
              <p:cNvPr id="20" name="Text 18"/>
              <p:cNvSpPr/>
              <p:nvPr/>
            </p:nvSpPr>
            <p:spPr>
              <a:xfrm>
                <a:off x="365760" y="3017520"/>
                <a:ext cx="8412480" cy="1440180"/>
              </a:xfrm>
              <a:prstGeom prst="rect">
                <a:avLst/>
              </a:prstGeom>
              <a:noFill/>
              <a:ln/>
            </p:spPr>
            <p:txBody>
              <a:bodyPr wrap="square" rtlCol="0" anchor="ctr"/>
              <a:lstStyle/>
              <a:p>
                <a:pPr marL="0" indent="0">
                  <a:buNone/>
                </a:pPr>
                <a:r>
                  <a:rPr lang="en-US" sz="1200" dirty="0">
                    <a:solidFill>
                      <a:srgbClr val="1F2937"/>
                    </a:solidFill>
                    <a:latin typeface="Arial" pitchFamily="34" charset="0"/>
                    <a:ea typeface="Arial" pitchFamily="34" charset="-122"/>
                    <a:cs typeface="Arial" pitchFamily="34" charset="-120"/>
                  </a:rPr>
                  <a:t>1. Detect features in frame k and k+1 (ORB, Harris)
</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2. Match features between frames (brute-force + ratio test + RANSAC)
</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3. Compute the rotation R and translation t between frames (from matched points)
</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4. Chain transformations: </a:t>
                </a:r>
                <a14:m>
                  <m:oMath xmlns:m="http://schemas.openxmlformats.org/officeDocument/2006/math">
                    <m:sSub>
                      <m:sSubPr>
                        <m:ctrlPr>
                          <a:rPr lang="en-US" sz="1200" i="1" dirty="0" smtClean="0">
                            <a:solidFill>
                              <a:srgbClr val="1F2937"/>
                            </a:solidFill>
                            <a:latin typeface="Cambria Math" panose="02040503050406030204" pitchFamily="18" charset="0"/>
                            <a:ea typeface="Arial" pitchFamily="34" charset="-122"/>
                            <a:cs typeface="Arial" pitchFamily="34" charset="-120"/>
                          </a:rPr>
                        </m:ctrlPr>
                      </m:sSubPr>
                      <m:e>
                        <m:r>
                          <a:rPr lang="en-US" sz="1200" i="1" dirty="0" smtClean="0">
                            <a:solidFill>
                              <a:srgbClr val="1F2937"/>
                            </a:solidFill>
                            <a:latin typeface="Cambria Math" panose="02040503050406030204" pitchFamily="18" charset="0"/>
                            <a:ea typeface="Arial" pitchFamily="34" charset="-122"/>
                            <a:cs typeface="Arial" pitchFamily="34" charset="-120"/>
                          </a:rPr>
                          <m:t>𝑇</m:t>
                        </m:r>
                      </m:e>
                      <m:sub>
                        <m:r>
                          <a:rPr lang="en-US" sz="1200" i="1" dirty="0" smtClean="0">
                            <a:solidFill>
                              <a:srgbClr val="1F2937"/>
                            </a:solidFill>
                            <a:latin typeface="Cambria Math" panose="02040503050406030204" pitchFamily="18" charset="0"/>
                            <a:ea typeface="Arial" pitchFamily="34" charset="-122"/>
                            <a:cs typeface="Arial" pitchFamily="34" charset="-120"/>
                          </a:rPr>
                          <m:t>𝑡𝑜𝑡𝑎𝑙</m:t>
                        </m:r>
                      </m:sub>
                    </m:sSub>
                    <m:r>
                      <a:rPr lang="en-US" sz="1200" i="1" dirty="0" smtClean="0">
                        <a:solidFill>
                          <a:srgbClr val="1F2937"/>
                        </a:solidFill>
                        <a:latin typeface="Cambria Math" panose="02040503050406030204" pitchFamily="18" charset="0"/>
                        <a:ea typeface="Arial" pitchFamily="34" charset="-122"/>
                        <a:cs typeface="Arial" pitchFamily="34" charset="-120"/>
                      </a:rPr>
                      <m:t> = </m:t>
                    </m:r>
                    <m:sSub>
                      <m:sSubPr>
                        <m:ctrlPr>
                          <a:rPr lang="en-US" sz="1200" i="1" dirty="0" smtClean="0">
                            <a:solidFill>
                              <a:srgbClr val="1F2937"/>
                            </a:solidFill>
                            <a:latin typeface="Cambria Math" panose="02040503050406030204" pitchFamily="18" charset="0"/>
                            <a:ea typeface="Arial" pitchFamily="34" charset="-122"/>
                            <a:cs typeface="Arial" pitchFamily="34" charset="-120"/>
                          </a:rPr>
                        </m:ctrlPr>
                      </m:sSubPr>
                      <m:e>
                        <m:r>
                          <a:rPr lang="en-US" sz="1200" i="1" dirty="0" smtClean="0">
                            <a:solidFill>
                              <a:srgbClr val="1F2937"/>
                            </a:solidFill>
                            <a:latin typeface="Cambria Math" panose="02040503050406030204" pitchFamily="18" charset="0"/>
                            <a:ea typeface="Arial" pitchFamily="34" charset="-122"/>
                            <a:cs typeface="Arial" pitchFamily="34" charset="-120"/>
                          </a:rPr>
                          <m:t>𝑇</m:t>
                        </m:r>
                      </m:e>
                      <m:sub>
                        <m:r>
                          <a:rPr lang="en-US" sz="1200" i="1" dirty="0" smtClean="0">
                            <a:solidFill>
                              <a:srgbClr val="1F2937"/>
                            </a:solidFill>
                            <a:latin typeface="Cambria Math" panose="02040503050406030204" pitchFamily="18" charset="0"/>
                            <a:ea typeface="Arial" pitchFamily="34" charset="-122"/>
                            <a:cs typeface="Arial" pitchFamily="34" charset="-120"/>
                          </a:rPr>
                          <m:t>1</m:t>
                        </m:r>
                      </m:sub>
                    </m:sSub>
                    <m:r>
                      <a:rPr lang="en-US" sz="1200" i="1" dirty="0" smtClean="0">
                        <a:solidFill>
                          <a:srgbClr val="1F2937"/>
                        </a:solidFill>
                        <a:latin typeface="Cambria Math" panose="02040503050406030204" pitchFamily="18" charset="0"/>
                        <a:ea typeface="Arial" pitchFamily="34" charset="-122"/>
                        <a:cs typeface="Arial" pitchFamily="34" charset="-120"/>
                      </a:rPr>
                      <m:t>→2 × </m:t>
                    </m:r>
                    <m:sSub>
                      <m:sSubPr>
                        <m:ctrlPr>
                          <a:rPr lang="en-US" sz="1200" i="1" dirty="0" smtClean="0">
                            <a:solidFill>
                              <a:srgbClr val="1F2937"/>
                            </a:solidFill>
                            <a:latin typeface="Cambria Math" panose="02040503050406030204" pitchFamily="18" charset="0"/>
                            <a:ea typeface="Arial" pitchFamily="34" charset="-122"/>
                            <a:cs typeface="Arial" pitchFamily="34" charset="-120"/>
                          </a:rPr>
                        </m:ctrlPr>
                      </m:sSubPr>
                      <m:e>
                        <m:r>
                          <a:rPr lang="en-US" sz="1200" i="1" dirty="0" smtClean="0">
                            <a:solidFill>
                              <a:srgbClr val="1F2937"/>
                            </a:solidFill>
                            <a:latin typeface="Cambria Math" panose="02040503050406030204" pitchFamily="18" charset="0"/>
                            <a:ea typeface="Arial" pitchFamily="34" charset="-122"/>
                            <a:cs typeface="Arial" pitchFamily="34" charset="-120"/>
                          </a:rPr>
                          <m:t>𝑇</m:t>
                        </m:r>
                      </m:e>
                      <m:sub>
                        <m:r>
                          <a:rPr lang="en-US" sz="1200" i="1" dirty="0" smtClean="0">
                            <a:solidFill>
                              <a:srgbClr val="1F2937"/>
                            </a:solidFill>
                            <a:latin typeface="Cambria Math" panose="02040503050406030204" pitchFamily="18" charset="0"/>
                            <a:ea typeface="Arial" pitchFamily="34" charset="-122"/>
                            <a:cs typeface="Arial" pitchFamily="34" charset="-120"/>
                          </a:rPr>
                          <m:t>2</m:t>
                        </m:r>
                      </m:sub>
                    </m:sSub>
                    <m:r>
                      <a:rPr lang="en-US" sz="1200" i="1" dirty="0" smtClean="0">
                        <a:solidFill>
                          <a:srgbClr val="1F2937"/>
                        </a:solidFill>
                        <a:latin typeface="Cambria Math" panose="02040503050406030204" pitchFamily="18" charset="0"/>
                        <a:ea typeface="Arial" pitchFamily="34" charset="-122"/>
                        <a:cs typeface="Arial" pitchFamily="34" charset="-120"/>
                      </a:rPr>
                      <m:t>→3 × </m:t>
                    </m:r>
                    <m:sSub>
                      <m:sSubPr>
                        <m:ctrlPr>
                          <a:rPr lang="en-US" sz="1200" i="1" dirty="0" smtClean="0">
                            <a:solidFill>
                              <a:srgbClr val="1F2937"/>
                            </a:solidFill>
                            <a:latin typeface="Cambria Math" panose="02040503050406030204" pitchFamily="18" charset="0"/>
                            <a:ea typeface="Arial" pitchFamily="34" charset="-122"/>
                            <a:cs typeface="Arial" pitchFamily="34" charset="-120"/>
                          </a:rPr>
                        </m:ctrlPr>
                      </m:sSubPr>
                      <m:e>
                        <m:r>
                          <a:rPr lang="en-US" sz="1200" i="1" dirty="0" smtClean="0">
                            <a:solidFill>
                              <a:srgbClr val="1F2937"/>
                            </a:solidFill>
                            <a:latin typeface="Cambria Math" panose="02040503050406030204" pitchFamily="18" charset="0"/>
                            <a:ea typeface="Arial" pitchFamily="34" charset="-122"/>
                            <a:cs typeface="Arial" pitchFamily="34" charset="-120"/>
                          </a:rPr>
                          <m:t>𝑇</m:t>
                        </m:r>
                      </m:e>
                      <m:sub>
                        <m:r>
                          <a:rPr lang="en-US" sz="1200" i="1" dirty="0" smtClean="0">
                            <a:solidFill>
                              <a:srgbClr val="1F2937"/>
                            </a:solidFill>
                            <a:latin typeface="Cambria Math" panose="02040503050406030204" pitchFamily="18" charset="0"/>
                            <a:ea typeface="Arial" pitchFamily="34" charset="-122"/>
                            <a:cs typeface="Arial" pitchFamily="34" charset="-120"/>
                          </a:rPr>
                          <m:t>3</m:t>
                        </m:r>
                      </m:sub>
                    </m:sSub>
                    <m:r>
                      <a:rPr lang="en-US" sz="1200" i="1" dirty="0" smtClean="0">
                        <a:solidFill>
                          <a:srgbClr val="1F2937"/>
                        </a:solidFill>
                        <a:latin typeface="Cambria Math" panose="02040503050406030204" pitchFamily="18" charset="0"/>
                        <a:ea typeface="Arial" pitchFamily="34" charset="-122"/>
                        <a:cs typeface="Arial" pitchFamily="34" charset="-120"/>
                      </a:rPr>
                      <m:t>→4 × …</m:t>
                    </m:r>
                  </m:oMath>
                </a14:m>
                <a:endParaRPr lang="en-US" sz="1200" dirty="0"/>
              </a:p>
            </p:txBody>
          </p:sp>
        </mc:Choice>
        <mc:Fallback>
          <p:sp>
            <p:nvSpPr>
              <p:cNvPr id="20" name="Text 18"/>
              <p:cNvSpPr>
                <a:spLocks noRot="1" noChangeAspect="1" noMove="1" noResize="1" noEditPoints="1" noAdjustHandles="1" noChangeArrowheads="1" noChangeShapeType="1" noTextEdit="1"/>
              </p:cNvSpPr>
              <p:nvPr/>
            </p:nvSpPr>
            <p:spPr>
              <a:xfrm>
                <a:off x="365760" y="3017520"/>
                <a:ext cx="8412480" cy="1440180"/>
              </a:xfrm>
              <a:prstGeom prst="rect">
                <a:avLst/>
              </a:prstGeom>
              <a:blipFill>
                <a:blip r:embed="rId3"/>
                <a:stretch>
                  <a:fillRect b="-847"/>
                </a:stretch>
              </a:blipFill>
              <a:ln/>
            </p:spPr>
            <p:txBody>
              <a:bodyPr/>
              <a:lstStyle/>
              <a:p>
                <a:r>
                  <a:rPr lang="en-US">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Monocular vs. Stereo Visual Odometry</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22</a:t>
            </a:r>
            <a:endParaRPr lang="en-US" sz="800" dirty="0"/>
          </a:p>
        </p:txBody>
      </p:sp>
      <p:sp>
        <p:nvSpPr>
          <p:cNvPr id="5" name="Shape 3"/>
          <p:cNvSpPr/>
          <p:nvPr/>
        </p:nvSpPr>
        <p:spPr>
          <a:xfrm>
            <a:off x="274320" y="731520"/>
            <a:ext cx="4114800" cy="2194560"/>
          </a:xfrm>
          <a:prstGeom prst="rect">
            <a:avLst/>
          </a:prstGeom>
          <a:solidFill>
            <a:srgbClr val="FFFFFF"/>
          </a:solidFill>
          <a:ln/>
          <a:effectLst>
            <a:outerShdw blurRad="50800" dist="25400" dir="8100000" algn="bl" rotWithShape="0">
              <a:srgbClr val="000000">
                <a:alpha val="12000"/>
              </a:srgbClr>
            </a:outerShdw>
          </a:effectLst>
        </p:spPr>
      </p:sp>
      <p:sp>
        <p:nvSpPr>
          <p:cNvPr id="6" name="Shape 4"/>
          <p:cNvSpPr/>
          <p:nvPr/>
        </p:nvSpPr>
        <p:spPr>
          <a:xfrm>
            <a:off x="274320" y="731520"/>
            <a:ext cx="54864" cy="2194560"/>
          </a:xfrm>
          <a:prstGeom prst="rect">
            <a:avLst/>
          </a:prstGeom>
          <a:solidFill>
            <a:srgbClr val="F59E0B"/>
          </a:solidFill>
          <a:ln/>
        </p:spPr>
      </p:sp>
      <p:sp>
        <p:nvSpPr>
          <p:cNvPr id="7" name="Text 5"/>
          <p:cNvSpPr/>
          <p:nvPr/>
        </p:nvSpPr>
        <p:spPr>
          <a:xfrm>
            <a:off x="438912" y="78638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Monocular VO (one camera)</a:t>
            </a:r>
            <a:endParaRPr lang="en-US" sz="1200" dirty="0"/>
          </a:p>
        </p:txBody>
      </p:sp>
      <p:sp>
        <p:nvSpPr>
          <p:cNvPr id="8" name="Text 6"/>
          <p:cNvSpPr/>
          <p:nvPr/>
        </p:nvSpPr>
        <p:spPr>
          <a:xfrm>
            <a:off x="438912" y="1078992"/>
            <a:ext cx="3840480" cy="178308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Uses one camera only</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Can estimate rotation well</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CANNOT estimate true scale!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(a 1m cube at 5m looks the same as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a 2m cube at 10m from one camera)</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Needs external info for scale (IMU, known object)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Simpler hardware, harder math</a:t>
            </a:r>
            <a:endParaRPr lang="en-US" sz="1200" dirty="0"/>
          </a:p>
        </p:txBody>
      </p:sp>
      <p:sp>
        <p:nvSpPr>
          <p:cNvPr id="9" name="Shape 7"/>
          <p:cNvSpPr/>
          <p:nvPr/>
        </p:nvSpPr>
        <p:spPr>
          <a:xfrm>
            <a:off x="4663440" y="731520"/>
            <a:ext cx="4206240" cy="2194560"/>
          </a:xfrm>
          <a:prstGeom prst="rect">
            <a:avLst/>
          </a:prstGeom>
          <a:solidFill>
            <a:srgbClr val="FFFFFF"/>
          </a:solidFill>
          <a:ln/>
          <a:effectLst>
            <a:outerShdw blurRad="50800" dist="25400" dir="8100000" algn="bl" rotWithShape="0">
              <a:srgbClr val="000000">
                <a:alpha val="12000"/>
              </a:srgbClr>
            </a:outerShdw>
          </a:effectLst>
        </p:spPr>
      </p:sp>
      <p:sp>
        <p:nvSpPr>
          <p:cNvPr id="10" name="Shape 8"/>
          <p:cNvSpPr/>
          <p:nvPr/>
        </p:nvSpPr>
        <p:spPr>
          <a:xfrm>
            <a:off x="4663440" y="731520"/>
            <a:ext cx="54864" cy="2194560"/>
          </a:xfrm>
          <a:prstGeom prst="rect">
            <a:avLst/>
          </a:prstGeom>
          <a:solidFill>
            <a:srgbClr val="10B981"/>
          </a:solidFill>
          <a:ln/>
        </p:spPr>
      </p:sp>
      <p:sp>
        <p:nvSpPr>
          <p:cNvPr id="11" name="Text 9"/>
          <p:cNvSpPr/>
          <p:nvPr/>
        </p:nvSpPr>
        <p:spPr>
          <a:xfrm>
            <a:off x="4828032" y="78638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Stereo VO (two cameras)</a:t>
            </a:r>
            <a:endParaRPr lang="en-US" sz="1200" dirty="0"/>
          </a:p>
        </p:txBody>
      </p:sp>
      <p:sp>
        <p:nvSpPr>
          <p:cNvPr id="12" name="Text 10"/>
          <p:cNvSpPr/>
          <p:nvPr/>
        </p:nvSpPr>
        <p:spPr>
          <a:xfrm>
            <a:off x="4828032" y="1078992"/>
            <a:ext cx="3931920" cy="178308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Uses stereo baseline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Known baseline → known scale!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Can compute true metric motion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More robust (triangulation with 2 views)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More hardware, more computation</a:t>
            </a:r>
            <a:endParaRPr lang="en-US" sz="1200" dirty="0"/>
          </a:p>
          <a:p>
            <a:pPr marL="342900" indent="-342900">
              <a:buSzPct val="100000"/>
              <a:buChar char="•"/>
            </a:pPr>
            <a:endParaRPr lang="en-US" sz="1200" dirty="0"/>
          </a:p>
        </p:txBody>
      </p:sp>
      <p:sp>
        <p:nvSpPr>
          <p:cNvPr id="13" name="Text 11"/>
          <p:cNvSpPr/>
          <p:nvPr/>
        </p:nvSpPr>
        <p:spPr>
          <a:xfrm>
            <a:off x="365760" y="3108960"/>
            <a:ext cx="8412480" cy="274320"/>
          </a:xfrm>
          <a:prstGeom prst="rect">
            <a:avLst/>
          </a:prstGeom>
          <a:noFill/>
          <a:ln/>
        </p:spPr>
        <p:txBody>
          <a:bodyPr wrap="square" rtlCol="0" anchor="ctr"/>
          <a:lstStyle/>
          <a:p>
            <a:pPr marL="0" indent="0">
              <a:buNone/>
            </a:pPr>
            <a:r>
              <a:rPr lang="en-US" sz="1200" b="1" dirty="0">
                <a:solidFill>
                  <a:srgbClr val="0F4C81"/>
                </a:solidFill>
                <a:latin typeface="Arial" pitchFamily="34" charset="0"/>
                <a:ea typeface="Arial" pitchFamily="34" charset="-122"/>
                <a:cs typeface="Arial" pitchFamily="34" charset="-120"/>
              </a:rPr>
              <a:t>VO provides an independent motion estimate — complementary to encoders and IMU in sensor fusion (MOD-04).</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VO: Where It Fits and When It Fails</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23</a:t>
            </a:r>
            <a:endParaRPr lang="en-US" sz="800" dirty="0"/>
          </a:p>
        </p:txBody>
      </p:sp>
      <p:sp>
        <p:nvSpPr>
          <p:cNvPr id="5" name="Shape 3"/>
          <p:cNvSpPr/>
          <p:nvPr/>
        </p:nvSpPr>
        <p:spPr>
          <a:xfrm>
            <a:off x="274320" y="731520"/>
            <a:ext cx="4114800" cy="1645920"/>
          </a:xfrm>
          <a:prstGeom prst="rect">
            <a:avLst/>
          </a:prstGeom>
          <a:solidFill>
            <a:srgbClr val="FFFFFF"/>
          </a:solidFill>
          <a:ln/>
          <a:effectLst>
            <a:outerShdw blurRad="50800" dist="25400" dir="8100000" algn="bl" rotWithShape="0">
              <a:srgbClr val="000000">
                <a:alpha val="12000"/>
              </a:srgbClr>
            </a:outerShdw>
          </a:effectLst>
        </p:spPr>
      </p:sp>
      <p:sp>
        <p:nvSpPr>
          <p:cNvPr id="6" name="Shape 4"/>
          <p:cNvSpPr/>
          <p:nvPr/>
        </p:nvSpPr>
        <p:spPr>
          <a:xfrm>
            <a:off x="274320" y="731520"/>
            <a:ext cx="54864" cy="1645920"/>
          </a:xfrm>
          <a:prstGeom prst="rect">
            <a:avLst/>
          </a:prstGeom>
          <a:solidFill>
            <a:srgbClr val="10B981"/>
          </a:solidFill>
          <a:ln/>
        </p:spPr>
      </p:sp>
      <p:sp>
        <p:nvSpPr>
          <p:cNvPr id="7" name="Text 5"/>
          <p:cNvSpPr/>
          <p:nvPr/>
        </p:nvSpPr>
        <p:spPr>
          <a:xfrm>
            <a:off x="438912" y="78638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 VO works well when:</a:t>
            </a:r>
            <a:endParaRPr lang="en-US" sz="1200" dirty="0"/>
          </a:p>
        </p:txBody>
      </p:sp>
      <p:sp>
        <p:nvSpPr>
          <p:cNvPr id="8" name="Text 6"/>
          <p:cNvSpPr/>
          <p:nvPr/>
        </p:nvSpPr>
        <p:spPr>
          <a:xfrm>
            <a:off x="438912" y="1078992"/>
            <a:ext cx="3840480" cy="123444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Enough visual texture (features to track)</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Camera moves slowly (features don't blur)</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Good lighting (stable features)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Combined with IMU in VIO (Visual-Inertial)</a:t>
            </a:r>
            <a:endParaRPr lang="en-US" sz="1200" dirty="0"/>
          </a:p>
        </p:txBody>
      </p:sp>
      <p:sp>
        <p:nvSpPr>
          <p:cNvPr id="9" name="Shape 7"/>
          <p:cNvSpPr/>
          <p:nvPr/>
        </p:nvSpPr>
        <p:spPr>
          <a:xfrm>
            <a:off x="4663440" y="731520"/>
            <a:ext cx="4206240" cy="1645920"/>
          </a:xfrm>
          <a:prstGeom prst="rect">
            <a:avLst/>
          </a:prstGeom>
          <a:solidFill>
            <a:srgbClr val="FFFFFF"/>
          </a:solidFill>
          <a:ln/>
          <a:effectLst>
            <a:outerShdw blurRad="50800" dist="25400" dir="8100000" algn="bl" rotWithShape="0">
              <a:srgbClr val="000000">
                <a:alpha val="12000"/>
              </a:srgbClr>
            </a:outerShdw>
          </a:effectLst>
        </p:spPr>
      </p:sp>
      <p:sp>
        <p:nvSpPr>
          <p:cNvPr id="10" name="Shape 8"/>
          <p:cNvSpPr/>
          <p:nvPr/>
        </p:nvSpPr>
        <p:spPr>
          <a:xfrm>
            <a:off x="4663440" y="731520"/>
            <a:ext cx="54864" cy="1645920"/>
          </a:xfrm>
          <a:prstGeom prst="rect">
            <a:avLst/>
          </a:prstGeom>
          <a:solidFill>
            <a:srgbClr val="EF4444"/>
          </a:solidFill>
          <a:ln/>
        </p:spPr>
      </p:sp>
      <p:sp>
        <p:nvSpPr>
          <p:cNvPr id="11" name="Text 9"/>
          <p:cNvSpPr/>
          <p:nvPr/>
        </p:nvSpPr>
        <p:spPr>
          <a:xfrm>
            <a:off x="4828032" y="78638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 VO fails when:</a:t>
            </a:r>
            <a:endParaRPr lang="en-US" sz="1200" dirty="0"/>
          </a:p>
        </p:txBody>
      </p:sp>
      <p:sp>
        <p:nvSpPr>
          <p:cNvPr id="12" name="Text 10"/>
          <p:cNvSpPr/>
          <p:nvPr/>
        </p:nvSpPr>
        <p:spPr>
          <a:xfrm>
            <a:off x="4828032" y="1078992"/>
            <a:ext cx="3931920" cy="123444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Pure rotation (no translation → no triangulation)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Textureless surfaces (no features to match)</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Fast motion → motion blur → features lost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Dark environments, direct sunlight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Drifts over time (like any odometry)</a:t>
            </a:r>
            <a:endParaRPr lang="en-US" sz="1200" dirty="0"/>
          </a:p>
        </p:txBody>
      </p:sp>
      <p:sp>
        <p:nvSpPr>
          <p:cNvPr id="13" name="Text 11"/>
          <p:cNvSpPr/>
          <p:nvPr/>
        </p:nvSpPr>
        <p:spPr>
          <a:xfrm>
            <a:off x="365760" y="2651760"/>
            <a:ext cx="8412480" cy="457200"/>
          </a:xfrm>
          <a:prstGeom prst="rect">
            <a:avLst/>
          </a:prstGeom>
          <a:noFill/>
          <a:ln/>
        </p:spPr>
        <p:txBody>
          <a:bodyPr wrap="square" rtlCol="0" anchor="ctr"/>
          <a:lstStyle/>
          <a:p>
            <a:pPr marL="0" indent="0">
              <a:buNone/>
            </a:pPr>
            <a:r>
              <a:rPr lang="en-US" sz="1200" b="1" dirty="0">
                <a:solidFill>
                  <a:srgbClr val="0F4C81"/>
                </a:solidFill>
                <a:latin typeface="Arial" pitchFamily="34" charset="0"/>
                <a:ea typeface="Arial" pitchFamily="34" charset="-122"/>
                <a:cs typeface="Arial" pitchFamily="34" charset="-120"/>
              </a:rPr>
              <a:t>VO in the autonomy stack: </a:t>
            </a:r>
            <a:r>
              <a:rPr lang="en-US" sz="1200" dirty="0">
                <a:solidFill>
                  <a:srgbClr val="1F2937"/>
                </a:solidFill>
                <a:latin typeface="Arial" pitchFamily="34" charset="0"/>
                <a:ea typeface="Arial" pitchFamily="34" charset="-122"/>
                <a:cs typeface="Arial" pitchFamily="34" charset="-120"/>
              </a:rPr>
              <a:t>Used as an ADDITIONAL odometry source in sensor fusion. Feeds into the EKF alongside encoders and IMU. When wheel odometry slips, VO provides an independent motion estimate.</a:t>
            </a:r>
            <a:endParaRPr lang="en-US" sz="1200" dirty="0"/>
          </a:p>
        </p:txBody>
      </p:sp>
      <p:sp>
        <p:nvSpPr>
          <p:cNvPr id="14" name="Shape 12"/>
          <p:cNvSpPr/>
          <p:nvPr/>
        </p:nvSpPr>
        <p:spPr>
          <a:xfrm>
            <a:off x="457200" y="3200400"/>
            <a:ext cx="411480" cy="411480"/>
          </a:xfrm>
          <a:prstGeom prst="ellipse">
            <a:avLst/>
          </a:prstGeom>
          <a:solidFill>
            <a:srgbClr val="F97316"/>
          </a:solidFill>
          <a:ln/>
        </p:spPr>
      </p:sp>
      <p:sp>
        <p:nvSpPr>
          <p:cNvPr id="15" name="Text 13"/>
          <p:cNvSpPr/>
          <p:nvPr/>
        </p:nvSpPr>
        <p:spPr>
          <a:xfrm>
            <a:off x="457200" y="3218688"/>
            <a:ext cx="411480" cy="384048"/>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O</a:t>
            </a:r>
            <a:endParaRPr lang="en-US" sz="1400" dirty="0"/>
          </a:p>
        </p:txBody>
      </p:sp>
      <p:sp>
        <p:nvSpPr>
          <p:cNvPr id="16" name="Text 14"/>
          <p:cNvSpPr/>
          <p:nvPr/>
        </p:nvSpPr>
        <p:spPr>
          <a:xfrm>
            <a:off x="960120" y="3218688"/>
            <a:ext cx="7680960" cy="365760"/>
          </a:xfrm>
          <a:prstGeom prst="rect">
            <a:avLst/>
          </a:prstGeom>
          <a:noFill/>
          <a:ln/>
        </p:spPr>
        <p:txBody>
          <a:bodyPr wrap="square" rtlCol="0" anchor="ctr"/>
          <a:lstStyle/>
          <a:p>
            <a:pPr marL="0" indent="0">
              <a:buNone/>
            </a:pPr>
            <a:r>
              <a:rPr lang="en-US" sz="1200" b="1" dirty="0">
                <a:solidFill>
                  <a:srgbClr val="F97316"/>
                </a:solidFill>
                <a:latin typeface="Arial" pitchFamily="34" charset="0"/>
                <a:ea typeface="Arial" pitchFamily="34" charset="-122"/>
                <a:cs typeface="Arial" pitchFamily="34" charset="-120"/>
              </a:rPr>
              <a:t>OPERATE: </a:t>
            </a:r>
            <a:r>
              <a:rPr lang="en-US" sz="1200" dirty="0">
                <a:solidFill>
                  <a:srgbClr val="1F2937"/>
                </a:solidFill>
                <a:latin typeface="Arial" pitchFamily="34" charset="0"/>
                <a:ea typeface="Arial" pitchFamily="34" charset="-122"/>
                <a:cs typeface="Arial" pitchFamily="34" charset="-120"/>
              </a:rPr>
              <a:t>In practice: VO alone drifts. VIO (Visual-Inertial Odometry) combines VO + IMU for robust indoor navigation. Standard on drones and AR headsets.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0F4C81"/>
        </a:solidFill>
        <a:effectLst/>
      </p:bgPr>
    </p:bg>
    <p:spTree>
      <p:nvGrpSpPr>
        <p:cNvPr id="1" name=""/>
        <p:cNvGrpSpPr/>
        <p:nvPr/>
      </p:nvGrpSpPr>
      <p:grpSpPr>
        <a:xfrm>
          <a:off x="0" y="0"/>
          <a:ext cx="0" cy="0"/>
          <a:chOff x="0" y="0"/>
          <a:chExt cx="0" cy="0"/>
        </a:xfrm>
      </p:grpSpPr>
      <p:sp>
        <p:nvSpPr>
          <p:cNvPr id="2" name="Text 0"/>
          <p:cNvSpPr/>
          <p:nvPr/>
        </p:nvSpPr>
        <p:spPr>
          <a:xfrm>
            <a:off x="548640" y="914400"/>
            <a:ext cx="4572000" cy="457200"/>
          </a:xfrm>
          <a:prstGeom prst="rect">
            <a:avLst/>
          </a:prstGeom>
          <a:noFill/>
          <a:ln/>
        </p:spPr>
        <p:txBody>
          <a:bodyPr wrap="square" rtlCol="0" anchor="ctr"/>
          <a:lstStyle/>
          <a:p>
            <a:pPr marL="0" indent="0">
              <a:buNone/>
            </a:pPr>
            <a:r>
              <a:rPr lang="en-US" sz="1400" b="1" kern="0" spc="300" dirty="0">
                <a:solidFill>
                  <a:srgbClr val="F59E0B"/>
                </a:solidFill>
                <a:latin typeface="Arial" pitchFamily="34" charset="0"/>
                <a:ea typeface="Arial" pitchFamily="34" charset="-122"/>
                <a:cs typeface="Arial" pitchFamily="34" charset="-120"/>
              </a:rPr>
              <a:t>BLOCK G</a:t>
            </a:r>
            <a:endParaRPr lang="en-US" sz="1400" dirty="0"/>
          </a:p>
        </p:txBody>
      </p:sp>
      <p:sp>
        <p:nvSpPr>
          <p:cNvPr id="3" name="Text 1"/>
          <p:cNvSpPr/>
          <p:nvPr/>
        </p:nvSpPr>
        <p:spPr>
          <a:xfrm>
            <a:off x="548640" y="1371600"/>
            <a:ext cx="7772400" cy="1280160"/>
          </a:xfrm>
          <a:prstGeom prst="rect">
            <a:avLst/>
          </a:prstGeom>
          <a:noFill/>
          <a:ln/>
        </p:spPr>
        <p:txBody>
          <a:bodyPr wrap="square" rtlCol="0" anchor="ctr"/>
          <a:lstStyle/>
          <a:p>
            <a:pPr marL="0" indent="0">
              <a:buNone/>
            </a:pPr>
            <a:r>
              <a:rPr lang="en-US" sz="2800" b="1" dirty="0">
                <a:solidFill>
                  <a:srgbClr val="FFFFFF"/>
                </a:solidFill>
                <a:latin typeface="Arial" pitchFamily="34" charset="0"/>
                <a:ea typeface="Arial" pitchFamily="34" charset="-122"/>
                <a:cs typeface="Arial" pitchFamily="34" charset="-120"/>
              </a:rPr>
              <a:t>Object Detection</a:t>
            </a:r>
            <a:endParaRPr lang="en-US" sz="2800" dirty="0"/>
          </a:p>
        </p:txBody>
      </p:sp>
      <p:sp>
        <p:nvSpPr>
          <p:cNvPr id="4" name="Text 2"/>
          <p:cNvSpPr/>
          <p:nvPr/>
        </p:nvSpPr>
        <p:spPr>
          <a:xfrm>
            <a:off x="548640" y="2743200"/>
            <a:ext cx="7315200" cy="731520"/>
          </a:xfrm>
          <a:prstGeom prst="rect">
            <a:avLst/>
          </a:prstGeom>
          <a:noFill/>
          <a:ln/>
        </p:spPr>
        <p:txBody>
          <a:bodyPr wrap="square" rtlCol="0" anchor="ctr"/>
          <a:lstStyle/>
          <a:p>
            <a:pPr marL="0" indent="0">
              <a:buNone/>
            </a:pPr>
            <a:r>
              <a:rPr lang="en-US" sz="1500" dirty="0">
                <a:solidFill>
                  <a:srgbClr val="B0C4DE"/>
                </a:solidFill>
                <a:latin typeface="Arial" pitchFamily="34" charset="0"/>
                <a:ea typeface="Arial" pitchFamily="34" charset="-122"/>
                <a:cs typeface="Arial" pitchFamily="34" charset="-120"/>
              </a:rPr>
              <a:t>Finding and identifying objects in the scene</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PBL: Wheelchair in the Corridor — Obstacle or Passable?</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25</a:t>
            </a:r>
            <a:endParaRPr lang="en-US" sz="800" dirty="0"/>
          </a:p>
        </p:txBody>
      </p:sp>
      <p:sp>
        <p:nvSpPr>
          <p:cNvPr id="5" name="Shape 3"/>
          <p:cNvSpPr/>
          <p:nvPr/>
        </p:nvSpPr>
        <p:spPr>
          <a:xfrm>
            <a:off x="274320" y="685800"/>
            <a:ext cx="8595360" cy="731520"/>
          </a:xfrm>
          <a:prstGeom prst="rect">
            <a:avLst/>
          </a:prstGeom>
          <a:solidFill>
            <a:srgbClr val="FFFBEB"/>
          </a:solidFill>
          <a:ln/>
          <a:effectLst>
            <a:outerShdw blurRad="50800" dist="25400" dir="8100000" algn="bl" rotWithShape="0">
              <a:srgbClr val="000000">
                <a:alpha val="12000"/>
              </a:srgbClr>
            </a:outerShdw>
          </a:effectLst>
        </p:spPr>
      </p:sp>
      <p:sp>
        <p:nvSpPr>
          <p:cNvPr id="6" name="Shape 4"/>
          <p:cNvSpPr/>
          <p:nvPr/>
        </p:nvSpPr>
        <p:spPr>
          <a:xfrm>
            <a:off x="274320" y="685800"/>
            <a:ext cx="54864" cy="731520"/>
          </a:xfrm>
          <a:prstGeom prst="rect">
            <a:avLst/>
          </a:prstGeom>
          <a:solidFill>
            <a:srgbClr val="F97316"/>
          </a:solidFill>
          <a:ln/>
        </p:spPr>
      </p:sp>
      <p:sp>
        <p:nvSpPr>
          <p:cNvPr id="7" name="Text 5"/>
          <p:cNvSpPr/>
          <p:nvPr/>
        </p:nvSpPr>
        <p:spPr>
          <a:xfrm>
            <a:off x="457200" y="758952"/>
            <a:ext cx="8275320" cy="594360"/>
          </a:xfrm>
          <a:prstGeom prst="rect">
            <a:avLst/>
          </a:prstGeom>
          <a:noFill/>
          <a:ln/>
        </p:spPr>
        <p:txBody>
          <a:bodyPr wrap="square" rtlCol="0" anchor="t"/>
          <a:lstStyle/>
          <a:p>
            <a:pPr marL="0" indent="0">
              <a:buNone/>
            </a:pPr>
            <a:r>
              <a:rPr lang="en-US" sz="1200" b="1" dirty="0">
                <a:solidFill>
                  <a:srgbClr val="F97316"/>
                </a:solidFill>
                <a:latin typeface="Arial" pitchFamily="34" charset="0"/>
                <a:ea typeface="Arial" pitchFamily="34" charset="-122"/>
                <a:cs typeface="Arial" pitchFamily="34" charset="-120"/>
              </a:rPr>
              <a:t>PBL SCENARIO: </a:t>
            </a:r>
            <a:r>
              <a:rPr lang="en-US" sz="1200" dirty="0">
                <a:solidFill>
                  <a:srgbClr val="1F2937"/>
                </a:solidFill>
                <a:latin typeface="Arial" pitchFamily="34" charset="0"/>
                <a:ea typeface="Arial" pitchFamily="34" charset="-122"/>
                <a:cs typeface="Arial" pitchFamily="34" charset="-120"/>
              </a:rPr>
              <a:t>MediBot sees an object in the corridor. Is it a wheelchair (obstacle — must avoid) or an open door (passable — can go through)? The shape in the LiDAR scan is ambiguous — both look like a rectangular void. The camera image can tell the difference.</a:t>
            </a:r>
            <a:endParaRPr lang="en-US" sz="1200" dirty="0"/>
          </a:p>
        </p:txBody>
      </p:sp>
      <p:sp>
        <p:nvSpPr>
          <p:cNvPr id="8" name="Text 6"/>
          <p:cNvSpPr/>
          <p:nvPr/>
        </p:nvSpPr>
        <p:spPr>
          <a:xfrm>
            <a:off x="365760" y="1600200"/>
            <a:ext cx="8229600" cy="274320"/>
          </a:xfrm>
          <a:prstGeom prst="rect">
            <a:avLst/>
          </a:prstGeom>
          <a:noFill/>
          <a:ln/>
        </p:spPr>
        <p:txBody>
          <a:bodyPr wrap="square" rtlCol="0" anchor="ctr"/>
          <a:lstStyle/>
          <a:p>
            <a:pPr marL="0" indent="0">
              <a:buNone/>
            </a:pPr>
            <a:r>
              <a:rPr lang="en-US" sz="1400" b="1" dirty="0">
                <a:solidFill>
                  <a:srgbClr val="0F4C81"/>
                </a:solidFill>
                <a:latin typeface="Arial" pitchFamily="34" charset="0"/>
                <a:ea typeface="Arial" pitchFamily="34" charset="-122"/>
                <a:cs typeface="Arial" pitchFamily="34" charset="-120"/>
              </a:rPr>
              <a:t>Object detection: find WHERE objects are AND WHAT they are.</a:t>
            </a:r>
            <a:endParaRPr lang="en-US" sz="1400" dirty="0"/>
          </a:p>
        </p:txBody>
      </p:sp>
      <p:sp>
        <p:nvSpPr>
          <p:cNvPr id="9" name="Shape 7"/>
          <p:cNvSpPr/>
          <p:nvPr/>
        </p:nvSpPr>
        <p:spPr>
          <a:xfrm>
            <a:off x="274320" y="1965960"/>
            <a:ext cx="2743200" cy="1828800"/>
          </a:xfrm>
          <a:prstGeom prst="rect">
            <a:avLst/>
          </a:prstGeom>
          <a:solidFill>
            <a:srgbClr val="FFFFFF"/>
          </a:solidFill>
          <a:ln/>
          <a:effectLst>
            <a:outerShdw blurRad="50800" dist="25400" dir="8100000" algn="bl" rotWithShape="0">
              <a:srgbClr val="000000">
                <a:alpha val="12000"/>
              </a:srgbClr>
            </a:outerShdw>
          </a:effectLst>
        </p:spPr>
      </p:sp>
      <p:sp>
        <p:nvSpPr>
          <p:cNvPr id="10" name="Shape 8"/>
          <p:cNvSpPr/>
          <p:nvPr/>
        </p:nvSpPr>
        <p:spPr>
          <a:xfrm>
            <a:off x="274320" y="1965960"/>
            <a:ext cx="54864" cy="1828800"/>
          </a:xfrm>
          <a:prstGeom prst="rect">
            <a:avLst/>
          </a:prstGeom>
          <a:solidFill>
            <a:srgbClr val="3B82F6"/>
          </a:solidFill>
          <a:ln/>
        </p:spPr>
      </p:sp>
      <p:sp>
        <p:nvSpPr>
          <p:cNvPr id="11" name="Text 9"/>
          <p:cNvSpPr/>
          <p:nvPr/>
        </p:nvSpPr>
        <p:spPr>
          <a:xfrm>
            <a:off x="438912" y="2020824"/>
            <a:ext cx="24688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Detection outputs:</a:t>
            </a:r>
            <a:endParaRPr lang="en-US" sz="1200" dirty="0"/>
          </a:p>
        </p:txBody>
      </p:sp>
      <p:sp>
        <p:nvSpPr>
          <p:cNvPr id="12" name="Text 10"/>
          <p:cNvSpPr/>
          <p:nvPr/>
        </p:nvSpPr>
        <p:spPr>
          <a:xfrm>
            <a:off x="438912" y="2313432"/>
            <a:ext cx="2468880" cy="14173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Bounding box: (x, y, w, h)</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Class label: "wheelchair"</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Confidence: 0.92 (92%)</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One detection per object</a:t>
            </a:r>
            <a:endParaRPr lang="en-US" sz="1200" dirty="0"/>
          </a:p>
        </p:txBody>
      </p:sp>
      <p:sp>
        <p:nvSpPr>
          <p:cNvPr id="13" name="Shape 11"/>
          <p:cNvSpPr/>
          <p:nvPr/>
        </p:nvSpPr>
        <p:spPr>
          <a:xfrm>
            <a:off x="3200400" y="1965960"/>
            <a:ext cx="2743200" cy="1828800"/>
          </a:xfrm>
          <a:prstGeom prst="rect">
            <a:avLst/>
          </a:prstGeom>
          <a:solidFill>
            <a:srgbClr val="FFFFFF"/>
          </a:solidFill>
          <a:ln/>
          <a:effectLst>
            <a:outerShdw blurRad="50800" dist="25400" dir="8100000" algn="bl" rotWithShape="0">
              <a:srgbClr val="000000">
                <a:alpha val="12000"/>
              </a:srgbClr>
            </a:outerShdw>
          </a:effectLst>
        </p:spPr>
      </p:sp>
      <p:sp>
        <p:nvSpPr>
          <p:cNvPr id="14" name="Shape 12"/>
          <p:cNvSpPr/>
          <p:nvPr/>
        </p:nvSpPr>
        <p:spPr>
          <a:xfrm>
            <a:off x="3200400" y="1965960"/>
            <a:ext cx="54864" cy="1828800"/>
          </a:xfrm>
          <a:prstGeom prst="rect">
            <a:avLst/>
          </a:prstGeom>
          <a:solidFill>
            <a:srgbClr val="8B5CF6"/>
          </a:solidFill>
          <a:ln/>
        </p:spPr>
      </p:sp>
      <p:sp>
        <p:nvSpPr>
          <p:cNvPr id="15" name="Text 13"/>
          <p:cNvSpPr/>
          <p:nvPr/>
        </p:nvSpPr>
        <p:spPr>
          <a:xfrm>
            <a:off x="3364992" y="2020824"/>
            <a:ext cx="24688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Classical approach:</a:t>
            </a:r>
            <a:endParaRPr lang="en-US" sz="1200" dirty="0"/>
          </a:p>
        </p:txBody>
      </p:sp>
      <p:sp>
        <p:nvSpPr>
          <p:cNvPr id="16" name="Text 14"/>
          <p:cNvSpPr/>
          <p:nvPr/>
        </p:nvSpPr>
        <p:spPr>
          <a:xfrm>
            <a:off x="3364992" y="2313432"/>
            <a:ext cx="2468880" cy="14173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Handcrafted features (HOG, Haar)</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Sliding window + classifier</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Template matching</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Interpretable, no training data</a:t>
            </a:r>
            <a:endParaRPr lang="en-US" sz="1200" dirty="0"/>
          </a:p>
        </p:txBody>
      </p:sp>
      <p:sp>
        <p:nvSpPr>
          <p:cNvPr id="17" name="Shape 15"/>
          <p:cNvSpPr/>
          <p:nvPr/>
        </p:nvSpPr>
        <p:spPr>
          <a:xfrm>
            <a:off x="6126480" y="1965960"/>
            <a:ext cx="2743200" cy="1828800"/>
          </a:xfrm>
          <a:prstGeom prst="rect">
            <a:avLst/>
          </a:prstGeom>
          <a:solidFill>
            <a:srgbClr val="FFFFFF"/>
          </a:solidFill>
          <a:ln/>
          <a:effectLst>
            <a:outerShdw blurRad="50800" dist="25400" dir="8100000" algn="bl" rotWithShape="0">
              <a:srgbClr val="000000">
                <a:alpha val="12000"/>
              </a:srgbClr>
            </a:outerShdw>
          </a:effectLst>
        </p:spPr>
      </p:sp>
      <p:sp>
        <p:nvSpPr>
          <p:cNvPr id="18" name="Shape 16"/>
          <p:cNvSpPr/>
          <p:nvPr/>
        </p:nvSpPr>
        <p:spPr>
          <a:xfrm>
            <a:off x="6126480" y="1965960"/>
            <a:ext cx="54864" cy="1828800"/>
          </a:xfrm>
          <a:prstGeom prst="rect">
            <a:avLst/>
          </a:prstGeom>
          <a:solidFill>
            <a:srgbClr val="10B981"/>
          </a:solidFill>
          <a:ln/>
        </p:spPr>
      </p:sp>
      <p:sp>
        <p:nvSpPr>
          <p:cNvPr id="19" name="Text 17"/>
          <p:cNvSpPr/>
          <p:nvPr/>
        </p:nvSpPr>
        <p:spPr>
          <a:xfrm>
            <a:off x="6291072" y="2020824"/>
            <a:ext cx="24688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Deep learning approach:</a:t>
            </a:r>
            <a:endParaRPr lang="en-US" sz="1200" dirty="0"/>
          </a:p>
        </p:txBody>
      </p:sp>
      <p:sp>
        <p:nvSpPr>
          <p:cNvPr id="20" name="Text 18"/>
          <p:cNvSpPr/>
          <p:nvPr/>
        </p:nvSpPr>
        <p:spPr>
          <a:xfrm>
            <a:off x="6291072" y="2313432"/>
            <a:ext cx="2468880" cy="14173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Learned features (CNN)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End-to-end: image → detections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YOLO, SSD, Faster R-CNN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Powerful but needs training data</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Classical: Hough Transform for Lines and Circles</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26</a:t>
            </a:r>
            <a:endParaRPr lang="en-US" sz="800" dirty="0"/>
          </a:p>
        </p:txBody>
      </p:sp>
      <p:sp>
        <p:nvSpPr>
          <p:cNvPr id="5" name="Text 3"/>
          <p:cNvSpPr/>
          <p:nvPr/>
        </p:nvSpPr>
        <p:spPr>
          <a:xfrm>
            <a:off x="365760" y="685800"/>
            <a:ext cx="8412480" cy="274320"/>
          </a:xfrm>
          <a:prstGeom prst="rect">
            <a:avLst/>
          </a:prstGeom>
          <a:noFill/>
          <a:ln/>
        </p:spPr>
        <p:txBody>
          <a:bodyPr wrap="square" rtlCol="0" anchor="ctr"/>
          <a:lstStyle/>
          <a:p>
            <a:pPr marL="0" indent="0">
              <a:buNone/>
            </a:pPr>
            <a:r>
              <a:rPr lang="en-US" sz="1300" dirty="0">
                <a:solidFill>
                  <a:srgbClr val="1F2937"/>
                </a:solidFill>
                <a:latin typeface="Arial" pitchFamily="34" charset="0"/>
                <a:ea typeface="Arial" pitchFamily="34" charset="-122"/>
                <a:cs typeface="Arial" pitchFamily="34" charset="-120"/>
              </a:rPr>
              <a:t>Detect geometric shapes — essential for structured environments (corridors, doors, rails)</a:t>
            </a:r>
            <a:endParaRPr lang="en-US" sz="1300" dirty="0"/>
          </a:p>
        </p:txBody>
      </p:sp>
      <p:sp>
        <p:nvSpPr>
          <p:cNvPr id="6" name="Shape 4"/>
          <p:cNvSpPr/>
          <p:nvPr/>
        </p:nvSpPr>
        <p:spPr>
          <a:xfrm>
            <a:off x="274320" y="1051560"/>
            <a:ext cx="4114800" cy="1828800"/>
          </a:xfrm>
          <a:prstGeom prst="rect">
            <a:avLst/>
          </a:prstGeom>
          <a:solidFill>
            <a:srgbClr val="FFFFFF"/>
          </a:solidFill>
          <a:ln/>
          <a:effectLst>
            <a:outerShdw blurRad="50800" dist="25400" dir="8100000" algn="bl" rotWithShape="0">
              <a:srgbClr val="000000">
                <a:alpha val="12000"/>
              </a:srgbClr>
            </a:outerShdw>
          </a:effectLst>
        </p:spPr>
      </p:sp>
      <p:sp>
        <p:nvSpPr>
          <p:cNvPr id="7" name="Shape 5"/>
          <p:cNvSpPr/>
          <p:nvPr/>
        </p:nvSpPr>
        <p:spPr>
          <a:xfrm>
            <a:off x="274320" y="1051560"/>
            <a:ext cx="54864" cy="1828800"/>
          </a:xfrm>
          <a:prstGeom prst="rect">
            <a:avLst/>
          </a:prstGeom>
          <a:solidFill>
            <a:srgbClr val="3B82F6"/>
          </a:solidFill>
          <a:ln/>
        </p:spPr>
      </p:sp>
      <p:sp>
        <p:nvSpPr>
          <p:cNvPr id="8" name="Text 6"/>
          <p:cNvSpPr/>
          <p:nvPr/>
        </p:nvSpPr>
        <p:spPr>
          <a:xfrm>
            <a:off x="438912" y="110642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Hough Line Transform</a:t>
            </a:r>
            <a:endParaRPr lang="en-US" sz="1200" dirty="0"/>
          </a:p>
        </p:txBody>
      </p:sp>
      <p:sp>
        <p:nvSpPr>
          <p:cNvPr id="9" name="Text 7"/>
          <p:cNvSpPr/>
          <p:nvPr/>
        </p:nvSpPr>
        <p:spPr>
          <a:xfrm>
            <a:off x="438912" y="1399032"/>
            <a:ext cx="3840480" cy="14173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1. Apply Canny edge detection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2. Each edge pixel votes for all lines that could</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pass through it: r = x·cos(θ) + y·sin(θ)</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3. Accumulate votes in (r, θ) space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4. Peaks in accumulator = detected lines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Used for: corridor walls, door frames, lane markings</a:t>
            </a:r>
            <a:endParaRPr lang="en-US" sz="1200" dirty="0"/>
          </a:p>
        </p:txBody>
      </p:sp>
      <p:sp>
        <p:nvSpPr>
          <p:cNvPr id="10" name="Shape 8"/>
          <p:cNvSpPr/>
          <p:nvPr/>
        </p:nvSpPr>
        <p:spPr>
          <a:xfrm>
            <a:off x="4663440" y="1051560"/>
            <a:ext cx="4206240" cy="1828800"/>
          </a:xfrm>
          <a:prstGeom prst="rect">
            <a:avLst/>
          </a:prstGeom>
          <a:solidFill>
            <a:srgbClr val="FFFFFF"/>
          </a:solidFill>
          <a:ln/>
          <a:effectLst>
            <a:outerShdw blurRad="50800" dist="25400" dir="8100000" algn="bl" rotWithShape="0">
              <a:srgbClr val="000000">
                <a:alpha val="12000"/>
              </a:srgbClr>
            </a:outerShdw>
          </a:effectLst>
        </p:spPr>
      </p:sp>
      <p:sp>
        <p:nvSpPr>
          <p:cNvPr id="11" name="Shape 9"/>
          <p:cNvSpPr/>
          <p:nvPr/>
        </p:nvSpPr>
        <p:spPr>
          <a:xfrm>
            <a:off x="4663440" y="1051560"/>
            <a:ext cx="54864" cy="1828800"/>
          </a:xfrm>
          <a:prstGeom prst="rect">
            <a:avLst/>
          </a:prstGeom>
          <a:solidFill>
            <a:srgbClr val="10B981"/>
          </a:solidFill>
          <a:ln/>
        </p:spPr>
      </p:sp>
      <p:sp>
        <p:nvSpPr>
          <p:cNvPr id="12" name="Text 10"/>
          <p:cNvSpPr/>
          <p:nvPr/>
        </p:nvSpPr>
        <p:spPr>
          <a:xfrm>
            <a:off x="4828032" y="110642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Hough Circle Transform</a:t>
            </a:r>
            <a:endParaRPr lang="en-US" sz="1200" dirty="0"/>
          </a:p>
        </p:txBody>
      </p:sp>
      <p:sp>
        <p:nvSpPr>
          <p:cNvPr id="13" name="Text 11"/>
          <p:cNvSpPr/>
          <p:nvPr/>
        </p:nvSpPr>
        <p:spPr>
          <a:xfrm>
            <a:off x="4828032" y="1399032"/>
            <a:ext cx="3931920" cy="14173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Same idea but for circles: (x−a)² + (y−b)² = r²</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Each edge pixel votes for all circles through it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3D accumulator: (a, b, r)</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Peaks = detected circles</a:t>
            </a:r>
            <a:endParaRPr lang="en-US" sz="1200" dirty="0"/>
          </a:p>
          <a:p>
            <a:pPr marL="342900" indent="-342900">
              <a:buSzPct val="100000"/>
              <a:buChar char="•"/>
            </a:pP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Used for: wheel detection, pipe detection,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button/dial recognition</a:t>
            </a:r>
            <a:endParaRPr lang="en-US" sz="1200" dirty="0"/>
          </a:p>
        </p:txBody>
      </p:sp>
      <p:sp>
        <p:nvSpPr>
          <p:cNvPr id="14" name="Text 12"/>
          <p:cNvSpPr/>
          <p:nvPr/>
        </p:nvSpPr>
        <p:spPr>
          <a:xfrm>
            <a:off x="365760" y="3108960"/>
            <a:ext cx="8412480" cy="274320"/>
          </a:xfrm>
          <a:prstGeom prst="rect">
            <a:avLst/>
          </a:prstGeom>
          <a:noFill/>
          <a:ln/>
        </p:spPr>
        <p:txBody>
          <a:bodyPr wrap="square" rtlCol="0" anchor="ctr"/>
          <a:lstStyle/>
          <a:p>
            <a:pPr marL="0" indent="0">
              <a:buNone/>
            </a:pPr>
            <a:r>
              <a:rPr lang="en-US" sz="1200" b="1" dirty="0">
                <a:solidFill>
                  <a:srgbClr val="1F2937"/>
                </a:solidFill>
                <a:latin typeface="Arial" pitchFamily="34" charset="0"/>
                <a:ea typeface="Arial" pitchFamily="34" charset="-122"/>
                <a:cs typeface="Arial" pitchFamily="34" charset="-120"/>
              </a:rPr>
              <a:t>Hough transforms are fast, robust to noise, and don't need training data. Perfect for structured environments.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Brief Intro: Deep Learning Detection (YOLO)</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27</a:t>
            </a:r>
            <a:endParaRPr lang="en-US" sz="800" dirty="0"/>
          </a:p>
        </p:txBody>
      </p:sp>
      <p:sp>
        <p:nvSpPr>
          <p:cNvPr id="5" name="Text 3"/>
          <p:cNvSpPr/>
          <p:nvPr/>
        </p:nvSpPr>
        <p:spPr>
          <a:xfrm>
            <a:off x="365760" y="685800"/>
            <a:ext cx="8229600" cy="274320"/>
          </a:xfrm>
          <a:prstGeom prst="rect">
            <a:avLst/>
          </a:prstGeom>
          <a:noFill/>
          <a:ln/>
        </p:spPr>
        <p:txBody>
          <a:bodyPr wrap="square" rtlCol="0" anchor="ctr"/>
          <a:lstStyle/>
          <a:p>
            <a:pPr marL="0" indent="0">
              <a:buNone/>
            </a:pPr>
            <a:r>
              <a:rPr lang="en-US" sz="1300" b="1" dirty="0">
                <a:solidFill>
                  <a:srgbClr val="8B5CF6"/>
                </a:solidFill>
                <a:latin typeface="Arial" pitchFamily="34" charset="0"/>
                <a:ea typeface="Arial" pitchFamily="34" charset="-122"/>
                <a:cs typeface="Arial" pitchFamily="34" charset="-120"/>
              </a:rPr>
              <a:t>Modern object detection uses Convolutional Neural Networks (CNNs).</a:t>
            </a:r>
            <a:endParaRPr lang="en-US" sz="1300" dirty="0"/>
          </a:p>
        </p:txBody>
      </p:sp>
      <p:sp>
        <p:nvSpPr>
          <p:cNvPr id="6" name="Shape 4"/>
          <p:cNvSpPr/>
          <p:nvPr/>
        </p:nvSpPr>
        <p:spPr>
          <a:xfrm>
            <a:off x="274320" y="1097280"/>
            <a:ext cx="1920240" cy="640080"/>
          </a:xfrm>
          <a:prstGeom prst="rect">
            <a:avLst/>
          </a:prstGeom>
          <a:solidFill>
            <a:srgbClr val="3B82F6"/>
          </a:solidFill>
          <a:ln/>
          <a:effectLst>
            <a:outerShdw blurRad="50800" dist="25400" dir="8100000" algn="bl" rotWithShape="0">
              <a:srgbClr val="000000">
                <a:alpha val="12000"/>
              </a:srgbClr>
            </a:outerShdw>
          </a:effectLst>
        </p:spPr>
      </p:sp>
      <p:sp>
        <p:nvSpPr>
          <p:cNvPr id="7" name="Text 5"/>
          <p:cNvSpPr/>
          <p:nvPr/>
        </p:nvSpPr>
        <p:spPr>
          <a:xfrm>
            <a:off x="274320" y="1115568"/>
            <a:ext cx="1920240" cy="60350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Image</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640×480×3</a:t>
            </a:r>
            <a:endParaRPr lang="en-US" sz="1200" dirty="0"/>
          </a:p>
        </p:txBody>
      </p:sp>
      <p:sp>
        <p:nvSpPr>
          <p:cNvPr id="8" name="Text 6"/>
          <p:cNvSpPr/>
          <p:nvPr/>
        </p:nvSpPr>
        <p:spPr>
          <a:xfrm>
            <a:off x="2194560" y="1188720"/>
            <a:ext cx="274320" cy="457200"/>
          </a:xfrm>
          <a:prstGeom prst="rect">
            <a:avLst/>
          </a:prstGeom>
          <a:noFill/>
          <a:ln/>
        </p:spPr>
        <p:txBody>
          <a:bodyPr wrap="square" rtlCol="0" anchor="ctr"/>
          <a:lstStyle/>
          <a:p>
            <a:pPr marL="0" indent="0">
              <a:buNone/>
            </a:pPr>
            <a:r>
              <a:rPr lang="en-US" sz="1400" dirty="0">
                <a:solidFill>
                  <a:srgbClr val="6B7280"/>
                </a:solidFill>
                <a:latin typeface="Arial" pitchFamily="34" charset="0"/>
                <a:ea typeface="Arial" pitchFamily="34" charset="-122"/>
                <a:cs typeface="Arial" pitchFamily="34" charset="-120"/>
              </a:rPr>
              <a:t>→</a:t>
            </a:r>
            <a:endParaRPr lang="en-US" sz="1400" dirty="0"/>
          </a:p>
        </p:txBody>
      </p:sp>
      <p:sp>
        <p:nvSpPr>
          <p:cNvPr id="9" name="Shape 7"/>
          <p:cNvSpPr/>
          <p:nvPr/>
        </p:nvSpPr>
        <p:spPr>
          <a:xfrm>
            <a:off x="2468880" y="1097280"/>
            <a:ext cx="1920240" cy="640080"/>
          </a:xfrm>
          <a:prstGeom prst="rect">
            <a:avLst/>
          </a:prstGeom>
          <a:solidFill>
            <a:srgbClr val="8B5CF6"/>
          </a:solidFill>
          <a:ln/>
          <a:effectLst>
            <a:outerShdw blurRad="50800" dist="25400" dir="8100000" algn="bl" rotWithShape="0">
              <a:srgbClr val="000000">
                <a:alpha val="12000"/>
              </a:srgbClr>
            </a:outerShdw>
          </a:effectLst>
        </p:spPr>
      </p:sp>
      <p:sp>
        <p:nvSpPr>
          <p:cNvPr id="10" name="Text 8"/>
          <p:cNvSpPr/>
          <p:nvPr/>
        </p:nvSpPr>
        <p:spPr>
          <a:xfrm>
            <a:off x="2468880" y="1115568"/>
            <a:ext cx="1920240" cy="60350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CNN Backbone</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(learned filters)</a:t>
            </a:r>
            <a:endParaRPr lang="en-US" sz="1200" dirty="0"/>
          </a:p>
        </p:txBody>
      </p:sp>
      <p:sp>
        <p:nvSpPr>
          <p:cNvPr id="11" name="Text 9"/>
          <p:cNvSpPr/>
          <p:nvPr/>
        </p:nvSpPr>
        <p:spPr>
          <a:xfrm>
            <a:off x="4389120" y="1188720"/>
            <a:ext cx="274320" cy="457200"/>
          </a:xfrm>
          <a:prstGeom prst="rect">
            <a:avLst/>
          </a:prstGeom>
          <a:noFill/>
          <a:ln/>
        </p:spPr>
        <p:txBody>
          <a:bodyPr wrap="square" rtlCol="0" anchor="ctr"/>
          <a:lstStyle/>
          <a:p>
            <a:pPr marL="0" indent="0">
              <a:buNone/>
            </a:pPr>
            <a:r>
              <a:rPr lang="en-US" sz="1400" dirty="0">
                <a:solidFill>
                  <a:srgbClr val="6B7280"/>
                </a:solidFill>
                <a:latin typeface="Arial" pitchFamily="34" charset="0"/>
                <a:ea typeface="Arial" pitchFamily="34" charset="-122"/>
                <a:cs typeface="Arial" pitchFamily="34" charset="-120"/>
              </a:rPr>
              <a:t>→</a:t>
            </a:r>
            <a:endParaRPr lang="en-US" sz="1400" dirty="0"/>
          </a:p>
        </p:txBody>
      </p:sp>
      <p:sp>
        <p:nvSpPr>
          <p:cNvPr id="12" name="Shape 10"/>
          <p:cNvSpPr/>
          <p:nvPr/>
        </p:nvSpPr>
        <p:spPr>
          <a:xfrm>
            <a:off x="4663440" y="1097280"/>
            <a:ext cx="1920240" cy="640080"/>
          </a:xfrm>
          <a:prstGeom prst="rect">
            <a:avLst/>
          </a:prstGeom>
          <a:solidFill>
            <a:srgbClr val="F59E0B"/>
          </a:solidFill>
          <a:ln/>
          <a:effectLst>
            <a:outerShdw blurRad="50800" dist="25400" dir="8100000" algn="bl" rotWithShape="0">
              <a:srgbClr val="000000">
                <a:alpha val="12000"/>
              </a:srgbClr>
            </a:outerShdw>
          </a:effectLst>
        </p:spPr>
      </p:sp>
      <p:sp>
        <p:nvSpPr>
          <p:cNvPr id="13" name="Text 11"/>
          <p:cNvSpPr/>
          <p:nvPr/>
        </p:nvSpPr>
        <p:spPr>
          <a:xfrm>
            <a:off x="4663440" y="1115568"/>
            <a:ext cx="1920240" cy="60350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Feature Maps</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(what CNN "sees")</a:t>
            </a:r>
            <a:endParaRPr lang="en-US" sz="1200" dirty="0"/>
          </a:p>
        </p:txBody>
      </p:sp>
      <p:sp>
        <p:nvSpPr>
          <p:cNvPr id="14" name="Text 12"/>
          <p:cNvSpPr/>
          <p:nvPr/>
        </p:nvSpPr>
        <p:spPr>
          <a:xfrm>
            <a:off x="6583680" y="1188720"/>
            <a:ext cx="274320" cy="457200"/>
          </a:xfrm>
          <a:prstGeom prst="rect">
            <a:avLst/>
          </a:prstGeom>
          <a:noFill/>
          <a:ln/>
        </p:spPr>
        <p:txBody>
          <a:bodyPr wrap="square" rtlCol="0" anchor="ctr"/>
          <a:lstStyle/>
          <a:p>
            <a:pPr marL="0" indent="0">
              <a:buNone/>
            </a:pPr>
            <a:r>
              <a:rPr lang="en-US" sz="1400" dirty="0">
                <a:solidFill>
                  <a:srgbClr val="6B7280"/>
                </a:solidFill>
                <a:latin typeface="Arial" pitchFamily="34" charset="0"/>
                <a:ea typeface="Arial" pitchFamily="34" charset="-122"/>
                <a:cs typeface="Arial" pitchFamily="34" charset="-120"/>
              </a:rPr>
              <a:t>→</a:t>
            </a:r>
            <a:endParaRPr lang="en-US" sz="1400" dirty="0"/>
          </a:p>
        </p:txBody>
      </p:sp>
      <p:sp>
        <p:nvSpPr>
          <p:cNvPr id="15" name="Shape 13"/>
          <p:cNvSpPr/>
          <p:nvPr/>
        </p:nvSpPr>
        <p:spPr>
          <a:xfrm>
            <a:off x="6858000" y="1097280"/>
            <a:ext cx="1920240" cy="640080"/>
          </a:xfrm>
          <a:prstGeom prst="rect">
            <a:avLst/>
          </a:prstGeom>
          <a:solidFill>
            <a:srgbClr val="10B981"/>
          </a:solidFill>
          <a:ln/>
          <a:effectLst>
            <a:outerShdw blurRad="50800" dist="25400" dir="8100000" algn="bl" rotWithShape="0">
              <a:srgbClr val="000000">
                <a:alpha val="12000"/>
              </a:srgbClr>
            </a:outerShdw>
          </a:effectLst>
        </p:spPr>
      </p:sp>
      <p:sp>
        <p:nvSpPr>
          <p:cNvPr id="16" name="Text 14"/>
          <p:cNvSpPr/>
          <p:nvPr/>
        </p:nvSpPr>
        <p:spPr>
          <a:xfrm>
            <a:off x="6858000" y="1115568"/>
            <a:ext cx="1920240" cy="60350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Detection Head</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(boxes + classes)</a:t>
            </a:r>
            <a:endParaRPr lang="en-US" sz="1200" dirty="0"/>
          </a:p>
        </p:txBody>
      </p:sp>
      <p:sp>
        <p:nvSpPr>
          <p:cNvPr id="17" name="Shape 15"/>
          <p:cNvSpPr/>
          <p:nvPr/>
        </p:nvSpPr>
        <p:spPr>
          <a:xfrm>
            <a:off x="274320" y="2011680"/>
            <a:ext cx="4114800" cy="1674272"/>
          </a:xfrm>
          <a:prstGeom prst="rect">
            <a:avLst/>
          </a:prstGeom>
          <a:solidFill>
            <a:srgbClr val="FFFFFF"/>
          </a:solidFill>
          <a:ln/>
          <a:effectLst>
            <a:outerShdw blurRad="50800" dist="25400" dir="8100000" algn="bl" rotWithShape="0">
              <a:srgbClr val="000000">
                <a:alpha val="12000"/>
              </a:srgbClr>
            </a:outerShdw>
          </a:effectLst>
        </p:spPr>
      </p:sp>
      <p:sp>
        <p:nvSpPr>
          <p:cNvPr id="18" name="Shape 16"/>
          <p:cNvSpPr/>
          <p:nvPr/>
        </p:nvSpPr>
        <p:spPr>
          <a:xfrm>
            <a:off x="274320" y="2011680"/>
            <a:ext cx="54864" cy="1463040"/>
          </a:xfrm>
          <a:prstGeom prst="rect">
            <a:avLst/>
          </a:prstGeom>
          <a:solidFill>
            <a:srgbClr val="8B5CF6"/>
          </a:solidFill>
          <a:ln/>
        </p:spPr>
      </p:sp>
      <p:sp>
        <p:nvSpPr>
          <p:cNvPr id="19" name="Text 17"/>
          <p:cNvSpPr/>
          <p:nvPr/>
        </p:nvSpPr>
        <p:spPr>
          <a:xfrm>
            <a:off x="438912" y="206654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YOLO: You Only Look Once</a:t>
            </a:r>
            <a:endParaRPr lang="en-US" sz="1200" dirty="0"/>
          </a:p>
        </p:txBody>
      </p:sp>
      <p:sp>
        <p:nvSpPr>
          <p:cNvPr id="20" name="Text 18"/>
          <p:cNvSpPr/>
          <p:nvPr/>
        </p:nvSpPr>
        <p:spPr>
          <a:xfrm>
            <a:off x="438912" y="2359152"/>
            <a:ext cx="3840480" cy="105156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Divides image into grid (e.g., 13×13)</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Each cell predicts: bounding boxes + confidence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 class probabilities — ALL at once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Single forward pass → real-time (30+ FPS)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YOLOv8: state of the art for robots (2024)</a:t>
            </a:r>
            <a:endParaRPr lang="en-US" sz="1200" dirty="0"/>
          </a:p>
        </p:txBody>
      </p:sp>
      <p:sp>
        <p:nvSpPr>
          <p:cNvPr id="21" name="Shape 19"/>
          <p:cNvSpPr/>
          <p:nvPr/>
        </p:nvSpPr>
        <p:spPr>
          <a:xfrm>
            <a:off x="4663440" y="2011679"/>
            <a:ext cx="4206240" cy="1674273"/>
          </a:xfrm>
          <a:prstGeom prst="rect">
            <a:avLst/>
          </a:prstGeom>
          <a:solidFill>
            <a:srgbClr val="FFFFFF"/>
          </a:solidFill>
          <a:ln/>
          <a:effectLst>
            <a:outerShdw blurRad="50800" dist="25400" dir="8100000" algn="bl" rotWithShape="0">
              <a:srgbClr val="000000">
                <a:alpha val="12000"/>
              </a:srgbClr>
            </a:outerShdw>
          </a:effectLst>
        </p:spPr>
      </p:sp>
      <p:sp>
        <p:nvSpPr>
          <p:cNvPr id="22" name="Shape 20"/>
          <p:cNvSpPr/>
          <p:nvPr/>
        </p:nvSpPr>
        <p:spPr>
          <a:xfrm>
            <a:off x="4663440" y="2011680"/>
            <a:ext cx="54864" cy="1463040"/>
          </a:xfrm>
          <a:prstGeom prst="rect">
            <a:avLst/>
          </a:prstGeom>
          <a:solidFill>
            <a:srgbClr val="F59E0B"/>
          </a:solidFill>
          <a:ln/>
        </p:spPr>
      </p:sp>
      <p:sp>
        <p:nvSpPr>
          <p:cNvPr id="23" name="Text 21"/>
          <p:cNvSpPr/>
          <p:nvPr/>
        </p:nvSpPr>
        <p:spPr>
          <a:xfrm>
            <a:off x="4828032" y="206654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When to use DL vs. Classical?</a:t>
            </a:r>
            <a:endParaRPr lang="en-US" sz="1200" dirty="0"/>
          </a:p>
        </p:txBody>
      </p:sp>
      <p:sp>
        <p:nvSpPr>
          <p:cNvPr id="24" name="Text 22"/>
          <p:cNvSpPr/>
          <p:nvPr/>
        </p:nvSpPr>
        <p:spPr>
          <a:xfrm>
            <a:off x="4828032" y="2359152"/>
            <a:ext cx="3931920" cy="105156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DL: many object classes, complex shapes,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have training data, have GPU</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Classical: geometric shapes (lines, circles),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no training data, interpretable,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limited compute (embedded systems)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Many robots use BOTH in parallel!</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0F4C81"/>
        </a:solidFill>
        <a:effectLst/>
      </p:bgPr>
    </p:bg>
    <p:spTree>
      <p:nvGrpSpPr>
        <p:cNvPr id="1" name=""/>
        <p:cNvGrpSpPr/>
        <p:nvPr/>
      </p:nvGrpSpPr>
      <p:grpSpPr>
        <a:xfrm>
          <a:off x="0" y="0"/>
          <a:ext cx="0" cy="0"/>
          <a:chOff x="0" y="0"/>
          <a:chExt cx="0" cy="0"/>
        </a:xfrm>
      </p:grpSpPr>
      <p:sp>
        <p:nvSpPr>
          <p:cNvPr id="2" name="Text 0"/>
          <p:cNvSpPr/>
          <p:nvPr/>
        </p:nvSpPr>
        <p:spPr>
          <a:xfrm>
            <a:off x="548640" y="914400"/>
            <a:ext cx="4572000" cy="457200"/>
          </a:xfrm>
          <a:prstGeom prst="rect">
            <a:avLst/>
          </a:prstGeom>
          <a:noFill/>
          <a:ln/>
        </p:spPr>
        <p:txBody>
          <a:bodyPr wrap="square" rtlCol="0" anchor="ctr"/>
          <a:lstStyle/>
          <a:p>
            <a:pPr marL="0" indent="0">
              <a:buNone/>
            </a:pPr>
            <a:r>
              <a:rPr lang="en-US" sz="1400" b="1" kern="0" spc="300" dirty="0">
                <a:solidFill>
                  <a:srgbClr val="F59E0B"/>
                </a:solidFill>
                <a:latin typeface="Arial" pitchFamily="34" charset="0"/>
                <a:ea typeface="Arial" pitchFamily="34" charset="-122"/>
                <a:cs typeface="Arial" pitchFamily="34" charset="-120"/>
              </a:rPr>
              <a:t>BLOCK H</a:t>
            </a:r>
            <a:endParaRPr lang="en-US" sz="1400" dirty="0"/>
          </a:p>
        </p:txBody>
      </p:sp>
      <p:sp>
        <p:nvSpPr>
          <p:cNvPr id="3" name="Text 1"/>
          <p:cNvSpPr/>
          <p:nvPr/>
        </p:nvSpPr>
        <p:spPr>
          <a:xfrm>
            <a:off x="548640" y="1371600"/>
            <a:ext cx="7772400" cy="1280160"/>
          </a:xfrm>
          <a:prstGeom prst="rect">
            <a:avLst/>
          </a:prstGeom>
          <a:noFill/>
          <a:ln/>
        </p:spPr>
        <p:txBody>
          <a:bodyPr wrap="square" rtlCol="0" anchor="ctr"/>
          <a:lstStyle/>
          <a:p>
            <a:pPr marL="0" indent="0">
              <a:buNone/>
            </a:pPr>
            <a:r>
              <a:rPr lang="en-US" sz="2800" b="1" dirty="0">
                <a:solidFill>
                  <a:srgbClr val="FFFFFF"/>
                </a:solidFill>
                <a:latin typeface="Arial" pitchFamily="34" charset="0"/>
                <a:ea typeface="Arial" pitchFamily="34" charset="-122"/>
                <a:cs typeface="Arial" pitchFamily="34" charset="-120"/>
              </a:rPr>
              <a:t>Point Cloud Processing</a:t>
            </a:r>
            <a:endParaRPr lang="en-US" sz="2800" dirty="0"/>
          </a:p>
        </p:txBody>
      </p:sp>
      <p:sp>
        <p:nvSpPr>
          <p:cNvPr id="4" name="Text 2"/>
          <p:cNvSpPr/>
          <p:nvPr/>
        </p:nvSpPr>
        <p:spPr>
          <a:xfrm>
            <a:off x="548640" y="2743200"/>
            <a:ext cx="7315200" cy="731520"/>
          </a:xfrm>
          <a:prstGeom prst="rect">
            <a:avLst/>
          </a:prstGeom>
          <a:noFill/>
          <a:ln/>
        </p:spPr>
        <p:txBody>
          <a:bodyPr wrap="square" rtlCol="0" anchor="ctr"/>
          <a:lstStyle/>
          <a:p>
            <a:pPr marL="0" indent="0">
              <a:buNone/>
            </a:pPr>
            <a:r>
              <a:rPr lang="en-US" sz="1500" dirty="0">
                <a:solidFill>
                  <a:srgbClr val="B0C4DE"/>
                </a:solidFill>
                <a:latin typeface="Arial" pitchFamily="34" charset="0"/>
                <a:ea typeface="Arial" pitchFamily="34" charset="-122"/>
                <a:cs typeface="Arial" pitchFamily="34" charset="-120"/>
              </a:rPr>
              <a:t>From 100,000 dots to individual objects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PBL: 100,000 LiDAR Points — Where Are the Obstacles?</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29</a:t>
            </a:r>
            <a:endParaRPr lang="en-US" sz="800" dirty="0"/>
          </a:p>
        </p:txBody>
      </p:sp>
      <p:sp>
        <p:nvSpPr>
          <p:cNvPr id="5" name="Shape 3"/>
          <p:cNvSpPr/>
          <p:nvPr/>
        </p:nvSpPr>
        <p:spPr>
          <a:xfrm>
            <a:off x="274320" y="685800"/>
            <a:ext cx="8595360" cy="731520"/>
          </a:xfrm>
          <a:prstGeom prst="rect">
            <a:avLst/>
          </a:prstGeom>
          <a:solidFill>
            <a:srgbClr val="FFFBEB"/>
          </a:solidFill>
          <a:ln/>
          <a:effectLst>
            <a:outerShdw blurRad="50800" dist="25400" dir="8100000" algn="bl" rotWithShape="0">
              <a:srgbClr val="000000">
                <a:alpha val="12000"/>
              </a:srgbClr>
            </a:outerShdw>
          </a:effectLst>
        </p:spPr>
      </p:sp>
      <p:sp>
        <p:nvSpPr>
          <p:cNvPr id="6" name="Shape 4"/>
          <p:cNvSpPr/>
          <p:nvPr/>
        </p:nvSpPr>
        <p:spPr>
          <a:xfrm>
            <a:off x="274320" y="685800"/>
            <a:ext cx="54864" cy="731520"/>
          </a:xfrm>
          <a:prstGeom prst="rect">
            <a:avLst/>
          </a:prstGeom>
          <a:solidFill>
            <a:srgbClr val="F97316"/>
          </a:solidFill>
          <a:ln/>
        </p:spPr>
      </p:sp>
      <p:sp>
        <p:nvSpPr>
          <p:cNvPr id="7" name="Text 5"/>
          <p:cNvSpPr/>
          <p:nvPr/>
        </p:nvSpPr>
        <p:spPr>
          <a:xfrm>
            <a:off x="457200" y="758952"/>
            <a:ext cx="8275320" cy="594360"/>
          </a:xfrm>
          <a:prstGeom prst="rect">
            <a:avLst/>
          </a:prstGeom>
          <a:noFill/>
          <a:ln/>
        </p:spPr>
        <p:txBody>
          <a:bodyPr wrap="square" rtlCol="0" anchor="t"/>
          <a:lstStyle/>
          <a:p>
            <a:pPr marL="0" indent="0">
              <a:buNone/>
            </a:pPr>
            <a:r>
              <a:rPr lang="en-US" sz="1200" b="1" dirty="0">
                <a:solidFill>
                  <a:srgbClr val="F97316"/>
                </a:solidFill>
                <a:latin typeface="Arial" pitchFamily="34" charset="0"/>
                <a:ea typeface="Arial" pitchFamily="34" charset="-122"/>
                <a:cs typeface="Arial" pitchFamily="34" charset="-120"/>
              </a:rPr>
              <a:t>PBL SCENARIO: </a:t>
            </a:r>
            <a:r>
              <a:rPr lang="en-US" sz="1200" dirty="0">
                <a:solidFill>
                  <a:srgbClr val="1F2937"/>
                </a:solidFill>
                <a:latin typeface="Arial" pitchFamily="34" charset="0"/>
                <a:ea typeface="Arial" pitchFamily="34" charset="-122"/>
                <a:cs typeface="Arial" pitchFamily="34" charset="-120"/>
              </a:rPr>
              <a:t>MediBot's 3D LiDAR returns 100,000 points per scan. Most points are the floor, walls, and ceiling — not obstacles. The planning module (MOD-09) needs a list of OBJECTS with bounding boxes, not a cloud of raw points.</a:t>
            </a:r>
            <a:endParaRPr lang="en-US" sz="1200" dirty="0"/>
          </a:p>
        </p:txBody>
      </p:sp>
      <p:sp>
        <p:nvSpPr>
          <p:cNvPr id="8" name="Text 6"/>
          <p:cNvSpPr/>
          <p:nvPr/>
        </p:nvSpPr>
        <p:spPr>
          <a:xfrm>
            <a:off x="365760" y="1600200"/>
            <a:ext cx="8229600" cy="274320"/>
          </a:xfrm>
          <a:prstGeom prst="rect">
            <a:avLst/>
          </a:prstGeom>
          <a:noFill/>
          <a:ln/>
        </p:spPr>
        <p:txBody>
          <a:bodyPr wrap="square" rtlCol="0" anchor="ctr"/>
          <a:lstStyle/>
          <a:p>
            <a:pPr marL="0" indent="0">
              <a:buNone/>
            </a:pPr>
            <a:r>
              <a:rPr lang="en-US" sz="1300" b="1" dirty="0">
                <a:solidFill>
                  <a:srgbClr val="0F4C81"/>
                </a:solidFill>
                <a:latin typeface="Arial" pitchFamily="34" charset="0"/>
                <a:ea typeface="Arial" pitchFamily="34" charset="-122"/>
                <a:cs typeface="Arial" pitchFamily="34" charset="-120"/>
              </a:rPr>
              <a:t>The point cloud processing pipeline:</a:t>
            </a:r>
            <a:endParaRPr lang="en-US" sz="1300" dirty="0"/>
          </a:p>
        </p:txBody>
      </p:sp>
      <p:sp>
        <p:nvSpPr>
          <p:cNvPr id="9" name="Shape 7"/>
          <p:cNvSpPr/>
          <p:nvPr/>
        </p:nvSpPr>
        <p:spPr>
          <a:xfrm>
            <a:off x="137160" y="1920240"/>
            <a:ext cx="1600200" cy="731520"/>
          </a:xfrm>
          <a:prstGeom prst="rect">
            <a:avLst/>
          </a:prstGeom>
          <a:solidFill>
            <a:srgbClr val="6B7280"/>
          </a:solidFill>
          <a:ln/>
          <a:effectLst>
            <a:outerShdw blurRad="50800" dist="25400" dir="8100000" algn="bl" rotWithShape="0">
              <a:srgbClr val="000000">
                <a:alpha val="12000"/>
              </a:srgbClr>
            </a:outerShdw>
          </a:effectLst>
        </p:spPr>
      </p:sp>
      <p:sp>
        <p:nvSpPr>
          <p:cNvPr id="10" name="Text 8"/>
          <p:cNvSpPr/>
          <p:nvPr/>
        </p:nvSpPr>
        <p:spPr>
          <a:xfrm>
            <a:off x="137160" y="1938528"/>
            <a:ext cx="1600200" cy="69494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Raw Cloud</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100K points</a:t>
            </a:r>
            <a:endParaRPr lang="en-US" sz="1200" dirty="0"/>
          </a:p>
        </p:txBody>
      </p:sp>
      <p:sp>
        <p:nvSpPr>
          <p:cNvPr id="11" name="Text 9"/>
          <p:cNvSpPr/>
          <p:nvPr/>
        </p:nvSpPr>
        <p:spPr>
          <a:xfrm>
            <a:off x="1737360" y="2057400"/>
            <a:ext cx="182880" cy="457200"/>
          </a:xfrm>
          <a:prstGeom prst="rect">
            <a:avLst/>
          </a:prstGeom>
          <a:noFill/>
          <a:ln/>
        </p:spPr>
        <p:txBody>
          <a:bodyPr wrap="square" rtlCol="0" anchor="ctr"/>
          <a:lstStyle/>
          <a:p>
            <a:pPr marL="0" indent="0">
              <a:buNone/>
            </a:pPr>
            <a:r>
              <a:rPr lang="en-US" sz="1400" dirty="0">
                <a:solidFill>
                  <a:srgbClr val="6B7280"/>
                </a:solidFill>
                <a:latin typeface="Arial" pitchFamily="34" charset="0"/>
                <a:ea typeface="Arial" pitchFamily="34" charset="-122"/>
                <a:cs typeface="Arial" pitchFamily="34" charset="-120"/>
              </a:rPr>
              <a:t>→</a:t>
            </a:r>
            <a:endParaRPr lang="en-US" sz="1400" dirty="0"/>
          </a:p>
        </p:txBody>
      </p:sp>
      <p:sp>
        <p:nvSpPr>
          <p:cNvPr id="12" name="Shape 10"/>
          <p:cNvSpPr/>
          <p:nvPr/>
        </p:nvSpPr>
        <p:spPr>
          <a:xfrm>
            <a:off x="1920240" y="1920240"/>
            <a:ext cx="1600200" cy="731520"/>
          </a:xfrm>
          <a:prstGeom prst="rect">
            <a:avLst/>
          </a:prstGeom>
          <a:solidFill>
            <a:srgbClr val="0D9488"/>
          </a:solidFill>
          <a:ln/>
          <a:effectLst>
            <a:outerShdw blurRad="50800" dist="25400" dir="8100000" algn="bl" rotWithShape="0">
              <a:srgbClr val="000000">
                <a:alpha val="12000"/>
              </a:srgbClr>
            </a:outerShdw>
          </a:effectLst>
        </p:spPr>
      </p:sp>
      <p:sp>
        <p:nvSpPr>
          <p:cNvPr id="13" name="Text 11"/>
          <p:cNvSpPr/>
          <p:nvPr/>
        </p:nvSpPr>
        <p:spPr>
          <a:xfrm>
            <a:off x="1920240" y="1938528"/>
            <a:ext cx="1600200" cy="69494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Downsample</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(voxel grid)</a:t>
            </a:r>
            <a:endParaRPr lang="en-US" sz="1200" dirty="0"/>
          </a:p>
        </p:txBody>
      </p:sp>
      <p:sp>
        <p:nvSpPr>
          <p:cNvPr id="14" name="Text 12"/>
          <p:cNvSpPr/>
          <p:nvPr/>
        </p:nvSpPr>
        <p:spPr>
          <a:xfrm>
            <a:off x="3520440" y="2057400"/>
            <a:ext cx="182880" cy="457200"/>
          </a:xfrm>
          <a:prstGeom prst="rect">
            <a:avLst/>
          </a:prstGeom>
          <a:noFill/>
          <a:ln/>
        </p:spPr>
        <p:txBody>
          <a:bodyPr wrap="square" rtlCol="0" anchor="ctr"/>
          <a:lstStyle/>
          <a:p>
            <a:pPr marL="0" indent="0">
              <a:buNone/>
            </a:pPr>
            <a:r>
              <a:rPr lang="en-US" sz="1400" dirty="0">
                <a:solidFill>
                  <a:srgbClr val="6B7280"/>
                </a:solidFill>
                <a:latin typeface="Arial" pitchFamily="34" charset="0"/>
                <a:ea typeface="Arial" pitchFamily="34" charset="-122"/>
                <a:cs typeface="Arial" pitchFamily="34" charset="-120"/>
              </a:rPr>
              <a:t>→</a:t>
            </a:r>
            <a:endParaRPr lang="en-US" sz="1400" dirty="0"/>
          </a:p>
        </p:txBody>
      </p:sp>
      <p:sp>
        <p:nvSpPr>
          <p:cNvPr id="15" name="Shape 13"/>
          <p:cNvSpPr/>
          <p:nvPr/>
        </p:nvSpPr>
        <p:spPr>
          <a:xfrm>
            <a:off x="3703320" y="1920240"/>
            <a:ext cx="1600200" cy="731520"/>
          </a:xfrm>
          <a:prstGeom prst="rect">
            <a:avLst/>
          </a:prstGeom>
          <a:solidFill>
            <a:srgbClr val="3B82F6"/>
          </a:solidFill>
          <a:ln/>
          <a:effectLst>
            <a:outerShdw blurRad="50800" dist="25400" dir="8100000" algn="bl" rotWithShape="0">
              <a:srgbClr val="000000">
                <a:alpha val="12000"/>
              </a:srgbClr>
            </a:outerShdw>
          </a:effectLst>
        </p:spPr>
      </p:sp>
      <p:sp>
        <p:nvSpPr>
          <p:cNvPr id="16" name="Text 14"/>
          <p:cNvSpPr/>
          <p:nvPr/>
        </p:nvSpPr>
        <p:spPr>
          <a:xfrm>
            <a:off x="3703320" y="1938528"/>
            <a:ext cx="1600200" cy="69494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Remove Ground</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(RANSAC plane)</a:t>
            </a:r>
            <a:endParaRPr lang="en-US" sz="1200" dirty="0"/>
          </a:p>
        </p:txBody>
      </p:sp>
      <p:sp>
        <p:nvSpPr>
          <p:cNvPr id="17" name="Text 15"/>
          <p:cNvSpPr/>
          <p:nvPr/>
        </p:nvSpPr>
        <p:spPr>
          <a:xfrm>
            <a:off x="5303520" y="2057400"/>
            <a:ext cx="182880" cy="457200"/>
          </a:xfrm>
          <a:prstGeom prst="rect">
            <a:avLst/>
          </a:prstGeom>
          <a:noFill/>
          <a:ln/>
        </p:spPr>
        <p:txBody>
          <a:bodyPr wrap="square" rtlCol="0" anchor="ctr"/>
          <a:lstStyle/>
          <a:p>
            <a:pPr marL="0" indent="0">
              <a:buNone/>
            </a:pPr>
            <a:r>
              <a:rPr lang="en-US" sz="1400" dirty="0">
                <a:solidFill>
                  <a:srgbClr val="6B7280"/>
                </a:solidFill>
                <a:latin typeface="Arial" pitchFamily="34" charset="0"/>
                <a:ea typeface="Arial" pitchFamily="34" charset="-122"/>
                <a:cs typeface="Arial" pitchFamily="34" charset="-120"/>
              </a:rPr>
              <a:t>→</a:t>
            </a:r>
            <a:endParaRPr lang="en-US" sz="1400" dirty="0"/>
          </a:p>
        </p:txBody>
      </p:sp>
      <p:sp>
        <p:nvSpPr>
          <p:cNvPr id="18" name="Shape 16"/>
          <p:cNvSpPr/>
          <p:nvPr/>
        </p:nvSpPr>
        <p:spPr>
          <a:xfrm>
            <a:off x="5486400" y="1920240"/>
            <a:ext cx="1600200" cy="731520"/>
          </a:xfrm>
          <a:prstGeom prst="rect">
            <a:avLst/>
          </a:prstGeom>
          <a:solidFill>
            <a:srgbClr val="8B5CF6"/>
          </a:solidFill>
          <a:ln/>
          <a:effectLst>
            <a:outerShdw blurRad="50800" dist="25400" dir="8100000" algn="bl" rotWithShape="0">
              <a:srgbClr val="000000">
                <a:alpha val="12000"/>
              </a:srgbClr>
            </a:outerShdw>
          </a:effectLst>
        </p:spPr>
      </p:sp>
      <p:sp>
        <p:nvSpPr>
          <p:cNvPr id="19" name="Text 17"/>
          <p:cNvSpPr/>
          <p:nvPr/>
        </p:nvSpPr>
        <p:spPr>
          <a:xfrm>
            <a:off x="5486400" y="1938528"/>
            <a:ext cx="1600200" cy="69494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Cluster Objects</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(Euclidean)</a:t>
            </a:r>
            <a:endParaRPr lang="en-US" sz="1200" dirty="0"/>
          </a:p>
        </p:txBody>
      </p:sp>
      <p:sp>
        <p:nvSpPr>
          <p:cNvPr id="20" name="Text 18"/>
          <p:cNvSpPr/>
          <p:nvPr/>
        </p:nvSpPr>
        <p:spPr>
          <a:xfrm>
            <a:off x="7086600" y="2057400"/>
            <a:ext cx="182880" cy="457200"/>
          </a:xfrm>
          <a:prstGeom prst="rect">
            <a:avLst/>
          </a:prstGeom>
          <a:noFill/>
          <a:ln/>
        </p:spPr>
        <p:txBody>
          <a:bodyPr wrap="square" rtlCol="0" anchor="ctr"/>
          <a:lstStyle/>
          <a:p>
            <a:pPr marL="0" indent="0">
              <a:buNone/>
            </a:pPr>
            <a:r>
              <a:rPr lang="en-US" sz="1400" dirty="0">
                <a:solidFill>
                  <a:srgbClr val="6B7280"/>
                </a:solidFill>
                <a:latin typeface="Arial" pitchFamily="34" charset="0"/>
                <a:ea typeface="Arial" pitchFamily="34" charset="-122"/>
                <a:cs typeface="Arial" pitchFamily="34" charset="-120"/>
              </a:rPr>
              <a:t>→</a:t>
            </a:r>
            <a:endParaRPr lang="en-US" sz="1400" dirty="0"/>
          </a:p>
        </p:txBody>
      </p:sp>
      <p:sp>
        <p:nvSpPr>
          <p:cNvPr id="21" name="Shape 19"/>
          <p:cNvSpPr/>
          <p:nvPr/>
        </p:nvSpPr>
        <p:spPr>
          <a:xfrm>
            <a:off x="7269480" y="1920240"/>
            <a:ext cx="1600200" cy="731520"/>
          </a:xfrm>
          <a:prstGeom prst="rect">
            <a:avLst/>
          </a:prstGeom>
          <a:solidFill>
            <a:srgbClr val="10B981"/>
          </a:solidFill>
          <a:ln/>
          <a:effectLst>
            <a:outerShdw blurRad="50800" dist="25400" dir="8100000" algn="bl" rotWithShape="0">
              <a:srgbClr val="000000">
                <a:alpha val="12000"/>
              </a:srgbClr>
            </a:outerShdw>
          </a:effectLst>
        </p:spPr>
      </p:sp>
      <p:sp>
        <p:nvSpPr>
          <p:cNvPr id="22" name="Text 20"/>
          <p:cNvSpPr/>
          <p:nvPr/>
        </p:nvSpPr>
        <p:spPr>
          <a:xfrm>
            <a:off x="7269480" y="1938528"/>
            <a:ext cx="1600200" cy="694944"/>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Bounding Boxes</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(for planning)</a:t>
            </a:r>
            <a:endParaRPr lang="en-US" sz="1200" dirty="0"/>
          </a:p>
        </p:txBody>
      </p:sp>
      <p:sp>
        <p:nvSpPr>
          <p:cNvPr id="23" name="Text 21"/>
          <p:cNvSpPr/>
          <p:nvPr/>
        </p:nvSpPr>
        <p:spPr>
          <a:xfrm>
            <a:off x="365760" y="2926080"/>
            <a:ext cx="8412480" cy="274320"/>
          </a:xfrm>
          <a:prstGeom prst="rect">
            <a:avLst/>
          </a:prstGeom>
          <a:noFill/>
          <a:ln/>
        </p:spPr>
        <p:txBody>
          <a:bodyPr wrap="square" rtlCol="0" anchor="ctr"/>
          <a:lstStyle/>
          <a:p>
            <a:pPr marL="0" indent="0">
              <a:buNone/>
            </a:pPr>
            <a:r>
              <a:rPr lang="en-US" sz="1200" b="1" dirty="0">
                <a:solidFill>
                  <a:srgbClr val="10B981"/>
                </a:solidFill>
                <a:latin typeface="Arial" pitchFamily="34" charset="0"/>
                <a:ea typeface="Arial" pitchFamily="34" charset="-122"/>
                <a:cs typeface="Arial" pitchFamily="34" charset="-120"/>
              </a:rPr>
              <a:t>Each step reduces data: 100K → 20K → 5K → 500 (3 clusters) → 3 bounding boxes. 33,000× data reduction!</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Step by Step: What Each Operation Does</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30</a:t>
            </a:r>
            <a:endParaRPr lang="en-US" sz="800" dirty="0"/>
          </a:p>
        </p:txBody>
      </p:sp>
      <p:sp>
        <p:nvSpPr>
          <p:cNvPr id="5" name="Shape 3"/>
          <p:cNvSpPr/>
          <p:nvPr/>
        </p:nvSpPr>
        <p:spPr>
          <a:xfrm>
            <a:off x="274320" y="731520"/>
            <a:ext cx="4114800" cy="1778506"/>
          </a:xfrm>
          <a:prstGeom prst="rect">
            <a:avLst/>
          </a:prstGeom>
          <a:solidFill>
            <a:srgbClr val="FFFFFF"/>
          </a:solidFill>
          <a:ln/>
          <a:effectLst>
            <a:outerShdw blurRad="50800" dist="25400" dir="8100000" algn="bl" rotWithShape="0">
              <a:srgbClr val="000000">
                <a:alpha val="12000"/>
              </a:srgbClr>
            </a:outerShdw>
          </a:effectLst>
        </p:spPr>
      </p:sp>
      <p:sp>
        <p:nvSpPr>
          <p:cNvPr id="6" name="Shape 4"/>
          <p:cNvSpPr/>
          <p:nvPr/>
        </p:nvSpPr>
        <p:spPr>
          <a:xfrm>
            <a:off x="274320" y="731520"/>
            <a:ext cx="54864" cy="1371600"/>
          </a:xfrm>
          <a:prstGeom prst="rect">
            <a:avLst/>
          </a:prstGeom>
          <a:solidFill>
            <a:srgbClr val="0D9488"/>
          </a:solidFill>
          <a:ln/>
        </p:spPr>
      </p:sp>
      <p:sp>
        <p:nvSpPr>
          <p:cNvPr id="7" name="Text 5"/>
          <p:cNvSpPr/>
          <p:nvPr/>
        </p:nvSpPr>
        <p:spPr>
          <a:xfrm>
            <a:off x="438912" y="78638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1. Voxel Grid Downsampling</a:t>
            </a:r>
            <a:endParaRPr lang="en-US" sz="1200" dirty="0"/>
          </a:p>
        </p:txBody>
      </p:sp>
      <p:sp>
        <p:nvSpPr>
          <p:cNvPr id="8" name="Text 6"/>
          <p:cNvSpPr/>
          <p:nvPr/>
        </p:nvSpPr>
        <p:spPr>
          <a:xfrm>
            <a:off x="438912" y="1078992"/>
            <a:ext cx="3840480" cy="9601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Divide space into small cubes (voxels) e.g. 5cm</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Replace all points in each voxel with ONE point (centroid)</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100K → 20K points. Same shape, less data.</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Reduces computation for all following steps.</a:t>
            </a:r>
            <a:endParaRPr lang="en-US" sz="1200" dirty="0"/>
          </a:p>
        </p:txBody>
      </p:sp>
      <p:sp>
        <p:nvSpPr>
          <p:cNvPr id="9" name="Shape 7"/>
          <p:cNvSpPr/>
          <p:nvPr/>
        </p:nvSpPr>
        <p:spPr>
          <a:xfrm>
            <a:off x="4663440" y="731519"/>
            <a:ext cx="4206240" cy="1778507"/>
          </a:xfrm>
          <a:prstGeom prst="rect">
            <a:avLst/>
          </a:prstGeom>
          <a:solidFill>
            <a:srgbClr val="FFFFFF"/>
          </a:solidFill>
          <a:ln/>
          <a:effectLst>
            <a:outerShdw blurRad="50800" dist="25400" dir="8100000" algn="bl" rotWithShape="0">
              <a:srgbClr val="000000">
                <a:alpha val="12000"/>
              </a:srgbClr>
            </a:outerShdw>
          </a:effectLst>
        </p:spPr>
      </p:sp>
      <p:sp>
        <p:nvSpPr>
          <p:cNvPr id="10" name="Shape 8"/>
          <p:cNvSpPr/>
          <p:nvPr/>
        </p:nvSpPr>
        <p:spPr>
          <a:xfrm>
            <a:off x="4663440" y="731520"/>
            <a:ext cx="54864" cy="1371600"/>
          </a:xfrm>
          <a:prstGeom prst="rect">
            <a:avLst/>
          </a:prstGeom>
          <a:solidFill>
            <a:srgbClr val="3B82F6"/>
          </a:solidFill>
          <a:ln/>
        </p:spPr>
      </p:sp>
      <p:sp>
        <p:nvSpPr>
          <p:cNvPr id="11" name="Text 9"/>
          <p:cNvSpPr/>
          <p:nvPr/>
        </p:nvSpPr>
        <p:spPr>
          <a:xfrm>
            <a:off x="4828032" y="78638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2. Ground Plane Removal (RANSAC)</a:t>
            </a:r>
            <a:endParaRPr lang="en-US" sz="1200" dirty="0"/>
          </a:p>
        </p:txBody>
      </p:sp>
      <p:sp>
        <p:nvSpPr>
          <p:cNvPr id="12" name="Text 10"/>
          <p:cNvSpPr/>
          <p:nvPr/>
        </p:nvSpPr>
        <p:spPr>
          <a:xfrm>
            <a:off x="4828032" y="1078992"/>
            <a:ext cx="3931920" cy="9601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The largest plane in the cloud = the floor</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RANSAC: pick 3 random points → fit plane → count inliers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Repeat → keep best plane → remove its points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20K → 5K points. Floor is GONE, only obstacles remain.</a:t>
            </a:r>
            <a:endParaRPr lang="en-US" sz="1200" dirty="0"/>
          </a:p>
        </p:txBody>
      </p:sp>
      <p:sp>
        <p:nvSpPr>
          <p:cNvPr id="13" name="Shape 11"/>
          <p:cNvSpPr/>
          <p:nvPr/>
        </p:nvSpPr>
        <p:spPr>
          <a:xfrm>
            <a:off x="274320" y="2838891"/>
            <a:ext cx="4114800" cy="1778508"/>
          </a:xfrm>
          <a:prstGeom prst="rect">
            <a:avLst/>
          </a:prstGeom>
          <a:solidFill>
            <a:srgbClr val="FFFFFF"/>
          </a:solidFill>
          <a:ln/>
          <a:effectLst>
            <a:outerShdw blurRad="50800" dist="25400" dir="8100000" algn="bl" rotWithShape="0">
              <a:srgbClr val="000000">
                <a:alpha val="12000"/>
              </a:srgbClr>
            </a:outerShdw>
          </a:effectLst>
        </p:spPr>
      </p:sp>
      <p:sp>
        <p:nvSpPr>
          <p:cNvPr id="14" name="Shape 12"/>
          <p:cNvSpPr/>
          <p:nvPr/>
        </p:nvSpPr>
        <p:spPr>
          <a:xfrm>
            <a:off x="274320" y="2838891"/>
            <a:ext cx="54864" cy="1371600"/>
          </a:xfrm>
          <a:prstGeom prst="rect">
            <a:avLst/>
          </a:prstGeom>
          <a:solidFill>
            <a:srgbClr val="8B5CF6"/>
          </a:solidFill>
          <a:ln/>
        </p:spPr>
      </p:sp>
      <p:sp>
        <p:nvSpPr>
          <p:cNvPr id="15" name="Text 13"/>
          <p:cNvSpPr/>
          <p:nvPr/>
        </p:nvSpPr>
        <p:spPr>
          <a:xfrm>
            <a:off x="438912" y="2893755"/>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3. Euclidean Clustering</a:t>
            </a:r>
            <a:endParaRPr lang="en-US" sz="1200" dirty="0"/>
          </a:p>
        </p:txBody>
      </p:sp>
      <p:sp>
        <p:nvSpPr>
          <p:cNvPr id="16" name="Text 14"/>
          <p:cNvSpPr/>
          <p:nvPr/>
        </p:nvSpPr>
        <p:spPr>
          <a:xfrm>
            <a:off x="438912" y="3186363"/>
            <a:ext cx="3840480" cy="9601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Group nearby non-ground points into clusters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Points within distance d of each other = same object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Each cluster = one physical object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5K points → 3 clusters (wheelchair, cart, person)</a:t>
            </a:r>
            <a:endParaRPr lang="en-US" sz="1200" dirty="0"/>
          </a:p>
        </p:txBody>
      </p:sp>
      <p:sp>
        <p:nvSpPr>
          <p:cNvPr id="17" name="Shape 15"/>
          <p:cNvSpPr/>
          <p:nvPr/>
        </p:nvSpPr>
        <p:spPr>
          <a:xfrm>
            <a:off x="4663440" y="2838891"/>
            <a:ext cx="4206240" cy="1778508"/>
          </a:xfrm>
          <a:prstGeom prst="rect">
            <a:avLst/>
          </a:prstGeom>
          <a:solidFill>
            <a:srgbClr val="FFFFFF"/>
          </a:solidFill>
          <a:ln/>
          <a:effectLst>
            <a:outerShdw blurRad="50800" dist="25400" dir="8100000" algn="bl" rotWithShape="0">
              <a:srgbClr val="000000">
                <a:alpha val="12000"/>
              </a:srgbClr>
            </a:outerShdw>
          </a:effectLst>
        </p:spPr>
      </p:sp>
      <p:sp>
        <p:nvSpPr>
          <p:cNvPr id="18" name="Shape 16"/>
          <p:cNvSpPr/>
          <p:nvPr/>
        </p:nvSpPr>
        <p:spPr>
          <a:xfrm>
            <a:off x="4663440" y="2838891"/>
            <a:ext cx="54864" cy="1371600"/>
          </a:xfrm>
          <a:prstGeom prst="rect">
            <a:avLst/>
          </a:prstGeom>
          <a:solidFill>
            <a:srgbClr val="10B981"/>
          </a:solidFill>
          <a:ln/>
        </p:spPr>
      </p:sp>
      <p:sp>
        <p:nvSpPr>
          <p:cNvPr id="19" name="Text 17"/>
          <p:cNvSpPr/>
          <p:nvPr/>
        </p:nvSpPr>
        <p:spPr>
          <a:xfrm>
            <a:off x="4828032" y="2893755"/>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4. Bounding Box Fitting</a:t>
            </a:r>
            <a:endParaRPr lang="en-US" sz="1200" dirty="0"/>
          </a:p>
        </p:txBody>
      </p:sp>
      <p:sp>
        <p:nvSpPr>
          <p:cNvPr id="20" name="Text 18"/>
          <p:cNvSpPr/>
          <p:nvPr/>
        </p:nvSpPr>
        <p:spPr>
          <a:xfrm>
            <a:off x="4828032" y="3186363"/>
            <a:ext cx="3931920" cy="9601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For each cluster: fit the smallest box that contains it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Output: position (x,y,z), dimensions (w,h,d)</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This is what the planner needs: obstacle position + size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3 clusters → 3 bounding boxes → 3 obstacles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Normal Estimation: Surface Orientation</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31</a:t>
            </a:r>
            <a:endParaRPr lang="en-US" sz="800" dirty="0"/>
          </a:p>
        </p:txBody>
      </p:sp>
      <p:sp>
        <p:nvSpPr>
          <p:cNvPr id="5" name="Text 3"/>
          <p:cNvSpPr/>
          <p:nvPr/>
        </p:nvSpPr>
        <p:spPr>
          <a:xfrm>
            <a:off x="365760" y="685800"/>
            <a:ext cx="8412480" cy="274320"/>
          </a:xfrm>
          <a:prstGeom prst="rect">
            <a:avLst/>
          </a:prstGeom>
          <a:noFill/>
          <a:ln/>
        </p:spPr>
        <p:txBody>
          <a:bodyPr wrap="square" rtlCol="0" anchor="ctr"/>
          <a:lstStyle/>
          <a:p>
            <a:pPr marL="0" indent="0">
              <a:buNone/>
            </a:pPr>
            <a:r>
              <a:rPr lang="en-US" sz="1300" dirty="0">
                <a:solidFill>
                  <a:srgbClr val="1F2937"/>
                </a:solidFill>
                <a:latin typeface="Arial" pitchFamily="34" charset="0"/>
                <a:ea typeface="Arial" pitchFamily="34" charset="-122"/>
                <a:cs typeface="Arial" pitchFamily="34" charset="-120"/>
              </a:rPr>
              <a:t>Normals tell you which way a surface FACES — critical for SLAM and mapping.</a:t>
            </a:r>
            <a:endParaRPr lang="en-US" sz="1300" dirty="0"/>
          </a:p>
        </p:txBody>
      </p:sp>
      <p:sp>
        <p:nvSpPr>
          <p:cNvPr id="6" name="Shape 4"/>
          <p:cNvSpPr/>
          <p:nvPr/>
        </p:nvSpPr>
        <p:spPr>
          <a:xfrm>
            <a:off x="274320" y="1051559"/>
            <a:ext cx="8595360" cy="940273"/>
          </a:xfrm>
          <a:prstGeom prst="rect">
            <a:avLst/>
          </a:prstGeom>
          <a:solidFill>
            <a:srgbClr val="EBF5FF"/>
          </a:solidFill>
          <a:ln/>
          <a:effectLst>
            <a:outerShdw blurRad="50800" dist="25400" dir="8100000" algn="bl" rotWithShape="0">
              <a:srgbClr val="000000">
                <a:alpha val="12000"/>
              </a:srgbClr>
            </a:outerShdw>
          </a:effectLst>
        </p:spPr>
      </p:sp>
      <p:sp>
        <p:nvSpPr>
          <p:cNvPr id="7" name="Text 5"/>
          <p:cNvSpPr/>
          <p:nvPr/>
        </p:nvSpPr>
        <p:spPr>
          <a:xfrm>
            <a:off x="411480" y="1125632"/>
            <a:ext cx="8321040" cy="345643"/>
          </a:xfrm>
          <a:prstGeom prst="rect">
            <a:avLst/>
          </a:prstGeom>
          <a:noFill/>
          <a:ln/>
        </p:spPr>
        <p:txBody>
          <a:bodyPr wrap="square" rtlCol="0" anchor="ctr"/>
          <a:lstStyle/>
          <a:p>
            <a:pPr marL="0" indent="0">
              <a:buNone/>
            </a:pPr>
            <a:r>
              <a:rPr lang="en-US" sz="1400" b="1" dirty="0">
                <a:solidFill>
                  <a:srgbClr val="1E3A5F"/>
                </a:solidFill>
                <a:latin typeface="Arial" pitchFamily="34" charset="0"/>
                <a:ea typeface="Arial" pitchFamily="34" charset="-122"/>
                <a:cs typeface="Arial" pitchFamily="34" charset="-120"/>
              </a:rPr>
              <a:t>For each point: fit a small plane to its k nearest neighbors → normal = plane's perpendicular vector</a:t>
            </a:r>
            <a:endParaRPr lang="en-US" sz="1400" dirty="0"/>
          </a:p>
        </p:txBody>
      </p:sp>
      <p:sp>
        <p:nvSpPr>
          <p:cNvPr id="8" name="Text 6"/>
          <p:cNvSpPr/>
          <p:nvPr/>
        </p:nvSpPr>
        <p:spPr>
          <a:xfrm>
            <a:off x="411480" y="1491632"/>
            <a:ext cx="8321040" cy="427939"/>
          </a:xfrm>
          <a:prstGeom prst="rect">
            <a:avLst/>
          </a:prstGeom>
          <a:noFill/>
          <a:ln/>
        </p:spPr>
        <p:txBody>
          <a:bodyPr wrap="square" rtlCol="0" anchor="t"/>
          <a:lstStyle/>
          <a:p>
            <a:pPr marL="0" indent="0">
              <a:buNone/>
            </a:pPr>
            <a:r>
              <a:rPr lang="en-US" sz="1200" dirty="0">
                <a:solidFill>
                  <a:srgbClr val="1F2937"/>
                </a:solidFill>
                <a:latin typeface="Arial" pitchFamily="34" charset="0"/>
                <a:ea typeface="Arial" pitchFamily="34" charset="-122"/>
                <a:cs typeface="Arial" pitchFamily="34" charset="-120"/>
              </a:rPr>
              <a:t>Floor normals point UP (0,0,1). Wall normals point SIDEWAYS (1,0,0 or 0,1,0).</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A ramp normal is tilted. Normal estimation distinguishes floor from wall from obstacle automatically.</a:t>
            </a:r>
            <a:endParaRPr lang="en-US" sz="1200" dirty="0"/>
          </a:p>
        </p:txBody>
      </p:sp>
      <p:sp>
        <p:nvSpPr>
          <p:cNvPr id="9" name="Shape 7"/>
          <p:cNvSpPr/>
          <p:nvPr/>
        </p:nvSpPr>
        <p:spPr>
          <a:xfrm>
            <a:off x="274320" y="2103120"/>
            <a:ext cx="4114800" cy="1866368"/>
          </a:xfrm>
          <a:prstGeom prst="rect">
            <a:avLst/>
          </a:prstGeom>
          <a:solidFill>
            <a:srgbClr val="FFFFFF"/>
          </a:solidFill>
          <a:ln/>
          <a:effectLst>
            <a:outerShdw blurRad="50800" dist="25400" dir="8100000" algn="bl" rotWithShape="0">
              <a:srgbClr val="000000">
                <a:alpha val="12000"/>
              </a:srgbClr>
            </a:outerShdw>
          </a:effectLst>
        </p:spPr>
      </p:sp>
      <p:sp>
        <p:nvSpPr>
          <p:cNvPr id="10" name="Shape 8"/>
          <p:cNvSpPr/>
          <p:nvPr/>
        </p:nvSpPr>
        <p:spPr>
          <a:xfrm>
            <a:off x="274320" y="2103120"/>
            <a:ext cx="54864" cy="1371600"/>
          </a:xfrm>
          <a:prstGeom prst="rect">
            <a:avLst/>
          </a:prstGeom>
          <a:solidFill>
            <a:srgbClr val="3B82F6"/>
          </a:solidFill>
          <a:ln/>
        </p:spPr>
      </p:sp>
      <p:sp>
        <p:nvSpPr>
          <p:cNvPr id="11" name="Text 9"/>
          <p:cNvSpPr/>
          <p:nvPr/>
        </p:nvSpPr>
        <p:spPr>
          <a:xfrm>
            <a:off x="438912" y="215798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Why normals matter:</a:t>
            </a:r>
            <a:endParaRPr lang="en-US" sz="1200" dirty="0"/>
          </a:p>
        </p:txBody>
      </p:sp>
      <p:sp>
        <p:nvSpPr>
          <p:cNvPr id="12" name="Text 10"/>
          <p:cNvSpPr/>
          <p:nvPr/>
        </p:nvSpPr>
        <p:spPr>
          <a:xfrm>
            <a:off x="438912" y="2450592"/>
            <a:ext cx="3840480" cy="9601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MOD-09 Planning: is this surface driveable? (normal ≈ up → yes)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MOD-08 SLAM: align two scans using normal consistency</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Obstacle detection: vertical normal → wall, tilted → ramp</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Semantic: flat+up → floor, flat+sideways → wall</a:t>
            </a:r>
            <a:endParaRPr lang="en-US" sz="1200" dirty="0"/>
          </a:p>
        </p:txBody>
      </p:sp>
      <p:sp>
        <p:nvSpPr>
          <p:cNvPr id="13" name="Shape 11"/>
          <p:cNvSpPr/>
          <p:nvPr/>
        </p:nvSpPr>
        <p:spPr>
          <a:xfrm>
            <a:off x="4663440" y="2103119"/>
            <a:ext cx="4206240" cy="1866367"/>
          </a:xfrm>
          <a:prstGeom prst="rect">
            <a:avLst/>
          </a:prstGeom>
          <a:solidFill>
            <a:srgbClr val="FFFFFF"/>
          </a:solidFill>
          <a:ln/>
          <a:effectLst>
            <a:outerShdw blurRad="50800" dist="25400" dir="8100000" algn="bl" rotWithShape="0">
              <a:srgbClr val="000000">
                <a:alpha val="12000"/>
              </a:srgbClr>
            </a:outerShdw>
          </a:effectLst>
        </p:spPr>
      </p:sp>
      <p:sp>
        <p:nvSpPr>
          <p:cNvPr id="14" name="Shape 12"/>
          <p:cNvSpPr/>
          <p:nvPr/>
        </p:nvSpPr>
        <p:spPr>
          <a:xfrm>
            <a:off x="4663440" y="2103120"/>
            <a:ext cx="54864" cy="1371600"/>
          </a:xfrm>
          <a:prstGeom prst="rect">
            <a:avLst/>
          </a:prstGeom>
          <a:solidFill>
            <a:srgbClr val="6B7280"/>
          </a:solidFill>
          <a:ln/>
        </p:spPr>
      </p:sp>
      <p:sp>
        <p:nvSpPr>
          <p:cNvPr id="15" name="Text 13"/>
          <p:cNvSpPr/>
          <p:nvPr/>
        </p:nvSpPr>
        <p:spPr>
          <a:xfrm>
            <a:off x="4828032" y="215798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Concept only (no implementation):</a:t>
            </a:r>
            <a:endParaRPr lang="en-US" sz="1200" dirty="0"/>
          </a:p>
        </p:txBody>
      </p:sp>
      <p:sp>
        <p:nvSpPr>
          <p:cNvPr id="16" name="Text 14"/>
          <p:cNvSpPr/>
          <p:nvPr/>
        </p:nvSpPr>
        <p:spPr>
          <a:xfrm>
            <a:off x="4828032" y="2450592"/>
            <a:ext cx="3931920" cy="9601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In practice: PCL library (C++) or Open3D (Python)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In ROS: pcl_ros package processes PointCloud2 messages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0F4C81"/>
        </a:solidFill>
        <a:effectLst/>
      </p:bgPr>
    </p:bg>
    <p:spTree>
      <p:nvGrpSpPr>
        <p:cNvPr id="1" name=""/>
        <p:cNvGrpSpPr/>
        <p:nvPr/>
      </p:nvGrpSpPr>
      <p:grpSpPr>
        <a:xfrm>
          <a:off x="0" y="0"/>
          <a:ext cx="0" cy="0"/>
          <a:chOff x="0" y="0"/>
          <a:chExt cx="0" cy="0"/>
        </a:xfrm>
      </p:grpSpPr>
      <p:sp>
        <p:nvSpPr>
          <p:cNvPr id="2" name="Text 0"/>
          <p:cNvSpPr/>
          <p:nvPr/>
        </p:nvSpPr>
        <p:spPr>
          <a:xfrm>
            <a:off x="548640" y="914400"/>
            <a:ext cx="4572000" cy="457200"/>
          </a:xfrm>
          <a:prstGeom prst="rect">
            <a:avLst/>
          </a:prstGeom>
          <a:noFill/>
          <a:ln/>
        </p:spPr>
        <p:txBody>
          <a:bodyPr wrap="square" rtlCol="0" anchor="ctr"/>
          <a:lstStyle/>
          <a:p>
            <a:pPr marL="0" indent="0">
              <a:buNone/>
            </a:pPr>
            <a:r>
              <a:rPr lang="en-US" sz="1400" b="1" kern="0" spc="300" dirty="0">
                <a:solidFill>
                  <a:srgbClr val="F59E0B"/>
                </a:solidFill>
                <a:latin typeface="Arial" pitchFamily="34" charset="0"/>
                <a:ea typeface="Arial" pitchFamily="34" charset="-122"/>
                <a:cs typeface="Arial" pitchFamily="34" charset="-120"/>
              </a:rPr>
              <a:t>BLOCK I</a:t>
            </a:r>
            <a:endParaRPr lang="en-US" sz="1400" dirty="0"/>
          </a:p>
        </p:txBody>
      </p:sp>
      <p:sp>
        <p:nvSpPr>
          <p:cNvPr id="3" name="Text 1"/>
          <p:cNvSpPr/>
          <p:nvPr/>
        </p:nvSpPr>
        <p:spPr>
          <a:xfrm>
            <a:off x="548640" y="1371600"/>
            <a:ext cx="7772400" cy="1280160"/>
          </a:xfrm>
          <a:prstGeom prst="rect">
            <a:avLst/>
          </a:prstGeom>
          <a:noFill/>
          <a:ln/>
        </p:spPr>
        <p:txBody>
          <a:bodyPr wrap="square" rtlCol="0" anchor="ctr"/>
          <a:lstStyle/>
          <a:p>
            <a:pPr marL="0" indent="0">
              <a:buNone/>
            </a:pPr>
            <a:r>
              <a:rPr lang="en-US" sz="2800" b="1" dirty="0">
                <a:solidFill>
                  <a:srgbClr val="FFFFFF"/>
                </a:solidFill>
                <a:latin typeface="Arial" pitchFamily="34" charset="0"/>
                <a:ea typeface="Arial" pitchFamily="34" charset="-122"/>
                <a:cs typeface="Arial" pitchFamily="34" charset="-120"/>
              </a:rPr>
              <a:t>Semantic Understanding</a:t>
            </a:r>
            <a:endParaRPr lang="en-US" sz="2800" dirty="0"/>
          </a:p>
        </p:txBody>
      </p:sp>
      <p:sp>
        <p:nvSpPr>
          <p:cNvPr id="4" name="Text 2"/>
          <p:cNvSpPr/>
          <p:nvPr/>
        </p:nvSpPr>
        <p:spPr>
          <a:xfrm>
            <a:off x="548640" y="2743200"/>
            <a:ext cx="7315200" cy="731520"/>
          </a:xfrm>
          <a:prstGeom prst="rect">
            <a:avLst/>
          </a:prstGeom>
          <a:noFill/>
          <a:ln/>
        </p:spPr>
        <p:txBody>
          <a:bodyPr wrap="square" rtlCol="0" anchor="ctr"/>
          <a:lstStyle/>
          <a:p>
            <a:pPr marL="0" indent="0">
              <a:buNone/>
            </a:pPr>
            <a:r>
              <a:rPr lang="en-US" sz="1500" dirty="0">
                <a:solidFill>
                  <a:srgbClr val="B0C4DE"/>
                </a:solidFill>
                <a:latin typeface="Arial" pitchFamily="34" charset="0"/>
                <a:ea typeface="Arial" pitchFamily="34" charset="-122"/>
                <a:cs typeface="Arial" pitchFamily="34" charset="-120"/>
              </a:rPr>
              <a:t>Beyond geometry: WHAT does the robot see?</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PBL: Closed Door vs. Open Door — Same Shape, Different Meaning</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33</a:t>
            </a:r>
            <a:endParaRPr lang="en-US" sz="800" dirty="0"/>
          </a:p>
        </p:txBody>
      </p:sp>
      <p:sp>
        <p:nvSpPr>
          <p:cNvPr id="5" name="Shape 3"/>
          <p:cNvSpPr/>
          <p:nvPr/>
        </p:nvSpPr>
        <p:spPr>
          <a:xfrm>
            <a:off x="274320" y="685800"/>
            <a:ext cx="8595360" cy="822960"/>
          </a:xfrm>
          <a:prstGeom prst="rect">
            <a:avLst/>
          </a:prstGeom>
          <a:solidFill>
            <a:srgbClr val="FFFBEB"/>
          </a:solidFill>
          <a:ln/>
          <a:effectLst>
            <a:outerShdw blurRad="50800" dist="25400" dir="8100000" algn="bl" rotWithShape="0">
              <a:srgbClr val="000000">
                <a:alpha val="12000"/>
              </a:srgbClr>
            </a:outerShdw>
          </a:effectLst>
        </p:spPr>
      </p:sp>
      <p:sp>
        <p:nvSpPr>
          <p:cNvPr id="6" name="Shape 4"/>
          <p:cNvSpPr/>
          <p:nvPr/>
        </p:nvSpPr>
        <p:spPr>
          <a:xfrm>
            <a:off x="274320" y="685800"/>
            <a:ext cx="54864" cy="731520"/>
          </a:xfrm>
          <a:prstGeom prst="rect">
            <a:avLst/>
          </a:prstGeom>
          <a:solidFill>
            <a:srgbClr val="F97316"/>
          </a:solidFill>
          <a:ln/>
        </p:spPr>
      </p:sp>
      <p:sp>
        <p:nvSpPr>
          <p:cNvPr id="7" name="Text 5"/>
          <p:cNvSpPr/>
          <p:nvPr/>
        </p:nvSpPr>
        <p:spPr>
          <a:xfrm>
            <a:off x="457200" y="758952"/>
            <a:ext cx="8275320" cy="594360"/>
          </a:xfrm>
          <a:prstGeom prst="rect">
            <a:avLst/>
          </a:prstGeom>
          <a:noFill/>
          <a:ln/>
        </p:spPr>
        <p:txBody>
          <a:bodyPr wrap="square" rtlCol="0" anchor="t"/>
          <a:lstStyle/>
          <a:p>
            <a:pPr marL="0" indent="0">
              <a:buNone/>
            </a:pPr>
            <a:r>
              <a:rPr lang="en-US" sz="1200" b="1" dirty="0">
                <a:solidFill>
                  <a:srgbClr val="F97316"/>
                </a:solidFill>
                <a:latin typeface="Arial" pitchFamily="34" charset="0"/>
                <a:ea typeface="Arial" pitchFamily="34" charset="-122"/>
                <a:cs typeface="Arial" pitchFamily="34" charset="-120"/>
              </a:rPr>
              <a:t>PBL SCENARIO: </a:t>
            </a:r>
            <a:r>
              <a:rPr lang="en-US" sz="1200" dirty="0">
                <a:solidFill>
                  <a:srgbClr val="1F2937"/>
                </a:solidFill>
                <a:latin typeface="Arial" pitchFamily="34" charset="0"/>
                <a:ea typeface="Arial" pitchFamily="34" charset="-122"/>
                <a:cs typeface="Arial" pitchFamily="34" charset="-120"/>
              </a:rPr>
              <a:t>MediBot approaches Ward B. The LiDAR scan shows a rectangular gap in the wall. Is the door OPEN (can drive through) or CLOSED (must stop and wait)? Geometrically, both look similar. Only semantic understanding — knowing what a 'door' means — resolves this.</a:t>
            </a:r>
            <a:endParaRPr lang="en-US" sz="1200" dirty="0"/>
          </a:p>
        </p:txBody>
      </p:sp>
      <p:sp>
        <p:nvSpPr>
          <p:cNvPr id="8" name="Text 6"/>
          <p:cNvSpPr/>
          <p:nvPr/>
        </p:nvSpPr>
        <p:spPr>
          <a:xfrm>
            <a:off x="365760" y="1600200"/>
            <a:ext cx="8229600" cy="274320"/>
          </a:xfrm>
          <a:prstGeom prst="rect">
            <a:avLst/>
          </a:prstGeom>
          <a:noFill/>
          <a:ln/>
        </p:spPr>
        <p:txBody>
          <a:bodyPr wrap="square" rtlCol="0" anchor="ctr"/>
          <a:lstStyle/>
          <a:p>
            <a:pPr marL="0" indent="0">
              <a:buNone/>
            </a:pPr>
            <a:r>
              <a:rPr lang="en-US" sz="1400" b="1" dirty="0">
                <a:solidFill>
                  <a:srgbClr val="0F4C81"/>
                </a:solidFill>
                <a:latin typeface="Arial" pitchFamily="34" charset="0"/>
                <a:ea typeface="Arial" pitchFamily="34" charset="-122"/>
                <a:cs typeface="Arial" pitchFamily="34" charset="-120"/>
              </a:rPr>
              <a:t>Semantic understanding = assigning MEANING to perceived objects.</a:t>
            </a:r>
            <a:endParaRPr lang="en-US" sz="1400" dirty="0"/>
          </a:p>
        </p:txBody>
      </p:sp>
      <p:sp>
        <p:nvSpPr>
          <p:cNvPr id="9" name="Shape 7"/>
          <p:cNvSpPr/>
          <p:nvPr/>
        </p:nvSpPr>
        <p:spPr>
          <a:xfrm>
            <a:off x="182880" y="1965960"/>
            <a:ext cx="2834640" cy="1828800"/>
          </a:xfrm>
          <a:prstGeom prst="rect">
            <a:avLst/>
          </a:prstGeom>
          <a:solidFill>
            <a:srgbClr val="FFFFFF"/>
          </a:solidFill>
          <a:ln/>
          <a:effectLst>
            <a:outerShdw blurRad="50800" dist="25400" dir="8100000" algn="bl" rotWithShape="0">
              <a:srgbClr val="000000">
                <a:alpha val="12000"/>
              </a:srgbClr>
            </a:outerShdw>
          </a:effectLst>
        </p:spPr>
      </p:sp>
      <p:sp>
        <p:nvSpPr>
          <p:cNvPr id="10" name="Shape 8"/>
          <p:cNvSpPr/>
          <p:nvPr/>
        </p:nvSpPr>
        <p:spPr>
          <a:xfrm>
            <a:off x="182880" y="1965960"/>
            <a:ext cx="54864" cy="1828800"/>
          </a:xfrm>
          <a:prstGeom prst="rect">
            <a:avLst/>
          </a:prstGeom>
          <a:solidFill>
            <a:srgbClr val="3B82F6"/>
          </a:solidFill>
          <a:ln/>
        </p:spPr>
      </p:sp>
      <p:sp>
        <p:nvSpPr>
          <p:cNvPr id="11" name="Text 9"/>
          <p:cNvSpPr/>
          <p:nvPr/>
        </p:nvSpPr>
        <p:spPr>
          <a:xfrm>
            <a:off x="347472" y="2020824"/>
            <a:ext cx="25603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Classification</a:t>
            </a:r>
            <a:endParaRPr lang="en-US" sz="1200" dirty="0"/>
          </a:p>
        </p:txBody>
      </p:sp>
      <p:sp>
        <p:nvSpPr>
          <p:cNvPr id="12" name="Text 10"/>
          <p:cNvSpPr/>
          <p:nvPr/>
        </p:nvSpPr>
        <p:spPr>
          <a:xfrm>
            <a:off x="347472" y="2313432"/>
            <a:ext cx="2560320" cy="14173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"What IS this object?"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One label per image/region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"This is a wheelchair"</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Simplest semantic task</a:t>
            </a:r>
            <a:endParaRPr lang="en-US" sz="1200" dirty="0"/>
          </a:p>
        </p:txBody>
      </p:sp>
      <p:sp>
        <p:nvSpPr>
          <p:cNvPr id="13" name="Shape 11"/>
          <p:cNvSpPr/>
          <p:nvPr/>
        </p:nvSpPr>
        <p:spPr>
          <a:xfrm>
            <a:off x="3154680" y="1965960"/>
            <a:ext cx="2834640" cy="1828800"/>
          </a:xfrm>
          <a:prstGeom prst="rect">
            <a:avLst/>
          </a:prstGeom>
          <a:solidFill>
            <a:srgbClr val="FFFFFF"/>
          </a:solidFill>
          <a:ln/>
          <a:effectLst>
            <a:outerShdw blurRad="50800" dist="25400" dir="8100000" algn="bl" rotWithShape="0">
              <a:srgbClr val="000000">
                <a:alpha val="12000"/>
              </a:srgbClr>
            </a:outerShdw>
          </a:effectLst>
        </p:spPr>
      </p:sp>
      <p:sp>
        <p:nvSpPr>
          <p:cNvPr id="14" name="Shape 12"/>
          <p:cNvSpPr/>
          <p:nvPr/>
        </p:nvSpPr>
        <p:spPr>
          <a:xfrm>
            <a:off x="3154680" y="1965960"/>
            <a:ext cx="54864" cy="1828800"/>
          </a:xfrm>
          <a:prstGeom prst="rect">
            <a:avLst/>
          </a:prstGeom>
          <a:solidFill>
            <a:srgbClr val="8B5CF6"/>
          </a:solidFill>
          <a:ln/>
        </p:spPr>
      </p:sp>
      <p:sp>
        <p:nvSpPr>
          <p:cNvPr id="15" name="Text 13"/>
          <p:cNvSpPr/>
          <p:nvPr/>
        </p:nvSpPr>
        <p:spPr>
          <a:xfrm>
            <a:off x="3319272" y="2020824"/>
            <a:ext cx="25603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Object Detection</a:t>
            </a:r>
            <a:endParaRPr lang="en-US" sz="1200" dirty="0"/>
          </a:p>
        </p:txBody>
      </p:sp>
      <p:sp>
        <p:nvSpPr>
          <p:cNvPr id="16" name="Text 14"/>
          <p:cNvSpPr/>
          <p:nvPr/>
        </p:nvSpPr>
        <p:spPr>
          <a:xfrm>
            <a:off x="3319272" y="2313432"/>
            <a:ext cx="2560320" cy="14173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Classification + WHERE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Bounding box + class label</a:t>
            </a:r>
            <a:endParaRPr lang="en-US" sz="1200" dirty="0"/>
          </a:p>
          <a:p>
            <a:pPr marL="342900" indent="-342900">
              <a:buSzPct val="100000"/>
              <a:buChar char="•"/>
            </a:pPr>
            <a:r>
              <a:rPr lang="en-US" sz="1200" dirty="0" err="1">
                <a:solidFill>
                  <a:srgbClr val="6B7280"/>
                </a:solidFill>
                <a:latin typeface="Arial" pitchFamily="34" charset="0"/>
                <a:ea typeface="Arial" pitchFamily="34" charset="-122"/>
                <a:cs typeface="Arial" pitchFamily="34" charset="-120"/>
              </a:rPr>
              <a:t>E.g</a:t>
            </a:r>
            <a:r>
              <a:rPr lang="en-US" sz="1200" dirty="0">
                <a:solidFill>
                  <a:srgbClr val="6B7280"/>
                </a:solidFill>
                <a:latin typeface="Arial" pitchFamily="34" charset="0"/>
                <a:ea typeface="Arial" pitchFamily="34" charset="-122"/>
                <a:cs typeface="Arial" pitchFamily="34" charset="-120"/>
              </a:rPr>
              <a:t> "Wheelchair at (3.2, 1.5)"</a:t>
            </a:r>
            <a:endParaRPr lang="en-US" sz="1200" dirty="0"/>
          </a:p>
        </p:txBody>
      </p:sp>
      <p:sp>
        <p:nvSpPr>
          <p:cNvPr id="17" name="Shape 15"/>
          <p:cNvSpPr/>
          <p:nvPr/>
        </p:nvSpPr>
        <p:spPr>
          <a:xfrm>
            <a:off x="6126480" y="1965960"/>
            <a:ext cx="2834640" cy="1828800"/>
          </a:xfrm>
          <a:prstGeom prst="rect">
            <a:avLst/>
          </a:prstGeom>
          <a:solidFill>
            <a:srgbClr val="FFFFFF"/>
          </a:solidFill>
          <a:ln/>
          <a:effectLst>
            <a:outerShdw blurRad="50800" dist="25400" dir="8100000" algn="bl" rotWithShape="0">
              <a:srgbClr val="000000">
                <a:alpha val="12000"/>
              </a:srgbClr>
            </a:outerShdw>
          </a:effectLst>
        </p:spPr>
      </p:sp>
      <p:sp>
        <p:nvSpPr>
          <p:cNvPr id="18" name="Shape 16"/>
          <p:cNvSpPr/>
          <p:nvPr/>
        </p:nvSpPr>
        <p:spPr>
          <a:xfrm>
            <a:off x="6126480" y="1965960"/>
            <a:ext cx="54864" cy="1828800"/>
          </a:xfrm>
          <a:prstGeom prst="rect">
            <a:avLst/>
          </a:prstGeom>
          <a:solidFill>
            <a:srgbClr val="10B981"/>
          </a:solidFill>
          <a:ln/>
        </p:spPr>
      </p:sp>
      <p:sp>
        <p:nvSpPr>
          <p:cNvPr id="19" name="Text 17"/>
          <p:cNvSpPr/>
          <p:nvPr/>
        </p:nvSpPr>
        <p:spPr>
          <a:xfrm>
            <a:off x="6291072" y="2020824"/>
            <a:ext cx="25603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Semantic Segmentation</a:t>
            </a:r>
            <a:endParaRPr lang="en-US" sz="1200" dirty="0"/>
          </a:p>
        </p:txBody>
      </p:sp>
      <p:sp>
        <p:nvSpPr>
          <p:cNvPr id="20" name="Text 18"/>
          <p:cNvSpPr/>
          <p:nvPr/>
        </p:nvSpPr>
        <p:spPr>
          <a:xfrm>
            <a:off x="6291072" y="2313432"/>
            <a:ext cx="2560320" cy="14173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Every PIXEL gets a label</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a:t>
            </a:r>
            <a:r>
              <a:rPr lang="en-US" sz="1200" dirty="0" err="1">
                <a:solidFill>
                  <a:srgbClr val="6B7280"/>
                </a:solidFill>
                <a:latin typeface="Arial" pitchFamily="34" charset="0"/>
                <a:ea typeface="Arial" pitchFamily="34" charset="-122"/>
                <a:cs typeface="Arial" pitchFamily="34" charset="-120"/>
              </a:rPr>
              <a:t>e.g</a:t>
            </a:r>
            <a:r>
              <a:rPr lang="en-US" sz="1200" dirty="0">
                <a:solidFill>
                  <a:srgbClr val="6B7280"/>
                </a:solidFill>
                <a:latin typeface="Arial" pitchFamily="34" charset="0"/>
                <a:ea typeface="Arial" pitchFamily="34" charset="-122"/>
                <a:cs typeface="Arial" pitchFamily="34" charset="-120"/>
              </a:rPr>
              <a:t> floor or wall"</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Dense understanding of scene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Most complete but most expensive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How Semantics Help the Robot</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34</a:t>
            </a:r>
            <a:endParaRPr lang="en-US" sz="800" dirty="0"/>
          </a:p>
        </p:txBody>
      </p:sp>
      <p:sp>
        <p:nvSpPr>
          <p:cNvPr id="5" name="Shape 3"/>
          <p:cNvSpPr/>
          <p:nvPr/>
        </p:nvSpPr>
        <p:spPr>
          <a:xfrm>
            <a:off x="274320" y="731520"/>
            <a:ext cx="4114800" cy="1828800"/>
          </a:xfrm>
          <a:prstGeom prst="rect">
            <a:avLst/>
          </a:prstGeom>
          <a:solidFill>
            <a:srgbClr val="FFFFFF"/>
          </a:solidFill>
          <a:ln/>
          <a:effectLst>
            <a:outerShdw blurRad="50800" dist="25400" dir="8100000" algn="bl" rotWithShape="0">
              <a:srgbClr val="000000">
                <a:alpha val="12000"/>
              </a:srgbClr>
            </a:outerShdw>
          </a:effectLst>
        </p:spPr>
      </p:sp>
      <p:sp>
        <p:nvSpPr>
          <p:cNvPr id="6" name="Shape 4"/>
          <p:cNvSpPr/>
          <p:nvPr/>
        </p:nvSpPr>
        <p:spPr>
          <a:xfrm>
            <a:off x="274320" y="731520"/>
            <a:ext cx="54864" cy="1828800"/>
          </a:xfrm>
          <a:prstGeom prst="rect">
            <a:avLst/>
          </a:prstGeom>
          <a:solidFill>
            <a:srgbClr val="10B981"/>
          </a:solidFill>
          <a:ln/>
        </p:spPr>
      </p:sp>
      <p:sp>
        <p:nvSpPr>
          <p:cNvPr id="7" name="Text 5"/>
          <p:cNvSpPr/>
          <p:nvPr/>
        </p:nvSpPr>
        <p:spPr>
          <a:xfrm>
            <a:off x="438912" y="78638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Semantic information enables:</a:t>
            </a:r>
            <a:endParaRPr lang="en-US" sz="1200" dirty="0"/>
          </a:p>
        </p:txBody>
      </p:sp>
      <p:sp>
        <p:nvSpPr>
          <p:cNvPr id="8" name="Text 6"/>
          <p:cNvSpPr/>
          <p:nvPr/>
        </p:nvSpPr>
        <p:spPr>
          <a:xfrm>
            <a:off x="438912" y="1078992"/>
            <a:ext cx="3840480" cy="14173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"That's a DOOR → I can go through" (planning)</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"That's a PERSON → yield and wait" (behavior)</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"That's a SIGN → read the text" (localization)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"That's FLOOR → safe to drive" (costmap)</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"That's GLASS → LiDAR will fail" (sensor selection)</a:t>
            </a:r>
            <a:endParaRPr lang="en-US" sz="1200" dirty="0"/>
          </a:p>
        </p:txBody>
      </p:sp>
      <p:sp>
        <p:nvSpPr>
          <p:cNvPr id="9" name="Shape 7"/>
          <p:cNvSpPr/>
          <p:nvPr/>
        </p:nvSpPr>
        <p:spPr>
          <a:xfrm>
            <a:off x="4663440" y="731520"/>
            <a:ext cx="4206240" cy="1828800"/>
          </a:xfrm>
          <a:prstGeom prst="rect">
            <a:avLst/>
          </a:prstGeom>
          <a:solidFill>
            <a:srgbClr val="FFFFFF"/>
          </a:solidFill>
          <a:ln/>
          <a:effectLst>
            <a:outerShdw blurRad="50800" dist="25400" dir="8100000" algn="bl" rotWithShape="0">
              <a:srgbClr val="000000">
                <a:alpha val="12000"/>
              </a:srgbClr>
            </a:outerShdw>
          </a:effectLst>
        </p:spPr>
      </p:sp>
      <p:sp>
        <p:nvSpPr>
          <p:cNvPr id="10" name="Shape 8"/>
          <p:cNvSpPr/>
          <p:nvPr/>
        </p:nvSpPr>
        <p:spPr>
          <a:xfrm>
            <a:off x="4663440" y="731520"/>
            <a:ext cx="54864" cy="1828800"/>
          </a:xfrm>
          <a:prstGeom prst="rect">
            <a:avLst/>
          </a:prstGeom>
          <a:solidFill>
            <a:srgbClr val="3B82F6"/>
          </a:solidFill>
          <a:ln/>
        </p:spPr>
      </p:sp>
      <p:sp>
        <p:nvSpPr>
          <p:cNvPr id="11" name="Text 9"/>
          <p:cNvSpPr/>
          <p:nvPr/>
        </p:nvSpPr>
        <p:spPr>
          <a:xfrm>
            <a:off x="4828032" y="78638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Connection to MOD-09 Planning:</a:t>
            </a:r>
            <a:endParaRPr lang="en-US" sz="1200" dirty="0"/>
          </a:p>
        </p:txBody>
      </p:sp>
      <p:sp>
        <p:nvSpPr>
          <p:cNvPr id="12" name="Text 10"/>
          <p:cNvSpPr/>
          <p:nvPr/>
        </p:nvSpPr>
        <p:spPr>
          <a:xfrm>
            <a:off x="4828032" y="1078992"/>
            <a:ext cx="3931920" cy="14173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Semantic costmap layers: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Floor → FREE (cost = 0)</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Wall → OCCUPIED (cost = infinity)</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Person → HIGH COST (avoid but possible)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Door (open) → FREE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Door (closed) → OCCUPIED</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The planner uses these costs to find safe paths</a:t>
            </a:r>
            <a:endParaRPr lang="en-US" sz="1200" dirty="0"/>
          </a:p>
        </p:txBody>
      </p:sp>
      <p:sp>
        <p:nvSpPr>
          <p:cNvPr id="13" name="Text 11"/>
          <p:cNvSpPr/>
          <p:nvPr/>
        </p:nvSpPr>
        <p:spPr>
          <a:xfrm>
            <a:off x="365760" y="2834640"/>
            <a:ext cx="8412480" cy="274320"/>
          </a:xfrm>
          <a:prstGeom prst="rect">
            <a:avLst/>
          </a:prstGeom>
          <a:noFill/>
          <a:ln/>
        </p:spPr>
        <p:txBody>
          <a:bodyPr wrap="square" rtlCol="0" anchor="ctr"/>
          <a:lstStyle/>
          <a:p>
            <a:pPr marL="0" indent="0">
              <a:buNone/>
            </a:pPr>
            <a:r>
              <a:rPr lang="en-US" sz="1200" b="1" dirty="0">
                <a:solidFill>
                  <a:srgbClr val="1F2937"/>
                </a:solidFill>
                <a:latin typeface="Arial" pitchFamily="34" charset="0"/>
                <a:ea typeface="Arial" pitchFamily="34" charset="-122"/>
                <a:cs typeface="Arial" pitchFamily="34" charset="-120"/>
              </a:rPr>
              <a:t>Without semantics: robot treats everything as either 'obstacle' or 'free.' With semantics: nuanced decisions.</a:t>
            </a:r>
            <a:endParaRPr lang="en-US" sz="1200" dirty="0"/>
          </a:p>
        </p:txBody>
      </p:sp>
      <p:sp>
        <p:nvSpPr>
          <p:cNvPr id="14" name="Shape 12"/>
          <p:cNvSpPr/>
          <p:nvPr/>
        </p:nvSpPr>
        <p:spPr>
          <a:xfrm>
            <a:off x="457200" y="3291840"/>
            <a:ext cx="411480" cy="411480"/>
          </a:xfrm>
          <a:prstGeom prst="ellipse">
            <a:avLst/>
          </a:prstGeom>
          <a:solidFill>
            <a:srgbClr val="F97316"/>
          </a:solidFill>
          <a:ln/>
        </p:spPr>
      </p:sp>
      <p:sp>
        <p:nvSpPr>
          <p:cNvPr id="15" name="Text 13"/>
          <p:cNvSpPr/>
          <p:nvPr/>
        </p:nvSpPr>
        <p:spPr>
          <a:xfrm>
            <a:off x="457200" y="3310128"/>
            <a:ext cx="411480" cy="384048"/>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O</a:t>
            </a:r>
            <a:endParaRPr lang="en-US" sz="1400" dirty="0"/>
          </a:p>
        </p:txBody>
      </p:sp>
      <p:sp>
        <p:nvSpPr>
          <p:cNvPr id="16" name="Text 14"/>
          <p:cNvSpPr/>
          <p:nvPr/>
        </p:nvSpPr>
        <p:spPr>
          <a:xfrm>
            <a:off x="960120" y="3310128"/>
            <a:ext cx="7680960" cy="365760"/>
          </a:xfrm>
          <a:prstGeom prst="rect">
            <a:avLst/>
          </a:prstGeom>
          <a:noFill/>
          <a:ln/>
        </p:spPr>
        <p:txBody>
          <a:bodyPr wrap="square" rtlCol="0" anchor="ctr"/>
          <a:lstStyle/>
          <a:p>
            <a:pPr marL="0" indent="0">
              <a:buNone/>
            </a:pPr>
            <a:r>
              <a:rPr lang="en-US" sz="1200" b="1" dirty="0">
                <a:solidFill>
                  <a:srgbClr val="F97316"/>
                </a:solidFill>
                <a:latin typeface="Arial" pitchFamily="34" charset="0"/>
                <a:ea typeface="Arial" pitchFamily="34" charset="-122"/>
                <a:cs typeface="Arial" pitchFamily="34" charset="-120"/>
              </a:rPr>
              <a:t>OPERATE: </a:t>
            </a:r>
            <a:r>
              <a:rPr lang="en-US" sz="1200" dirty="0">
                <a:solidFill>
                  <a:srgbClr val="1F2937"/>
                </a:solidFill>
                <a:latin typeface="Arial" pitchFamily="34" charset="0"/>
                <a:ea typeface="Arial" pitchFamily="34" charset="-122"/>
                <a:cs typeface="Arial" pitchFamily="34" charset="-120"/>
              </a:rPr>
              <a:t>In practice: semantic segmentation runs on GPU. Classical robots use simpler classification. Choose based on compute budget.</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0F4C81"/>
        </a:solidFill>
        <a:effectLst/>
      </p:bgPr>
    </p:bg>
    <p:spTree>
      <p:nvGrpSpPr>
        <p:cNvPr id="1" name=""/>
        <p:cNvGrpSpPr/>
        <p:nvPr/>
      </p:nvGrpSpPr>
      <p:grpSpPr>
        <a:xfrm>
          <a:off x="0" y="0"/>
          <a:ext cx="0" cy="0"/>
          <a:chOff x="0" y="0"/>
          <a:chExt cx="0" cy="0"/>
        </a:xfrm>
      </p:grpSpPr>
      <p:sp>
        <p:nvSpPr>
          <p:cNvPr id="2" name="Text 0"/>
          <p:cNvSpPr/>
          <p:nvPr/>
        </p:nvSpPr>
        <p:spPr>
          <a:xfrm>
            <a:off x="548640" y="914400"/>
            <a:ext cx="4572000" cy="457200"/>
          </a:xfrm>
          <a:prstGeom prst="rect">
            <a:avLst/>
          </a:prstGeom>
          <a:noFill/>
          <a:ln/>
        </p:spPr>
        <p:txBody>
          <a:bodyPr wrap="square" rtlCol="0" anchor="ctr"/>
          <a:lstStyle/>
          <a:p>
            <a:pPr marL="0" indent="0">
              <a:buNone/>
            </a:pPr>
            <a:r>
              <a:rPr lang="en-US" sz="1400" b="1" kern="0" spc="300" dirty="0">
                <a:solidFill>
                  <a:srgbClr val="F59E0B"/>
                </a:solidFill>
                <a:latin typeface="Arial" pitchFamily="34" charset="0"/>
                <a:ea typeface="Arial" pitchFamily="34" charset="-122"/>
                <a:cs typeface="Arial" pitchFamily="34" charset="-120"/>
              </a:rPr>
              <a:t>BLOCK J</a:t>
            </a:r>
            <a:endParaRPr lang="en-US" sz="1400" dirty="0"/>
          </a:p>
        </p:txBody>
      </p:sp>
      <p:sp>
        <p:nvSpPr>
          <p:cNvPr id="3" name="Text 1"/>
          <p:cNvSpPr/>
          <p:nvPr/>
        </p:nvSpPr>
        <p:spPr>
          <a:xfrm>
            <a:off x="548640" y="1371600"/>
            <a:ext cx="7772400" cy="1280160"/>
          </a:xfrm>
          <a:prstGeom prst="rect">
            <a:avLst/>
          </a:prstGeom>
          <a:noFill/>
          <a:ln/>
        </p:spPr>
        <p:txBody>
          <a:bodyPr wrap="square" rtlCol="0" anchor="ctr"/>
          <a:lstStyle/>
          <a:p>
            <a:pPr marL="0" indent="0">
              <a:buNone/>
            </a:pPr>
            <a:r>
              <a:rPr lang="en-US" sz="2800" b="1" dirty="0">
                <a:solidFill>
                  <a:srgbClr val="FFFFFF"/>
                </a:solidFill>
                <a:latin typeface="Arial" pitchFamily="34" charset="0"/>
                <a:ea typeface="Arial" pitchFamily="34" charset="-122"/>
                <a:cs typeface="Arial" pitchFamily="34" charset="-120"/>
              </a:rPr>
              <a:t>Perception in the</a:t>
            </a:r>
            <a:endParaRPr lang="en-US" sz="2800" dirty="0"/>
          </a:p>
          <a:p>
            <a:pPr marL="0" indent="0">
              <a:buNone/>
            </a:pPr>
            <a:r>
              <a:rPr lang="en-US" sz="2800" b="1" dirty="0">
                <a:solidFill>
                  <a:srgbClr val="FFFFFF"/>
                </a:solidFill>
                <a:latin typeface="Arial" pitchFamily="34" charset="0"/>
                <a:ea typeface="Arial" pitchFamily="34" charset="-122"/>
                <a:cs typeface="Arial" pitchFamily="34" charset="-120"/>
              </a:rPr>
              <a:t>Autonomy Stack</a:t>
            </a:r>
            <a:endParaRPr lang="en-US" sz="2800" dirty="0"/>
          </a:p>
        </p:txBody>
      </p:sp>
      <p:sp>
        <p:nvSpPr>
          <p:cNvPr id="4" name="Text 2"/>
          <p:cNvSpPr/>
          <p:nvPr/>
        </p:nvSpPr>
        <p:spPr>
          <a:xfrm>
            <a:off x="548640" y="2743200"/>
            <a:ext cx="7315200" cy="731520"/>
          </a:xfrm>
          <a:prstGeom prst="rect">
            <a:avLst/>
          </a:prstGeom>
          <a:noFill/>
          <a:ln/>
        </p:spPr>
        <p:txBody>
          <a:bodyPr wrap="square" rtlCol="0" anchor="ctr"/>
          <a:lstStyle/>
          <a:p>
            <a:pPr marL="0" indent="0">
              <a:buNone/>
            </a:pPr>
            <a:r>
              <a:rPr lang="en-US" sz="1500" dirty="0">
                <a:solidFill>
                  <a:srgbClr val="B0C4DE"/>
                </a:solidFill>
                <a:latin typeface="Arial" pitchFamily="34" charset="0"/>
                <a:ea typeface="Arial" pitchFamily="34" charset="-122"/>
                <a:cs typeface="Arial" pitchFamily="34" charset="-120"/>
              </a:rPr>
              <a:t>How perception connects to everything else</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Perception: The Central Bridge</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36</a:t>
            </a:r>
            <a:endParaRPr lang="en-US" sz="800" dirty="0"/>
          </a:p>
        </p:txBody>
      </p:sp>
      <p:sp>
        <p:nvSpPr>
          <p:cNvPr id="5" name="Shape 3"/>
          <p:cNvSpPr/>
          <p:nvPr/>
        </p:nvSpPr>
        <p:spPr>
          <a:xfrm>
            <a:off x="3200400" y="1371600"/>
            <a:ext cx="2743200" cy="1828800"/>
          </a:xfrm>
          <a:prstGeom prst="ellipse">
            <a:avLst/>
          </a:prstGeom>
          <a:solidFill>
            <a:srgbClr val="8B5CF6"/>
          </a:solidFill>
          <a:ln/>
          <a:effectLst>
            <a:outerShdw blurRad="50800" dist="25400" dir="8100000" algn="bl" rotWithShape="0">
              <a:srgbClr val="000000">
                <a:alpha val="12000"/>
              </a:srgbClr>
            </a:outerShdw>
          </a:effectLst>
        </p:spPr>
      </p:sp>
      <p:sp>
        <p:nvSpPr>
          <p:cNvPr id="6" name="Text 4"/>
          <p:cNvSpPr/>
          <p:nvPr/>
        </p:nvSpPr>
        <p:spPr>
          <a:xfrm>
            <a:off x="3200400" y="1737360"/>
            <a:ext cx="2743200" cy="914400"/>
          </a:xfrm>
          <a:prstGeom prst="rect">
            <a:avLst/>
          </a:prstGeom>
          <a:noFill/>
          <a:ln/>
        </p:spPr>
        <p:txBody>
          <a:bodyPr wrap="square"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PERCEPTION</a:t>
            </a:r>
            <a:endParaRPr lang="en-US" sz="1600" dirty="0"/>
          </a:p>
          <a:p>
            <a:pPr marL="0" indent="0" algn="ctr">
              <a:buNone/>
            </a:pPr>
            <a:r>
              <a:rPr lang="en-US" sz="1600" b="1" dirty="0">
                <a:solidFill>
                  <a:srgbClr val="FFFFFF"/>
                </a:solidFill>
                <a:latin typeface="Arial" pitchFamily="34" charset="0"/>
                <a:ea typeface="Arial" pitchFamily="34" charset="-122"/>
                <a:cs typeface="Arial" pitchFamily="34" charset="-120"/>
              </a:rPr>
              <a:t>(MOD-07)</a:t>
            </a:r>
            <a:endParaRPr lang="en-US" sz="1600" dirty="0"/>
          </a:p>
        </p:txBody>
      </p:sp>
      <p:sp>
        <p:nvSpPr>
          <p:cNvPr id="7" name="Shape 5"/>
          <p:cNvSpPr/>
          <p:nvPr/>
        </p:nvSpPr>
        <p:spPr>
          <a:xfrm>
            <a:off x="274320" y="731520"/>
            <a:ext cx="2011680" cy="822960"/>
          </a:xfrm>
          <a:prstGeom prst="rect">
            <a:avLst/>
          </a:prstGeom>
          <a:solidFill>
            <a:srgbClr val="3B82F6"/>
          </a:solidFill>
          <a:ln/>
          <a:effectLst>
            <a:outerShdw blurRad="50800" dist="25400" dir="8100000" algn="bl" rotWithShape="0">
              <a:srgbClr val="000000">
                <a:alpha val="12000"/>
              </a:srgbClr>
            </a:outerShdw>
          </a:effectLst>
        </p:spPr>
      </p:sp>
      <p:sp>
        <p:nvSpPr>
          <p:cNvPr id="8" name="Text 6"/>
          <p:cNvSpPr/>
          <p:nvPr/>
        </p:nvSpPr>
        <p:spPr>
          <a:xfrm>
            <a:off x="274320" y="777240"/>
            <a:ext cx="2011680" cy="731520"/>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Sensors</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(MOD-04)</a:t>
            </a:r>
            <a:endParaRPr lang="en-US" sz="1200" dirty="0"/>
          </a:p>
        </p:txBody>
      </p:sp>
      <p:sp>
        <p:nvSpPr>
          <p:cNvPr id="9" name="Shape 7"/>
          <p:cNvSpPr/>
          <p:nvPr/>
        </p:nvSpPr>
        <p:spPr>
          <a:xfrm>
            <a:off x="6400800" y="731520"/>
            <a:ext cx="2011680" cy="822960"/>
          </a:xfrm>
          <a:prstGeom prst="rect">
            <a:avLst/>
          </a:prstGeom>
          <a:solidFill>
            <a:srgbClr val="10B981"/>
          </a:solidFill>
          <a:ln/>
          <a:effectLst>
            <a:outerShdw blurRad="50800" dist="25400" dir="8100000" algn="bl" rotWithShape="0">
              <a:srgbClr val="000000">
                <a:alpha val="12000"/>
              </a:srgbClr>
            </a:outerShdw>
          </a:effectLst>
        </p:spPr>
      </p:sp>
      <p:sp>
        <p:nvSpPr>
          <p:cNvPr id="10" name="Text 8"/>
          <p:cNvSpPr/>
          <p:nvPr/>
        </p:nvSpPr>
        <p:spPr>
          <a:xfrm>
            <a:off x="6400800" y="777240"/>
            <a:ext cx="2011680" cy="731520"/>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Localization</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(MOD-06)</a:t>
            </a:r>
            <a:endParaRPr lang="en-US" sz="1200" dirty="0"/>
          </a:p>
        </p:txBody>
      </p:sp>
      <p:sp>
        <p:nvSpPr>
          <p:cNvPr id="11" name="Shape 9"/>
          <p:cNvSpPr/>
          <p:nvPr/>
        </p:nvSpPr>
        <p:spPr>
          <a:xfrm>
            <a:off x="6400800" y="2926080"/>
            <a:ext cx="2011680" cy="822960"/>
          </a:xfrm>
          <a:prstGeom prst="rect">
            <a:avLst/>
          </a:prstGeom>
          <a:solidFill>
            <a:srgbClr val="0D9488"/>
          </a:solidFill>
          <a:ln/>
          <a:effectLst>
            <a:outerShdw blurRad="50800" dist="25400" dir="8100000" algn="bl" rotWithShape="0">
              <a:srgbClr val="000000">
                <a:alpha val="12000"/>
              </a:srgbClr>
            </a:outerShdw>
          </a:effectLst>
        </p:spPr>
      </p:sp>
      <p:sp>
        <p:nvSpPr>
          <p:cNvPr id="12" name="Text 10"/>
          <p:cNvSpPr/>
          <p:nvPr/>
        </p:nvSpPr>
        <p:spPr>
          <a:xfrm>
            <a:off x="6400800" y="2971800"/>
            <a:ext cx="2011680" cy="731520"/>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Planning</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(MOD-09)</a:t>
            </a:r>
            <a:endParaRPr lang="en-US" sz="1200" dirty="0"/>
          </a:p>
        </p:txBody>
      </p:sp>
      <p:sp>
        <p:nvSpPr>
          <p:cNvPr id="13" name="Shape 11"/>
          <p:cNvSpPr/>
          <p:nvPr/>
        </p:nvSpPr>
        <p:spPr>
          <a:xfrm>
            <a:off x="274320" y="2926080"/>
            <a:ext cx="2011680" cy="822960"/>
          </a:xfrm>
          <a:prstGeom prst="rect">
            <a:avLst/>
          </a:prstGeom>
          <a:solidFill>
            <a:srgbClr val="EF4444"/>
          </a:solidFill>
          <a:ln/>
          <a:effectLst>
            <a:outerShdw blurRad="50800" dist="25400" dir="8100000" algn="bl" rotWithShape="0">
              <a:srgbClr val="000000">
                <a:alpha val="12000"/>
              </a:srgbClr>
            </a:outerShdw>
          </a:effectLst>
        </p:spPr>
      </p:sp>
      <p:sp>
        <p:nvSpPr>
          <p:cNvPr id="14" name="Text 12"/>
          <p:cNvSpPr/>
          <p:nvPr/>
        </p:nvSpPr>
        <p:spPr>
          <a:xfrm>
            <a:off x="274320" y="2971800"/>
            <a:ext cx="2011680" cy="731520"/>
          </a:xfrm>
          <a:prstGeom prst="rect">
            <a:avLst/>
          </a:prstGeom>
          <a:noFill/>
          <a:ln/>
        </p:spPr>
        <p:txBody>
          <a:bodyPr wrap="square"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SLAM</a:t>
            </a:r>
            <a:endParaRPr lang="en-US" sz="1200" dirty="0"/>
          </a:p>
          <a:p>
            <a:pPr marL="0" indent="0" algn="ctr">
              <a:buNone/>
            </a:pPr>
            <a:r>
              <a:rPr lang="en-US" sz="1200" b="1" dirty="0">
                <a:solidFill>
                  <a:srgbClr val="FFFFFF"/>
                </a:solidFill>
                <a:latin typeface="Arial" pitchFamily="34" charset="0"/>
                <a:ea typeface="Arial" pitchFamily="34" charset="-122"/>
                <a:cs typeface="Arial" pitchFamily="34" charset="-120"/>
              </a:rPr>
              <a:t>(MOD-08)</a:t>
            </a:r>
            <a:endParaRPr lang="en-US" sz="1200" dirty="0"/>
          </a:p>
        </p:txBody>
      </p:sp>
      <p:sp>
        <p:nvSpPr>
          <p:cNvPr id="15" name="Text 13"/>
          <p:cNvSpPr/>
          <p:nvPr/>
        </p:nvSpPr>
        <p:spPr>
          <a:xfrm>
            <a:off x="2331720" y="1334386"/>
            <a:ext cx="1371600" cy="274320"/>
          </a:xfrm>
          <a:prstGeom prst="rect">
            <a:avLst/>
          </a:prstGeom>
          <a:noFill/>
          <a:ln/>
        </p:spPr>
        <p:txBody>
          <a:bodyPr wrap="square" rtlCol="0" anchor="ctr"/>
          <a:lstStyle/>
          <a:p>
            <a:pPr marL="0" indent="0">
              <a:buNone/>
            </a:pPr>
            <a:r>
              <a:rPr lang="en-US" sz="1200" b="1" dirty="0">
                <a:solidFill>
                  <a:srgbClr val="3B82F6"/>
                </a:solidFill>
                <a:latin typeface="Arial" pitchFamily="34" charset="0"/>
                <a:ea typeface="Arial" pitchFamily="34" charset="-122"/>
                <a:cs typeface="Arial" pitchFamily="34" charset="-120"/>
              </a:rPr>
              <a:t>raw data →</a:t>
            </a:r>
            <a:endParaRPr lang="en-US" sz="1200" dirty="0"/>
          </a:p>
        </p:txBody>
      </p:sp>
      <p:sp>
        <p:nvSpPr>
          <p:cNvPr id="16" name="Text 14"/>
          <p:cNvSpPr/>
          <p:nvPr/>
        </p:nvSpPr>
        <p:spPr>
          <a:xfrm>
            <a:off x="5943600" y="1608706"/>
            <a:ext cx="1371600" cy="274320"/>
          </a:xfrm>
          <a:prstGeom prst="rect">
            <a:avLst/>
          </a:prstGeom>
          <a:noFill/>
          <a:ln/>
        </p:spPr>
        <p:txBody>
          <a:bodyPr wrap="square" rtlCol="0" anchor="ctr"/>
          <a:lstStyle/>
          <a:p>
            <a:pPr marL="0" indent="0">
              <a:buNone/>
            </a:pPr>
            <a:r>
              <a:rPr lang="en-US" sz="1200" b="1" dirty="0">
                <a:solidFill>
                  <a:srgbClr val="10B981"/>
                </a:solidFill>
                <a:latin typeface="Arial" pitchFamily="34" charset="0"/>
                <a:ea typeface="Arial" pitchFamily="34" charset="-122"/>
                <a:cs typeface="Arial" pitchFamily="34" charset="-120"/>
              </a:rPr>
              <a:t>→ landmarks</a:t>
            </a:r>
            <a:endParaRPr lang="en-US" sz="1200" dirty="0"/>
          </a:p>
        </p:txBody>
      </p:sp>
      <p:sp>
        <p:nvSpPr>
          <p:cNvPr id="17" name="Text 15"/>
          <p:cNvSpPr/>
          <p:nvPr/>
        </p:nvSpPr>
        <p:spPr>
          <a:xfrm>
            <a:off x="5886184" y="2628900"/>
            <a:ext cx="1371600" cy="274320"/>
          </a:xfrm>
          <a:prstGeom prst="rect">
            <a:avLst/>
          </a:prstGeom>
          <a:noFill/>
          <a:ln/>
        </p:spPr>
        <p:txBody>
          <a:bodyPr wrap="square" rtlCol="0" anchor="ctr"/>
          <a:lstStyle/>
          <a:p>
            <a:pPr marL="0" indent="0">
              <a:buNone/>
            </a:pPr>
            <a:r>
              <a:rPr lang="en-US" sz="1200" b="1" dirty="0">
                <a:solidFill>
                  <a:srgbClr val="0D9488"/>
                </a:solidFill>
                <a:latin typeface="Arial" pitchFamily="34" charset="0"/>
                <a:ea typeface="Arial" pitchFamily="34" charset="-122"/>
                <a:cs typeface="Arial" pitchFamily="34" charset="-120"/>
              </a:rPr>
              <a:t>→ obstacles</a:t>
            </a:r>
            <a:endParaRPr lang="en-US" sz="1200" dirty="0"/>
          </a:p>
        </p:txBody>
      </p:sp>
      <p:sp>
        <p:nvSpPr>
          <p:cNvPr id="18" name="Text 16"/>
          <p:cNvSpPr/>
          <p:nvPr/>
        </p:nvSpPr>
        <p:spPr>
          <a:xfrm>
            <a:off x="2427768" y="2963294"/>
            <a:ext cx="1645920" cy="274320"/>
          </a:xfrm>
          <a:prstGeom prst="rect">
            <a:avLst/>
          </a:prstGeom>
          <a:noFill/>
          <a:ln/>
        </p:spPr>
        <p:txBody>
          <a:bodyPr wrap="square" rtlCol="0" anchor="ctr"/>
          <a:lstStyle/>
          <a:p>
            <a:pPr marL="0" indent="0">
              <a:buNone/>
            </a:pPr>
            <a:r>
              <a:rPr lang="en-US" sz="1200" b="1" dirty="0">
                <a:solidFill>
                  <a:srgbClr val="EF4444"/>
                </a:solidFill>
                <a:latin typeface="Arial" pitchFamily="34" charset="0"/>
                <a:ea typeface="Arial" pitchFamily="34" charset="-122"/>
                <a:cs typeface="Arial" pitchFamily="34" charset="-120"/>
              </a:rPr>
              <a:t>← features →</a:t>
            </a:r>
            <a:endParaRPr lang="en-US" sz="1200" dirty="0"/>
          </a:p>
        </p:txBody>
      </p:sp>
      <p:sp>
        <p:nvSpPr>
          <p:cNvPr id="19" name="Text 17"/>
          <p:cNvSpPr/>
          <p:nvPr/>
        </p:nvSpPr>
        <p:spPr>
          <a:xfrm>
            <a:off x="365760" y="4023360"/>
            <a:ext cx="8412480" cy="274320"/>
          </a:xfrm>
          <a:prstGeom prst="rect">
            <a:avLst/>
          </a:prstGeom>
          <a:noFill/>
          <a:ln/>
        </p:spPr>
        <p:txBody>
          <a:bodyPr wrap="square" rtlCol="0" anchor="ctr"/>
          <a:lstStyle/>
          <a:p>
            <a:pPr marL="0" indent="0">
              <a:buNone/>
            </a:pPr>
            <a:r>
              <a:rPr lang="en-US" sz="1200" b="1" dirty="0">
                <a:solidFill>
                  <a:srgbClr val="EF4444"/>
                </a:solidFill>
                <a:latin typeface="Arial" pitchFamily="34" charset="0"/>
                <a:ea typeface="Arial" pitchFamily="34" charset="-122"/>
                <a:cs typeface="Arial" pitchFamily="34" charset="-120"/>
              </a:rPr>
              <a:t>If perception fails, EVERYTHING downstream fails. Robustness is critical.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When Perception Fails — And How to Recover</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37</a:t>
            </a:r>
            <a:endParaRPr lang="en-US" sz="800" dirty="0"/>
          </a:p>
        </p:txBody>
      </p:sp>
      <p:sp>
        <p:nvSpPr>
          <p:cNvPr id="5" name="Shape 3"/>
          <p:cNvSpPr/>
          <p:nvPr/>
        </p:nvSpPr>
        <p:spPr>
          <a:xfrm>
            <a:off x="274320" y="731519"/>
            <a:ext cx="4114800" cy="2458247"/>
          </a:xfrm>
          <a:prstGeom prst="rect">
            <a:avLst/>
          </a:prstGeom>
          <a:solidFill>
            <a:srgbClr val="FFFFFF"/>
          </a:solidFill>
          <a:ln/>
          <a:effectLst>
            <a:outerShdw blurRad="50800" dist="25400" dir="8100000" algn="bl" rotWithShape="0">
              <a:srgbClr val="000000">
                <a:alpha val="12000"/>
              </a:srgbClr>
            </a:outerShdw>
          </a:effectLst>
        </p:spPr>
      </p:sp>
      <p:sp>
        <p:nvSpPr>
          <p:cNvPr id="6" name="Shape 4"/>
          <p:cNvSpPr/>
          <p:nvPr/>
        </p:nvSpPr>
        <p:spPr>
          <a:xfrm>
            <a:off x="274320" y="731520"/>
            <a:ext cx="54864" cy="2011680"/>
          </a:xfrm>
          <a:prstGeom prst="rect">
            <a:avLst/>
          </a:prstGeom>
          <a:solidFill>
            <a:srgbClr val="EF4444"/>
          </a:solidFill>
          <a:ln/>
        </p:spPr>
      </p:sp>
      <p:sp>
        <p:nvSpPr>
          <p:cNvPr id="7" name="Text 5"/>
          <p:cNvSpPr/>
          <p:nvPr/>
        </p:nvSpPr>
        <p:spPr>
          <a:xfrm>
            <a:off x="438912" y="786384"/>
            <a:ext cx="384048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Common perception failures:</a:t>
            </a:r>
            <a:endParaRPr lang="en-US" sz="1200" dirty="0"/>
          </a:p>
        </p:txBody>
      </p:sp>
      <p:sp>
        <p:nvSpPr>
          <p:cNvPr id="8" name="Text 6"/>
          <p:cNvSpPr/>
          <p:nvPr/>
        </p:nvSpPr>
        <p:spPr>
          <a:xfrm>
            <a:off x="438912" y="1078992"/>
            <a:ext cx="3840480" cy="160020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Feature detection fails: textureless surface → no features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 VO fails, SLAM loses tracking</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Object detection fails: unusual object (never seen before)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 planner doesn't know it's an obstacle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Point cloud fails: glass, rain, fog, dust</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 obstacles invisible in 3D</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Semantic fails: novel scene (construction zone)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 wrong labels → wrong decisions</a:t>
            </a:r>
            <a:endParaRPr lang="en-US" sz="1200" dirty="0"/>
          </a:p>
        </p:txBody>
      </p:sp>
      <p:sp>
        <p:nvSpPr>
          <p:cNvPr id="9" name="Shape 7"/>
          <p:cNvSpPr/>
          <p:nvPr/>
        </p:nvSpPr>
        <p:spPr>
          <a:xfrm>
            <a:off x="4663440" y="731520"/>
            <a:ext cx="4206240" cy="2458246"/>
          </a:xfrm>
          <a:prstGeom prst="rect">
            <a:avLst/>
          </a:prstGeom>
          <a:solidFill>
            <a:srgbClr val="FFFFFF"/>
          </a:solidFill>
          <a:ln/>
          <a:effectLst>
            <a:outerShdw blurRad="50800" dist="25400" dir="8100000" algn="bl" rotWithShape="0">
              <a:srgbClr val="000000">
                <a:alpha val="12000"/>
              </a:srgbClr>
            </a:outerShdw>
          </a:effectLst>
        </p:spPr>
      </p:sp>
      <p:sp>
        <p:nvSpPr>
          <p:cNvPr id="10" name="Shape 8"/>
          <p:cNvSpPr/>
          <p:nvPr/>
        </p:nvSpPr>
        <p:spPr>
          <a:xfrm>
            <a:off x="4663440" y="731520"/>
            <a:ext cx="54864" cy="2011680"/>
          </a:xfrm>
          <a:prstGeom prst="rect">
            <a:avLst/>
          </a:prstGeom>
          <a:solidFill>
            <a:srgbClr val="10B981"/>
          </a:solidFill>
          <a:ln/>
        </p:spPr>
      </p:sp>
      <p:sp>
        <p:nvSpPr>
          <p:cNvPr id="11" name="Text 9"/>
          <p:cNvSpPr/>
          <p:nvPr/>
        </p:nvSpPr>
        <p:spPr>
          <a:xfrm>
            <a:off x="4828032" y="786384"/>
            <a:ext cx="393192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Robustness strategies:</a:t>
            </a:r>
            <a:endParaRPr lang="en-US" sz="1200" dirty="0"/>
          </a:p>
        </p:txBody>
      </p:sp>
      <p:sp>
        <p:nvSpPr>
          <p:cNvPr id="12" name="Text 10"/>
          <p:cNvSpPr/>
          <p:nvPr/>
        </p:nvSpPr>
        <p:spPr>
          <a:xfrm>
            <a:off x="4828032" y="1078992"/>
            <a:ext cx="3931920" cy="160020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Multi-sensor perception: camera + LiDAR + radar</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(from MOD-04 fusion — same principle!)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Fallback modes: if detection fails, treat as obstacle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(conservative = safe)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Confidence thresholds: only act on high-confidence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detections (&gt;0.8 confidence)</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Temporal consistency: object must be detected in</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  3+ consecutive frames to count (reduces false positives)</a:t>
            </a:r>
            <a:endParaRPr lang="en-US" sz="1200" dirty="0"/>
          </a:p>
        </p:txBody>
      </p:sp>
      <p:sp>
        <p:nvSpPr>
          <p:cNvPr id="13" name="Shape 11"/>
          <p:cNvSpPr/>
          <p:nvPr/>
        </p:nvSpPr>
        <p:spPr>
          <a:xfrm>
            <a:off x="438912" y="3966051"/>
            <a:ext cx="411480" cy="411480"/>
          </a:xfrm>
          <a:prstGeom prst="ellipse">
            <a:avLst/>
          </a:prstGeom>
          <a:solidFill>
            <a:srgbClr val="F97316"/>
          </a:solidFill>
          <a:ln/>
        </p:spPr>
      </p:sp>
      <p:sp>
        <p:nvSpPr>
          <p:cNvPr id="14" name="Text 12"/>
          <p:cNvSpPr/>
          <p:nvPr/>
        </p:nvSpPr>
        <p:spPr>
          <a:xfrm>
            <a:off x="438912" y="3984339"/>
            <a:ext cx="411480" cy="384048"/>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O</a:t>
            </a:r>
            <a:endParaRPr lang="en-US" sz="1400" dirty="0"/>
          </a:p>
        </p:txBody>
      </p:sp>
      <p:sp>
        <p:nvSpPr>
          <p:cNvPr id="15" name="Text 13"/>
          <p:cNvSpPr/>
          <p:nvPr/>
        </p:nvSpPr>
        <p:spPr>
          <a:xfrm>
            <a:off x="941832" y="3984339"/>
            <a:ext cx="7680960" cy="365760"/>
          </a:xfrm>
          <a:prstGeom prst="rect">
            <a:avLst/>
          </a:prstGeom>
          <a:noFill/>
          <a:ln/>
        </p:spPr>
        <p:txBody>
          <a:bodyPr wrap="square" rtlCol="0" anchor="ctr"/>
          <a:lstStyle/>
          <a:p>
            <a:pPr marL="0" indent="0">
              <a:buNone/>
            </a:pPr>
            <a:r>
              <a:rPr lang="en-US" sz="1200" b="1" dirty="0">
                <a:solidFill>
                  <a:srgbClr val="F97316"/>
                </a:solidFill>
                <a:latin typeface="Arial" pitchFamily="34" charset="0"/>
                <a:ea typeface="Arial" pitchFamily="34" charset="-122"/>
                <a:cs typeface="Arial" pitchFamily="34" charset="-120"/>
              </a:rPr>
              <a:t>OPERATE: </a:t>
            </a:r>
            <a:r>
              <a:rPr lang="en-US" sz="1200" dirty="0">
                <a:solidFill>
                  <a:srgbClr val="1F2937"/>
                </a:solidFill>
                <a:latin typeface="Arial" pitchFamily="34" charset="0"/>
                <a:ea typeface="Arial" pitchFamily="34" charset="-122"/>
                <a:cs typeface="Arial" pitchFamily="34" charset="-120"/>
              </a:rPr>
              <a:t>Perception is NOT 100% reliable. Design the system to degrade gracefully (based on sensor health monitoring).</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Key Takeaways</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38</a:t>
            </a:r>
            <a:endParaRPr lang="en-US" sz="800" dirty="0"/>
          </a:p>
        </p:txBody>
      </p:sp>
      <p:sp>
        <p:nvSpPr>
          <p:cNvPr id="5" name="Shape 3"/>
          <p:cNvSpPr/>
          <p:nvPr/>
        </p:nvSpPr>
        <p:spPr>
          <a:xfrm>
            <a:off x="228600" y="777240"/>
            <a:ext cx="2788920" cy="1463040"/>
          </a:xfrm>
          <a:prstGeom prst="rect">
            <a:avLst/>
          </a:prstGeom>
          <a:solidFill>
            <a:srgbClr val="FFFFFF"/>
          </a:solidFill>
          <a:ln/>
          <a:effectLst>
            <a:outerShdw blurRad="50800" dist="25400" dir="8100000" algn="bl" rotWithShape="0">
              <a:srgbClr val="000000">
                <a:alpha val="12000"/>
              </a:srgbClr>
            </a:outerShdw>
          </a:effectLst>
        </p:spPr>
      </p:sp>
      <p:sp>
        <p:nvSpPr>
          <p:cNvPr id="6" name="Shape 4"/>
          <p:cNvSpPr/>
          <p:nvPr/>
        </p:nvSpPr>
        <p:spPr>
          <a:xfrm>
            <a:off x="338328" y="886968"/>
            <a:ext cx="411480" cy="411480"/>
          </a:xfrm>
          <a:prstGeom prst="ellipse">
            <a:avLst/>
          </a:prstGeom>
          <a:solidFill>
            <a:srgbClr val="0F4C81"/>
          </a:solidFill>
          <a:ln/>
        </p:spPr>
      </p:sp>
      <p:sp>
        <p:nvSpPr>
          <p:cNvPr id="7" name="Text 5"/>
          <p:cNvSpPr/>
          <p:nvPr/>
        </p:nvSpPr>
        <p:spPr>
          <a:xfrm>
            <a:off x="338328" y="905256"/>
            <a:ext cx="411480" cy="384048"/>
          </a:xfrm>
          <a:prstGeom prst="rect">
            <a:avLst/>
          </a:prstGeom>
          <a:noFill/>
          <a:ln/>
        </p:spPr>
        <p:txBody>
          <a:bodyPr wrap="square"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p:nvPr/>
        </p:nvSpPr>
        <p:spPr>
          <a:xfrm>
            <a:off x="822960" y="886968"/>
            <a:ext cx="2011680" cy="384048"/>
          </a:xfrm>
          <a:prstGeom prst="rect">
            <a:avLst/>
          </a:prstGeom>
          <a:noFill/>
          <a:ln/>
        </p:spPr>
        <p:txBody>
          <a:bodyPr wrap="square" rtlCol="0" anchor="ctr"/>
          <a:lstStyle/>
          <a:p>
            <a:pPr marL="0" indent="0">
              <a:buNone/>
            </a:pPr>
            <a:r>
              <a:rPr lang="en-US" sz="1200" b="1" dirty="0">
                <a:solidFill>
                  <a:srgbClr val="1F2937"/>
                </a:solidFill>
                <a:latin typeface="Arial" pitchFamily="34" charset="0"/>
                <a:ea typeface="Arial" pitchFamily="34" charset="-122"/>
                <a:cs typeface="Arial" pitchFamily="34" charset="-120"/>
              </a:rPr>
              <a:t>Pipeline matters</a:t>
            </a:r>
            <a:endParaRPr lang="en-US" sz="1200" dirty="0"/>
          </a:p>
        </p:txBody>
      </p:sp>
      <p:sp>
        <p:nvSpPr>
          <p:cNvPr id="9" name="Text 7"/>
          <p:cNvSpPr/>
          <p:nvPr/>
        </p:nvSpPr>
        <p:spPr>
          <a:xfrm>
            <a:off x="338328" y="1371600"/>
            <a:ext cx="2560320" cy="731520"/>
          </a:xfrm>
          <a:prstGeom prst="rect">
            <a:avLst/>
          </a:prstGeom>
          <a:noFill/>
          <a:ln/>
        </p:spPr>
        <p:txBody>
          <a:bodyPr wrap="square" rtlCol="0" anchor="t"/>
          <a:lstStyle/>
          <a:p>
            <a:pPr marL="0" indent="0">
              <a:buNone/>
            </a:pPr>
            <a:r>
              <a:rPr lang="en-US" sz="1200" dirty="0">
                <a:solidFill>
                  <a:srgbClr val="6B7280"/>
                </a:solidFill>
                <a:latin typeface="Arial" pitchFamily="34" charset="0"/>
                <a:ea typeface="Arial" pitchFamily="34" charset="-122"/>
                <a:cs typeface="Arial" pitchFamily="34" charset="-120"/>
              </a:rPr>
              <a:t>Sense → Preprocess → Detect → Classify → Interpret. Each stage adds value.</a:t>
            </a:r>
            <a:endParaRPr lang="en-US" sz="1200" dirty="0"/>
          </a:p>
        </p:txBody>
      </p:sp>
      <p:sp>
        <p:nvSpPr>
          <p:cNvPr id="10" name="Shape 8"/>
          <p:cNvSpPr/>
          <p:nvPr/>
        </p:nvSpPr>
        <p:spPr>
          <a:xfrm>
            <a:off x="3154680" y="777240"/>
            <a:ext cx="2788920" cy="1463040"/>
          </a:xfrm>
          <a:prstGeom prst="rect">
            <a:avLst/>
          </a:prstGeom>
          <a:solidFill>
            <a:srgbClr val="FFFFFF"/>
          </a:solidFill>
          <a:ln/>
          <a:effectLst>
            <a:outerShdw blurRad="50800" dist="25400" dir="8100000" algn="bl" rotWithShape="0">
              <a:srgbClr val="000000">
                <a:alpha val="12000"/>
              </a:srgbClr>
            </a:outerShdw>
          </a:effectLst>
        </p:spPr>
      </p:sp>
      <p:sp>
        <p:nvSpPr>
          <p:cNvPr id="11" name="Shape 9"/>
          <p:cNvSpPr/>
          <p:nvPr/>
        </p:nvSpPr>
        <p:spPr>
          <a:xfrm>
            <a:off x="3264408" y="886968"/>
            <a:ext cx="411480" cy="411480"/>
          </a:xfrm>
          <a:prstGeom prst="ellipse">
            <a:avLst/>
          </a:prstGeom>
          <a:solidFill>
            <a:srgbClr val="0F4C81"/>
          </a:solidFill>
          <a:ln/>
        </p:spPr>
      </p:sp>
      <p:sp>
        <p:nvSpPr>
          <p:cNvPr id="12" name="Text 10"/>
          <p:cNvSpPr/>
          <p:nvPr/>
        </p:nvSpPr>
        <p:spPr>
          <a:xfrm>
            <a:off x="3264408" y="905256"/>
            <a:ext cx="411480" cy="384048"/>
          </a:xfrm>
          <a:prstGeom prst="rect">
            <a:avLst/>
          </a:prstGeom>
          <a:noFill/>
          <a:ln/>
        </p:spPr>
        <p:txBody>
          <a:bodyPr wrap="square"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3749040" y="886968"/>
            <a:ext cx="2011680" cy="384048"/>
          </a:xfrm>
          <a:prstGeom prst="rect">
            <a:avLst/>
          </a:prstGeom>
          <a:noFill/>
          <a:ln/>
        </p:spPr>
        <p:txBody>
          <a:bodyPr wrap="square" rtlCol="0" anchor="ctr"/>
          <a:lstStyle/>
          <a:p>
            <a:pPr marL="0" indent="0">
              <a:buNone/>
            </a:pPr>
            <a:r>
              <a:rPr lang="en-US" sz="1200" b="1" dirty="0">
                <a:solidFill>
                  <a:srgbClr val="1F2937"/>
                </a:solidFill>
                <a:latin typeface="Arial" pitchFamily="34" charset="0"/>
                <a:ea typeface="Arial" pitchFamily="34" charset="-122"/>
                <a:cs typeface="Arial" pitchFamily="34" charset="-120"/>
              </a:rPr>
              <a:t>Features = identity</a:t>
            </a:r>
            <a:endParaRPr lang="en-US" sz="1200" dirty="0"/>
          </a:p>
        </p:txBody>
      </p:sp>
      <p:sp>
        <p:nvSpPr>
          <p:cNvPr id="14" name="Text 12"/>
          <p:cNvSpPr/>
          <p:nvPr/>
        </p:nvSpPr>
        <p:spPr>
          <a:xfrm>
            <a:off x="3264408" y="1371600"/>
            <a:ext cx="2560320" cy="731520"/>
          </a:xfrm>
          <a:prstGeom prst="rect">
            <a:avLst/>
          </a:prstGeom>
          <a:noFill/>
          <a:ln/>
        </p:spPr>
        <p:txBody>
          <a:bodyPr wrap="square" rtlCol="0" anchor="t"/>
          <a:lstStyle/>
          <a:p>
            <a:pPr marL="0" indent="0">
              <a:buNone/>
            </a:pPr>
            <a:r>
              <a:rPr lang="en-US" sz="1200" dirty="0">
                <a:solidFill>
                  <a:srgbClr val="6B7280"/>
                </a:solidFill>
                <a:latin typeface="Arial" pitchFamily="34" charset="0"/>
                <a:ea typeface="Arial" pitchFamily="34" charset="-122"/>
                <a:cs typeface="Arial" pitchFamily="34" charset="-120"/>
              </a:rPr>
              <a:t>ORB/Harris detect, descriptors describe, RANSAC verifies.</a:t>
            </a:r>
            <a:endParaRPr lang="en-US" sz="1200" dirty="0"/>
          </a:p>
        </p:txBody>
      </p:sp>
      <p:sp>
        <p:nvSpPr>
          <p:cNvPr id="15" name="Shape 13"/>
          <p:cNvSpPr/>
          <p:nvPr/>
        </p:nvSpPr>
        <p:spPr>
          <a:xfrm>
            <a:off x="6080760" y="777240"/>
            <a:ext cx="2788920" cy="1463040"/>
          </a:xfrm>
          <a:prstGeom prst="rect">
            <a:avLst/>
          </a:prstGeom>
          <a:solidFill>
            <a:srgbClr val="FFFFFF"/>
          </a:solidFill>
          <a:ln/>
          <a:effectLst>
            <a:outerShdw blurRad="50800" dist="25400" dir="8100000" algn="bl" rotWithShape="0">
              <a:srgbClr val="000000">
                <a:alpha val="12000"/>
              </a:srgbClr>
            </a:outerShdw>
          </a:effectLst>
        </p:spPr>
      </p:sp>
      <p:sp>
        <p:nvSpPr>
          <p:cNvPr id="16" name="Shape 14"/>
          <p:cNvSpPr/>
          <p:nvPr/>
        </p:nvSpPr>
        <p:spPr>
          <a:xfrm>
            <a:off x="6190488" y="886968"/>
            <a:ext cx="411480" cy="411480"/>
          </a:xfrm>
          <a:prstGeom prst="ellipse">
            <a:avLst/>
          </a:prstGeom>
          <a:solidFill>
            <a:srgbClr val="0F4C81"/>
          </a:solidFill>
          <a:ln/>
        </p:spPr>
      </p:sp>
      <p:sp>
        <p:nvSpPr>
          <p:cNvPr id="17" name="Text 15"/>
          <p:cNvSpPr/>
          <p:nvPr/>
        </p:nvSpPr>
        <p:spPr>
          <a:xfrm>
            <a:off x="6190488" y="905256"/>
            <a:ext cx="411480" cy="384048"/>
          </a:xfrm>
          <a:prstGeom prst="rect">
            <a:avLst/>
          </a:prstGeom>
          <a:noFill/>
          <a:ln/>
        </p:spPr>
        <p:txBody>
          <a:bodyPr wrap="square"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16"/>
          <p:cNvSpPr/>
          <p:nvPr/>
        </p:nvSpPr>
        <p:spPr>
          <a:xfrm>
            <a:off x="6675120" y="886968"/>
            <a:ext cx="2011680" cy="384048"/>
          </a:xfrm>
          <a:prstGeom prst="rect">
            <a:avLst/>
          </a:prstGeom>
          <a:noFill/>
          <a:ln/>
        </p:spPr>
        <p:txBody>
          <a:bodyPr wrap="square" rtlCol="0" anchor="ctr"/>
          <a:lstStyle/>
          <a:p>
            <a:pPr marL="0" indent="0">
              <a:buNone/>
            </a:pPr>
            <a:r>
              <a:rPr lang="en-US" sz="1200" b="1" dirty="0">
                <a:solidFill>
                  <a:srgbClr val="1F2937"/>
                </a:solidFill>
                <a:latin typeface="Arial" pitchFamily="34" charset="0"/>
                <a:ea typeface="Arial" pitchFamily="34" charset="-122"/>
                <a:cs typeface="Arial" pitchFamily="34" charset="-120"/>
              </a:rPr>
              <a:t>VO = camera odometry</a:t>
            </a:r>
            <a:endParaRPr lang="en-US" sz="1200" dirty="0"/>
          </a:p>
        </p:txBody>
      </p:sp>
      <p:sp>
        <p:nvSpPr>
          <p:cNvPr id="19" name="Text 17"/>
          <p:cNvSpPr/>
          <p:nvPr/>
        </p:nvSpPr>
        <p:spPr>
          <a:xfrm>
            <a:off x="6190488" y="1371600"/>
            <a:ext cx="2560320" cy="731520"/>
          </a:xfrm>
          <a:prstGeom prst="rect">
            <a:avLst/>
          </a:prstGeom>
          <a:noFill/>
          <a:ln/>
        </p:spPr>
        <p:txBody>
          <a:bodyPr wrap="square" rtlCol="0" anchor="t"/>
          <a:lstStyle/>
          <a:p>
            <a:pPr marL="0" indent="0">
              <a:buNone/>
            </a:pPr>
            <a:r>
              <a:rPr lang="en-US" sz="1200" dirty="0">
                <a:solidFill>
                  <a:srgbClr val="6B7280"/>
                </a:solidFill>
                <a:latin typeface="Arial" pitchFamily="34" charset="0"/>
                <a:ea typeface="Arial" pitchFamily="34" charset="-122"/>
                <a:cs typeface="Arial" pitchFamily="34" charset="-120"/>
              </a:rPr>
              <a:t>Independent motion estimate from images. Drifts but complements IMU.</a:t>
            </a:r>
            <a:endParaRPr lang="en-US" sz="1200" dirty="0"/>
          </a:p>
        </p:txBody>
      </p:sp>
      <p:sp>
        <p:nvSpPr>
          <p:cNvPr id="20" name="Shape 18"/>
          <p:cNvSpPr/>
          <p:nvPr/>
        </p:nvSpPr>
        <p:spPr>
          <a:xfrm>
            <a:off x="228600" y="2468880"/>
            <a:ext cx="2788920" cy="1463040"/>
          </a:xfrm>
          <a:prstGeom prst="rect">
            <a:avLst/>
          </a:prstGeom>
          <a:solidFill>
            <a:srgbClr val="FFFFFF"/>
          </a:solidFill>
          <a:ln/>
          <a:effectLst>
            <a:outerShdw blurRad="50800" dist="25400" dir="8100000" algn="bl" rotWithShape="0">
              <a:srgbClr val="000000">
                <a:alpha val="12000"/>
              </a:srgbClr>
            </a:outerShdw>
          </a:effectLst>
        </p:spPr>
      </p:sp>
      <p:sp>
        <p:nvSpPr>
          <p:cNvPr id="21" name="Shape 19"/>
          <p:cNvSpPr/>
          <p:nvPr/>
        </p:nvSpPr>
        <p:spPr>
          <a:xfrm>
            <a:off x="338328" y="2578608"/>
            <a:ext cx="411480" cy="411480"/>
          </a:xfrm>
          <a:prstGeom prst="ellipse">
            <a:avLst/>
          </a:prstGeom>
          <a:solidFill>
            <a:srgbClr val="0F4C81"/>
          </a:solidFill>
          <a:ln/>
        </p:spPr>
      </p:sp>
      <p:sp>
        <p:nvSpPr>
          <p:cNvPr id="22" name="Text 20"/>
          <p:cNvSpPr/>
          <p:nvPr/>
        </p:nvSpPr>
        <p:spPr>
          <a:xfrm>
            <a:off x="338328" y="2596896"/>
            <a:ext cx="411480" cy="384048"/>
          </a:xfrm>
          <a:prstGeom prst="rect">
            <a:avLst/>
          </a:prstGeom>
          <a:noFill/>
          <a:ln/>
        </p:spPr>
        <p:txBody>
          <a:bodyPr wrap="square"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3" name="Text 21"/>
          <p:cNvSpPr/>
          <p:nvPr/>
        </p:nvSpPr>
        <p:spPr>
          <a:xfrm>
            <a:off x="822960" y="2578608"/>
            <a:ext cx="2011680" cy="384048"/>
          </a:xfrm>
          <a:prstGeom prst="rect">
            <a:avLst/>
          </a:prstGeom>
          <a:noFill/>
          <a:ln/>
        </p:spPr>
        <p:txBody>
          <a:bodyPr wrap="square" rtlCol="0" anchor="ctr"/>
          <a:lstStyle/>
          <a:p>
            <a:pPr marL="0" indent="0">
              <a:buNone/>
            </a:pPr>
            <a:r>
              <a:rPr lang="en-US" sz="1200" b="1" dirty="0">
                <a:solidFill>
                  <a:srgbClr val="1F2937"/>
                </a:solidFill>
                <a:latin typeface="Arial" pitchFamily="34" charset="0"/>
                <a:ea typeface="Arial" pitchFamily="34" charset="-122"/>
                <a:cs typeface="Arial" pitchFamily="34" charset="-120"/>
              </a:rPr>
              <a:t>Detection = actionable</a:t>
            </a:r>
            <a:endParaRPr lang="en-US" sz="1200" dirty="0"/>
          </a:p>
        </p:txBody>
      </p:sp>
      <p:sp>
        <p:nvSpPr>
          <p:cNvPr id="24" name="Text 22"/>
          <p:cNvSpPr/>
          <p:nvPr/>
        </p:nvSpPr>
        <p:spPr>
          <a:xfrm>
            <a:off x="338328" y="3063240"/>
            <a:ext cx="2560320" cy="731520"/>
          </a:xfrm>
          <a:prstGeom prst="rect">
            <a:avLst/>
          </a:prstGeom>
          <a:noFill/>
          <a:ln/>
        </p:spPr>
        <p:txBody>
          <a:bodyPr wrap="square" rtlCol="0" anchor="t"/>
          <a:lstStyle/>
          <a:p>
            <a:pPr marL="0" indent="0">
              <a:buNone/>
            </a:pPr>
            <a:r>
              <a:rPr lang="en-US" sz="1200" dirty="0">
                <a:solidFill>
                  <a:srgbClr val="6B7280"/>
                </a:solidFill>
                <a:latin typeface="Arial" pitchFamily="34" charset="0"/>
                <a:ea typeface="Arial" pitchFamily="34" charset="-122"/>
                <a:cs typeface="Arial" pitchFamily="34" charset="-120"/>
              </a:rPr>
              <a:t>Classical (Hough) for geometry, DL (YOLO) for objects. Use both.</a:t>
            </a:r>
            <a:endParaRPr lang="en-US" sz="1200" dirty="0"/>
          </a:p>
        </p:txBody>
      </p:sp>
      <p:sp>
        <p:nvSpPr>
          <p:cNvPr id="25" name="Shape 23"/>
          <p:cNvSpPr/>
          <p:nvPr/>
        </p:nvSpPr>
        <p:spPr>
          <a:xfrm>
            <a:off x="3154680" y="2468880"/>
            <a:ext cx="2788920" cy="1463040"/>
          </a:xfrm>
          <a:prstGeom prst="rect">
            <a:avLst/>
          </a:prstGeom>
          <a:solidFill>
            <a:srgbClr val="FFFFFF"/>
          </a:solidFill>
          <a:ln/>
          <a:effectLst>
            <a:outerShdw blurRad="50800" dist="25400" dir="8100000" algn="bl" rotWithShape="0">
              <a:srgbClr val="000000">
                <a:alpha val="12000"/>
              </a:srgbClr>
            </a:outerShdw>
          </a:effectLst>
        </p:spPr>
      </p:sp>
      <p:sp>
        <p:nvSpPr>
          <p:cNvPr id="26" name="Shape 24"/>
          <p:cNvSpPr/>
          <p:nvPr/>
        </p:nvSpPr>
        <p:spPr>
          <a:xfrm>
            <a:off x="3264408" y="2578608"/>
            <a:ext cx="411480" cy="411480"/>
          </a:xfrm>
          <a:prstGeom prst="ellipse">
            <a:avLst/>
          </a:prstGeom>
          <a:solidFill>
            <a:srgbClr val="0F4C81"/>
          </a:solidFill>
          <a:ln/>
        </p:spPr>
      </p:sp>
      <p:sp>
        <p:nvSpPr>
          <p:cNvPr id="27" name="Text 25"/>
          <p:cNvSpPr/>
          <p:nvPr/>
        </p:nvSpPr>
        <p:spPr>
          <a:xfrm>
            <a:off x="3264408" y="2596896"/>
            <a:ext cx="411480" cy="384048"/>
          </a:xfrm>
          <a:prstGeom prst="rect">
            <a:avLst/>
          </a:prstGeom>
          <a:noFill/>
          <a:ln/>
        </p:spPr>
        <p:txBody>
          <a:bodyPr wrap="square"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8" name="Text 26"/>
          <p:cNvSpPr/>
          <p:nvPr/>
        </p:nvSpPr>
        <p:spPr>
          <a:xfrm>
            <a:off x="3749040" y="2578608"/>
            <a:ext cx="2011680" cy="384048"/>
          </a:xfrm>
          <a:prstGeom prst="rect">
            <a:avLst/>
          </a:prstGeom>
          <a:noFill/>
          <a:ln/>
        </p:spPr>
        <p:txBody>
          <a:bodyPr wrap="square" rtlCol="0" anchor="ctr"/>
          <a:lstStyle/>
          <a:p>
            <a:pPr marL="0" indent="0">
              <a:buNone/>
            </a:pPr>
            <a:r>
              <a:rPr lang="en-US" sz="1200" b="1" dirty="0">
                <a:solidFill>
                  <a:srgbClr val="1F2937"/>
                </a:solidFill>
                <a:latin typeface="Arial" pitchFamily="34" charset="0"/>
                <a:ea typeface="Arial" pitchFamily="34" charset="-122"/>
                <a:cs typeface="Arial" pitchFamily="34" charset="-120"/>
              </a:rPr>
              <a:t>Point clouds → objects</a:t>
            </a:r>
            <a:endParaRPr lang="en-US" sz="1200" dirty="0"/>
          </a:p>
        </p:txBody>
      </p:sp>
      <p:sp>
        <p:nvSpPr>
          <p:cNvPr id="29" name="Text 27"/>
          <p:cNvSpPr/>
          <p:nvPr/>
        </p:nvSpPr>
        <p:spPr>
          <a:xfrm>
            <a:off x="3264408" y="3063240"/>
            <a:ext cx="2560320" cy="731520"/>
          </a:xfrm>
          <a:prstGeom prst="rect">
            <a:avLst/>
          </a:prstGeom>
          <a:noFill/>
          <a:ln/>
        </p:spPr>
        <p:txBody>
          <a:bodyPr wrap="square" rtlCol="0" anchor="t"/>
          <a:lstStyle/>
          <a:p>
            <a:pPr marL="0" indent="0">
              <a:buNone/>
            </a:pPr>
            <a:r>
              <a:rPr lang="en-US" sz="1200" dirty="0">
                <a:solidFill>
                  <a:srgbClr val="6B7280"/>
                </a:solidFill>
                <a:latin typeface="Arial" pitchFamily="34" charset="0"/>
                <a:ea typeface="Arial" pitchFamily="34" charset="-122"/>
                <a:cs typeface="Arial" pitchFamily="34" charset="-120"/>
              </a:rPr>
              <a:t>Downsample → ground remove → cluster → bounding boxes.</a:t>
            </a:r>
            <a:endParaRPr lang="en-US" sz="1200" dirty="0"/>
          </a:p>
        </p:txBody>
      </p:sp>
      <p:sp>
        <p:nvSpPr>
          <p:cNvPr id="30" name="Shape 28"/>
          <p:cNvSpPr/>
          <p:nvPr/>
        </p:nvSpPr>
        <p:spPr>
          <a:xfrm>
            <a:off x="6080760" y="2468880"/>
            <a:ext cx="2788920" cy="1463040"/>
          </a:xfrm>
          <a:prstGeom prst="rect">
            <a:avLst/>
          </a:prstGeom>
          <a:solidFill>
            <a:srgbClr val="FFFFFF"/>
          </a:solidFill>
          <a:ln/>
          <a:effectLst>
            <a:outerShdw blurRad="50800" dist="25400" dir="8100000" algn="bl" rotWithShape="0">
              <a:srgbClr val="000000">
                <a:alpha val="12000"/>
              </a:srgbClr>
            </a:outerShdw>
          </a:effectLst>
        </p:spPr>
      </p:sp>
      <p:sp>
        <p:nvSpPr>
          <p:cNvPr id="31" name="Shape 29"/>
          <p:cNvSpPr/>
          <p:nvPr/>
        </p:nvSpPr>
        <p:spPr>
          <a:xfrm>
            <a:off x="6190488" y="2578608"/>
            <a:ext cx="411480" cy="411480"/>
          </a:xfrm>
          <a:prstGeom prst="ellipse">
            <a:avLst/>
          </a:prstGeom>
          <a:solidFill>
            <a:srgbClr val="0F4C81"/>
          </a:solidFill>
          <a:ln/>
        </p:spPr>
      </p:sp>
      <p:sp>
        <p:nvSpPr>
          <p:cNvPr id="32" name="Text 30"/>
          <p:cNvSpPr/>
          <p:nvPr/>
        </p:nvSpPr>
        <p:spPr>
          <a:xfrm>
            <a:off x="6190488" y="2596896"/>
            <a:ext cx="411480" cy="384048"/>
          </a:xfrm>
          <a:prstGeom prst="rect">
            <a:avLst/>
          </a:prstGeom>
          <a:noFill/>
          <a:ln/>
        </p:spPr>
        <p:txBody>
          <a:bodyPr wrap="square"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3" name="Text 31"/>
          <p:cNvSpPr/>
          <p:nvPr/>
        </p:nvSpPr>
        <p:spPr>
          <a:xfrm>
            <a:off x="6675120" y="2578608"/>
            <a:ext cx="2011680" cy="384048"/>
          </a:xfrm>
          <a:prstGeom prst="rect">
            <a:avLst/>
          </a:prstGeom>
          <a:noFill/>
          <a:ln/>
        </p:spPr>
        <p:txBody>
          <a:bodyPr wrap="square" rtlCol="0" anchor="ctr"/>
          <a:lstStyle/>
          <a:p>
            <a:pPr marL="0" indent="0">
              <a:buNone/>
            </a:pPr>
            <a:r>
              <a:rPr lang="en-US" sz="1200" b="1" dirty="0">
                <a:solidFill>
                  <a:srgbClr val="1F2937"/>
                </a:solidFill>
                <a:latin typeface="Arial" pitchFamily="34" charset="0"/>
                <a:ea typeface="Arial" pitchFamily="34" charset="-122"/>
                <a:cs typeface="Arial" pitchFamily="34" charset="-120"/>
              </a:rPr>
              <a:t>Semantics = meaning</a:t>
            </a:r>
            <a:endParaRPr lang="en-US" sz="1200" dirty="0"/>
          </a:p>
        </p:txBody>
      </p:sp>
      <p:sp>
        <p:nvSpPr>
          <p:cNvPr id="34" name="Text 32"/>
          <p:cNvSpPr/>
          <p:nvPr/>
        </p:nvSpPr>
        <p:spPr>
          <a:xfrm>
            <a:off x="6190488" y="3063240"/>
            <a:ext cx="2560320" cy="731520"/>
          </a:xfrm>
          <a:prstGeom prst="rect">
            <a:avLst/>
          </a:prstGeom>
          <a:noFill/>
          <a:ln/>
        </p:spPr>
        <p:txBody>
          <a:bodyPr wrap="square" rtlCol="0" anchor="t"/>
          <a:lstStyle/>
          <a:p>
            <a:pPr marL="0" indent="0">
              <a:buNone/>
            </a:pPr>
            <a:r>
              <a:rPr lang="en-US" sz="1200" dirty="0">
                <a:solidFill>
                  <a:srgbClr val="6B7280"/>
                </a:solidFill>
                <a:latin typeface="Arial" pitchFamily="34" charset="0"/>
                <a:ea typeface="Arial" pitchFamily="34" charset="-122"/>
                <a:cs typeface="Arial" pitchFamily="34" charset="-120"/>
              </a:rPr>
              <a:t>Door=passable, wall=blocked, person=yield. Enables smart planning.</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Bridge to MOD-09: Planning &amp; Navigation</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39</a:t>
            </a:r>
            <a:endParaRPr lang="en-US" sz="800" dirty="0"/>
          </a:p>
        </p:txBody>
      </p:sp>
      <p:sp>
        <p:nvSpPr>
          <p:cNvPr id="5" name="Shape 3"/>
          <p:cNvSpPr/>
          <p:nvPr/>
        </p:nvSpPr>
        <p:spPr>
          <a:xfrm>
            <a:off x="274320" y="731520"/>
            <a:ext cx="8595360" cy="1371600"/>
          </a:xfrm>
          <a:prstGeom prst="rect">
            <a:avLst/>
          </a:prstGeom>
          <a:solidFill>
            <a:srgbClr val="FFFFFF"/>
          </a:solidFill>
          <a:ln/>
          <a:effectLst>
            <a:outerShdw blurRad="50800" dist="25400" dir="8100000" algn="bl" rotWithShape="0">
              <a:srgbClr val="000000">
                <a:alpha val="12000"/>
              </a:srgbClr>
            </a:outerShdw>
          </a:effectLst>
        </p:spPr>
      </p:sp>
      <p:sp>
        <p:nvSpPr>
          <p:cNvPr id="6" name="Shape 4"/>
          <p:cNvSpPr/>
          <p:nvPr/>
        </p:nvSpPr>
        <p:spPr>
          <a:xfrm>
            <a:off x="274320" y="731520"/>
            <a:ext cx="54864" cy="1371600"/>
          </a:xfrm>
          <a:prstGeom prst="rect">
            <a:avLst/>
          </a:prstGeom>
          <a:solidFill>
            <a:srgbClr val="3B82F6"/>
          </a:solidFill>
          <a:ln/>
        </p:spPr>
      </p:sp>
      <p:sp>
        <p:nvSpPr>
          <p:cNvPr id="7" name="Text 5"/>
          <p:cNvSpPr/>
          <p:nvPr/>
        </p:nvSpPr>
        <p:spPr>
          <a:xfrm>
            <a:off x="438912" y="786384"/>
            <a:ext cx="8321040" cy="274320"/>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What MOD-07 provides → What MOD-09 needs:</a:t>
            </a:r>
            <a:endParaRPr lang="en-US" sz="1200" dirty="0"/>
          </a:p>
        </p:txBody>
      </p:sp>
      <p:sp>
        <p:nvSpPr>
          <p:cNvPr id="8" name="Text 6"/>
          <p:cNvSpPr/>
          <p:nvPr/>
        </p:nvSpPr>
        <p:spPr>
          <a:xfrm>
            <a:off x="438912" y="1078992"/>
            <a:ext cx="8321040" cy="960120"/>
          </a:xfrm>
          <a:prstGeom prst="rect">
            <a:avLst/>
          </a:prstGeom>
          <a:noFill/>
          <a:ln/>
        </p:spPr>
        <p:txBody>
          <a:bodyPr wrap="square" rtlCol="0" anchor="t"/>
          <a:lstStyle/>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MOD-07 provides: obstacle bounding boxes, free space map, semantic labels, visual odometry.</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MOD-09 needs: "Given this map of obstacles, plan a safe path from A to B and avoid collisions."</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MOD-07 answers WHERE things are. MOD-09 answers HOW to get past them.</a:t>
            </a:r>
            <a:endParaRPr lang="en-US" sz="1200" dirty="0"/>
          </a:p>
          <a:p>
            <a:pPr marL="342900" indent="-342900">
              <a:buSzPct val="100000"/>
              <a:buChar char="•"/>
            </a:pPr>
            <a:r>
              <a:rPr lang="en-US" sz="1200" dirty="0">
                <a:solidFill>
                  <a:srgbClr val="6B7280"/>
                </a:solidFill>
                <a:latin typeface="Arial" pitchFamily="34" charset="0"/>
                <a:ea typeface="Arial" pitchFamily="34" charset="-122"/>
                <a:cs typeface="Arial" pitchFamily="34" charset="-120"/>
              </a:rPr>
              <a:t>The obstacle map from point cloud processing feeds directly into the planning costmap.</a:t>
            </a:r>
            <a:endParaRPr lang="en-US" sz="1200" dirty="0"/>
          </a:p>
        </p:txBody>
      </p:sp>
      <p:sp>
        <p:nvSpPr>
          <p:cNvPr id="9" name="Text 7"/>
          <p:cNvSpPr/>
          <p:nvPr/>
        </p:nvSpPr>
        <p:spPr>
          <a:xfrm>
            <a:off x="329184" y="2171700"/>
            <a:ext cx="8229600" cy="274320"/>
          </a:xfrm>
          <a:prstGeom prst="rect">
            <a:avLst/>
          </a:prstGeom>
          <a:noFill/>
          <a:ln/>
        </p:spPr>
        <p:txBody>
          <a:bodyPr wrap="square" rtlCol="0" anchor="ctr"/>
          <a:lstStyle/>
          <a:p>
            <a:pPr marL="0" indent="0">
              <a:buNone/>
            </a:pPr>
            <a:r>
              <a:rPr lang="en-US" sz="1200" b="1" dirty="0">
                <a:solidFill>
                  <a:srgbClr val="0F4C81"/>
                </a:solidFill>
                <a:latin typeface="Arial" pitchFamily="34" charset="0"/>
                <a:ea typeface="Arial" pitchFamily="34" charset="-122"/>
                <a:cs typeface="Arial" pitchFamily="34" charset="-120"/>
              </a:rPr>
              <a:t>The autonomy pipeline so far:</a:t>
            </a:r>
            <a:endParaRPr lang="en-US" sz="1200" dirty="0"/>
          </a:p>
        </p:txBody>
      </p:sp>
      <p:sp>
        <p:nvSpPr>
          <p:cNvPr id="10" name="Shape 8"/>
          <p:cNvSpPr/>
          <p:nvPr/>
        </p:nvSpPr>
        <p:spPr>
          <a:xfrm>
            <a:off x="320040" y="2743200"/>
            <a:ext cx="1097280" cy="731520"/>
          </a:xfrm>
          <a:prstGeom prst="rect">
            <a:avLst/>
          </a:prstGeom>
          <a:solidFill>
            <a:srgbClr val="3B82F6"/>
          </a:solidFill>
          <a:ln/>
        </p:spPr>
      </p:sp>
      <p:sp>
        <p:nvSpPr>
          <p:cNvPr id="11" name="Text 9"/>
          <p:cNvSpPr/>
          <p:nvPr/>
        </p:nvSpPr>
        <p:spPr>
          <a:xfrm>
            <a:off x="320040" y="2788920"/>
            <a:ext cx="1097280" cy="640080"/>
          </a:xfrm>
          <a:prstGeom prst="rect">
            <a:avLst/>
          </a:prstGeom>
          <a:noFill/>
          <a:ln/>
        </p:spPr>
        <p:txBody>
          <a:bodyPr wrap="square"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Sensors</a:t>
            </a:r>
            <a:endParaRPr lang="en-US" sz="900" dirty="0"/>
          </a:p>
          <a:p>
            <a:pPr marL="0" indent="0" algn="ctr">
              <a:buNone/>
            </a:pPr>
            <a:r>
              <a:rPr lang="en-US" sz="900" b="1" dirty="0">
                <a:solidFill>
                  <a:srgbClr val="FFFFFF"/>
                </a:solidFill>
                <a:latin typeface="Arial" pitchFamily="34" charset="0"/>
                <a:ea typeface="Arial" pitchFamily="34" charset="-122"/>
                <a:cs typeface="Arial" pitchFamily="34" charset="-120"/>
              </a:rPr>
              <a:t>(MOD-04)</a:t>
            </a:r>
            <a:endParaRPr lang="en-US" sz="900" dirty="0"/>
          </a:p>
        </p:txBody>
      </p:sp>
      <p:sp>
        <p:nvSpPr>
          <p:cNvPr id="12" name="Text 10"/>
          <p:cNvSpPr/>
          <p:nvPr/>
        </p:nvSpPr>
        <p:spPr>
          <a:xfrm>
            <a:off x="1417320" y="2880360"/>
            <a:ext cx="137160" cy="457200"/>
          </a:xfrm>
          <a:prstGeom prst="rect">
            <a:avLst/>
          </a:prstGeom>
          <a:noFill/>
          <a:ln/>
        </p:spPr>
        <p:txBody>
          <a:bodyPr wrap="square" rtlCol="0" anchor="ctr"/>
          <a:lstStyle/>
          <a:p>
            <a:pPr marL="0" indent="0">
              <a:buNone/>
            </a:pPr>
            <a:r>
              <a:rPr lang="en-US" sz="1200" dirty="0">
                <a:solidFill>
                  <a:srgbClr val="6B7280"/>
                </a:solidFill>
                <a:latin typeface="Arial" pitchFamily="34" charset="0"/>
                <a:ea typeface="Arial" pitchFamily="34" charset="-122"/>
                <a:cs typeface="Arial" pitchFamily="34" charset="-120"/>
              </a:rPr>
              <a:t>→</a:t>
            </a:r>
            <a:endParaRPr lang="en-US" sz="1200" dirty="0"/>
          </a:p>
        </p:txBody>
      </p:sp>
      <p:sp>
        <p:nvSpPr>
          <p:cNvPr id="13" name="Shape 11"/>
          <p:cNvSpPr/>
          <p:nvPr/>
        </p:nvSpPr>
        <p:spPr>
          <a:xfrm>
            <a:off x="1536192" y="2743200"/>
            <a:ext cx="1097280" cy="731520"/>
          </a:xfrm>
          <a:prstGeom prst="rect">
            <a:avLst/>
          </a:prstGeom>
          <a:solidFill>
            <a:srgbClr val="8B5CF6"/>
          </a:solidFill>
          <a:ln/>
        </p:spPr>
      </p:sp>
      <p:sp>
        <p:nvSpPr>
          <p:cNvPr id="14" name="Text 12"/>
          <p:cNvSpPr/>
          <p:nvPr/>
        </p:nvSpPr>
        <p:spPr>
          <a:xfrm>
            <a:off x="1536192" y="2788920"/>
            <a:ext cx="1097280" cy="640080"/>
          </a:xfrm>
          <a:prstGeom prst="rect">
            <a:avLst/>
          </a:prstGeom>
          <a:noFill/>
          <a:ln/>
        </p:spPr>
        <p:txBody>
          <a:bodyPr wrap="square"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Probability</a:t>
            </a:r>
            <a:endParaRPr lang="en-US" sz="900" dirty="0"/>
          </a:p>
          <a:p>
            <a:pPr marL="0" indent="0" algn="ctr">
              <a:buNone/>
            </a:pPr>
            <a:r>
              <a:rPr lang="en-US" sz="900" b="1" dirty="0">
                <a:solidFill>
                  <a:srgbClr val="FFFFFF"/>
                </a:solidFill>
                <a:latin typeface="Arial" pitchFamily="34" charset="0"/>
                <a:ea typeface="Arial" pitchFamily="34" charset="-122"/>
                <a:cs typeface="Arial" pitchFamily="34" charset="-120"/>
              </a:rPr>
              <a:t>(MOD-05)</a:t>
            </a:r>
            <a:endParaRPr lang="en-US" sz="900" dirty="0"/>
          </a:p>
        </p:txBody>
      </p:sp>
      <p:sp>
        <p:nvSpPr>
          <p:cNvPr id="15" name="Text 13"/>
          <p:cNvSpPr/>
          <p:nvPr/>
        </p:nvSpPr>
        <p:spPr>
          <a:xfrm>
            <a:off x="2633472" y="2880360"/>
            <a:ext cx="137160" cy="457200"/>
          </a:xfrm>
          <a:prstGeom prst="rect">
            <a:avLst/>
          </a:prstGeom>
          <a:noFill/>
          <a:ln/>
        </p:spPr>
        <p:txBody>
          <a:bodyPr wrap="square" rtlCol="0" anchor="ctr"/>
          <a:lstStyle/>
          <a:p>
            <a:pPr marL="0" indent="0">
              <a:buNone/>
            </a:pPr>
            <a:r>
              <a:rPr lang="en-US" sz="1200" dirty="0">
                <a:solidFill>
                  <a:srgbClr val="6B7280"/>
                </a:solidFill>
                <a:latin typeface="Arial" pitchFamily="34" charset="0"/>
                <a:ea typeface="Arial" pitchFamily="34" charset="-122"/>
                <a:cs typeface="Arial" pitchFamily="34" charset="-120"/>
              </a:rPr>
              <a:t>→</a:t>
            </a:r>
            <a:endParaRPr lang="en-US" sz="1200" dirty="0"/>
          </a:p>
        </p:txBody>
      </p:sp>
      <p:sp>
        <p:nvSpPr>
          <p:cNvPr id="16" name="Shape 14"/>
          <p:cNvSpPr/>
          <p:nvPr/>
        </p:nvSpPr>
        <p:spPr>
          <a:xfrm>
            <a:off x="2752344" y="2743200"/>
            <a:ext cx="1097280" cy="731520"/>
          </a:xfrm>
          <a:prstGeom prst="rect">
            <a:avLst/>
          </a:prstGeom>
          <a:solidFill>
            <a:srgbClr val="10B981"/>
          </a:solidFill>
          <a:ln/>
        </p:spPr>
      </p:sp>
      <p:sp>
        <p:nvSpPr>
          <p:cNvPr id="17" name="Text 15"/>
          <p:cNvSpPr/>
          <p:nvPr/>
        </p:nvSpPr>
        <p:spPr>
          <a:xfrm>
            <a:off x="2752344" y="2788920"/>
            <a:ext cx="1097280" cy="640080"/>
          </a:xfrm>
          <a:prstGeom prst="rect">
            <a:avLst/>
          </a:prstGeom>
          <a:noFill/>
          <a:ln/>
        </p:spPr>
        <p:txBody>
          <a:bodyPr wrap="square"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Localization</a:t>
            </a:r>
            <a:endParaRPr lang="en-US" sz="900" dirty="0"/>
          </a:p>
          <a:p>
            <a:pPr marL="0" indent="0" algn="ctr">
              <a:buNone/>
            </a:pPr>
            <a:r>
              <a:rPr lang="en-US" sz="900" b="1" dirty="0">
                <a:solidFill>
                  <a:srgbClr val="FFFFFF"/>
                </a:solidFill>
                <a:latin typeface="Arial" pitchFamily="34" charset="0"/>
                <a:ea typeface="Arial" pitchFamily="34" charset="-122"/>
                <a:cs typeface="Arial" pitchFamily="34" charset="-120"/>
              </a:rPr>
              <a:t>(MOD-06)</a:t>
            </a:r>
            <a:endParaRPr lang="en-US" sz="900" dirty="0"/>
          </a:p>
        </p:txBody>
      </p:sp>
      <p:sp>
        <p:nvSpPr>
          <p:cNvPr id="18" name="Text 16"/>
          <p:cNvSpPr/>
          <p:nvPr/>
        </p:nvSpPr>
        <p:spPr>
          <a:xfrm>
            <a:off x="3849624" y="2880360"/>
            <a:ext cx="137160" cy="457200"/>
          </a:xfrm>
          <a:prstGeom prst="rect">
            <a:avLst/>
          </a:prstGeom>
          <a:noFill/>
          <a:ln/>
        </p:spPr>
        <p:txBody>
          <a:bodyPr wrap="square" rtlCol="0" anchor="ctr"/>
          <a:lstStyle/>
          <a:p>
            <a:pPr marL="0" indent="0">
              <a:buNone/>
            </a:pPr>
            <a:r>
              <a:rPr lang="en-US" sz="1200" dirty="0">
                <a:solidFill>
                  <a:srgbClr val="6B7280"/>
                </a:solidFill>
                <a:latin typeface="Arial" pitchFamily="34" charset="0"/>
                <a:ea typeface="Arial" pitchFamily="34" charset="-122"/>
                <a:cs typeface="Arial" pitchFamily="34" charset="-120"/>
              </a:rPr>
              <a:t>→</a:t>
            </a:r>
            <a:endParaRPr lang="en-US" sz="1200" dirty="0"/>
          </a:p>
        </p:txBody>
      </p:sp>
      <p:sp>
        <p:nvSpPr>
          <p:cNvPr id="19" name="Shape 17"/>
          <p:cNvSpPr/>
          <p:nvPr/>
        </p:nvSpPr>
        <p:spPr>
          <a:xfrm>
            <a:off x="3968496" y="2743200"/>
            <a:ext cx="1097280" cy="731520"/>
          </a:xfrm>
          <a:prstGeom prst="rect">
            <a:avLst/>
          </a:prstGeom>
          <a:solidFill>
            <a:srgbClr val="F97316"/>
          </a:solidFill>
          <a:ln/>
        </p:spPr>
      </p:sp>
      <p:sp>
        <p:nvSpPr>
          <p:cNvPr id="20" name="Text 18"/>
          <p:cNvSpPr/>
          <p:nvPr/>
        </p:nvSpPr>
        <p:spPr>
          <a:xfrm>
            <a:off x="3968496" y="2788920"/>
            <a:ext cx="1097280" cy="640080"/>
          </a:xfrm>
          <a:prstGeom prst="rect">
            <a:avLst/>
          </a:prstGeom>
          <a:noFill/>
          <a:ln/>
        </p:spPr>
        <p:txBody>
          <a:bodyPr wrap="square"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Perception</a:t>
            </a:r>
            <a:endParaRPr lang="en-US" sz="900" dirty="0"/>
          </a:p>
          <a:p>
            <a:pPr marL="0" indent="0" algn="ctr">
              <a:buNone/>
            </a:pPr>
            <a:r>
              <a:rPr lang="en-US" sz="900" b="1" dirty="0">
                <a:solidFill>
                  <a:srgbClr val="FFFFFF"/>
                </a:solidFill>
                <a:latin typeface="Arial" pitchFamily="34" charset="0"/>
                <a:ea typeface="Arial" pitchFamily="34" charset="-122"/>
                <a:cs typeface="Arial" pitchFamily="34" charset="-120"/>
              </a:rPr>
              <a:t>(MOD-07)</a:t>
            </a:r>
            <a:endParaRPr lang="en-US" sz="900" dirty="0"/>
          </a:p>
        </p:txBody>
      </p:sp>
      <p:sp>
        <p:nvSpPr>
          <p:cNvPr id="21" name="Text 19"/>
          <p:cNvSpPr/>
          <p:nvPr/>
        </p:nvSpPr>
        <p:spPr>
          <a:xfrm>
            <a:off x="6281928" y="2880360"/>
            <a:ext cx="137160" cy="457200"/>
          </a:xfrm>
          <a:prstGeom prst="rect">
            <a:avLst/>
          </a:prstGeom>
          <a:noFill/>
          <a:ln/>
        </p:spPr>
        <p:txBody>
          <a:bodyPr wrap="square" rtlCol="0" anchor="ctr"/>
          <a:lstStyle/>
          <a:p>
            <a:pPr marL="0" indent="0">
              <a:buNone/>
            </a:pPr>
            <a:r>
              <a:rPr lang="en-US" sz="1200" dirty="0">
                <a:solidFill>
                  <a:srgbClr val="6B7280"/>
                </a:solidFill>
                <a:latin typeface="Arial" pitchFamily="34" charset="0"/>
                <a:ea typeface="Arial" pitchFamily="34" charset="-122"/>
                <a:cs typeface="Arial" pitchFamily="34" charset="-120"/>
              </a:rPr>
              <a:t>→</a:t>
            </a:r>
            <a:endParaRPr lang="en-US" sz="1200" dirty="0"/>
          </a:p>
        </p:txBody>
      </p:sp>
      <p:sp>
        <p:nvSpPr>
          <p:cNvPr id="22" name="Shape 20"/>
          <p:cNvSpPr/>
          <p:nvPr/>
        </p:nvSpPr>
        <p:spPr>
          <a:xfrm>
            <a:off x="6400800" y="2743200"/>
            <a:ext cx="1097280" cy="731520"/>
          </a:xfrm>
          <a:prstGeom prst="rect">
            <a:avLst/>
          </a:prstGeom>
          <a:solidFill>
            <a:srgbClr val="0D9488"/>
          </a:solidFill>
          <a:ln/>
        </p:spPr>
      </p:sp>
      <p:sp>
        <p:nvSpPr>
          <p:cNvPr id="23" name="Text 21"/>
          <p:cNvSpPr/>
          <p:nvPr/>
        </p:nvSpPr>
        <p:spPr>
          <a:xfrm>
            <a:off x="6400800" y="2788920"/>
            <a:ext cx="1097280" cy="640080"/>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Planning</a:t>
            </a:r>
            <a:endParaRPr lang="en-US" sz="900" dirty="0"/>
          </a:p>
          <a:p>
            <a:pPr marL="0" indent="0" algn="ctr">
              <a:buNone/>
            </a:pPr>
            <a:r>
              <a:rPr lang="en-US" sz="900" dirty="0">
                <a:solidFill>
                  <a:srgbClr val="FFFFFF"/>
                </a:solidFill>
                <a:latin typeface="Arial" pitchFamily="34" charset="0"/>
                <a:ea typeface="Arial" pitchFamily="34" charset="-122"/>
                <a:cs typeface="Arial" pitchFamily="34" charset="-120"/>
              </a:rPr>
              <a:t>(MOD-09)</a:t>
            </a:r>
            <a:endParaRPr lang="en-US" sz="900" dirty="0"/>
          </a:p>
        </p:txBody>
      </p:sp>
      <p:sp>
        <p:nvSpPr>
          <p:cNvPr id="24" name="Text 22"/>
          <p:cNvSpPr/>
          <p:nvPr/>
        </p:nvSpPr>
        <p:spPr>
          <a:xfrm>
            <a:off x="7498080" y="2880360"/>
            <a:ext cx="137160" cy="457200"/>
          </a:xfrm>
          <a:prstGeom prst="rect">
            <a:avLst/>
          </a:prstGeom>
          <a:noFill/>
          <a:ln/>
        </p:spPr>
        <p:txBody>
          <a:bodyPr wrap="square" rtlCol="0" anchor="ctr"/>
          <a:lstStyle/>
          <a:p>
            <a:pPr marL="0" indent="0">
              <a:buNone/>
            </a:pPr>
            <a:endParaRPr lang="en-US" sz="1200" dirty="0"/>
          </a:p>
        </p:txBody>
      </p:sp>
      <p:sp>
        <p:nvSpPr>
          <p:cNvPr id="25" name="Shape 23"/>
          <p:cNvSpPr/>
          <p:nvPr/>
        </p:nvSpPr>
        <p:spPr>
          <a:xfrm>
            <a:off x="5166360" y="2743200"/>
            <a:ext cx="1097280" cy="731520"/>
          </a:xfrm>
          <a:prstGeom prst="rect">
            <a:avLst/>
          </a:prstGeom>
          <a:solidFill>
            <a:srgbClr val="EF4444"/>
          </a:solidFill>
          <a:ln/>
        </p:spPr>
      </p:sp>
      <p:sp>
        <p:nvSpPr>
          <p:cNvPr id="26" name="Text 24"/>
          <p:cNvSpPr/>
          <p:nvPr/>
        </p:nvSpPr>
        <p:spPr>
          <a:xfrm>
            <a:off x="5166360" y="2788920"/>
            <a:ext cx="1097280" cy="640080"/>
          </a:xfrm>
          <a:prstGeom prst="rect">
            <a:avLst/>
          </a:prstGeom>
          <a:noFill/>
          <a:ln/>
        </p:spPr>
        <p:txBody>
          <a:bodyPr wrap="square" rtlCol="0" anchor="ctr"/>
          <a:lstStyle/>
          <a:p>
            <a:pPr marL="0" indent="0" algn="ctr">
              <a:buNone/>
            </a:pPr>
            <a:r>
              <a:rPr lang="en-US" sz="900" dirty="0">
                <a:solidFill>
                  <a:srgbClr val="FFFFFF"/>
                </a:solidFill>
                <a:latin typeface="Arial" pitchFamily="34" charset="0"/>
                <a:ea typeface="Arial" pitchFamily="34" charset="-122"/>
                <a:cs typeface="Arial" pitchFamily="34" charset="-120"/>
              </a:rPr>
              <a:t>SLAM</a:t>
            </a:r>
            <a:endParaRPr lang="en-US" sz="900" dirty="0"/>
          </a:p>
          <a:p>
            <a:pPr marL="0" indent="0" algn="ctr">
              <a:buNone/>
            </a:pPr>
            <a:r>
              <a:rPr lang="en-US" sz="900" dirty="0">
                <a:solidFill>
                  <a:srgbClr val="FFFFFF"/>
                </a:solidFill>
                <a:latin typeface="Arial" pitchFamily="34" charset="0"/>
                <a:ea typeface="Arial" pitchFamily="34" charset="-122"/>
                <a:cs typeface="Arial" pitchFamily="34" charset="-120"/>
              </a:rPr>
              <a:t>(MOD-08)</a:t>
            </a:r>
            <a:endParaRPr lang="en-US" sz="900" dirty="0"/>
          </a:p>
        </p:txBody>
      </p:sp>
      <p:sp>
        <p:nvSpPr>
          <p:cNvPr id="27" name="Text 25"/>
          <p:cNvSpPr/>
          <p:nvPr/>
        </p:nvSpPr>
        <p:spPr>
          <a:xfrm>
            <a:off x="6263640" y="2880360"/>
            <a:ext cx="137160" cy="457200"/>
          </a:xfrm>
          <a:prstGeom prst="rect">
            <a:avLst/>
          </a:prstGeom>
          <a:noFill/>
          <a:ln/>
        </p:spPr>
        <p:txBody>
          <a:bodyPr wrap="square" rtlCol="0" anchor="ctr"/>
          <a:lstStyle/>
          <a:p>
            <a:pPr marL="0" indent="0">
              <a:buNone/>
            </a:pP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name="Slide 40">
    <p:bg>
      <p:bgPr>
        <a:solidFill>
          <a:srgbClr val="F0F2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0F4C81"/>
          </a:solidFill>
          <a:ln/>
        </p:spPr>
      </p:sp>
      <p:sp>
        <p:nvSpPr>
          <p:cNvPr id="3" name="Text 1"/>
          <p:cNvSpPr/>
          <p:nvPr/>
        </p:nvSpPr>
        <p:spPr>
          <a:xfrm>
            <a:off x="365760" y="18288"/>
            <a:ext cx="8412480" cy="548640"/>
          </a:xfrm>
          <a:prstGeom prst="rect">
            <a:avLst/>
          </a:prstGeom>
          <a:noFill/>
          <a:ln/>
        </p:spPr>
        <p:txBody>
          <a:bodyPr wrap="square" rtlCol="0" anchor="ctr"/>
          <a:lstStyle/>
          <a:p>
            <a:pPr marL="0" indent="0">
              <a:buNone/>
            </a:pPr>
            <a:r>
              <a:rPr lang="en-US" sz="1600" b="1" dirty="0">
                <a:solidFill>
                  <a:srgbClr val="FFFFFF"/>
                </a:solidFill>
                <a:latin typeface="Arial" pitchFamily="34" charset="0"/>
                <a:ea typeface="Arial" pitchFamily="34" charset="-122"/>
                <a:cs typeface="Arial" pitchFamily="34" charset="-120"/>
              </a:rPr>
              <a:t>References</a:t>
            </a:r>
            <a:endParaRPr lang="en-US" sz="1600" dirty="0"/>
          </a:p>
        </p:txBody>
      </p:sp>
      <p:sp>
        <p:nvSpPr>
          <p:cNvPr id="4" name="Text 2"/>
          <p:cNvSpPr/>
          <p:nvPr/>
        </p:nvSpPr>
        <p:spPr>
          <a:xfrm>
            <a:off x="8503920" y="4754880"/>
            <a:ext cx="457200" cy="274320"/>
          </a:xfrm>
          <a:prstGeom prst="rect">
            <a:avLst/>
          </a:prstGeom>
          <a:noFill/>
          <a:ln/>
        </p:spPr>
        <p:txBody>
          <a:bodyPr wrap="square" rtlCol="0" anchor="ctr"/>
          <a:lstStyle/>
          <a:p>
            <a:pPr marL="0" indent="0" algn="r">
              <a:buNone/>
            </a:pPr>
            <a:r>
              <a:rPr lang="en-US" sz="800" dirty="0">
                <a:solidFill>
                  <a:srgbClr val="6B7280"/>
                </a:solidFill>
                <a:latin typeface="Arial" pitchFamily="34" charset="0"/>
                <a:ea typeface="Arial" pitchFamily="34" charset="-122"/>
                <a:cs typeface="Arial" pitchFamily="34" charset="-120"/>
              </a:rPr>
              <a:t>40</a:t>
            </a:r>
            <a:endParaRPr lang="en-US" sz="800" dirty="0"/>
          </a:p>
        </p:txBody>
      </p:sp>
      <p:sp>
        <p:nvSpPr>
          <p:cNvPr id="5" name="Text 3"/>
          <p:cNvSpPr/>
          <p:nvPr/>
        </p:nvSpPr>
        <p:spPr>
          <a:xfrm>
            <a:off x="365760" y="777240"/>
            <a:ext cx="8412480" cy="3657600"/>
          </a:xfrm>
          <a:prstGeom prst="rect">
            <a:avLst/>
          </a:prstGeom>
          <a:noFill/>
          <a:ln/>
        </p:spPr>
        <p:txBody>
          <a:bodyPr wrap="square" rtlCol="0" anchor="t"/>
          <a:lstStyle/>
          <a:p>
            <a:pPr marL="0" indent="0">
              <a:buNone/>
            </a:pPr>
            <a:r>
              <a:rPr lang="en-US" sz="1200" dirty="0">
                <a:solidFill>
                  <a:srgbClr val="1F2937"/>
                </a:solidFill>
                <a:latin typeface="Arial" pitchFamily="34" charset="0"/>
                <a:ea typeface="Arial" pitchFamily="34" charset="-122"/>
                <a:cs typeface="Arial" pitchFamily="34" charset="-120"/>
              </a:rPr>
              <a:t>1. Szeliski, R. (2022). Computer Vision: Algorithms and Applications, 2nd ed. Springer.</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2. Hartley &amp; Zisserman (2004). Multiple View Geometry in Computer Vision. Cambridge.</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3. Rublee et al. (2011). ORB: An Efficient Alternative to SIFT or SURF. ICCV.</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4. Lowe, D.G. (2004). Distinctive Image Features from Scale-Invariant Keypoints. IJCV.</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5. Redmon et al. (2016). You Only Look Once: Unified, Real-Time Object Detection. CVPR.</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6. Fischler &amp; Bolles (1981). Random Sample Consensus (RANSAC). Communications of the ACM.</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7. Scaramuzza &amp; Fraundorfer (2011). Visual Odometry Tutorial. IEEE RAM. Parts I and II.</a:t>
            </a: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8. Rusu &amp; Cousins (2011). 3D is here: Point Cloud Library (PCL). ICRA.</a:t>
            </a:r>
            <a:endParaRPr lang="en-US" sz="1200" dirty="0"/>
          </a:p>
          <a:p>
            <a:pPr marL="0" indent="0">
              <a:buNone/>
            </a:pPr>
            <a:endParaRPr lang="en-US" sz="1200" dirty="0"/>
          </a:p>
          <a:p>
            <a:pPr marL="0" indent="0">
              <a:buNone/>
            </a:pPr>
            <a:r>
              <a:rPr lang="en-US" sz="1200" dirty="0">
                <a:solidFill>
                  <a:srgbClr val="1F2937"/>
                </a:solidFill>
                <a:latin typeface="Arial" pitchFamily="34" charset="0"/>
                <a:ea typeface="Arial" pitchFamily="34" charset="-122"/>
                <a:cs typeface="Arial" pitchFamily="34" charset="-120"/>
              </a:rPr>
              <a:t>Next: MOD-09 — Planning &amp; Navigation (path planning, DWA, costmaps, Nav2)</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6400800" y="-1371600"/>
            <a:ext cx="4572000" cy="4572000"/>
          </a:xfrm>
          <a:prstGeom prst="ellipse">
            <a:avLst/>
          </a:prstGeom>
          <a:solidFill>
            <a:srgbClr val="0F3045">
              <a:alpha val="50000"/>
            </a:srgbClr>
          </a:solidFill>
          <a:ln/>
        </p:spPr>
      </p:sp>
      <p:sp>
        <p:nvSpPr>
          <p:cNvPr id="3" name="Shape 1"/>
          <p:cNvSpPr/>
          <p:nvPr/>
        </p:nvSpPr>
        <p:spPr>
          <a:xfrm>
            <a:off x="-1371600" y="3200400"/>
            <a:ext cx="3657600" cy="3657600"/>
          </a:xfrm>
          <a:prstGeom prst="ellipse">
            <a:avLst/>
          </a:prstGeom>
          <a:solidFill>
            <a:srgbClr val="1A1040">
              <a:alpha val="50000"/>
            </a:srgbClr>
          </a:solidFill>
          <a:ln/>
        </p:spPr>
      </p:sp>
      <p:sp>
        <p:nvSpPr>
          <p:cNvPr id="4" name="Text 2"/>
          <p:cNvSpPr/>
          <p:nvPr/>
        </p:nvSpPr>
        <p:spPr>
          <a:xfrm>
            <a:off x="3200400" y="914400"/>
            <a:ext cx="2743200" cy="3200400"/>
          </a:xfrm>
          <a:prstGeom prst="rect">
            <a:avLst/>
          </a:prstGeom>
          <a:noFill/>
          <a:ln/>
        </p:spPr>
        <p:txBody>
          <a:bodyPr wrap="square" rtlCol="0" anchor="ctr"/>
          <a:lstStyle/>
          <a:p>
            <a:pPr marL="0" indent="0" algn="ctr">
              <a:buNone/>
            </a:pPr>
            <a:r>
              <a:rPr lang="en-US" sz="12000" b="1" dirty="0">
                <a:solidFill>
                  <a:srgbClr val="FFFFFF"/>
                </a:solidFill>
                <a:latin typeface="Arial" pitchFamily="34" charset="0"/>
                <a:ea typeface="Arial" pitchFamily="34" charset="-122"/>
                <a:cs typeface="Arial" pitchFamily="34" charset="-120"/>
              </a:rPr>
              <a:t>?</a:t>
            </a:r>
            <a:endParaRPr lang="en-US" sz="1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4433</Words>
  <Application>Microsoft Office PowerPoint</Application>
  <PresentationFormat>On-screen Show (16:9)</PresentationFormat>
  <Paragraphs>664</Paragraphs>
  <Slides>42</Slides>
  <Notes>42</Notes>
  <HiddenSlides>2</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MOD-07: Robot Perception</dc:title>
  <dc:subject>PptxGenJS Presentation</dc:subject>
  <dc:creator>Dr. Ahmad Abbadi</dc:creator>
  <cp:lastModifiedBy>Ahmad Abbadi</cp:lastModifiedBy>
  <cp:revision>18</cp:revision>
  <dcterms:created xsi:type="dcterms:W3CDTF">2026-03-12T00:30:10Z</dcterms:created>
  <dcterms:modified xsi:type="dcterms:W3CDTF">2026-04-20T13:01:04Z</dcterms:modified>
</cp:coreProperties>
</file>