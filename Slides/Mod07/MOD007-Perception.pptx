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97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5" r:id="rId32"/>
    <p:sldId id="286" r:id="rId33"/>
    <p:sldId id="287" r:id="rId34"/>
    <p:sldId id="288" r:id="rId35"/>
    <p:sldId id="289" r:id="rId36"/>
    <p:sldId id="290" r:id="rId37"/>
    <p:sldId id="291" r:id="rId38"/>
    <p:sldId id="292" r:id="rId39"/>
    <p:sldId id="293" r:id="rId40"/>
    <p:sldId id="294" r:id="rId41"/>
    <p:sldId id="295" r:id="rId42"/>
    <p:sldId id="296" r:id="rId4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8" d="100"/>
          <a:sy n="108" d="100"/>
        </p:scale>
        <p:origin x="65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363302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277936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rpg.ifi.uzh.ch/docs/teaching/2023/06_feature_detection_2.pdf" TargetMode="Externa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4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1371600"/>
            <a:ext cx="4114800" cy="4114800"/>
          </a:xfrm>
          <a:prstGeom prst="ellipse">
            <a:avLst/>
          </a:prstGeom>
          <a:solidFill>
            <a:srgbClr val="1A4A6E">
              <a:alpha val="4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371600" y="2743200"/>
            <a:ext cx="3200400" cy="3200400"/>
          </a:xfrm>
          <a:prstGeom prst="ellipse">
            <a:avLst/>
          </a:prstGeom>
          <a:solidFill>
            <a:srgbClr val="3B2766">
              <a:alpha val="4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2743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kern="0" spc="400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MOBILE ROBOTS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1097280"/>
            <a:ext cx="64008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MOD-07</a:t>
            </a:r>
            <a:endParaRPr lang="en-US" sz="3000" dirty="0"/>
          </a:p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Robot Perception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8640" y="3291840"/>
            <a:ext cx="3657600" cy="0"/>
          </a:xfrm>
          <a:prstGeom prst="line">
            <a:avLst/>
          </a:prstGeom>
          <a:noFill/>
          <a:ln w="38100">
            <a:solidFill>
              <a:srgbClr val="F9731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356616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By Dr. Ahmad Abbadi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4C8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91440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BLOCK A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1371600"/>
            <a:ext cx="77724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Perception?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274320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B0C4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raw pixels and point clouds to understanding the world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2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F4C81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8288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Gap: Sensor Data ≠ Understanding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274320" y="685800"/>
            <a:ext cx="8595360" cy="822960"/>
          </a:xfrm>
          <a:prstGeom prst="rect">
            <a:avLst/>
          </a:prstGeom>
          <a:solidFill>
            <a:srgbClr val="FFFBEB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685800"/>
            <a:ext cx="54864" cy="82296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758952"/>
            <a:ext cx="82753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SCENARIO: </a:t>
            </a: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MediBot's camera captures 640×480 = 307,200 pixels at 30 Hz. Its LiDAR returns 1,800 range values per scan (some car LIDAR output 12M/s). But MediBot needs to answer: "Is that a wheelchair or a cart? Is the door open or closed? Can I pass?" Raw numbers don't answer these questions.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74320" y="1691640"/>
            <a:ext cx="4114800" cy="13716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74320" y="1691640"/>
            <a:ext cx="54864" cy="137160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0" name="Text 8"/>
          <p:cNvSpPr/>
          <p:nvPr/>
        </p:nvSpPr>
        <p:spPr>
          <a:xfrm>
            <a:off x="438912" y="1746504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sensors give (MOD-04):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38912" y="2039112"/>
            <a:ext cx="384048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Camera: array of RGB pixel values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LiDAR: array of (range, angle) pairs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Depth camera: array of distance values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Radar: sparse (range, angle, velocity) tuples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663440" y="1691640"/>
            <a:ext cx="4206240" cy="13716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663440" y="1691640"/>
            <a:ext cx="54864" cy="13716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4" name="Text 12"/>
          <p:cNvSpPr/>
          <p:nvPr/>
        </p:nvSpPr>
        <p:spPr>
          <a:xfrm>
            <a:off x="4828032" y="1746504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the robot NEEDS: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828032" y="2039112"/>
            <a:ext cx="393192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"Wheelchair at (3.2, 1.5), moving left at 0.5 m/s"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"Door is OPEN — I can pass through"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"Corridor wall corner at (5.0, 2.1) — landmark"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"Free space ahead for 8 meters"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65760" y="329184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4C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Perception = the process of transforming raw sensor data into actionable understanding.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65760" y="365760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Without perception: localization has no landmarks, planning has no obstacles, SLAM has no features.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4">
    <p:bg>
      <p:bgPr>
        <a:solidFill>
          <a:srgbClr val="F0F2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F4C81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8288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Perception Must Deliver (Downstream Consumers)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182880" y="731520"/>
            <a:ext cx="2834640" cy="20116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82880" y="731520"/>
            <a:ext cx="54864" cy="201168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7" name="Text 5"/>
          <p:cNvSpPr/>
          <p:nvPr/>
        </p:nvSpPr>
        <p:spPr>
          <a:xfrm>
            <a:off x="347472" y="786384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MOD-06 Localization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47472" y="1078992"/>
            <a:ext cx="2560320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Detected landmarks (corners, lines)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 descriptors for matching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Landmark identity (which corner?)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Visual odometry estimates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033551" y="722128"/>
            <a:ext cx="2834640" cy="20116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033551" y="722128"/>
            <a:ext cx="54864" cy="201168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1" name="Text 9"/>
          <p:cNvSpPr/>
          <p:nvPr/>
        </p:nvSpPr>
        <p:spPr>
          <a:xfrm>
            <a:off x="6198143" y="77699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MOD-09 Planning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198143" y="1069600"/>
            <a:ext cx="2560320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Obstacle positions and sizes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space map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Semantic labels (door, wall, person)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Dynamic vs. static classification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74320" y="3017520"/>
            <a:ext cx="8595360" cy="17373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57200" y="30632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4C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CDIO for this module: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57200" y="3383280"/>
            <a:ext cx="411480" cy="41148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20" name="Text 18"/>
          <p:cNvSpPr/>
          <p:nvPr/>
        </p:nvSpPr>
        <p:spPr>
          <a:xfrm>
            <a:off x="457200" y="3401568"/>
            <a:ext cx="411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960120" y="3401568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CONCEIVE: </a:t>
            </a: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Understand what raw sensor data lacks and what perception must add (this block)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57200" y="3749040"/>
            <a:ext cx="411480" cy="411480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23" name="Text 21"/>
          <p:cNvSpPr/>
          <p:nvPr/>
        </p:nvSpPr>
        <p:spPr>
          <a:xfrm>
            <a:off x="457200" y="3767328"/>
            <a:ext cx="411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960120" y="3767328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DESIGN: </a:t>
            </a: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 a perception pipeline: which algorithms for which stage (Blocks B–I)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57200" y="4114800"/>
            <a:ext cx="411480" cy="41148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26" name="Text 24"/>
          <p:cNvSpPr/>
          <p:nvPr/>
        </p:nvSpPr>
        <p:spPr>
          <a:xfrm>
            <a:off x="457200" y="4133088"/>
            <a:ext cx="411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960120" y="4133088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IMPLEMENT: </a:t>
            </a: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 the pipeline to ROS 2 nodes and topics (Block B)</a:t>
            </a:r>
            <a:endParaRPr lang="en-US" sz="1200" dirty="0"/>
          </a:p>
        </p:txBody>
      </p:sp>
      <p:sp>
        <p:nvSpPr>
          <p:cNvPr id="28" name="Shape 11">
            <a:extLst>
              <a:ext uri="{FF2B5EF4-FFF2-40B4-BE49-F238E27FC236}">
                <a16:creationId xmlns:a16="http://schemas.microsoft.com/office/drawing/2014/main" id="{2EA50B39-99FD-43D2-A398-0B6BF0EF7B65}"/>
              </a:ext>
            </a:extLst>
          </p:cNvPr>
          <p:cNvSpPr/>
          <p:nvPr/>
        </p:nvSpPr>
        <p:spPr>
          <a:xfrm>
            <a:off x="3106837" y="731520"/>
            <a:ext cx="2834640" cy="20116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9" name="Shape 12">
            <a:extLst>
              <a:ext uri="{FF2B5EF4-FFF2-40B4-BE49-F238E27FC236}">
                <a16:creationId xmlns:a16="http://schemas.microsoft.com/office/drawing/2014/main" id="{B4058E13-2508-4361-81B6-7A08A9413760}"/>
              </a:ext>
            </a:extLst>
          </p:cNvPr>
          <p:cNvSpPr/>
          <p:nvPr/>
        </p:nvSpPr>
        <p:spPr>
          <a:xfrm>
            <a:off x="3106837" y="731520"/>
            <a:ext cx="54864" cy="201168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30" name="Text 13">
            <a:extLst>
              <a:ext uri="{FF2B5EF4-FFF2-40B4-BE49-F238E27FC236}">
                <a16:creationId xmlns:a16="http://schemas.microsoft.com/office/drawing/2014/main" id="{1C7D3FF8-58B7-4B6F-8E7F-7AA84EA85B1C}"/>
              </a:ext>
            </a:extLst>
          </p:cNvPr>
          <p:cNvSpPr/>
          <p:nvPr/>
        </p:nvSpPr>
        <p:spPr>
          <a:xfrm>
            <a:off x="3271429" y="786384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MOD-08 SLAM</a:t>
            </a:r>
            <a:endParaRPr lang="en-US" sz="1200" dirty="0"/>
          </a:p>
        </p:txBody>
      </p:sp>
      <p:sp>
        <p:nvSpPr>
          <p:cNvPr id="31" name="Text 14">
            <a:extLst>
              <a:ext uri="{FF2B5EF4-FFF2-40B4-BE49-F238E27FC236}">
                <a16:creationId xmlns:a16="http://schemas.microsoft.com/office/drawing/2014/main" id="{D62635E7-2CF4-418C-AB3E-D6AE95FBC00A}"/>
              </a:ext>
            </a:extLst>
          </p:cNvPr>
          <p:cNvSpPr/>
          <p:nvPr/>
        </p:nvSpPr>
        <p:spPr>
          <a:xfrm>
            <a:off x="3271429" y="1078992"/>
            <a:ext cx="2560320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Visual features for loop closure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Point cloud segments for registration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Distinctive places for re-recognition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Consistent features across visits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4C8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91440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BLOCK B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1371600"/>
            <a:ext cx="77724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Perception Pipeline</a:t>
            </a:r>
            <a:endParaRPr lang="en-US" sz="2800" dirty="0"/>
          </a:p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274320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B0C4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assembly line from raw data to understanding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2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F4C81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8288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Abstract Pipeline: 5 Stages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800" dirty="0"/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0659CF07-B778-48FD-B216-DCE0EAB212BF}"/>
              </a:ext>
            </a:extLst>
          </p:cNvPr>
          <p:cNvGrpSpPr/>
          <p:nvPr/>
        </p:nvGrpSpPr>
        <p:grpSpPr>
          <a:xfrm>
            <a:off x="228600" y="822960"/>
            <a:ext cx="8732520" cy="1463040"/>
            <a:chOff x="228600" y="822960"/>
            <a:chExt cx="8732520" cy="1463040"/>
          </a:xfrm>
        </p:grpSpPr>
        <p:sp>
          <p:nvSpPr>
            <p:cNvPr id="5" name="Shape 3"/>
            <p:cNvSpPr/>
            <p:nvPr/>
          </p:nvSpPr>
          <p:spPr>
            <a:xfrm>
              <a:off x="228600" y="822960"/>
              <a:ext cx="1600200" cy="1463040"/>
            </a:xfrm>
            <a:prstGeom prst="rect">
              <a:avLst/>
            </a:prstGeom>
            <a:solidFill>
              <a:srgbClr val="3B82F6"/>
            </a:solidFill>
            <a:ln/>
            <a:effectLst>
              <a:outerShdw blurRad="50800" dist="25400" dir="8100000" algn="bl" rotWithShape="0">
                <a:srgbClr val="000000">
                  <a:alpha val="12000"/>
                </a:srgbClr>
              </a:outerShdw>
            </a:effectLst>
          </p:spPr>
        </p:sp>
        <p:sp>
          <p:nvSpPr>
            <p:cNvPr id="6" name="Text 4"/>
            <p:cNvSpPr/>
            <p:nvPr/>
          </p:nvSpPr>
          <p:spPr>
            <a:xfrm>
              <a:off x="228600" y="868680"/>
              <a:ext cx="1600200" cy="4572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rgbClr val="FFFFFF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SENSE</a:t>
              </a:r>
              <a:endParaRPr lang="en-US" sz="1400" dirty="0"/>
            </a:p>
          </p:txBody>
        </p:sp>
        <p:sp>
          <p:nvSpPr>
            <p:cNvPr id="7" name="Text 5"/>
            <p:cNvSpPr/>
            <p:nvPr/>
          </p:nvSpPr>
          <p:spPr>
            <a:xfrm>
              <a:off x="228600" y="1371600"/>
              <a:ext cx="1600200" cy="8229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200" dirty="0">
                  <a:solidFill>
                    <a:srgbClr val="FFFFFF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Raw data from</a:t>
              </a:r>
              <a:endParaRPr lang="en-US" sz="1200" dirty="0"/>
            </a:p>
            <a:p>
              <a:pPr marL="0" indent="0" algn="ctr">
                <a:buNone/>
              </a:pPr>
              <a:r>
                <a:rPr lang="en-US" sz="1200" dirty="0">
                  <a:solidFill>
                    <a:srgbClr val="FFFFFF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camera, LiDAR</a:t>
              </a:r>
              <a:endParaRPr lang="en-US" sz="1200" dirty="0"/>
            </a:p>
          </p:txBody>
        </p:sp>
        <p:sp>
          <p:nvSpPr>
            <p:cNvPr id="8" name="Text 6"/>
            <p:cNvSpPr/>
            <p:nvPr/>
          </p:nvSpPr>
          <p:spPr>
            <a:xfrm>
              <a:off x="1828800" y="1188720"/>
              <a:ext cx="182880" cy="4572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600" dirty="0">
                  <a:solidFill>
                    <a:srgbClr val="6B7280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→</a:t>
              </a:r>
              <a:endParaRPr lang="en-US" sz="1600" dirty="0"/>
            </a:p>
          </p:txBody>
        </p:sp>
        <p:sp>
          <p:nvSpPr>
            <p:cNvPr id="9" name="Shape 7"/>
            <p:cNvSpPr/>
            <p:nvPr/>
          </p:nvSpPr>
          <p:spPr>
            <a:xfrm>
              <a:off x="2011680" y="822960"/>
              <a:ext cx="1600200" cy="1463040"/>
            </a:xfrm>
            <a:prstGeom prst="rect">
              <a:avLst/>
            </a:prstGeom>
            <a:solidFill>
              <a:srgbClr val="0D9488"/>
            </a:solidFill>
            <a:ln/>
            <a:effectLst>
              <a:outerShdw blurRad="50800" dist="25400" dir="8100000" algn="bl" rotWithShape="0">
                <a:srgbClr val="000000">
                  <a:alpha val="12000"/>
                </a:srgbClr>
              </a:outerShdw>
            </a:effectLst>
          </p:spPr>
        </p:sp>
        <p:sp>
          <p:nvSpPr>
            <p:cNvPr id="10" name="Text 8"/>
            <p:cNvSpPr/>
            <p:nvPr/>
          </p:nvSpPr>
          <p:spPr>
            <a:xfrm>
              <a:off x="2011680" y="868680"/>
              <a:ext cx="1600200" cy="4572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rgbClr val="FFFFFF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PREPROCESS</a:t>
              </a:r>
              <a:endParaRPr lang="en-US" sz="1400" dirty="0"/>
            </a:p>
          </p:txBody>
        </p:sp>
        <p:sp>
          <p:nvSpPr>
            <p:cNvPr id="11" name="Text 9"/>
            <p:cNvSpPr/>
            <p:nvPr/>
          </p:nvSpPr>
          <p:spPr>
            <a:xfrm>
              <a:off x="2011680" y="1371600"/>
              <a:ext cx="1600200" cy="8229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200" dirty="0">
                  <a:solidFill>
                    <a:srgbClr val="FFFFFF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Filter noise,</a:t>
              </a:r>
              <a:endParaRPr lang="en-US" sz="1200" dirty="0"/>
            </a:p>
            <a:p>
              <a:pPr marL="0" indent="0" algn="ctr">
                <a:buNone/>
              </a:pPr>
              <a:r>
                <a:rPr lang="en-US" sz="1200" dirty="0">
                  <a:solidFill>
                    <a:srgbClr val="FFFFFF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enhance features</a:t>
              </a:r>
              <a:endParaRPr lang="en-US" sz="1200" dirty="0"/>
            </a:p>
          </p:txBody>
        </p:sp>
        <p:sp>
          <p:nvSpPr>
            <p:cNvPr id="12" name="Text 10"/>
            <p:cNvSpPr/>
            <p:nvPr/>
          </p:nvSpPr>
          <p:spPr>
            <a:xfrm>
              <a:off x="3611880" y="1188720"/>
              <a:ext cx="182880" cy="4572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600" dirty="0">
                  <a:solidFill>
                    <a:srgbClr val="6B7280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→</a:t>
              </a:r>
              <a:endParaRPr lang="en-US" sz="1600" dirty="0"/>
            </a:p>
          </p:txBody>
        </p:sp>
        <p:sp>
          <p:nvSpPr>
            <p:cNvPr id="13" name="Shape 11"/>
            <p:cNvSpPr/>
            <p:nvPr/>
          </p:nvSpPr>
          <p:spPr>
            <a:xfrm>
              <a:off x="3794760" y="822960"/>
              <a:ext cx="1600200" cy="1463040"/>
            </a:xfrm>
            <a:prstGeom prst="rect">
              <a:avLst/>
            </a:prstGeom>
            <a:solidFill>
              <a:srgbClr val="F59E0B"/>
            </a:solidFill>
            <a:ln/>
            <a:effectLst>
              <a:outerShdw blurRad="50800" dist="25400" dir="8100000" algn="bl" rotWithShape="0">
                <a:srgbClr val="000000">
                  <a:alpha val="12000"/>
                </a:srgbClr>
              </a:outerShdw>
            </a:effectLst>
          </p:spPr>
        </p:sp>
        <p:sp>
          <p:nvSpPr>
            <p:cNvPr id="14" name="Text 12"/>
            <p:cNvSpPr/>
            <p:nvPr/>
          </p:nvSpPr>
          <p:spPr>
            <a:xfrm>
              <a:off x="3794760" y="868680"/>
              <a:ext cx="1600200" cy="4572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rgbClr val="FFFFFF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DETECT</a:t>
              </a:r>
              <a:endParaRPr lang="en-US" sz="1400" dirty="0"/>
            </a:p>
          </p:txBody>
        </p:sp>
        <p:sp>
          <p:nvSpPr>
            <p:cNvPr id="15" name="Text 13"/>
            <p:cNvSpPr/>
            <p:nvPr/>
          </p:nvSpPr>
          <p:spPr>
            <a:xfrm>
              <a:off x="3794760" y="1371600"/>
              <a:ext cx="1600200" cy="8229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200" dirty="0">
                  <a:solidFill>
                    <a:srgbClr val="FFFFFF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Find objects,</a:t>
              </a:r>
              <a:endParaRPr lang="en-US" sz="1200" dirty="0"/>
            </a:p>
            <a:p>
              <a:pPr marL="0" indent="0" algn="ctr">
                <a:buNone/>
              </a:pPr>
              <a:r>
                <a:rPr lang="en-US" sz="1200" dirty="0">
                  <a:solidFill>
                    <a:srgbClr val="FFFFFF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edges, features</a:t>
              </a:r>
              <a:endParaRPr lang="en-US" sz="1200" dirty="0"/>
            </a:p>
          </p:txBody>
        </p:sp>
        <p:sp>
          <p:nvSpPr>
            <p:cNvPr id="16" name="Text 14"/>
            <p:cNvSpPr/>
            <p:nvPr/>
          </p:nvSpPr>
          <p:spPr>
            <a:xfrm>
              <a:off x="5394960" y="1188720"/>
              <a:ext cx="182880" cy="4572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600" dirty="0">
                  <a:solidFill>
                    <a:srgbClr val="6B7280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→</a:t>
              </a:r>
              <a:endParaRPr lang="en-US" sz="1600" dirty="0"/>
            </a:p>
          </p:txBody>
        </p:sp>
        <p:sp>
          <p:nvSpPr>
            <p:cNvPr id="17" name="Shape 15"/>
            <p:cNvSpPr/>
            <p:nvPr/>
          </p:nvSpPr>
          <p:spPr>
            <a:xfrm>
              <a:off x="5577840" y="822960"/>
              <a:ext cx="1600200" cy="1463040"/>
            </a:xfrm>
            <a:prstGeom prst="rect">
              <a:avLst/>
            </a:prstGeom>
            <a:solidFill>
              <a:srgbClr val="8B5CF6"/>
            </a:solidFill>
            <a:ln/>
            <a:effectLst>
              <a:outerShdw blurRad="50800" dist="25400" dir="8100000" algn="bl" rotWithShape="0">
                <a:srgbClr val="000000">
                  <a:alpha val="12000"/>
                </a:srgbClr>
              </a:outerShdw>
            </a:effectLst>
          </p:spPr>
        </p:sp>
        <p:sp>
          <p:nvSpPr>
            <p:cNvPr id="18" name="Text 16"/>
            <p:cNvSpPr/>
            <p:nvPr/>
          </p:nvSpPr>
          <p:spPr>
            <a:xfrm>
              <a:off x="5577840" y="868680"/>
              <a:ext cx="1600200" cy="4572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rgbClr val="FFFFFF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CLASSIFY</a:t>
              </a:r>
              <a:endParaRPr lang="en-US" sz="1400" dirty="0"/>
            </a:p>
          </p:txBody>
        </p:sp>
        <p:sp>
          <p:nvSpPr>
            <p:cNvPr id="19" name="Text 17"/>
            <p:cNvSpPr/>
            <p:nvPr/>
          </p:nvSpPr>
          <p:spPr>
            <a:xfrm>
              <a:off x="5577840" y="1371600"/>
              <a:ext cx="1600200" cy="8229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200" dirty="0">
                  <a:solidFill>
                    <a:srgbClr val="FFFFFF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What IS it?</a:t>
              </a:r>
              <a:endParaRPr lang="en-US" sz="1200" dirty="0"/>
            </a:p>
            <a:p>
              <a:pPr marL="0" indent="0" algn="ctr">
                <a:buNone/>
              </a:pPr>
              <a:r>
                <a:rPr lang="en-US" sz="1200" dirty="0">
                  <a:solidFill>
                    <a:srgbClr val="FFFFFF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chair, door, wall</a:t>
              </a:r>
              <a:endParaRPr lang="en-US" sz="1200" dirty="0"/>
            </a:p>
          </p:txBody>
        </p:sp>
        <p:sp>
          <p:nvSpPr>
            <p:cNvPr id="20" name="Text 18"/>
            <p:cNvSpPr/>
            <p:nvPr/>
          </p:nvSpPr>
          <p:spPr>
            <a:xfrm>
              <a:off x="7178040" y="1188720"/>
              <a:ext cx="182880" cy="4572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600" dirty="0">
                  <a:solidFill>
                    <a:srgbClr val="6B7280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→</a:t>
              </a:r>
              <a:endParaRPr lang="en-US" sz="1600" dirty="0"/>
            </a:p>
          </p:txBody>
        </p:sp>
        <p:sp>
          <p:nvSpPr>
            <p:cNvPr id="21" name="Shape 19"/>
            <p:cNvSpPr/>
            <p:nvPr/>
          </p:nvSpPr>
          <p:spPr>
            <a:xfrm>
              <a:off x="7360920" y="822960"/>
              <a:ext cx="1600200" cy="1463040"/>
            </a:xfrm>
            <a:prstGeom prst="rect">
              <a:avLst/>
            </a:prstGeom>
            <a:solidFill>
              <a:srgbClr val="10B981"/>
            </a:solidFill>
            <a:ln/>
            <a:effectLst>
              <a:outerShdw blurRad="50800" dist="25400" dir="8100000" algn="bl" rotWithShape="0">
                <a:srgbClr val="000000">
                  <a:alpha val="12000"/>
                </a:srgbClr>
              </a:outerShdw>
            </a:effectLst>
          </p:spPr>
        </p:sp>
        <p:sp>
          <p:nvSpPr>
            <p:cNvPr id="22" name="Text 20"/>
            <p:cNvSpPr/>
            <p:nvPr/>
          </p:nvSpPr>
          <p:spPr>
            <a:xfrm>
              <a:off x="7360920" y="868680"/>
              <a:ext cx="1600200" cy="4572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rgbClr val="FFFFFF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INTERPRET</a:t>
              </a:r>
              <a:endParaRPr lang="en-US" sz="1400" dirty="0"/>
            </a:p>
          </p:txBody>
        </p:sp>
        <p:sp>
          <p:nvSpPr>
            <p:cNvPr id="23" name="Text 21"/>
            <p:cNvSpPr/>
            <p:nvPr/>
          </p:nvSpPr>
          <p:spPr>
            <a:xfrm>
              <a:off x="7360920" y="1371600"/>
              <a:ext cx="1600200" cy="8229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200" dirty="0">
                  <a:solidFill>
                    <a:srgbClr val="FFFFFF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What does it</a:t>
              </a:r>
              <a:endParaRPr lang="en-US" sz="1200" dirty="0"/>
            </a:p>
            <a:p>
              <a:pPr marL="0" indent="0" algn="ctr">
                <a:buNone/>
              </a:pPr>
              <a:r>
                <a:rPr lang="en-US" sz="1200" dirty="0">
                  <a:solidFill>
                    <a:srgbClr val="FFFFFF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MEAN for the robot?</a:t>
              </a:r>
              <a:endParaRPr lang="en-US" sz="1200" dirty="0"/>
            </a:p>
          </p:txBody>
        </p:sp>
      </p:grpSp>
      <p:sp>
        <p:nvSpPr>
          <p:cNvPr id="24" name="Text 22"/>
          <p:cNvSpPr/>
          <p:nvPr/>
        </p:nvSpPr>
        <p:spPr>
          <a:xfrm>
            <a:off x="365760" y="2560320"/>
            <a:ext cx="8412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4C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perception system follows this pattern, regardless of sensor or robot.
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stage reduces data volume and increases information value:
</a:t>
            </a:r>
            <a:endParaRPr lang="en-US" sz="1200" dirty="0"/>
          </a:p>
          <a:p>
            <a:pPr marL="0" indent="0">
              <a:buNone/>
            </a:pPr>
            <a:r>
              <a:rPr lang="en-US" sz="12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Camera: 921,600 bytes/frame → 50 features → 5 objects → 2 decisions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365760" y="347472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module teaches the algorithms inside each arrow.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2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F4C81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8288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the Pipeline Maps to ROS 2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365760" y="68580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abstract pipeline becomes a graph of ROS 2 nodes connected by topics: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65760" y="10515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Camera Pipeline: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5760" y="1371600"/>
            <a:ext cx="1920240" cy="640080"/>
          </a:xfrm>
          <a:prstGeom prst="rect">
            <a:avLst/>
          </a:prstGeom>
          <a:solidFill>
            <a:srgbClr val="3B82F6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65760" y="1389888"/>
            <a:ext cx="192024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camera_driver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/image_raw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286000" y="1463040"/>
            <a:ext cx="228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2514600" y="1371600"/>
            <a:ext cx="1920240" cy="640080"/>
          </a:xfrm>
          <a:prstGeom prst="rect">
            <a:avLst/>
          </a:prstGeom>
          <a:solidFill>
            <a:srgbClr val="0D9488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514600" y="1389888"/>
            <a:ext cx="192024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image_proc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/image_rect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434840" y="1463040"/>
            <a:ext cx="228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663440" y="1371600"/>
            <a:ext cx="1920240" cy="640080"/>
          </a:xfrm>
          <a:prstGeom prst="rect">
            <a:avLst/>
          </a:prstGeom>
          <a:solidFill>
            <a:srgbClr val="F59E0B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663440" y="1389888"/>
            <a:ext cx="192024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feature_node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/features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583680" y="1463040"/>
            <a:ext cx="228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812280" y="1371600"/>
            <a:ext cx="1920240" cy="640080"/>
          </a:xfrm>
          <a:prstGeom prst="rect">
            <a:avLst/>
          </a:prstGeom>
          <a:solidFill>
            <a:srgbClr val="8B5CF6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812280" y="1389888"/>
            <a:ext cx="192024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detector_node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/detections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65760" y="21945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LiDAR Pipeline: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2514600"/>
            <a:ext cx="1920240" cy="640080"/>
          </a:xfrm>
          <a:prstGeom prst="rect">
            <a:avLst/>
          </a:prstGeom>
          <a:solidFill>
            <a:srgbClr val="EF4444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5760" y="2532888"/>
            <a:ext cx="192024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lidar_driver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/scan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2286000" y="2606040"/>
            <a:ext cx="228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2514600" y="2514600"/>
            <a:ext cx="1920240" cy="640080"/>
          </a:xfrm>
          <a:prstGeom prst="rect">
            <a:avLst/>
          </a:prstGeom>
          <a:solidFill>
            <a:srgbClr val="0D9488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2514600" y="2532888"/>
            <a:ext cx="192024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pcl_filter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/cloud_filtered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434840" y="2606040"/>
            <a:ext cx="228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4663440" y="2514600"/>
            <a:ext cx="1920240" cy="640080"/>
          </a:xfrm>
          <a:prstGeom prst="rect">
            <a:avLst/>
          </a:prstGeom>
          <a:solidFill>
            <a:srgbClr val="F59E0B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4663440" y="2532888"/>
            <a:ext cx="192024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ground_remove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/cloud_objects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583680" y="2606040"/>
            <a:ext cx="228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6812280" y="2514600"/>
            <a:ext cx="1920240" cy="640080"/>
          </a:xfrm>
          <a:prstGeom prst="rect">
            <a:avLst/>
          </a:prstGeom>
          <a:solidFill>
            <a:srgbClr val="10B981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6812280" y="2532888"/>
            <a:ext cx="192024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clustering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/obstacles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274320" y="3383280"/>
            <a:ext cx="8595360" cy="16459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457200" y="34290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4C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ROS 2 tools for perception: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40080" y="402676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cv_bridge: converts ROS Image messages ↔ OpenCV matrices (numpy arrays)
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image_transport: efficient image streaming (compressed, theora)
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sensor_msgs/PointCloud2: standard message for 3D point clouds
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vision_msgs/Detection2D: standard message for object detections (bounding box + class + confidence)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2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F4C81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8288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Pipeline Design Decisions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8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38929529"/>
              </p:ext>
            </p:extLst>
          </p:nvPr>
        </p:nvGraphicFramePr>
        <p:xfrm>
          <a:off x="182880" y="731520"/>
          <a:ext cx="8778240" cy="1828800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Decision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8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Option A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8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Option B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8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Trade-off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8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Process on robot vs. offboard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On-robot (low latency)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Cloud (more compute)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Latency vs. capability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Frame rate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Full 30 Hz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Skip frames (10 Hz)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Accuracy vs. CPU load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Resolution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Full 640×480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Downscaled 320×240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Detail vs. speed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Feature type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Classical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Deep learning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Interpretable vs. powerful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2D vs. 3D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2D image detection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3D point cloud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Simple vs. complete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457200" y="3246120"/>
            <a:ext cx="411480" cy="411480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7" name="Text 4"/>
          <p:cNvSpPr/>
          <p:nvPr/>
        </p:nvSpPr>
        <p:spPr>
          <a:xfrm>
            <a:off x="457200" y="3273552"/>
            <a:ext cx="411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960120" y="3310128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DESIGN: </a:t>
            </a: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perception system involves these trade-offs. The 'best' choice depends on your robot's compute, speed, and task.</a:t>
            </a:r>
            <a:endParaRPr lang="en-US" sz="1200" dirty="0"/>
          </a:p>
        </p:txBody>
      </p:sp>
      <p:sp>
        <p:nvSpPr>
          <p:cNvPr id="5" name="Shape 6"/>
          <p:cNvSpPr/>
          <p:nvPr/>
        </p:nvSpPr>
        <p:spPr>
          <a:xfrm>
            <a:off x="457200" y="3657600"/>
            <a:ext cx="411480" cy="41148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0" name="Text 7"/>
          <p:cNvSpPr/>
          <p:nvPr/>
        </p:nvSpPr>
        <p:spPr>
          <a:xfrm>
            <a:off x="457200" y="3675888"/>
            <a:ext cx="411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960120" y="3675888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OPERATE: </a:t>
            </a: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MediBot (hospital): low speed, safety-critical → full resolution, 15 Hz, classical + DL backup.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4C8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91440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BLOCK C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1371600"/>
            <a:ext cx="77724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Image Preprocessing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274320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B0C4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Clean the data before trying to understand it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2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F4C81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8288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Fluorescent Flicker Ruins Everything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274320" y="685800"/>
            <a:ext cx="8595360" cy="731520"/>
          </a:xfrm>
          <a:prstGeom prst="rect">
            <a:avLst/>
          </a:prstGeom>
          <a:solidFill>
            <a:srgbClr val="FFFBEB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685800"/>
            <a:ext cx="54864" cy="73152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758952"/>
            <a:ext cx="827532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SCENARIO: </a:t>
            </a: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MediBot's camera captures images under fluorescent lights. Every other frame has a color shift. JPEG compression adds block artifacts. Feature detection on raw images finds hundreds of phantom features on compression boundaries. We must CLEAN the image first.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74320" y="1600199"/>
            <a:ext cx="4114800" cy="2125981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74320" y="1600200"/>
            <a:ext cx="54864" cy="201168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0" name="Text 8"/>
          <p:cNvSpPr/>
          <p:nvPr/>
        </p:nvSpPr>
        <p:spPr>
          <a:xfrm>
            <a:off x="438912" y="1655064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Preprocess?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38912" y="1947672"/>
            <a:ext cx="3840480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Reduce noise (sensor, compression, lighting)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Enhance features (sharpen edges, normalize contrast)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Standardize input (consistent brightness, color)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Remove irrelevant info (background, known patterns)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Bad preprocessing = bad features = bad everything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663440" y="1600200"/>
            <a:ext cx="4206240" cy="21259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663440" y="1600200"/>
            <a:ext cx="54864" cy="201168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4" name="Text 12"/>
          <p:cNvSpPr/>
          <p:nvPr/>
        </p:nvSpPr>
        <p:spPr>
          <a:xfrm>
            <a:off x="4828032" y="1655064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Operations: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828032" y="1947672"/>
            <a:ext cx="3931920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Color conversion: RGB → Grayscale, HSV, Lab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(many algorithms work on grayscale only)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Gaussian blur: smooth out noise (kernel 3×3, 5×5)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filter: remove salt-and-pepper noise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Histogram equalization: normalize contrast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Undistortion: correct lens distortion</a:t>
            </a:r>
            <a:endParaRPr lang="en-US" sz="1200" dirty="0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E64E80F0-BA7C-40BB-A687-7B451EC9AB0E}"/>
              </a:ext>
            </a:extLst>
          </p:cNvPr>
          <p:cNvGrpSpPr/>
          <p:nvPr/>
        </p:nvGrpSpPr>
        <p:grpSpPr>
          <a:xfrm>
            <a:off x="3200399" y="4608745"/>
            <a:ext cx="5371253" cy="457200"/>
            <a:chOff x="228600" y="822960"/>
            <a:chExt cx="8732520" cy="1463040"/>
          </a:xfrm>
        </p:grpSpPr>
        <p:sp>
          <p:nvSpPr>
            <p:cNvPr id="17" name="Shape 3">
              <a:extLst>
                <a:ext uri="{FF2B5EF4-FFF2-40B4-BE49-F238E27FC236}">
                  <a16:creationId xmlns:a16="http://schemas.microsoft.com/office/drawing/2014/main" id="{89C0CA9B-2CB5-4326-8C11-E6AF90F9A9BA}"/>
                </a:ext>
              </a:extLst>
            </p:cNvPr>
            <p:cNvSpPr/>
            <p:nvPr/>
          </p:nvSpPr>
          <p:spPr>
            <a:xfrm>
              <a:off x="228600" y="822960"/>
              <a:ext cx="1600200" cy="1463040"/>
            </a:xfrm>
            <a:prstGeom prst="rect">
              <a:avLst/>
            </a:prstGeom>
            <a:solidFill>
              <a:srgbClr val="3B82F6"/>
            </a:solidFill>
            <a:ln/>
            <a:effectLst>
              <a:outerShdw blurRad="50800" dist="25400" dir="8100000" algn="bl" rotWithShape="0">
                <a:srgbClr val="000000">
                  <a:alpha val="12000"/>
                </a:srgbClr>
              </a:outerShdw>
            </a:effectLst>
          </p:spPr>
        </p:sp>
        <p:sp>
          <p:nvSpPr>
            <p:cNvPr id="18" name="Text 4">
              <a:extLst>
                <a:ext uri="{FF2B5EF4-FFF2-40B4-BE49-F238E27FC236}">
                  <a16:creationId xmlns:a16="http://schemas.microsoft.com/office/drawing/2014/main" id="{69914F95-1205-469F-A712-EDED6815E1AE}"/>
                </a:ext>
              </a:extLst>
            </p:cNvPr>
            <p:cNvSpPr/>
            <p:nvPr/>
          </p:nvSpPr>
          <p:spPr>
            <a:xfrm>
              <a:off x="228600" y="868680"/>
              <a:ext cx="1600200" cy="4572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800" b="1" dirty="0">
                  <a:solidFill>
                    <a:srgbClr val="FFFFFF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SENSE</a:t>
              </a:r>
              <a:endParaRPr lang="en-US" sz="800" dirty="0"/>
            </a:p>
          </p:txBody>
        </p:sp>
        <p:sp>
          <p:nvSpPr>
            <p:cNvPr id="19" name="Text 5">
              <a:extLst>
                <a:ext uri="{FF2B5EF4-FFF2-40B4-BE49-F238E27FC236}">
                  <a16:creationId xmlns:a16="http://schemas.microsoft.com/office/drawing/2014/main" id="{2E4A9A8B-3F0B-4A30-A576-A3CD8174088F}"/>
                </a:ext>
              </a:extLst>
            </p:cNvPr>
            <p:cNvSpPr/>
            <p:nvPr/>
          </p:nvSpPr>
          <p:spPr>
            <a:xfrm>
              <a:off x="228600" y="1371600"/>
              <a:ext cx="1600200" cy="8229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700" dirty="0">
                  <a:solidFill>
                    <a:srgbClr val="FFFFFF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Raw data from</a:t>
              </a:r>
              <a:endParaRPr lang="en-US" sz="700" dirty="0"/>
            </a:p>
            <a:p>
              <a:pPr marL="0" indent="0" algn="ctr">
                <a:buNone/>
              </a:pPr>
              <a:r>
                <a:rPr lang="en-US" sz="700" dirty="0">
                  <a:solidFill>
                    <a:srgbClr val="FFFFFF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camera, LiDAR</a:t>
              </a:r>
              <a:endParaRPr lang="en-US" sz="700" dirty="0"/>
            </a:p>
          </p:txBody>
        </p:sp>
        <p:sp>
          <p:nvSpPr>
            <p:cNvPr id="20" name="Text 6">
              <a:extLst>
                <a:ext uri="{FF2B5EF4-FFF2-40B4-BE49-F238E27FC236}">
                  <a16:creationId xmlns:a16="http://schemas.microsoft.com/office/drawing/2014/main" id="{B61849D8-5921-4A3C-A734-69F739B31E76}"/>
                </a:ext>
              </a:extLst>
            </p:cNvPr>
            <p:cNvSpPr/>
            <p:nvPr/>
          </p:nvSpPr>
          <p:spPr>
            <a:xfrm>
              <a:off x="1828800" y="1188720"/>
              <a:ext cx="182880" cy="4572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6B7280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→</a:t>
              </a:r>
              <a:endParaRPr lang="en-US" sz="900" dirty="0"/>
            </a:p>
          </p:txBody>
        </p:sp>
        <p:sp>
          <p:nvSpPr>
            <p:cNvPr id="21" name="Shape 7">
              <a:extLst>
                <a:ext uri="{FF2B5EF4-FFF2-40B4-BE49-F238E27FC236}">
                  <a16:creationId xmlns:a16="http://schemas.microsoft.com/office/drawing/2014/main" id="{ADF1C4DF-B00C-413D-BBA7-02D5753E5D78}"/>
                </a:ext>
              </a:extLst>
            </p:cNvPr>
            <p:cNvSpPr/>
            <p:nvPr/>
          </p:nvSpPr>
          <p:spPr>
            <a:xfrm>
              <a:off x="2011680" y="822960"/>
              <a:ext cx="1600200" cy="1463040"/>
            </a:xfrm>
            <a:prstGeom prst="rect">
              <a:avLst/>
            </a:prstGeom>
            <a:solidFill>
              <a:srgbClr val="0D9488"/>
            </a:solidFill>
            <a:ln/>
            <a:effectLst>
              <a:outerShdw blurRad="50800" dist="25400" dir="8100000" algn="bl" rotWithShape="0">
                <a:srgbClr val="000000">
                  <a:alpha val="12000"/>
                </a:srgbClr>
              </a:outerShdw>
            </a:effectLst>
          </p:spPr>
        </p:sp>
        <p:sp>
          <p:nvSpPr>
            <p:cNvPr id="22" name="Text 8">
              <a:extLst>
                <a:ext uri="{FF2B5EF4-FFF2-40B4-BE49-F238E27FC236}">
                  <a16:creationId xmlns:a16="http://schemas.microsoft.com/office/drawing/2014/main" id="{83653E59-4398-4230-BBBD-966FEA85C8FC}"/>
                </a:ext>
              </a:extLst>
            </p:cNvPr>
            <p:cNvSpPr/>
            <p:nvPr/>
          </p:nvSpPr>
          <p:spPr>
            <a:xfrm>
              <a:off x="2011680" y="868680"/>
              <a:ext cx="1600200" cy="4572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800" b="1" dirty="0">
                  <a:solidFill>
                    <a:srgbClr val="FFFFFF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PREPROCESS</a:t>
              </a:r>
              <a:endParaRPr lang="en-US" sz="800" dirty="0"/>
            </a:p>
          </p:txBody>
        </p:sp>
        <p:sp>
          <p:nvSpPr>
            <p:cNvPr id="23" name="Text 9">
              <a:extLst>
                <a:ext uri="{FF2B5EF4-FFF2-40B4-BE49-F238E27FC236}">
                  <a16:creationId xmlns:a16="http://schemas.microsoft.com/office/drawing/2014/main" id="{E1944ECE-80F0-4CA2-ADA2-FB82AA7380DD}"/>
                </a:ext>
              </a:extLst>
            </p:cNvPr>
            <p:cNvSpPr/>
            <p:nvPr/>
          </p:nvSpPr>
          <p:spPr>
            <a:xfrm>
              <a:off x="2011680" y="1371600"/>
              <a:ext cx="1600200" cy="8229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700" dirty="0">
                  <a:solidFill>
                    <a:srgbClr val="FFFFFF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Filter noise,</a:t>
              </a:r>
              <a:endParaRPr lang="en-US" sz="700" dirty="0"/>
            </a:p>
            <a:p>
              <a:pPr marL="0" indent="0" algn="ctr">
                <a:buNone/>
              </a:pPr>
              <a:r>
                <a:rPr lang="en-US" sz="700" dirty="0">
                  <a:solidFill>
                    <a:srgbClr val="FFFFFF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enhance features</a:t>
              </a:r>
              <a:endParaRPr lang="en-US" sz="700" dirty="0"/>
            </a:p>
          </p:txBody>
        </p:sp>
        <p:sp>
          <p:nvSpPr>
            <p:cNvPr id="24" name="Text 10">
              <a:extLst>
                <a:ext uri="{FF2B5EF4-FFF2-40B4-BE49-F238E27FC236}">
                  <a16:creationId xmlns:a16="http://schemas.microsoft.com/office/drawing/2014/main" id="{AEF3EE82-759A-434C-A3B1-83321E65D782}"/>
                </a:ext>
              </a:extLst>
            </p:cNvPr>
            <p:cNvSpPr/>
            <p:nvPr/>
          </p:nvSpPr>
          <p:spPr>
            <a:xfrm>
              <a:off x="3611880" y="1188720"/>
              <a:ext cx="182880" cy="4572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6B7280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→</a:t>
              </a:r>
              <a:endParaRPr lang="en-US" sz="900" dirty="0"/>
            </a:p>
          </p:txBody>
        </p:sp>
        <p:sp>
          <p:nvSpPr>
            <p:cNvPr id="25" name="Shape 11">
              <a:extLst>
                <a:ext uri="{FF2B5EF4-FFF2-40B4-BE49-F238E27FC236}">
                  <a16:creationId xmlns:a16="http://schemas.microsoft.com/office/drawing/2014/main" id="{202C84D2-E3E4-4BB1-9672-2CB310E22E43}"/>
                </a:ext>
              </a:extLst>
            </p:cNvPr>
            <p:cNvSpPr/>
            <p:nvPr/>
          </p:nvSpPr>
          <p:spPr>
            <a:xfrm>
              <a:off x="3794760" y="822960"/>
              <a:ext cx="1600200" cy="1463040"/>
            </a:xfrm>
            <a:prstGeom prst="rect">
              <a:avLst/>
            </a:prstGeom>
            <a:solidFill>
              <a:srgbClr val="F59E0B"/>
            </a:solidFill>
            <a:ln/>
            <a:effectLst>
              <a:outerShdw blurRad="50800" dist="25400" dir="8100000" algn="bl" rotWithShape="0">
                <a:srgbClr val="000000">
                  <a:alpha val="12000"/>
                </a:srgbClr>
              </a:outerShdw>
            </a:effectLst>
          </p:spPr>
        </p:sp>
        <p:sp>
          <p:nvSpPr>
            <p:cNvPr id="26" name="Text 12">
              <a:extLst>
                <a:ext uri="{FF2B5EF4-FFF2-40B4-BE49-F238E27FC236}">
                  <a16:creationId xmlns:a16="http://schemas.microsoft.com/office/drawing/2014/main" id="{5468D72E-703E-4AFF-AFE8-56411BB87A28}"/>
                </a:ext>
              </a:extLst>
            </p:cNvPr>
            <p:cNvSpPr/>
            <p:nvPr/>
          </p:nvSpPr>
          <p:spPr>
            <a:xfrm>
              <a:off x="3794760" y="868680"/>
              <a:ext cx="1600200" cy="4572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800" b="1" dirty="0">
                  <a:solidFill>
                    <a:srgbClr val="FFFFFF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DETECT</a:t>
              </a:r>
              <a:endParaRPr lang="en-US" sz="800" dirty="0"/>
            </a:p>
          </p:txBody>
        </p:sp>
        <p:sp>
          <p:nvSpPr>
            <p:cNvPr id="27" name="Text 13">
              <a:extLst>
                <a:ext uri="{FF2B5EF4-FFF2-40B4-BE49-F238E27FC236}">
                  <a16:creationId xmlns:a16="http://schemas.microsoft.com/office/drawing/2014/main" id="{50C9A720-DB06-4738-8D88-0297FE89C3C6}"/>
                </a:ext>
              </a:extLst>
            </p:cNvPr>
            <p:cNvSpPr/>
            <p:nvPr/>
          </p:nvSpPr>
          <p:spPr>
            <a:xfrm>
              <a:off x="3794760" y="1371600"/>
              <a:ext cx="1600200" cy="8229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700" dirty="0">
                  <a:solidFill>
                    <a:srgbClr val="FFFFFF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Find objects,</a:t>
              </a:r>
              <a:endParaRPr lang="en-US" sz="700" dirty="0"/>
            </a:p>
            <a:p>
              <a:pPr marL="0" indent="0" algn="ctr">
                <a:buNone/>
              </a:pPr>
              <a:r>
                <a:rPr lang="en-US" sz="700" dirty="0">
                  <a:solidFill>
                    <a:srgbClr val="FFFFFF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edges, features</a:t>
              </a:r>
              <a:endParaRPr lang="en-US" sz="700" dirty="0"/>
            </a:p>
          </p:txBody>
        </p:sp>
        <p:sp>
          <p:nvSpPr>
            <p:cNvPr id="28" name="Text 14">
              <a:extLst>
                <a:ext uri="{FF2B5EF4-FFF2-40B4-BE49-F238E27FC236}">
                  <a16:creationId xmlns:a16="http://schemas.microsoft.com/office/drawing/2014/main" id="{D5B44D2C-7F95-4F03-8A72-72564202BF95}"/>
                </a:ext>
              </a:extLst>
            </p:cNvPr>
            <p:cNvSpPr/>
            <p:nvPr/>
          </p:nvSpPr>
          <p:spPr>
            <a:xfrm>
              <a:off x="5394960" y="1188720"/>
              <a:ext cx="182880" cy="4572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6B7280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→</a:t>
              </a:r>
              <a:endParaRPr lang="en-US" sz="900" dirty="0"/>
            </a:p>
          </p:txBody>
        </p:sp>
        <p:sp>
          <p:nvSpPr>
            <p:cNvPr id="29" name="Shape 15">
              <a:extLst>
                <a:ext uri="{FF2B5EF4-FFF2-40B4-BE49-F238E27FC236}">
                  <a16:creationId xmlns:a16="http://schemas.microsoft.com/office/drawing/2014/main" id="{2625F183-AE91-4149-8E0C-2819F51BFF2E}"/>
                </a:ext>
              </a:extLst>
            </p:cNvPr>
            <p:cNvSpPr/>
            <p:nvPr/>
          </p:nvSpPr>
          <p:spPr>
            <a:xfrm>
              <a:off x="5577840" y="822960"/>
              <a:ext cx="1600200" cy="1463040"/>
            </a:xfrm>
            <a:prstGeom prst="rect">
              <a:avLst/>
            </a:prstGeom>
            <a:solidFill>
              <a:srgbClr val="8B5CF6"/>
            </a:solidFill>
            <a:ln/>
            <a:effectLst>
              <a:outerShdw blurRad="50800" dist="25400" dir="8100000" algn="bl" rotWithShape="0">
                <a:srgbClr val="000000">
                  <a:alpha val="12000"/>
                </a:srgbClr>
              </a:outerShdw>
            </a:effectLst>
          </p:spPr>
        </p:sp>
        <p:sp>
          <p:nvSpPr>
            <p:cNvPr id="30" name="Text 16">
              <a:extLst>
                <a:ext uri="{FF2B5EF4-FFF2-40B4-BE49-F238E27FC236}">
                  <a16:creationId xmlns:a16="http://schemas.microsoft.com/office/drawing/2014/main" id="{C5F0A632-C358-4CE8-B4A3-72355B2C0A63}"/>
                </a:ext>
              </a:extLst>
            </p:cNvPr>
            <p:cNvSpPr/>
            <p:nvPr/>
          </p:nvSpPr>
          <p:spPr>
            <a:xfrm>
              <a:off x="5577840" y="868680"/>
              <a:ext cx="1600200" cy="4572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800" b="1" dirty="0">
                  <a:solidFill>
                    <a:srgbClr val="FFFFFF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CLASSIFY</a:t>
              </a:r>
              <a:endParaRPr lang="en-US" sz="800" dirty="0"/>
            </a:p>
          </p:txBody>
        </p:sp>
        <p:sp>
          <p:nvSpPr>
            <p:cNvPr id="31" name="Text 17">
              <a:extLst>
                <a:ext uri="{FF2B5EF4-FFF2-40B4-BE49-F238E27FC236}">
                  <a16:creationId xmlns:a16="http://schemas.microsoft.com/office/drawing/2014/main" id="{98DA2394-3602-424F-98E1-12C00D46E283}"/>
                </a:ext>
              </a:extLst>
            </p:cNvPr>
            <p:cNvSpPr/>
            <p:nvPr/>
          </p:nvSpPr>
          <p:spPr>
            <a:xfrm>
              <a:off x="5577840" y="1371600"/>
              <a:ext cx="1600200" cy="8229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700" dirty="0">
                  <a:solidFill>
                    <a:srgbClr val="FFFFFF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What IS it?</a:t>
              </a:r>
              <a:endParaRPr lang="en-US" sz="700" dirty="0"/>
            </a:p>
            <a:p>
              <a:pPr marL="0" indent="0" algn="ctr">
                <a:buNone/>
              </a:pPr>
              <a:r>
                <a:rPr lang="en-US" sz="700" dirty="0">
                  <a:solidFill>
                    <a:srgbClr val="FFFFFF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chair, door, wall</a:t>
              </a:r>
              <a:endParaRPr lang="en-US" sz="700" dirty="0"/>
            </a:p>
          </p:txBody>
        </p:sp>
        <p:sp>
          <p:nvSpPr>
            <p:cNvPr id="32" name="Text 18">
              <a:extLst>
                <a:ext uri="{FF2B5EF4-FFF2-40B4-BE49-F238E27FC236}">
                  <a16:creationId xmlns:a16="http://schemas.microsoft.com/office/drawing/2014/main" id="{4965A3DD-0096-4A43-AEE6-D8D9B21CF90F}"/>
                </a:ext>
              </a:extLst>
            </p:cNvPr>
            <p:cNvSpPr/>
            <p:nvPr/>
          </p:nvSpPr>
          <p:spPr>
            <a:xfrm>
              <a:off x="7178040" y="1188720"/>
              <a:ext cx="182880" cy="4572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6B7280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→</a:t>
              </a:r>
              <a:endParaRPr lang="en-US" sz="900" dirty="0"/>
            </a:p>
          </p:txBody>
        </p:sp>
        <p:sp>
          <p:nvSpPr>
            <p:cNvPr id="33" name="Shape 19">
              <a:extLst>
                <a:ext uri="{FF2B5EF4-FFF2-40B4-BE49-F238E27FC236}">
                  <a16:creationId xmlns:a16="http://schemas.microsoft.com/office/drawing/2014/main" id="{81B9FABD-5850-4AD1-9A99-9B916DA9F648}"/>
                </a:ext>
              </a:extLst>
            </p:cNvPr>
            <p:cNvSpPr/>
            <p:nvPr/>
          </p:nvSpPr>
          <p:spPr>
            <a:xfrm>
              <a:off x="7360920" y="822960"/>
              <a:ext cx="1600200" cy="1463040"/>
            </a:xfrm>
            <a:prstGeom prst="rect">
              <a:avLst/>
            </a:prstGeom>
            <a:solidFill>
              <a:srgbClr val="10B981"/>
            </a:solidFill>
            <a:ln/>
            <a:effectLst>
              <a:outerShdw blurRad="50800" dist="25400" dir="8100000" algn="bl" rotWithShape="0">
                <a:srgbClr val="000000">
                  <a:alpha val="12000"/>
                </a:srgbClr>
              </a:outerShdw>
            </a:effectLst>
          </p:spPr>
        </p:sp>
        <p:sp>
          <p:nvSpPr>
            <p:cNvPr id="34" name="Text 20">
              <a:extLst>
                <a:ext uri="{FF2B5EF4-FFF2-40B4-BE49-F238E27FC236}">
                  <a16:creationId xmlns:a16="http://schemas.microsoft.com/office/drawing/2014/main" id="{0A51AD2F-DF17-4493-964B-E39DBBC23C24}"/>
                </a:ext>
              </a:extLst>
            </p:cNvPr>
            <p:cNvSpPr/>
            <p:nvPr/>
          </p:nvSpPr>
          <p:spPr>
            <a:xfrm>
              <a:off x="7360920" y="868680"/>
              <a:ext cx="1600200" cy="4572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800" b="1" dirty="0">
                  <a:solidFill>
                    <a:srgbClr val="FFFFFF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INTERPRET</a:t>
              </a:r>
              <a:endParaRPr lang="en-US" sz="800" dirty="0"/>
            </a:p>
          </p:txBody>
        </p:sp>
        <p:sp>
          <p:nvSpPr>
            <p:cNvPr id="35" name="Text 21">
              <a:extLst>
                <a:ext uri="{FF2B5EF4-FFF2-40B4-BE49-F238E27FC236}">
                  <a16:creationId xmlns:a16="http://schemas.microsoft.com/office/drawing/2014/main" id="{F450C885-0C21-45F4-9DD1-A21E75CF63BB}"/>
                </a:ext>
              </a:extLst>
            </p:cNvPr>
            <p:cNvSpPr/>
            <p:nvPr/>
          </p:nvSpPr>
          <p:spPr>
            <a:xfrm>
              <a:off x="7360920" y="1371600"/>
              <a:ext cx="1600200" cy="8229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700" dirty="0">
                  <a:solidFill>
                    <a:srgbClr val="FFFFFF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What does it</a:t>
              </a:r>
              <a:endParaRPr lang="en-US" sz="700" dirty="0"/>
            </a:p>
            <a:p>
              <a:pPr marL="0" indent="0" algn="ctr">
                <a:buNone/>
              </a:pPr>
              <a:r>
                <a:rPr lang="en-US" sz="700" dirty="0">
                  <a:solidFill>
                    <a:srgbClr val="FFFFFF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MEAN for the robot?</a:t>
              </a:r>
              <a:endParaRPr lang="en-US" sz="700" dirty="0"/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F2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F4C81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8288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Edge Detection: Finding Boundaries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365760" y="6858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Edges = rapid changes in pixel intensity → boundaries of objects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" y="1051560"/>
            <a:ext cx="4114800" cy="244835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051560"/>
            <a:ext cx="54864" cy="146304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8" name="Text 6"/>
          <p:cNvSpPr/>
          <p:nvPr/>
        </p:nvSpPr>
        <p:spPr>
          <a:xfrm>
            <a:off x="438912" y="1106424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Sobel Filter (gradient)</a:t>
            </a:r>
            <a:endParaRPr lang="en-US" sz="12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 7"/>
              <p:cNvSpPr/>
              <p:nvPr/>
            </p:nvSpPr>
            <p:spPr>
              <a:xfrm>
                <a:off x="438912" y="1399032"/>
                <a:ext cx="3840480" cy="1051560"/>
              </a:xfrm>
              <a:prstGeom prst="rect">
                <a:avLst/>
              </a:prstGeom>
              <a:noFill/>
              <a:ln/>
            </p:spPr>
            <p:txBody>
              <a:bodyPr wrap="square" rtlCol="0" anchor="t"/>
              <a:lstStyle/>
              <a:p>
                <a:pPr marL="342900" indent="-342900">
                  <a:buSzPct val="100000"/>
                  <a:buChar char="•"/>
                </a:pPr>
                <a:r>
                  <a:rPr lang="en-US" sz="1200" dirty="0">
                    <a:solidFill>
                      <a:srgbClr val="6B7280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Computes image gradient in x and y</a:t>
                </a:r>
                <a:endParaRPr lang="en-US" sz="1200" dirty="0"/>
              </a:p>
              <a:p>
                <a:pPr marL="342900" indent="-342900">
                  <a:buSzPct val="10000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200" i="1" dirty="0" smtClean="0">
                            <a:solidFill>
                              <a:srgbClr val="6B7280"/>
                            </a:solidFill>
                            <a:latin typeface="Cambria Math" panose="02040503050406030204" pitchFamily="18" charset="0"/>
                            <a:ea typeface="Arial" pitchFamily="34" charset="-122"/>
                            <a:cs typeface="Arial" pitchFamily="34" charset="-120"/>
                          </a:rPr>
                        </m:ctrlPr>
                      </m:sSubPr>
                      <m:e>
                        <m:r>
                          <a:rPr lang="en-US" sz="1200" i="1" dirty="0" smtClean="0">
                            <a:solidFill>
                              <a:srgbClr val="6B7280"/>
                            </a:solidFill>
                            <a:latin typeface="Cambria Math" panose="02040503050406030204" pitchFamily="18" charset="0"/>
                            <a:ea typeface="Arial" pitchFamily="34" charset="-122"/>
                            <a:cs typeface="Arial" pitchFamily="34" charset="-120"/>
                          </a:rPr>
                          <m:t>𝐺</m:t>
                        </m:r>
                      </m:e>
                      <m:sub>
                        <m:r>
                          <a:rPr lang="en-US" sz="1200" i="1" dirty="0" smtClean="0">
                            <a:solidFill>
                              <a:srgbClr val="6B7280"/>
                            </a:solidFill>
                            <a:latin typeface="Cambria Math" panose="02040503050406030204" pitchFamily="18" charset="0"/>
                            <a:ea typeface="Arial" pitchFamily="34" charset="-122"/>
                            <a:cs typeface="Arial" pitchFamily="34" charset="-120"/>
                          </a:rPr>
                          <m:t>𝑥</m:t>
                        </m:r>
                      </m:sub>
                    </m:sSub>
                    <m:r>
                      <a:rPr lang="en-US" sz="1200" i="1" dirty="0" smtClean="0">
                        <a:solidFill>
                          <a:srgbClr val="6B7280"/>
                        </a:solidFill>
                        <a:latin typeface="Cambria Math" panose="02040503050406030204" pitchFamily="18" charset="0"/>
                        <a:ea typeface="Arial" pitchFamily="34" charset="-122"/>
                        <a:cs typeface="Arial" pitchFamily="34" charset="-120"/>
                      </a:rPr>
                      <m:t>= </m:t>
                    </m:r>
                    <m:d>
                      <m:dPr>
                        <m:begChr m:val="["/>
                        <m:endChr m:val="]"/>
                        <m:ctrlPr>
                          <a:rPr lang="en-US" sz="1200" i="1" dirty="0" smtClean="0">
                            <a:solidFill>
                              <a:srgbClr val="6B7280"/>
                            </a:solidFill>
                            <a:latin typeface="Cambria Math" panose="02040503050406030204" pitchFamily="18" charset="0"/>
                            <a:ea typeface="Arial" pitchFamily="34" charset="-122"/>
                            <a:cs typeface="Arial" pitchFamily="34" charset="-12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en-US" sz="1200" i="1" dirty="0" smtClean="0">
                                <a:solidFill>
                                  <a:srgbClr val="6B7280"/>
                                </a:solidFill>
                                <a:latin typeface="Cambria Math" panose="02040503050406030204" pitchFamily="18" charset="0"/>
                                <a:cs typeface="Arial" pitchFamily="34" charset="-12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de-DE" sz="1200" b="0" i="1" dirty="0" smtClean="0">
                                  <a:solidFill>
                                    <a:srgbClr val="6B7280"/>
                                  </a:solidFill>
                                  <a:latin typeface="Cambria Math" panose="02040503050406030204" pitchFamily="18" charset="0"/>
                                  <a:cs typeface="Arial" pitchFamily="34" charset="-120"/>
                                </a:rPr>
                                <m:t>−1</m:t>
                              </m:r>
                            </m:e>
                            <m:e>
                              <m:r>
                                <a:rPr lang="de-DE" sz="1200" b="0" i="1" dirty="0" smtClean="0">
                                  <a:solidFill>
                                    <a:srgbClr val="6B7280"/>
                                  </a:solidFill>
                                  <a:latin typeface="Cambria Math" panose="02040503050406030204" pitchFamily="18" charset="0"/>
                                  <a:cs typeface="Arial" pitchFamily="34" charset="-120"/>
                                </a:rPr>
                                <m:t>0</m:t>
                              </m:r>
                            </m:e>
                            <m:e>
                              <m:r>
                                <a:rPr lang="de-DE" sz="1200" b="0" i="1" dirty="0" smtClean="0">
                                  <a:solidFill>
                                    <a:srgbClr val="6B7280"/>
                                  </a:solidFill>
                                  <a:latin typeface="Cambria Math" panose="02040503050406030204" pitchFamily="18" charset="0"/>
                                  <a:cs typeface="Arial" pitchFamily="34" charset="-12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de-DE" sz="1200" b="0" i="1" dirty="0" smtClean="0">
                                  <a:solidFill>
                                    <a:srgbClr val="6B7280"/>
                                  </a:solidFill>
                                  <a:latin typeface="Cambria Math" panose="02040503050406030204" pitchFamily="18" charset="0"/>
                                  <a:cs typeface="Arial" pitchFamily="34" charset="-120"/>
                                </a:rPr>
                                <m:t>−2</m:t>
                              </m:r>
                            </m:e>
                            <m:e>
                              <m:r>
                                <a:rPr lang="de-DE" sz="1200" b="0" i="1" dirty="0" smtClean="0">
                                  <a:solidFill>
                                    <a:srgbClr val="6B7280"/>
                                  </a:solidFill>
                                  <a:latin typeface="Cambria Math" panose="02040503050406030204" pitchFamily="18" charset="0"/>
                                  <a:cs typeface="Arial" pitchFamily="34" charset="-120"/>
                                </a:rPr>
                                <m:t>0</m:t>
                              </m:r>
                            </m:e>
                            <m:e>
                              <m:r>
                                <a:rPr lang="de-DE" sz="1200" b="0" i="1" dirty="0" smtClean="0">
                                  <a:solidFill>
                                    <a:srgbClr val="6B7280"/>
                                  </a:solidFill>
                                  <a:latin typeface="Cambria Math" panose="02040503050406030204" pitchFamily="18" charset="0"/>
                                  <a:cs typeface="Arial" pitchFamily="34" charset="-120"/>
                                </a:rPr>
                                <m:t>2</m:t>
                              </m:r>
                            </m:e>
                          </m:mr>
                          <m:mr>
                            <m:e>
                              <m:r>
                                <a:rPr lang="de-DE" sz="1200" b="0" i="1" dirty="0" smtClean="0">
                                  <a:solidFill>
                                    <a:srgbClr val="6B7280"/>
                                  </a:solidFill>
                                  <a:latin typeface="Cambria Math" panose="02040503050406030204" pitchFamily="18" charset="0"/>
                                  <a:cs typeface="Arial" pitchFamily="34" charset="-120"/>
                                </a:rPr>
                                <m:t>−1</m:t>
                              </m:r>
                            </m:e>
                            <m:e>
                              <m:r>
                                <a:rPr lang="de-DE" sz="1200" b="0" i="1" dirty="0" smtClean="0">
                                  <a:solidFill>
                                    <a:srgbClr val="6B7280"/>
                                  </a:solidFill>
                                  <a:latin typeface="Cambria Math" panose="02040503050406030204" pitchFamily="18" charset="0"/>
                                  <a:cs typeface="Arial" pitchFamily="34" charset="-120"/>
                                </a:rPr>
                                <m:t>0</m:t>
                              </m:r>
                            </m:e>
                            <m:e>
                              <m:r>
                                <a:rPr lang="de-DE" sz="1200" b="0" i="1" dirty="0" smtClean="0">
                                  <a:solidFill>
                                    <a:srgbClr val="6B7280"/>
                                  </a:solidFill>
                                  <a:latin typeface="Cambria Math" panose="02040503050406030204" pitchFamily="18" charset="0"/>
                                  <a:cs typeface="Arial" pitchFamily="34" charset="-12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en-US" sz="1200" dirty="0">
                    <a:solidFill>
                      <a:srgbClr val="6B7280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* Image</a:t>
                </a:r>
                <a:endParaRPr lang="en-US" sz="1200" dirty="0"/>
              </a:p>
              <a:p>
                <a:pPr marL="342900" indent="-342900">
                  <a:buSzPct val="100000"/>
                  <a:buChar char="•"/>
                </a:pPr>
                <a:r>
                  <a:rPr lang="en-US" sz="1200" dirty="0">
                    <a:solidFill>
                      <a:srgbClr val="6B7280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Edge strength =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sz="1200" i="1" dirty="0" smtClean="0">
                            <a:solidFill>
                              <a:srgbClr val="6B7280"/>
                            </a:solidFill>
                            <a:latin typeface="Cambria Math" panose="02040503050406030204" pitchFamily="18" charset="0"/>
                            <a:ea typeface="Arial" pitchFamily="34" charset="-122"/>
                            <a:cs typeface="Arial" pitchFamily="34" charset="-120"/>
                          </a:rPr>
                        </m:ctrlPr>
                      </m:radPr>
                      <m:deg/>
                      <m:e>
                        <m:sSubSup>
                          <m:sSubSupPr>
                            <m:ctrlPr>
                              <a:rPr lang="en-US" sz="1200" i="1" dirty="0" smtClean="0">
                                <a:solidFill>
                                  <a:srgbClr val="6B7280"/>
                                </a:solidFill>
                                <a:latin typeface="Cambria Math" panose="02040503050406030204" pitchFamily="18" charset="0"/>
                                <a:ea typeface="Arial" pitchFamily="34" charset="-122"/>
                                <a:cs typeface="Arial" pitchFamily="34" charset="-120"/>
                              </a:rPr>
                            </m:ctrlPr>
                          </m:sSubSupPr>
                          <m:e>
                            <m:r>
                              <a:rPr lang="en-US" sz="1200" i="1" dirty="0" smtClean="0">
                                <a:solidFill>
                                  <a:srgbClr val="6B7280"/>
                                </a:solidFill>
                                <a:latin typeface="Cambria Math" panose="02040503050406030204" pitchFamily="18" charset="0"/>
                                <a:ea typeface="Arial" pitchFamily="34" charset="-122"/>
                                <a:cs typeface="Arial" pitchFamily="34" charset="-120"/>
                              </a:rPr>
                              <m:t>𝐺</m:t>
                            </m:r>
                          </m:e>
                          <m:sub>
                            <m:r>
                              <a:rPr lang="en-US" sz="1200" i="1" dirty="0" smtClean="0">
                                <a:solidFill>
                                  <a:srgbClr val="6B7280"/>
                                </a:solidFill>
                                <a:latin typeface="Cambria Math" panose="02040503050406030204" pitchFamily="18" charset="0"/>
                                <a:ea typeface="Arial" pitchFamily="34" charset="-122"/>
                                <a:cs typeface="Arial" pitchFamily="34" charset="-120"/>
                              </a:rPr>
                              <m:t>𝑥</m:t>
                            </m:r>
                          </m:sub>
                          <m:sup>
                            <m:r>
                              <a:rPr lang="en-US" sz="1200" i="1" dirty="0" smtClean="0">
                                <a:solidFill>
                                  <a:srgbClr val="6B7280"/>
                                </a:solidFill>
                                <a:latin typeface="Cambria Math" panose="02040503050406030204" pitchFamily="18" charset="0"/>
                                <a:ea typeface="Arial" pitchFamily="34" charset="-122"/>
                                <a:cs typeface="Arial" pitchFamily="34" charset="-120"/>
                              </a:rPr>
                              <m:t>2</m:t>
                            </m:r>
                          </m:sup>
                        </m:sSubSup>
                        <m:r>
                          <a:rPr lang="en-US" sz="1200" i="1" dirty="0" smtClean="0">
                            <a:solidFill>
                              <a:srgbClr val="6B7280"/>
                            </a:solidFill>
                            <a:latin typeface="Cambria Math" panose="02040503050406030204" pitchFamily="18" charset="0"/>
                            <a:ea typeface="Arial" pitchFamily="34" charset="-122"/>
                            <a:cs typeface="Arial" pitchFamily="34" charset="-120"/>
                          </a:rPr>
                          <m:t>+ </m:t>
                        </m:r>
                        <m:sSubSup>
                          <m:sSubSupPr>
                            <m:ctrlPr>
                              <a:rPr lang="en-US" sz="1200" i="1" dirty="0" smtClean="0">
                                <a:solidFill>
                                  <a:srgbClr val="6B7280"/>
                                </a:solidFill>
                                <a:latin typeface="Cambria Math" panose="02040503050406030204" pitchFamily="18" charset="0"/>
                                <a:ea typeface="Arial" pitchFamily="34" charset="-122"/>
                                <a:cs typeface="Arial" pitchFamily="34" charset="-120"/>
                              </a:rPr>
                            </m:ctrlPr>
                          </m:sSubSupPr>
                          <m:e>
                            <m:r>
                              <a:rPr lang="en-US" sz="1200" i="1" dirty="0" smtClean="0">
                                <a:solidFill>
                                  <a:srgbClr val="6B7280"/>
                                </a:solidFill>
                                <a:latin typeface="Cambria Math" panose="02040503050406030204" pitchFamily="18" charset="0"/>
                                <a:ea typeface="Arial" pitchFamily="34" charset="-122"/>
                                <a:cs typeface="Arial" pitchFamily="34" charset="-120"/>
                              </a:rPr>
                              <m:t>𝐺</m:t>
                            </m:r>
                          </m:e>
                          <m:sub>
                            <m:r>
                              <a:rPr lang="en-US" sz="1200" i="1" dirty="0" smtClean="0">
                                <a:solidFill>
                                  <a:srgbClr val="6B7280"/>
                                </a:solidFill>
                                <a:latin typeface="Cambria Math" panose="02040503050406030204" pitchFamily="18" charset="0"/>
                                <a:ea typeface="Arial" pitchFamily="34" charset="-122"/>
                                <a:cs typeface="Arial" pitchFamily="34" charset="-120"/>
                              </a:rPr>
                              <m:t>𝑦</m:t>
                            </m:r>
                          </m:sub>
                          <m:sup>
                            <m:r>
                              <a:rPr lang="en-US" sz="1200" i="1" dirty="0" smtClean="0">
                                <a:solidFill>
                                  <a:srgbClr val="6B7280"/>
                                </a:solidFill>
                                <a:latin typeface="Cambria Math" panose="02040503050406030204" pitchFamily="18" charset="0"/>
                                <a:ea typeface="Arial" pitchFamily="34" charset="-122"/>
                                <a:cs typeface="Arial" pitchFamily="34" charset="-120"/>
                              </a:rPr>
                              <m:t>2</m:t>
                            </m:r>
                          </m:sup>
                        </m:sSubSup>
                      </m:e>
                    </m:rad>
                  </m:oMath>
                </a14:m>
                <a:endParaRPr lang="en-US" sz="1200" dirty="0"/>
              </a:p>
              <a:p>
                <a:pPr marL="342900" indent="-342900">
                  <a:buSzPct val="100000"/>
                  <a:buChar char="•"/>
                </a:pPr>
                <a:r>
                  <a:rPr lang="en-US" sz="1200" dirty="0">
                    <a:solidFill>
                      <a:srgbClr val="6B7280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Edge direction =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200" i="1" dirty="0" smtClean="0">
                        <a:solidFill>
                          <a:srgbClr val="6B7280"/>
                        </a:solidFill>
                        <a:latin typeface="Cambria Math" panose="02040503050406030204" pitchFamily="18" charset="0"/>
                        <a:ea typeface="Arial" pitchFamily="34" charset="-122"/>
                        <a:cs typeface="Arial" pitchFamily="34" charset="-120"/>
                      </a:rPr>
                      <m:t>atan</m:t>
                    </m:r>
                    <m:r>
                      <a:rPr lang="en-US" sz="1200" i="1" dirty="0" smtClean="0">
                        <a:solidFill>
                          <a:srgbClr val="6B7280"/>
                        </a:solidFill>
                        <a:latin typeface="Cambria Math" panose="02040503050406030204" pitchFamily="18" charset="0"/>
                        <a:ea typeface="Arial" pitchFamily="34" charset="-122"/>
                        <a:cs typeface="Arial" pitchFamily="34" charset="-120"/>
                      </a:rPr>
                      <m:t>2</m:t>
                    </m:r>
                    <m:d>
                      <m:dPr>
                        <m:ctrlPr>
                          <a:rPr lang="en-US" sz="1200" i="1" dirty="0" smtClean="0">
                            <a:solidFill>
                              <a:srgbClr val="6B7280"/>
                            </a:solidFill>
                            <a:latin typeface="Cambria Math" panose="02040503050406030204" pitchFamily="18" charset="0"/>
                            <a:ea typeface="Arial" pitchFamily="34" charset="-122"/>
                            <a:cs typeface="Arial" pitchFamily="34" charset="-12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200" i="1" dirty="0" smtClean="0">
                                <a:solidFill>
                                  <a:srgbClr val="6B7280"/>
                                </a:solidFill>
                                <a:latin typeface="Cambria Math" panose="02040503050406030204" pitchFamily="18" charset="0"/>
                                <a:ea typeface="Arial" pitchFamily="34" charset="-122"/>
                                <a:cs typeface="Arial" pitchFamily="34" charset="-120"/>
                              </a:rPr>
                            </m:ctrlPr>
                          </m:sSubPr>
                          <m:e>
                            <m:r>
                              <a:rPr lang="en-US" sz="1200" i="1" dirty="0" smtClean="0">
                                <a:solidFill>
                                  <a:srgbClr val="6B7280"/>
                                </a:solidFill>
                                <a:latin typeface="Cambria Math" panose="02040503050406030204" pitchFamily="18" charset="0"/>
                                <a:ea typeface="Arial" pitchFamily="34" charset="-122"/>
                                <a:cs typeface="Arial" pitchFamily="34" charset="-120"/>
                              </a:rPr>
                              <m:t>𝐺</m:t>
                            </m:r>
                          </m:e>
                          <m:sub>
                            <m:r>
                              <a:rPr lang="en-US" sz="1200" i="1" dirty="0" smtClean="0">
                                <a:solidFill>
                                  <a:srgbClr val="6B7280"/>
                                </a:solidFill>
                                <a:latin typeface="Cambria Math" panose="02040503050406030204" pitchFamily="18" charset="0"/>
                                <a:ea typeface="Arial" pitchFamily="34" charset="-122"/>
                                <a:cs typeface="Arial" pitchFamily="34" charset="-120"/>
                              </a:rPr>
                              <m:t>𝑦</m:t>
                            </m:r>
                          </m:sub>
                        </m:sSub>
                        <m:r>
                          <a:rPr lang="en-US" sz="1200" i="1" dirty="0" smtClean="0">
                            <a:solidFill>
                              <a:srgbClr val="6B7280"/>
                            </a:solidFill>
                            <a:latin typeface="Cambria Math" panose="02040503050406030204" pitchFamily="18" charset="0"/>
                            <a:ea typeface="Arial" pitchFamily="34" charset="-122"/>
                            <a:cs typeface="Arial" pitchFamily="34" charset="-120"/>
                          </a:rPr>
                          <m:t>, </m:t>
                        </m:r>
                        <m:sSub>
                          <m:sSubPr>
                            <m:ctrlPr>
                              <a:rPr lang="en-US" sz="1200" i="1" dirty="0" smtClean="0">
                                <a:solidFill>
                                  <a:srgbClr val="6B7280"/>
                                </a:solidFill>
                                <a:latin typeface="Cambria Math" panose="02040503050406030204" pitchFamily="18" charset="0"/>
                                <a:ea typeface="Arial" pitchFamily="34" charset="-122"/>
                                <a:cs typeface="Arial" pitchFamily="34" charset="-120"/>
                              </a:rPr>
                            </m:ctrlPr>
                          </m:sSubPr>
                          <m:e>
                            <m:r>
                              <a:rPr lang="en-US" sz="1200" i="1" dirty="0" smtClean="0">
                                <a:solidFill>
                                  <a:srgbClr val="6B7280"/>
                                </a:solidFill>
                                <a:latin typeface="Cambria Math" panose="02040503050406030204" pitchFamily="18" charset="0"/>
                                <a:ea typeface="Arial" pitchFamily="34" charset="-122"/>
                                <a:cs typeface="Arial" pitchFamily="34" charset="-120"/>
                              </a:rPr>
                              <m:t>𝐺</m:t>
                            </m:r>
                          </m:e>
                          <m:sub>
                            <m:r>
                              <a:rPr lang="en-US" sz="1200" i="1" dirty="0" smtClean="0">
                                <a:solidFill>
                                  <a:srgbClr val="6B7280"/>
                                </a:solidFill>
                                <a:latin typeface="Cambria Math" panose="02040503050406030204" pitchFamily="18" charset="0"/>
                                <a:ea typeface="Arial" pitchFamily="34" charset="-122"/>
                                <a:cs typeface="Arial" pitchFamily="34" charset="-120"/>
                              </a:rPr>
                              <m:t>𝑥</m:t>
                            </m:r>
                          </m:sub>
                        </m:sSub>
                      </m:e>
                    </m:d>
                  </m:oMath>
                </a14:m>
                <a:endParaRPr lang="en-US" sz="1200" dirty="0"/>
              </a:p>
              <a:p>
                <a:pPr marL="342900" indent="-342900">
                  <a:buSzPct val="100000"/>
                  <a:buChar char="•"/>
                </a:pPr>
                <a:r>
                  <a:rPr lang="en-US" sz="1200" dirty="0">
                    <a:solidFill>
                      <a:srgbClr val="6B7280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Simple, fast, but detects too many edges</a:t>
                </a:r>
                <a:endParaRPr lang="en-US" sz="1200" dirty="0"/>
              </a:p>
            </p:txBody>
          </p:sp>
        </mc:Choice>
        <mc:Fallback>
          <p:sp>
            <p:nvSpPr>
              <p:cNvPr id="9" name="Text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8912" y="1399032"/>
                <a:ext cx="3840480" cy="1051560"/>
              </a:xfrm>
              <a:prstGeom prst="rect">
                <a:avLst/>
              </a:prstGeom>
              <a:blipFill>
                <a:blip r:embed="rId3"/>
                <a:stretch>
                  <a:fillRect t="-1163" b="-48837"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Shape 8"/>
          <p:cNvSpPr/>
          <p:nvPr/>
        </p:nvSpPr>
        <p:spPr>
          <a:xfrm>
            <a:off x="4663440" y="1051560"/>
            <a:ext cx="4206240" cy="244835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63440" y="1051560"/>
            <a:ext cx="54864" cy="146304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2" name="Text 10"/>
          <p:cNvSpPr/>
          <p:nvPr/>
        </p:nvSpPr>
        <p:spPr>
          <a:xfrm>
            <a:off x="4828032" y="1106424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Canny Edge Detector (best practice)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828032" y="1399032"/>
            <a:ext cx="393192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Gaussian blur (remove noise)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Sobel gradient (find edges)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Non-maximum suppression (thin edges)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Hysteresis thresholding (keep strong edges,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keep weak edges connected to strong ones)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Result: clean, 1-pixel-wide edges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65760" y="3699935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Edges are the INPUT to many higher-level algorithms: line detection, corner detection, contour extraction.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65760" y="4065695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ROS: edges computed by OpenCV inside a perception node, NOT transmitted as a topic (too much data).</a:t>
            </a:r>
            <a:endParaRPr lang="en-US" sz="1200" dirty="0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AC16A6C3-3DA9-4120-A6AD-CFBA97B4FDD4}"/>
              </a:ext>
            </a:extLst>
          </p:cNvPr>
          <p:cNvGrpSpPr/>
          <p:nvPr/>
        </p:nvGrpSpPr>
        <p:grpSpPr>
          <a:xfrm>
            <a:off x="3200399" y="4608745"/>
            <a:ext cx="5371253" cy="457200"/>
            <a:chOff x="228600" y="822960"/>
            <a:chExt cx="8732520" cy="1463040"/>
          </a:xfrm>
        </p:grpSpPr>
        <p:sp>
          <p:nvSpPr>
            <p:cNvPr id="17" name="Shape 3">
              <a:extLst>
                <a:ext uri="{FF2B5EF4-FFF2-40B4-BE49-F238E27FC236}">
                  <a16:creationId xmlns:a16="http://schemas.microsoft.com/office/drawing/2014/main" id="{7282FF08-D7FF-4762-8BEE-D614BA6E1304}"/>
                </a:ext>
              </a:extLst>
            </p:cNvPr>
            <p:cNvSpPr/>
            <p:nvPr/>
          </p:nvSpPr>
          <p:spPr>
            <a:xfrm>
              <a:off x="228600" y="822960"/>
              <a:ext cx="1600200" cy="1463040"/>
            </a:xfrm>
            <a:prstGeom prst="rect">
              <a:avLst/>
            </a:prstGeom>
            <a:solidFill>
              <a:srgbClr val="3B82F6"/>
            </a:solidFill>
            <a:ln/>
            <a:effectLst>
              <a:outerShdw blurRad="50800" dist="25400" dir="8100000" algn="bl" rotWithShape="0">
                <a:srgbClr val="000000">
                  <a:alpha val="12000"/>
                </a:srgbClr>
              </a:outerShdw>
            </a:effectLst>
          </p:spPr>
        </p:sp>
        <p:sp>
          <p:nvSpPr>
            <p:cNvPr id="18" name="Text 4">
              <a:extLst>
                <a:ext uri="{FF2B5EF4-FFF2-40B4-BE49-F238E27FC236}">
                  <a16:creationId xmlns:a16="http://schemas.microsoft.com/office/drawing/2014/main" id="{190266F7-8E60-4F73-800B-333E781245DE}"/>
                </a:ext>
              </a:extLst>
            </p:cNvPr>
            <p:cNvSpPr/>
            <p:nvPr/>
          </p:nvSpPr>
          <p:spPr>
            <a:xfrm>
              <a:off x="228600" y="868680"/>
              <a:ext cx="1600200" cy="4572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800" b="1" dirty="0">
                  <a:solidFill>
                    <a:srgbClr val="FFFFFF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SENSE</a:t>
              </a:r>
              <a:endParaRPr lang="en-US" sz="800" dirty="0"/>
            </a:p>
          </p:txBody>
        </p:sp>
        <p:sp>
          <p:nvSpPr>
            <p:cNvPr id="19" name="Text 5">
              <a:extLst>
                <a:ext uri="{FF2B5EF4-FFF2-40B4-BE49-F238E27FC236}">
                  <a16:creationId xmlns:a16="http://schemas.microsoft.com/office/drawing/2014/main" id="{C8F4BCD3-FFE8-426A-AD93-2DFA065399D0}"/>
                </a:ext>
              </a:extLst>
            </p:cNvPr>
            <p:cNvSpPr/>
            <p:nvPr/>
          </p:nvSpPr>
          <p:spPr>
            <a:xfrm>
              <a:off x="228600" y="1371600"/>
              <a:ext cx="1600200" cy="8229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700" dirty="0">
                  <a:solidFill>
                    <a:srgbClr val="FFFFFF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Raw data from</a:t>
              </a:r>
              <a:endParaRPr lang="en-US" sz="700" dirty="0"/>
            </a:p>
            <a:p>
              <a:pPr marL="0" indent="0" algn="ctr">
                <a:buNone/>
              </a:pPr>
              <a:r>
                <a:rPr lang="en-US" sz="700" dirty="0">
                  <a:solidFill>
                    <a:srgbClr val="FFFFFF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camera, LiDAR</a:t>
              </a:r>
              <a:endParaRPr lang="en-US" sz="700" dirty="0"/>
            </a:p>
          </p:txBody>
        </p:sp>
        <p:sp>
          <p:nvSpPr>
            <p:cNvPr id="20" name="Text 6">
              <a:extLst>
                <a:ext uri="{FF2B5EF4-FFF2-40B4-BE49-F238E27FC236}">
                  <a16:creationId xmlns:a16="http://schemas.microsoft.com/office/drawing/2014/main" id="{BE484B97-A88C-44EB-A1C6-41A6CBB8B40C}"/>
                </a:ext>
              </a:extLst>
            </p:cNvPr>
            <p:cNvSpPr/>
            <p:nvPr/>
          </p:nvSpPr>
          <p:spPr>
            <a:xfrm>
              <a:off x="1828800" y="1188720"/>
              <a:ext cx="182880" cy="4572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6B7280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→</a:t>
              </a:r>
              <a:endParaRPr lang="en-US" sz="900" dirty="0"/>
            </a:p>
          </p:txBody>
        </p:sp>
        <p:sp>
          <p:nvSpPr>
            <p:cNvPr id="21" name="Shape 7">
              <a:extLst>
                <a:ext uri="{FF2B5EF4-FFF2-40B4-BE49-F238E27FC236}">
                  <a16:creationId xmlns:a16="http://schemas.microsoft.com/office/drawing/2014/main" id="{26711296-B503-429B-B022-16B28F4664DE}"/>
                </a:ext>
              </a:extLst>
            </p:cNvPr>
            <p:cNvSpPr/>
            <p:nvPr/>
          </p:nvSpPr>
          <p:spPr>
            <a:xfrm>
              <a:off x="2011680" y="822960"/>
              <a:ext cx="1600200" cy="1463040"/>
            </a:xfrm>
            <a:prstGeom prst="rect">
              <a:avLst/>
            </a:prstGeom>
            <a:solidFill>
              <a:srgbClr val="0D9488"/>
            </a:solidFill>
            <a:ln/>
            <a:effectLst>
              <a:outerShdw blurRad="50800" dist="25400" dir="8100000" algn="bl" rotWithShape="0">
                <a:srgbClr val="000000">
                  <a:alpha val="12000"/>
                </a:srgbClr>
              </a:outerShdw>
            </a:effectLst>
          </p:spPr>
        </p:sp>
        <p:sp>
          <p:nvSpPr>
            <p:cNvPr id="22" name="Text 8">
              <a:extLst>
                <a:ext uri="{FF2B5EF4-FFF2-40B4-BE49-F238E27FC236}">
                  <a16:creationId xmlns:a16="http://schemas.microsoft.com/office/drawing/2014/main" id="{F1B5FDBC-DB48-4B8A-A646-8E8E6F34D95B}"/>
                </a:ext>
              </a:extLst>
            </p:cNvPr>
            <p:cNvSpPr/>
            <p:nvPr/>
          </p:nvSpPr>
          <p:spPr>
            <a:xfrm>
              <a:off x="2011680" y="868680"/>
              <a:ext cx="1600200" cy="4572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800" b="1" dirty="0">
                  <a:solidFill>
                    <a:srgbClr val="FFFFFF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PREPROCESS</a:t>
              </a:r>
              <a:endParaRPr lang="en-US" sz="800" dirty="0"/>
            </a:p>
          </p:txBody>
        </p:sp>
        <p:sp>
          <p:nvSpPr>
            <p:cNvPr id="23" name="Text 9">
              <a:extLst>
                <a:ext uri="{FF2B5EF4-FFF2-40B4-BE49-F238E27FC236}">
                  <a16:creationId xmlns:a16="http://schemas.microsoft.com/office/drawing/2014/main" id="{BC5049CD-9FA9-4F3D-ACD0-5C2A8C64A54A}"/>
                </a:ext>
              </a:extLst>
            </p:cNvPr>
            <p:cNvSpPr/>
            <p:nvPr/>
          </p:nvSpPr>
          <p:spPr>
            <a:xfrm>
              <a:off x="2011680" y="1371600"/>
              <a:ext cx="1600200" cy="8229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700" dirty="0">
                  <a:solidFill>
                    <a:srgbClr val="FFFFFF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Filter noise,</a:t>
              </a:r>
              <a:endParaRPr lang="en-US" sz="700" dirty="0"/>
            </a:p>
            <a:p>
              <a:pPr marL="0" indent="0" algn="ctr">
                <a:buNone/>
              </a:pPr>
              <a:r>
                <a:rPr lang="en-US" sz="700" dirty="0">
                  <a:solidFill>
                    <a:srgbClr val="FFFFFF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enhance features</a:t>
              </a:r>
              <a:endParaRPr lang="en-US" sz="700" dirty="0"/>
            </a:p>
          </p:txBody>
        </p:sp>
        <p:sp>
          <p:nvSpPr>
            <p:cNvPr id="24" name="Text 10">
              <a:extLst>
                <a:ext uri="{FF2B5EF4-FFF2-40B4-BE49-F238E27FC236}">
                  <a16:creationId xmlns:a16="http://schemas.microsoft.com/office/drawing/2014/main" id="{C681FF69-7006-49C0-B9EE-685917C76412}"/>
                </a:ext>
              </a:extLst>
            </p:cNvPr>
            <p:cNvSpPr/>
            <p:nvPr/>
          </p:nvSpPr>
          <p:spPr>
            <a:xfrm>
              <a:off x="3611880" y="1188720"/>
              <a:ext cx="182880" cy="4572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6B7280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→</a:t>
              </a:r>
              <a:endParaRPr lang="en-US" sz="900" dirty="0"/>
            </a:p>
          </p:txBody>
        </p:sp>
        <p:sp>
          <p:nvSpPr>
            <p:cNvPr id="25" name="Shape 11">
              <a:extLst>
                <a:ext uri="{FF2B5EF4-FFF2-40B4-BE49-F238E27FC236}">
                  <a16:creationId xmlns:a16="http://schemas.microsoft.com/office/drawing/2014/main" id="{F4CFB721-4F22-4EAD-938A-6BC7AB5DCC6E}"/>
                </a:ext>
              </a:extLst>
            </p:cNvPr>
            <p:cNvSpPr/>
            <p:nvPr/>
          </p:nvSpPr>
          <p:spPr>
            <a:xfrm>
              <a:off x="3794760" y="822960"/>
              <a:ext cx="1600200" cy="1463040"/>
            </a:xfrm>
            <a:prstGeom prst="rect">
              <a:avLst/>
            </a:prstGeom>
            <a:solidFill>
              <a:srgbClr val="F59E0B"/>
            </a:solidFill>
            <a:ln/>
            <a:effectLst>
              <a:outerShdw blurRad="50800" dist="25400" dir="8100000" algn="bl" rotWithShape="0">
                <a:srgbClr val="000000">
                  <a:alpha val="12000"/>
                </a:srgbClr>
              </a:outerShdw>
            </a:effectLst>
          </p:spPr>
        </p:sp>
        <p:sp>
          <p:nvSpPr>
            <p:cNvPr id="26" name="Text 12">
              <a:extLst>
                <a:ext uri="{FF2B5EF4-FFF2-40B4-BE49-F238E27FC236}">
                  <a16:creationId xmlns:a16="http://schemas.microsoft.com/office/drawing/2014/main" id="{35332C2D-4478-4E1B-94A8-AF5C5745949B}"/>
                </a:ext>
              </a:extLst>
            </p:cNvPr>
            <p:cNvSpPr/>
            <p:nvPr/>
          </p:nvSpPr>
          <p:spPr>
            <a:xfrm>
              <a:off x="3794760" y="868680"/>
              <a:ext cx="1600200" cy="4572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800" b="1" dirty="0">
                  <a:solidFill>
                    <a:srgbClr val="FFFFFF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DETECT</a:t>
              </a:r>
              <a:endParaRPr lang="en-US" sz="800" dirty="0"/>
            </a:p>
          </p:txBody>
        </p:sp>
        <p:sp>
          <p:nvSpPr>
            <p:cNvPr id="27" name="Text 13">
              <a:extLst>
                <a:ext uri="{FF2B5EF4-FFF2-40B4-BE49-F238E27FC236}">
                  <a16:creationId xmlns:a16="http://schemas.microsoft.com/office/drawing/2014/main" id="{989650F1-A22E-4AD2-8DEE-E8208C1377BB}"/>
                </a:ext>
              </a:extLst>
            </p:cNvPr>
            <p:cNvSpPr/>
            <p:nvPr/>
          </p:nvSpPr>
          <p:spPr>
            <a:xfrm>
              <a:off x="3794760" y="1371600"/>
              <a:ext cx="1600200" cy="8229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700" dirty="0">
                  <a:solidFill>
                    <a:srgbClr val="FFFFFF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Find objects,</a:t>
              </a:r>
              <a:endParaRPr lang="en-US" sz="700" dirty="0"/>
            </a:p>
            <a:p>
              <a:pPr marL="0" indent="0" algn="ctr">
                <a:buNone/>
              </a:pPr>
              <a:r>
                <a:rPr lang="en-US" sz="700" dirty="0">
                  <a:solidFill>
                    <a:srgbClr val="FFFFFF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edges, features</a:t>
              </a:r>
              <a:endParaRPr lang="en-US" sz="700" dirty="0"/>
            </a:p>
          </p:txBody>
        </p:sp>
        <p:sp>
          <p:nvSpPr>
            <p:cNvPr id="28" name="Text 14">
              <a:extLst>
                <a:ext uri="{FF2B5EF4-FFF2-40B4-BE49-F238E27FC236}">
                  <a16:creationId xmlns:a16="http://schemas.microsoft.com/office/drawing/2014/main" id="{2EBFBBC3-C8C3-4511-8903-8184C55A6D15}"/>
                </a:ext>
              </a:extLst>
            </p:cNvPr>
            <p:cNvSpPr/>
            <p:nvPr/>
          </p:nvSpPr>
          <p:spPr>
            <a:xfrm>
              <a:off x="5394960" y="1188720"/>
              <a:ext cx="182880" cy="4572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6B7280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→</a:t>
              </a:r>
              <a:endParaRPr lang="en-US" sz="900" dirty="0"/>
            </a:p>
          </p:txBody>
        </p:sp>
        <p:sp>
          <p:nvSpPr>
            <p:cNvPr id="29" name="Shape 15">
              <a:extLst>
                <a:ext uri="{FF2B5EF4-FFF2-40B4-BE49-F238E27FC236}">
                  <a16:creationId xmlns:a16="http://schemas.microsoft.com/office/drawing/2014/main" id="{BA0A6893-8558-4C3E-A474-AE5A778ED4FA}"/>
                </a:ext>
              </a:extLst>
            </p:cNvPr>
            <p:cNvSpPr/>
            <p:nvPr/>
          </p:nvSpPr>
          <p:spPr>
            <a:xfrm>
              <a:off x="5577840" y="822960"/>
              <a:ext cx="1600200" cy="1463040"/>
            </a:xfrm>
            <a:prstGeom prst="rect">
              <a:avLst/>
            </a:prstGeom>
            <a:solidFill>
              <a:srgbClr val="8B5CF6"/>
            </a:solidFill>
            <a:ln/>
            <a:effectLst>
              <a:outerShdw blurRad="50800" dist="25400" dir="8100000" algn="bl" rotWithShape="0">
                <a:srgbClr val="000000">
                  <a:alpha val="12000"/>
                </a:srgbClr>
              </a:outerShdw>
            </a:effectLst>
          </p:spPr>
        </p:sp>
        <p:sp>
          <p:nvSpPr>
            <p:cNvPr id="30" name="Text 16">
              <a:extLst>
                <a:ext uri="{FF2B5EF4-FFF2-40B4-BE49-F238E27FC236}">
                  <a16:creationId xmlns:a16="http://schemas.microsoft.com/office/drawing/2014/main" id="{4C3EA4FE-DADA-47EA-9366-A8E96B68A13C}"/>
                </a:ext>
              </a:extLst>
            </p:cNvPr>
            <p:cNvSpPr/>
            <p:nvPr/>
          </p:nvSpPr>
          <p:spPr>
            <a:xfrm>
              <a:off x="5577840" y="868680"/>
              <a:ext cx="1600200" cy="4572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800" b="1" dirty="0">
                  <a:solidFill>
                    <a:srgbClr val="FFFFFF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CLASSIFY</a:t>
              </a:r>
              <a:endParaRPr lang="en-US" sz="800" dirty="0"/>
            </a:p>
          </p:txBody>
        </p:sp>
        <p:sp>
          <p:nvSpPr>
            <p:cNvPr id="31" name="Text 17">
              <a:extLst>
                <a:ext uri="{FF2B5EF4-FFF2-40B4-BE49-F238E27FC236}">
                  <a16:creationId xmlns:a16="http://schemas.microsoft.com/office/drawing/2014/main" id="{07B3DFCE-2B66-40D9-8A8B-7572430661BF}"/>
                </a:ext>
              </a:extLst>
            </p:cNvPr>
            <p:cNvSpPr/>
            <p:nvPr/>
          </p:nvSpPr>
          <p:spPr>
            <a:xfrm>
              <a:off x="5577840" y="1371600"/>
              <a:ext cx="1600200" cy="8229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700" dirty="0">
                  <a:solidFill>
                    <a:srgbClr val="FFFFFF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What IS it?</a:t>
              </a:r>
              <a:endParaRPr lang="en-US" sz="700" dirty="0"/>
            </a:p>
            <a:p>
              <a:pPr marL="0" indent="0" algn="ctr">
                <a:buNone/>
              </a:pPr>
              <a:r>
                <a:rPr lang="en-US" sz="700" dirty="0">
                  <a:solidFill>
                    <a:srgbClr val="FFFFFF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chair, door, wall</a:t>
              </a:r>
              <a:endParaRPr lang="en-US" sz="700" dirty="0"/>
            </a:p>
          </p:txBody>
        </p:sp>
        <p:sp>
          <p:nvSpPr>
            <p:cNvPr id="32" name="Text 18">
              <a:extLst>
                <a:ext uri="{FF2B5EF4-FFF2-40B4-BE49-F238E27FC236}">
                  <a16:creationId xmlns:a16="http://schemas.microsoft.com/office/drawing/2014/main" id="{47A23A9E-9EF3-4643-A569-113C10FAE802}"/>
                </a:ext>
              </a:extLst>
            </p:cNvPr>
            <p:cNvSpPr/>
            <p:nvPr/>
          </p:nvSpPr>
          <p:spPr>
            <a:xfrm>
              <a:off x="7178040" y="1188720"/>
              <a:ext cx="182880" cy="4572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6B7280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→</a:t>
              </a:r>
              <a:endParaRPr lang="en-US" sz="900" dirty="0"/>
            </a:p>
          </p:txBody>
        </p:sp>
        <p:sp>
          <p:nvSpPr>
            <p:cNvPr id="33" name="Shape 19">
              <a:extLst>
                <a:ext uri="{FF2B5EF4-FFF2-40B4-BE49-F238E27FC236}">
                  <a16:creationId xmlns:a16="http://schemas.microsoft.com/office/drawing/2014/main" id="{90F315D6-D746-448B-BD29-B90D91DF4E31}"/>
                </a:ext>
              </a:extLst>
            </p:cNvPr>
            <p:cNvSpPr/>
            <p:nvPr/>
          </p:nvSpPr>
          <p:spPr>
            <a:xfrm>
              <a:off x="7360920" y="822960"/>
              <a:ext cx="1600200" cy="1463040"/>
            </a:xfrm>
            <a:prstGeom prst="rect">
              <a:avLst/>
            </a:prstGeom>
            <a:solidFill>
              <a:srgbClr val="10B981"/>
            </a:solidFill>
            <a:ln/>
            <a:effectLst>
              <a:outerShdw blurRad="50800" dist="25400" dir="8100000" algn="bl" rotWithShape="0">
                <a:srgbClr val="000000">
                  <a:alpha val="12000"/>
                </a:srgbClr>
              </a:outerShdw>
            </a:effectLst>
          </p:spPr>
        </p:sp>
        <p:sp>
          <p:nvSpPr>
            <p:cNvPr id="34" name="Text 20">
              <a:extLst>
                <a:ext uri="{FF2B5EF4-FFF2-40B4-BE49-F238E27FC236}">
                  <a16:creationId xmlns:a16="http://schemas.microsoft.com/office/drawing/2014/main" id="{CF1D731D-4B7E-4372-9C74-59775222D8AF}"/>
                </a:ext>
              </a:extLst>
            </p:cNvPr>
            <p:cNvSpPr/>
            <p:nvPr/>
          </p:nvSpPr>
          <p:spPr>
            <a:xfrm>
              <a:off x="7360920" y="868680"/>
              <a:ext cx="1600200" cy="4572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800" b="1" dirty="0">
                  <a:solidFill>
                    <a:srgbClr val="FFFFFF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INTERPRET</a:t>
              </a:r>
              <a:endParaRPr lang="en-US" sz="800" dirty="0"/>
            </a:p>
          </p:txBody>
        </p:sp>
        <p:sp>
          <p:nvSpPr>
            <p:cNvPr id="35" name="Text 21">
              <a:extLst>
                <a:ext uri="{FF2B5EF4-FFF2-40B4-BE49-F238E27FC236}">
                  <a16:creationId xmlns:a16="http://schemas.microsoft.com/office/drawing/2014/main" id="{3F797791-7215-4021-8C0C-AFBE35FD97CB}"/>
                </a:ext>
              </a:extLst>
            </p:cNvPr>
            <p:cNvSpPr/>
            <p:nvPr/>
          </p:nvSpPr>
          <p:spPr>
            <a:xfrm>
              <a:off x="7360920" y="1371600"/>
              <a:ext cx="1600200" cy="8229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700" dirty="0">
                  <a:solidFill>
                    <a:srgbClr val="FFFFFF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What does it</a:t>
              </a:r>
              <a:endParaRPr lang="en-US" sz="700" dirty="0"/>
            </a:p>
            <a:p>
              <a:pPr marL="0" indent="0" algn="ctr">
                <a:buNone/>
              </a:pPr>
              <a:r>
                <a:rPr lang="en-US" sz="700" dirty="0">
                  <a:solidFill>
                    <a:srgbClr val="FFFFFF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MEAN for the robot?</a:t>
              </a:r>
              <a:endParaRPr lang="en-US" sz="700" dirty="0"/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4C8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91440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BLOCK D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1371600"/>
            <a:ext cx="77724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 Extraction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274320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B0C4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Finding distinctive, repeatable points in images and scans</a:t>
            </a:r>
            <a:endParaRPr lang="en-US" sz="15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6B9A717-3076-4D41-A748-96C7D5128174}"/>
              </a:ext>
            </a:extLst>
          </p:cNvPr>
          <p:cNvSpPr txBox="1"/>
          <p:nvPr/>
        </p:nvSpPr>
        <p:spPr>
          <a:xfrm>
            <a:off x="202019" y="4681226"/>
            <a:ext cx="697850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linkClick r:id="rId3"/>
              </a:rPr>
              <a:t>https://rpg.ifi.uzh.ch/docs/teaching/2023/06_feature_detection_2.pdf</a:t>
            </a:r>
            <a:endParaRPr lang="en-US" dirty="0"/>
          </a:p>
          <a:p>
            <a:endParaRPr lang="en-US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0F2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F4C81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8288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Re-Recognizing a Corridor Corner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274320" y="685800"/>
            <a:ext cx="8595360" cy="731520"/>
          </a:xfrm>
          <a:prstGeom prst="rect">
            <a:avLst/>
          </a:prstGeom>
          <a:solidFill>
            <a:srgbClr val="FFFBEB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685800"/>
            <a:ext cx="54864" cy="73152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758952"/>
            <a:ext cx="827532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SCENARIO: </a:t>
            </a: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MediBot saw a corridor corner 10 seconds ago from 5m away. Now it sees it again from 3m away, at a different angle. How does it know it's the SAME corner? It needs to DESCRIBE the corner in a way that's the same regardless of viewpoint.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65760" y="16002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4C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requires two things: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74320" y="1965960"/>
            <a:ext cx="4114800" cy="1613668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74320" y="1965960"/>
            <a:ext cx="54864" cy="146304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1" name="Text 9"/>
          <p:cNvSpPr/>
          <p:nvPr/>
        </p:nvSpPr>
        <p:spPr>
          <a:xfrm>
            <a:off x="438912" y="2020824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Feature DETECTOR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38912" y="2313432"/>
            <a:ext cx="384048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"WHERE in the image is something interesting?"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Finds distinctive points (corners, blobs)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Must be REPEATABLE: same point found again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Output: list of (x, y) pixel locations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663440" y="1965960"/>
            <a:ext cx="4206240" cy="1613668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663440" y="1965960"/>
            <a:ext cx="54864" cy="146304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5" name="Text 13"/>
          <p:cNvSpPr/>
          <p:nvPr/>
        </p:nvSpPr>
        <p:spPr>
          <a:xfrm>
            <a:off x="4828032" y="2020824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Feature DESCRIPTOR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828032" y="2313432"/>
            <a:ext cx="393192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"WHAT does this point look like?"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Compact summary of the patch around the point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Must be DISTINCTIVE: different points have different descriptors. Same point has similar descriptors.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Output: vector of numbers (32–128 values)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65760" y="365760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Detector = WHERE.  Descriptor = WHAT.  Together = you can find and re-recognize features.</a:t>
            </a:r>
            <a:endParaRPr lang="en-US" sz="1200" dirty="0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18E26393-D424-4F5E-9640-978BEDCAB2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" y="3904918"/>
            <a:ext cx="2027841" cy="1220294"/>
          </a:xfrm>
          <a:prstGeom prst="rect">
            <a:avLst/>
          </a:prstGeom>
        </p:spPr>
      </p:pic>
      <p:grpSp>
        <p:nvGrpSpPr>
          <p:cNvPr id="19" name="Group 18">
            <a:extLst>
              <a:ext uri="{FF2B5EF4-FFF2-40B4-BE49-F238E27FC236}">
                <a16:creationId xmlns:a16="http://schemas.microsoft.com/office/drawing/2014/main" id="{0671F4CC-660B-46A1-8408-51919E8539A4}"/>
              </a:ext>
            </a:extLst>
          </p:cNvPr>
          <p:cNvGrpSpPr/>
          <p:nvPr/>
        </p:nvGrpSpPr>
        <p:grpSpPr>
          <a:xfrm>
            <a:off x="3200399" y="4608745"/>
            <a:ext cx="5371253" cy="457200"/>
            <a:chOff x="228600" y="822960"/>
            <a:chExt cx="8732520" cy="1463040"/>
          </a:xfrm>
        </p:grpSpPr>
        <p:sp>
          <p:nvSpPr>
            <p:cNvPr id="20" name="Shape 3">
              <a:extLst>
                <a:ext uri="{FF2B5EF4-FFF2-40B4-BE49-F238E27FC236}">
                  <a16:creationId xmlns:a16="http://schemas.microsoft.com/office/drawing/2014/main" id="{FFAA5076-8007-426A-A5DC-EF11C65C6568}"/>
                </a:ext>
              </a:extLst>
            </p:cNvPr>
            <p:cNvSpPr/>
            <p:nvPr/>
          </p:nvSpPr>
          <p:spPr>
            <a:xfrm>
              <a:off x="228600" y="822960"/>
              <a:ext cx="1600200" cy="1463040"/>
            </a:xfrm>
            <a:prstGeom prst="rect">
              <a:avLst/>
            </a:prstGeom>
            <a:solidFill>
              <a:srgbClr val="3B82F6"/>
            </a:solidFill>
            <a:ln/>
            <a:effectLst>
              <a:outerShdw blurRad="50800" dist="25400" dir="8100000" algn="bl" rotWithShape="0">
                <a:srgbClr val="000000">
                  <a:alpha val="12000"/>
                </a:srgbClr>
              </a:outerShdw>
            </a:effectLst>
          </p:spPr>
        </p:sp>
        <p:sp>
          <p:nvSpPr>
            <p:cNvPr id="22" name="Text 4">
              <a:extLst>
                <a:ext uri="{FF2B5EF4-FFF2-40B4-BE49-F238E27FC236}">
                  <a16:creationId xmlns:a16="http://schemas.microsoft.com/office/drawing/2014/main" id="{B2284B57-AB8E-42BC-BF7B-71732957A598}"/>
                </a:ext>
              </a:extLst>
            </p:cNvPr>
            <p:cNvSpPr/>
            <p:nvPr/>
          </p:nvSpPr>
          <p:spPr>
            <a:xfrm>
              <a:off x="228600" y="868680"/>
              <a:ext cx="1600200" cy="4572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800" b="1" dirty="0">
                  <a:solidFill>
                    <a:srgbClr val="FFFFFF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SENSE</a:t>
              </a:r>
              <a:endParaRPr lang="en-US" sz="800" dirty="0"/>
            </a:p>
          </p:txBody>
        </p:sp>
        <p:sp>
          <p:nvSpPr>
            <p:cNvPr id="23" name="Text 5">
              <a:extLst>
                <a:ext uri="{FF2B5EF4-FFF2-40B4-BE49-F238E27FC236}">
                  <a16:creationId xmlns:a16="http://schemas.microsoft.com/office/drawing/2014/main" id="{F8084D85-DB99-4E10-A952-66FE183C2C4D}"/>
                </a:ext>
              </a:extLst>
            </p:cNvPr>
            <p:cNvSpPr/>
            <p:nvPr/>
          </p:nvSpPr>
          <p:spPr>
            <a:xfrm>
              <a:off x="228600" y="1371600"/>
              <a:ext cx="1600200" cy="8229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700" dirty="0">
                  <a:solidFill>
                    <a:srgbClr val="FFFFFF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Raw data from</a:t>
              </a:r>
              <a:endParaRPr lang="en-US" sz="700" dirty="0"/>
            </a:p>
            <a:p>
              <a:pPr marL="0" indent="0" algn="ctr">
                <a:buNone/>
              </a:pPr>
              <a:r>
                <a:rPr lang="en-US" sz="700" dirty="0">
                  <a:solidFill>
                    <a:srgbClr val="FFFFFF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camera, LiDAR</a:t>
              </a:r>
              <a:endParaRPr lang="en-US" sz="700" dirty="0"/>
            </a:p>
          </p:txBody>
        </p:sp>
        <p:sp>
          <p:nvSpPr>
            <p:cNvPr id="24" name="Text 6">
              <a:extLst>
                <a:ext uri="{FF2B5EF4-FFF2-40B4-BE49-F238E27FC236}">
                  <a16:creationId xmlns:a16="http://schemas.microsoft.com/office/drawing/2014/main" id="{DA75666D-E5AB-49BD-B349-C0F53942FF6C}"/>
                </a:ext>
              </a:extLst>
            </p:cNvPr>
            <p:cNvSpPr/>
            <p:nvPr/>
          </p:nvSpPr>
          <p:spPr>
            <a:xfrm>
              <a:off x="1828800" y="1188720"/>
              <a:ext cx="182880" cy="4572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6B7280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→</a:t>
              </a:r>
              <a:endParaRPr lang="en-US" sz="900" dirty="0"/>
            </a:p>
          </p:txBody>
        </p:sp>
        <p:sp>
          <p:nvSpPr>
            <p:cNvPr id="25" name="Shape 7">
              <a:extLst>
                <a:ext uri="{FF2B5EF4-FFF2-40B4-BE49-F238E27FC236}">
                  <a16:creationId xmlns:a16="http://schemas.microsoft.com/office/drawing/2014/main" id="{90B955F8-579E-49D9-9E8C-DF82CAD0BE76}"/>
                </a:ext>
              </a:extLst>
            </p:cNvPr>
            <p:cNvSpPr/>
            <p:nvPr/>
          </p:nvSpPr>
          <p:spPr>
            <a:xfrm>
              <a:off x="2011680" y="822960"/>
              <a:ext cx="1600200" cy="1463040"/>
            </a:xfrm>
            <a:prstGeom prst="rect">
              <a:avLst/>
            </a:prstGeom>
            <a:solidFill>
              <a:srgbClr val="0D9488"/>
            </a:solidFill>
            <a:ln/>
            <a:effectLst>
              <a:outerShdw blurRad="50800" dist="25400" dir="8100000" algn="bl" rotWithShape="0">
                <a:srgbClr val="000000">
                  <a:alpha val="12000"/>
                </a:srgbClr>
              </a:outerShdw>
            </a:effectLst>
          </p:spPr>
        </p:sp>
        <p:sp>
          <p:nvSpPr>
            <p:cNvPr id="26" name="Text 8">
              <a:extLst>
                <a:ext uri="{FF2B5EF4-FFF2-40B4-BE49-F238E27FC236}">
                  <a16:creationId xmlns:a16="http://schemas.microsoft.com/office/drawing/2014/main" id="{4363E2F3-E660-4C5D-9DC6-21124439331E}"/>
                </a:ext>
              </a:extLst>
            </p:cNvPr>
            <p:cNvSpPr/>
            <p:nvPr/>
          </p:nvSpPr>
          <p:spPr>
            <a:xfrm>
              <a:off x="2011680" y="868680"/>
              <a:ext cx="1600200" cy="4572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800" b="1" dirty="0">
                  <a:solidFill>
                    <a:srgbClr val="FFFFFF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PREPROCESS</a:t>
              </a:r>
              <a:endParaRPr lang="en-US" sz="800" dirty="0"/>
            </a:p>
          </p:txBody>
        </p:sp>
        <p:sp>
          <p:nvSpPr>
            <p:cNvPr id="27" name="Text 9">
              <a:extLst>
                <a:ext uri="{FF2B5EF4-FFF2-40B4-BE49-F238E27FC236}">
                  <a16:creationId xmlns:a16="http://schemas.microsoft.com/office/drawing/2014/main" id="{ECE8C8F7-E261-415D-9E7B-19E2047882C2}"/>
                </a:ext>
              </a:extLst>
            </p:cNvPr>
            <p:cNvSpPr/>
            <p:nvPr/>
          </p:nvSpPr>
          <p:spPr>
            <a:xfrm>
              <a:off x="2011680" y="1371600"/>
              <a:ext cx="1600200" cy="8229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700" dirty="0">
                  <a:solidFill>
                    <a:srgbClr val="FFFFFF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Filter noise,</a:t>
              </a:r>
              <a:endParaRPr lang="en-US" sz="700" dirty="0"/>
            </a:p>
            <a:p>
              <a:pPr marL="0" indent="0" algn="ctr">
                <a:buNone/>
              </a:pPr>
              <a:r>
                <a:rPr lang="en-US" sz="700" dirty="0">
                  <a:solidFill>
                    <a:srgbClr val="FFFFFF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enhance features</a:t>
              </a:r>
              <a:endParaRPr lang="en-US" sz="700" dirty="0"/>
            </a:p>
          </p:txBody>
        </p:sp>
        <p:sp>
          <p:nvSpPr>
            <p:cNvPr id="28" name="Text 10">
              <a:extLst>
                <a:ext uri="{FF2B5EF4-FFF2-40B4-BE49-F238E27FC236}">
                  <a16:creationId xmlns:a16="http://schemas.microsoft.com/office/drawing/2014/main" id="{F3AE0A34-3AEC-4DFB-9B42-60DD4300FDE6}"/>
                </a:ext>
              </a:extLst>
            </p:cNvPr>
            <p:cNvSpPr/>
            <p:nvPr/>
          </p:nvSpPr>
          <p:spPr>
            <a:xfrm>
              <a:off x="3611880" y="1188720"/>
              <a:ext cx="182880" cy="4572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6B7280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→</a:t>
              </a:r>
              <a:endParaRPr lang="en-US" sz="900" dirty="0"/>
            </a:p>
          </p:txBody>
        </p:sp>
        <p:sp>
          <p:nvSpPr>
            <p:cNvPr id="29" name="Shape 11">
              <a:extLst>
                <a:ext uri="{FF2B5EF4-FFF2-40B4-BE49-F238E27FC236}">
                  <a16:creationId xmlns:a16="http://schemas.microsoft.com/office/drawing/2014/main" id="{75161BB2-8733-447F-AD30-6C9F30034579}"/>
                </a:ext>
              </a:extLst>
            </p:cNvPr>
            <p:cNvSpPr/>
            <p:nvPr/>
          </p:nvSpPr>
          <p:spPr>
            <a:xfrm>
              <a:off x="3794760" y="822960"/>
              <a:ext cx="1600200" cy="1463040"/>
            </a:xfrm>
            <a:prstGeom prst="rect">
              <a:avLst/>
            </a:prstGeom>
            <a:solidFill>
              <a:srgbClr val="F59E0B"/>
            </a:solidFill>
            <a:ln/>
            <a:effectLst>
              <a:outerShdw blurRad="50800" dist="25400" dir="8100000" algn="bl" rotWithShape="0">
                <a:srgbClr val="000000">
                  <a:alpha val="12000"/>
                </a:srgbClr>
              </a:outerShdw>
            </a:effectLst>
          </p:spPr>
        </p:sp>
        <p:sp>
          <p:nvSpPr>
            <p:cNvPr id="30" name="Text 12">
              <a:extLst>
                <a:ext uri="{FF2B5EF4-FFF2-40B4-BE49-F238E27FC236}">
                  <a16:creationId xmlns:a16="http://schemas.microsoft.com/office/drawing/2014/main" id="{98C0C036-BB41-48DF-8662-102B5E0A4C35}"/>
                </a:ext>
              </a:extLst>
            </p:cNvPr>
            <p:cNvSpPr/>
            <p:nvPr/>
          </p:nvSpPr>
          <p:spPr>
            <a:xfrm>
              <a:off x="3794760" y="868680"/>
              <a:ext cx="1600200" cy="4572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800" b="1" dirty="0">
                  <a:solidFill>
                    <a:srgbClr val="FFFFFF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DETECT</a:t>
              </a:r>
              <a:endParaRPr lang="en-US" sz="800" dirty="0"/>
            </a:p>
          </p:txBody>
        </p:sp>
        <p:sp>
          <p:nvSpPr>
            <p:cNvPr id="31" name="Text 13">
              <a:extLst>
                <a:ext uri="{FF2B5EF4-FFF2-40B4-BE49-F238E27FC236}">
                  <a16:creationId xmlns:a16="http://schemas.microsoft.com/office/drawing/2014/main" id="{1BC1C19A-123A-4374-96E3-87DEBD92E15C}"/>
                </a:ext>
              </a:extLst>
            </p:cNvPr>
            <p:cNvSpPr/>
            <p:nvPr/>
          </p:nvSpPr>
          <p:spPr>
            <a:xfrm>
              <a:off x="3794760" y="1371600"/>
              <a:ext cx="1600200" cy="8229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700" dirty="0">
                  <a:solidFill>
                    <a:srgbClr val="FFFFFF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Find objects,</a:t>
              </a:r>
              <a:endParaRPr lang="en-US" sz="700" dirty="0"/>
            </a:p>
            <a:p>
              <a:pPr marL="0" indent="0" algn="ctr">
                <a:buNone/>
              </a:pPr>
              <a:r>
                <a:rPr lang="en-US" sz="700" dirty="0">
                  <a:solidFill>
                    <a:srgbClr val="FFFFFF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edges, features</a:t>
              </a:r>
              <a:endParaRPr lang="en-US" sz="700" dirty="0"/>
            </a:p>
          </p:txBody>
        </p:sp>
        <p:sp>
          <p:nvSpPr>
            <p:cNvPr id="32" name="Text 14">
              <a:extLst>
                <a:ext uri="{FF2B5EF4-FFF2-40B4-BE49-F238E27FC236}">
                  <a16:creationId xmlns:a16="http://schemas.microsoft.com/office/drawing/2014/main" id="{CEAC73C1-C27E-4AC8-A3F5-2842FC3EC494}"/>
                </a:ext>
              </a:extLst>
            </p:cNvPr>
            <p:cNvSpPr/>
            <p:nvPr/>
          </p:nvSpPr>
          <p:spPr>
            <a:xfrm>
              <a:off x="5394960" y="1188720"/>
              <a:ext cx="182880" cy="4572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6B7280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→</a:t>
              </a:r>
              <a:endParaRPr lang="en-US" sz="900" dirty="0"/>
            </a:p>
          </p:txBody>
        </p:sp>
        <p:sp>
          <p:nvSpPr>
            <p:cNvPr id="33" name="Shape 15">
              <a:extLst>
                <a:ext uri="{FF2B5EF4-FFF2-40B4-BE49-F238E27FC236}">
                  <a16:creationId xmlns:a16="http://schemas.microsoft.com/office/drawing/2014/main" id="{F8DF50C9-3219-48A8-B44C-B5A65CE45728}"/>
                </a:ext>
              </a:extLst>
            </p:cNvPr>
            <p:cNvSpPr/>
            <p:nvPr/>
          </p:nvSpPr>
          <p:spPr>
            <a:xfrm>
              <a:off x="5577840" y="822960"/>
              <a:ext cx="1600200" cy="1463040"/>
            </a:xfrm>
            <a:prstGeom prst="rect">
              <a:avLst/>
            </a:prstGeom>
            <a:solidFill>
              <a:srgbClr val="8B5CF6"/>
            </a:solidFill>
            <a:ln/>
            <a:effectLst>
              <a:outerShdw blurRad="50800" dist="25400" dir="8100000" algn="bl" rotWithShape="0">
                <a:srgbClr val="000000">
                  <a:alpha val="12000"/>
                </a:srgbClr>
              </a:outerShdw>
            </a:effectLst>
          </p:spPr>
        </p:sp>
        <p:sp>
          <p:nvSpPr>
            <p:cNvPr id="34" name="Text 16">
              <a:extLst>
                <a:ext uri="{FF2B5EF4-FFF2-40B4-BE49-F238E27FC236}">
                  <a16:creationId xmlns:a16="http://schemas.microsoft.com/office/drawing/2014/main" id="{FD94C61C-A3A7-4F51-93EF-49B24DF90B96}"/>
                </a:ext>
              </a:extLst>
            </p:cNvPr>
            <p:cNvSpPr/>
            <p:nvPr/>
          </p:nvSpPr>
          <p:spPr>
            <a:xfrm>
              <a:off x="5577840" y="868680"/>
              <a:ext cx="1600200" cy="4572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800" b="1" dirty="0">
                  <a:solidFill>
                    <a:srgbClr val="FFFFFF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CLASSIFY</a:t>
              </a:r>
              <a:endParaRPr lang="en-US" sz="800" dirty="0"/>
            </a:p>
          </p:txBody>
        </p:sp>
        <p:sp>
          <p:nvSpPr>
            <p:cNvPr id="35" name="Text 17">
              <a:extLst>
                <a:ext uri="{FF2B5EF4-FFF2-40B4-BE49-F238E27FC236}">
                  <a16:creationId xmlns:a16="http://schemas.microsoft.com/office/drawing/2014/main" id="{F64BC339-6330-4261-B882-DB3C753F6BE0}"/>
                </a:ext>
              </a:extLst>
            </p:cNvPr>
            <p:cNvSpPr/>
            <p:nvPr/>
          </p:nvSpPr>
          <p:spPr>
            <a:xfrm>
              <a:off x="5577840" y="1371600"/>
              <a:ext cx="1600200" cy="8229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700" dirty="0">
                  <a:solidFill>
                    <a:srgbClr val="FFFFFF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What IS it?</a:t>
              </a:r>
              <a:endParaRPr lang="en-US" sz="700" dirty="0"/>
            </a:p>
            <a:p>
              <a:pPr marL="0" indent="0" algn="ctr">
                <a:buNone/>
              </a:pPr>
              <a:r>
                <a:rPr lang="en-US" sz="700" dirty="0">
                  <a:solidFill>
                    <a:srgbClr val="FFFFFF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chair, door, wall</a:t>
              </a:r>
              <a:endParaRPr lang="en-US" sz="700" dirty="0"/>
            </a:p>
          </p:txBody>
        </p:sp>
        <p:sp>
          <p:nvSpPr>
            <p:cNvPr id="36" name="Text 18">
              <a:extLst>
                <a:ext uri="{FF2B5EF4-FFF2-40B4-BE49-F238E27FC236}">
                  <a16:creationId xmlns:a16="http://schemas.microsoft.com/office/drawing/2014/main" id="{929E02CA-E8D8-434E-A9A7-BC825011510B}"/>
                </a:ext>
              </a:extLst>
            </p:cNvPr>
            <p:cNvSpPr/>
            <p:nvPr/>
          </p:nvSpPr>
          <p:spPr>
            <a:xfrm>
              <a:off x="7178040" y="1188720"/>
              <a:ext cx="182880" cy="4572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6B7280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→</a:t>
              </a:r>
              <a:endParaRPr lang="en-US" sz="900" dirty="0"/>
            </a:p>
          </p:txBody>
        </p:sp>
        <p:sp>
          <p:nvSpPr>
            <p:cNvPr id="37" name="Shape 19">
              <a:extLst>
                <a:ext uri="{FF2B5EF4-FFF2-40B4-BE49-F238E27FC236}">
                  <a16:creationId xmlns:a16="http://schemas.microsoft.com/office/drawing/2014/main" id="{5F9073F4-AAE7-420E-AB23-6BD6CC195CC7}"/>
                </a:ext>
              </a:extLst>
            </p:cNvPr>
            <p:cNvSpPr/>
            <p:nvPr/>
          </p:nvSpPr>
          <p:spPr>
            <a:xfrm>
              <a:off x="7360920" y="822960"/>
              <a:ext cx="1600200" cy="1463040"/>
            </a:xfrm>
            <a:prstGeom prst="rect">
              <a:avLst/>
            </a:prstGeom>
            <a:solidFill>
              <a:srgbClr val="10B981"/>
            </a:solidFill>
            <a:ln/>
            <a:effectLst>
              <a:outerShdw blurRad="50800" dist="25400" dir="8100000" algn="bl" rotWithShape="0">
                <a:srgbClr val="000000">
                  <a:alpha val="12000"/>
                </a:srgbClr>
              </a:outerShdw>
            </a:effectLst>
          </p:spPr>
        </p:sp>
        <p:sp>
          <p:nvSpPr>
            <p:cNvPr id="38" name="Text 20">
              <a:extLst>
                <a:ext uri="{FF2B5EF4-FFF2-40B4-BE49-F238E27FC236}">
                  <a16:creationId xmlns:a16="http://schemas.microsoft.com/office/drawing/2014/main" id="{D372AD2B-334F-4B88-A7B5-21677CD060B5}"/>
                </a:ext>
              </a:extLst>
            </p:cNvPr>
            <p:cNvSpPr/>
            <p:nvPr/>
          </p:nvSpPr>
          <p:spPr>
            <a:xfrm>
              <a:off x="7360920" y="868680"/>
              <a:ext cx="1600200" cy="4572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800" b="1" dirty="0">
                  <a:solidFill>
                    <a:srgbClr val="FFFFFF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INTERPRET</a:t>
              </a:r>
              <a:endParaRPr lang="en-US" sz="800" dirty="0"/>
            </a:p>
          </p:txBody>
        </p:sp>
        <p:sp>
          <p:nvSpPr>
            <p:cNvPr id="39" name="Text 21">
              <a:extLst>
                <a:ext uri="{FF2B5EF4-FFF2-40B4-BE49-F238E27FC236}">
                  <a16:creationId xmlns:a16="http://schemas.microsoft.com/office/drawing/2014/main" id="{3E76F005-A0D5-4281-B46A-74301DDDDADA}"/>
                </a:ext>
              </a:extLst>
            </p:cNvPr>
            <p:cNvSpPr/>
            <p:nvPr/>
          </p:nvSpPr>
          <p:spPr>
            <a:xfrm>
              <a:off x="7360920" y="1371600"/>
              <a:ext cx="1600200" cy="8229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700" dirty="0">
                  <a:solidFill>
                    <a:srgbClr val="FFFFFF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What does it</a:t>
              </a:r>
              <a:endParaRPr lang="en-US" sz="700" dirty="0"/>
            </a:p>
            <a:p>
              <a:pPr marL="0" indent="0" algn="ctr">
                <a:buNone/>
              </a:pPr>
              <a:r>
                <a:rPr lang="en-US" sz="700" dirty="0">
                  <a:solidFill>
                    <a:srgbClr val="FFFFFF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MEAN for the robot?</a:t>
              </a:r>
              <a:endParaRPr lang="en-US" sz="700" dirty="0"/>
            </a:p>
          </p:txBody>
        </p:sp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0F2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F4C81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8288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Corner Detection: Harris &amp; Shi-Tomasi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365760" y="68580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corner is where the image changes significantly in BOTH x and y directions.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" y="1051560"/>
            <a:ext cx="2743200" cy="20116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051560"/>
            <a:ext cx="54864" cy="201168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8" name="Text 6"/>
          <p:cNvSpPr/>
          <p:nvPr/>
        </p:nvSpPr>
        <p:spPr>
          <a:xfrm>
            <a:off x="438912" y="1106424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Flat Region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38912" y="1399032"/>
            <a:ext cx="2468880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change in any direction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Sliding a window → same everywhere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a feature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Example: white wall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00400" y="1051560"/>
            <a:ext cx="2743200" cy="20116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00400" y="1051560"/>
            <a:ext cx="54864" cy="201168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2" name="Text 10"/>
          <p:cNvSpPr/>
          <p:nvPr/>
        </p:nvSpPr>
        <p:spPr>
          <a:xfrm>
            <a:off x="3364992" y="1106424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Edge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364992" y="1399032"/>
            <a:ext cx="2468880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Change in ONE direction only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Sliding along edge → no change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Ambiguous — can't pinpoint location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Example: corridor wall line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126480" y="1051560"/>
            <a:ext cx="2743200" cy="20116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126480" y="1051560"/>
            <a:ext cx="54864" cy="201168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6" name="Text 14"/>
          <p:cNvSpPr/>
          <p:nvPr/>
        </p:nvSpPr>
        <p:spPr>
          <a:xfrm>
            <a:off x="6291072" y="1106424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Corner ✓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291072" y="1399032"/>
            <a:ext cx="2468880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Change in BOTH directions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Sliding window → changes everywhere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UNIQUE location — can pinpoint!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Example: door frame corner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274320" y="3291839"/>
            <a:ext cx="8595360" cy="1737361"/>
          </a:xfrm>
          <a:prstGeom prst="rect">
            <a:avLst/>
          </a:prstGeom>
          <a:solidFill>
            <a:srgbClr val="EBF5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11480" y="3337559"/>
            <a:ext cx="8321040" cy="118872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/>
              <a:t>Harris and Shi-</a:t>
            </a:r>
            <a:r>
              <a:rPr lang="en-US" sz="1200" dirty="0" err="1"/>
              <a:t>Tomasi</a:t>
            </a:r>
            <a:r>
              <a:rPr lang="en-US" sz="1200" dirty="0"/>
              <a:t> are classic corner detection algorithms used in computer vision to find “interest points” in an image (points where intensity changes strongly in two directions).</a:t>
            </a:r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/>
              <a:t>Harris detects corners; Shi-</a:t>
            </a:r>
            <a:r>
              <a:rPr lang="en-US" sz="1200" dirty="0" err="1"/>
              <a:t>Tomasi</a:t>
            </a:r>
            <a:r>
              <a:rPr lang="en-US" sz="1200" dirty="0"/>
              <a:t> is a refined version</a:t>
            </a:r>
          </a:p>
          <a:p>
            <a:pPr marL="0" indent="0">
              <a:buNone/>
            </a:pPr>
            <a:r>
              <a:rPr lang="en-US" sz="1200" dirty="0"/>
              <a:t> that selects the </a:t>
            </a:r>
            <a:r>
              <a:rPr lang="en-US" sz="1200" b="1" dirty="0"/>
              <a:t>best corners for tracking</a:t>
            </a:r>
            <a:r>
              <a:rPr lang="en-US" sz="1200" dirty="0"/>
              <a:t>.</a:t>
            </a: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B255A349-4314-4539-8031-B4912A5520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63441" y="3712463"/>
            <a:ext cx="3506239" cy="1316737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2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F4C81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8288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 Descriptors: ORB and BRIEF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800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DF466755-0EDE-4C56-92F7-C2891EA9EC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133" y="710964"/>
            <a:ext cx="8959733" cy="37421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084965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0F2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F4C81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8288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 Descriptors: ORB and BRIEF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274320" y="731520"/>
            <a:ext cx="4114800" cy="21945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731520"/>
            <a:ext cx="54864" cy="219456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7" name="Text 5"/>
          <p:cNvSpPr/>
          <p:nvPr/>
        </p:nvSpPr>
        <p:spPr>
          <a:xfrm>
            <a:off x="438912" y="786384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ORB (Oriented FAST and Rotated BRIEF)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38912" y="1078992"/>
            <a:ext cx="3840480" cy="1783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go-to descriptor for real-time robotics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Detector: FAST corners (very fast!)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+ orientation from intensity centroid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Descriptor: rotated BRIEF (binary, 256 bits)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Matching: Hamming distance (XOR — super fast)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Free, open-source, no patents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Used in: ORB-SLAM, ROS feature matchers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663440" y="731520"/>
            <a:ext cx="4206240" cy="21945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63440" y="731520"/>
            <a:ext cx="54864" cy="219456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1" name="Text 9"/>
          <p:cNvSpPr/>
          <p:nvPr/>
        </p:nvSpPr>
        <p:spPr>
          <a:xfrm>
            <a:off x="4828032" y="786384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SIFT (Scale-Invariant Feature Transform)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828032" y="1078992"/>
            <a:ext cx="3931920" cy="1783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Most robust descriptor (gold standard)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Scale-invariant: finds features at multiple sizes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Rotation-invariant: works from any angle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Descriptor: 128-float vector (gradient histogram)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Matching: L2 distance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Slower than ORB, more memory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Was patented until 2020, now free in OpenCV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74320" y="2980944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real-time robotics: use ORB (fast, free, good enough).
</a:t>
            </a: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offline processing or when accuracy matters most: use SIFT.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0F2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F4C81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8288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MOD-04 to MOD-07: Features Revisited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365760" y="68580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4C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MOD-04 showed WHAT features each sensor extracts. MOD-07 shows HOW and WHY.</a:t>
            </a:r>
            <a:endParaRPr lang="en-US" sz="13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82880" y="1051560"/>
          <a:ext cx="8778240" cy="1371600"/>
        </p:xfrm>
        <a:graphic>
          <a:graphicData uri="http://schemas.openxmlformats.org/drawingml/2006/table">
            <a:tbl>
              <a:tblPr/>
              <a:tblGrid>
                <a:gridCol w="1188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Sensor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8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MOD-04: What features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8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MOD-07: How to extract them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8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Used by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8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Camera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Corner points, edges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Harris/ORB detector + descriptor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VO, SLAM, localization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LiDAR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Lines, corners, planes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Hough transform, RANSAC plane fit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Scan matching, SLAM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Depth camera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Dense 3D points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Ground removal, clustering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Obstacle detection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Radar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Doppler velocity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CFAR detection, clustering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Moving object detection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365760" y="320040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i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MOD-04 = "sensors can extract features." MOD-07 = "here's the algorithm to actually do it."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F4C8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91440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BLOCK E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1371600"/>
            <a:ext cx="77724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 Matching &amp;</a:t>
            </a:r>
            <a:endParaRPr lang="en-US" sz="2800" dirty="0"/>
          </a:p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Geometric Verification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274320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B0C4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Finding the same feature again — and rejecting impostors</a:t>
            </a:r>
            <a:endParaRPr lang="en-US" sz="15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0F2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F4C81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8288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PBL: 200 Matches, 40 Are Wrong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274320" y="685800"/>
            <a:ext cx="8595360" cy="731520"/>
          </a:xfrm>
          <a:prstGeom prst="rect">
            <a:avLst/>
          </a:prstGeom>
          <a:solidFill>
            <a:srgbClr val="FFFBEB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685800"/>
            <a:ext cx="54864" cy="73152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758952"/>
            <a:ext cx="827532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PBL SCENARIO: </a:t>
            </a: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MediBot matched 200 ORB features between the current image and the previous one. But the hospital floor has repetitive tiles — 40 matches are WRONG (they matched similar-looking but different tiles). If we use wrong matches, the position estimate will be garbage.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74320" y="1600200"/>
            <a:ext cx="4114800" cy="18288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74320" y="1600200"/>
            <a:ext cx="54864" cy="18288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0" name="Text 8"/>
          <p:cNvSpPr/>
          <p:nvPr/>
        </p:nvSpPr>
        <p:spPr>
          <a:xfrm>
            <a:off x="438912" y="1655064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1: Brute-Force Matching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38912" y="1947672"/>
            <a:ext cx="384048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each feature in image A: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Compute distance to ALL features in image B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Pick the closest one as the match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ORB: Hamming distance (count different bits)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SIFT: Euclidean distance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663440" y="1600200"/>
            <a:ext cx="4206240" cy="18288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663440" y="1600200"/>
            <a:ext cx="54864" cy="18288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4" name="Text 12"/>
          <p:cNvSpPr/>
          <p:nvPr/>
        </p:nvSpPr>
        <p:spPr>
          <a:xfrm>
            <a:off x="4828032" y="1655064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2: Lowe's Ratio Test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828032" y="1947672"/>
            <a:ext cx="393192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each match, find the 2 closest descriptors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best_distance / second_best &lt; 0.75: KEEP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Otherwise: REJECT (ambiguous match)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Intuition: a good match should be MUCH closer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to the best than to the second-best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Removes ~50% of wrong matches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65760" y="365760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After ratio test: ~160 matches remain, but ~20 are STILL wrong. We need geometric verification.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0F2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F4C81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8288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RANSAC: Rejecting Outliers Geometrically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365760" y="68580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RANSAC = RANdom </a:t>
            </a:r>
            <a:r>
              <a:rPr lang="en-US" sz="1300" b="1" dirty="0" err="1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SAmple</a:t>
            </a:r>
            <a:r>
              <a:rPr lang="en-US" sz="13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Consensus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" y="1051560"/>
            <a:ext cx="2011680" cy="20116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051560"/>
            <a:ext cx="54864" cy="201168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8" name="Text 6"/>
          <p:cNvSpPr/>
          <p:nvPr/>
        </p:nvSpPr>
        <p:spPr>
          <a:xfrm>
            <a:off x="438912" y="1106424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SAMPLE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38912" y="1399032"/>
            <a:ext cx="1737360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buSzPct val="100000"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Pick random minimal</a:t>
            </a:r>
            <a:r>
              <a:rPr lang="en-US" sz="1200" dirty="0"/>
              <a:t> </a:t>
            </a: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 of matches (e.g., 4 for homography)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423160" y="1051560"/>
            <a:ext cx="2011680" cy="20116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423160" y="1051560"/>
            <a:ext cx="54864" cy="201168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2" name="Text 10"/>
          <p:cNvSpPr/>
          <p:nvPr/>
        </p:nvSpPr>
        <p:spPr>
          <a:xfrm>
            <a:off x="2587752" y="1106424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MODEL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587752" y="1399032"/>
            <a:ext cx="1737360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buSzPct val="100000"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 the geometric transformation from these 4 matches (rotation + translation)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0" y="1051560"/>
            <a:ext cx="2011680" cy="20116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72000" y="1051560"/>
            <a:ext cx="54864" cy="201168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6" name="Text 14"/>
          <p:cNvSpPr/>
          <p:nvPr/>
        </p:nvSpPr>
        <p:spPr>
          <a:xfrm>
            <a:off x="4736592" y="1106424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COUNT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736592" y="1399032"/>
            <a:ext cx="1737360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buSzPct val="100000"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many OTHER matches agree with this transformation?</a:t>
            </a:r>
            <a:endParaRPr lang="en-US" sz="1200" dirty="0"/>
          </a:p>
          <a:p>
            <a:pPr>
              <a:buSzPct val="100000"/>
            </a:pPr>
            <a:endParaRPr lang="en-US" sz="1200" dirty="0">
              <a:solidFill>
                <a:srgbClr val="6B7280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>
              <a:buSzPct val="100000"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These are INLIERS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720840" y="1051560"/>
            <a:ext cx="2194560" cy="20116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720840" y="1051560"/>
            <a:ext cx="54864" cy="201168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20" name="Text 18"/>
          <p:cNvSpPr/>
          <p:nvPr/>
        </p:nvSpPr>
        <p:spPr>
          <a:xfrm>
            <a:off x="6885432" y="1106424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REPEAT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885432" y="1399032"/>
            <a:ext cx="1920240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buSzPct val="100000"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Try many random sets</a:t>
            </a:r>
          </a:p>
          <a:p>
            <a:pPr>
              <a:buSzPct val="100000"/>
            </a:pPr>
            <a:endParaRPr lang="en-US" sz="1200" dirty="0">
              <a:solidFill>
                <a:srgbClr val="6B7280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>
              <a:buSzPct val="100000"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 the model with the MOST inliers</a:t>
            </a:r>
            <a:endParaRPr lang="en-US" sz="1200" dirty="0"/>
          </a:p>
          <a:p>
            <a:pPr>
              <a:buSzPct val="100000"/>
            </a:pPr>
            <a:endParaRPr lang="en-US" sz="1200" dirty="0">
              <a:solidFill>
                <a:srgbClr val="6B7280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>
              <a:buSzPct val="100000"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Outliers are rejected!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65760" y="329184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After RANSAC: ~140 inlier matches, ~20 outliers identified and REMOVED. Robust result!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F4C8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91440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BLOCK F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1371600"/>
            <a:ext cx="77724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Visual Odometry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274320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B0C4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Estimating robot motion from camera images alone</a:t>
            </a:r>
            <a:endParaRPr lang="en-US" sz="15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0F2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F4C81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8288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PBL: Elevator Doors Closed — Only Camera Works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274320" y="685800"/>
            <a:ext cx="8595360" cy="731520"/>
          </a:xfrm>
          <a:prstGeom prst="rect">
            <a:avLst/>
          </a:prstGeom>
          <a:solidFill>
            <a:srgbClr val="FFFBEB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685800"/>
            <a:ext cx="54864" cy="73152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758952"/>
            <a:ext cx="827532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PBL SCENARIO: </a:t>
            </a: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MediBot is in the elevator. LiDAR is blocked (enclosed box). Encoders are slipping on the smooth floor. But the camera can see the elevator walls and buttons. </a:t>
            </a:r>
          </a:p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 it estimate how MediBot is moving using ONLY image changes?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65760" y="16002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4C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Visual Odometry (VO): estimate robot motion from sequences of images.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2011680"/>
            <a:ext cx="1828800" cy="731520"/>
          </a:xfrm>
          <a:prstGeom prst="rect">
            <a:avLst/>
          </a:prstGeom>
          <a:solidFill>
            <a:srgbClr val="3B82F6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57200" y="2029968"/>
            <a:ext cx="182880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Detect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286000" y="214884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2560320" y="2011680"/>
            <a:ext cx="1828800" cy="731520"/>
          </a:xfrm>
          <a:prstGeom prst="rect">
            <a:avLst/>
          </a:prstGeom>
          <a:solidFill>
            <a:srgbClr val="8B5CF6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560320" y="2029968"/>
            <a:ext cx="182880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Match Across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Frames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389120" y="214884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663440" y="2011680"/>
            <a:ext cx="1828800" cy="731520"/>
          </a:xfrm>
          <a:prstGeom prst="rect">
            <a:avLst/>
          </a:prstGeom>
          <a:solidFill>
            <a:srgbClr val="10B981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663440" y="2029968"/>
            <a:ext cx="182880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Estimate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Motion (R, t)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492240" y="214884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6766560" y="2011680"/>
            <a:ext cx="1828800" cy="731520"/>
          </a:xfrm>
          <a:prstGeom prst="rect">
            <a:avLst/>
          </a:prstGeom>
          <a:solidFill>
            <a:srgbClr val="F97316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766560" y="2029968"/>
            <a:ext cx="182880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Integrate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Trajectory</a:t>
            </a:r>
            <a:endParaRPr lang="en-US" sz="1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 18"/>
              <p:cNvSpPr/>
              <p:nvPr/>
            </p:nvSpPr>
            <p:spPr>
              <a:xfrm>
                <a:off x="365760" y="3017520"/>
                <a:ext cx="8412480" cy="1440180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>
                  <a:buNone/>
                </a:pPr>
                <a:r>
                  <a:rPr lang="en-US" sz="1200" dirty="0">
                    <a:solidFill>
                      <a:srgbClr val="1F2937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1. Detect features in frame k and k+1 (ORB, Harris)
</a:t>
                </a:r>
                <a:endParaRPr lang="en-US" sz="1200" dirty="0"/>
              </a:p>
              <a:p>
                <a:pPr marL="0" indent="0">
                  <a:buNone/>
                </a:pPr>
                <a:r>
                  <a:rPr lang="en-US" sz="1200" dirty="0">
                    <a:solidFill>
                      <a:srgbClr val="1F2937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2. Match features between frames (brute-force + ratio test + RANSAC)
</a:t>
                </a:r>
                <a:endParaRPr lang="en-US" sz="1200" dirty="0"/>
              </a:p>
              <a:p>
                <a:pPr marL="0" indent="0">
                  <a:buNone/>
                </a:pPr>
                <a:r>
                  <a:rPr lang="en-US" sz="1200" dirty="0">
                    <a:solidFill>
                      <a:srgbClr val="1F2937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3. Compute the rotation R and translation t between frames (from matched points)
</a:t>
                </a:r>
                <a:endParaRPr lang="en-US" sz="1200" dirty="0"/>
              </a:p>
              <a:p>
                <a:pPr marL="0" indent="0">
                  <a:buNone/>
                </a:pPr>
                <a:r>
                  <a:rPr lang="en-US" sz="1200" dirty="0">
                    <a:solidFill>
                      <a:srgbClr val="1F2937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4. Chain transformations: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200" i="1" dirty="0" smtClean="0">
                            <a:solidFill>
                              <a:srgbClr val="1F2937"/>
                            </a:solidFill>
                            <a:latin typeface="Cambria Math" panose="02040503050406030204" pitchFamily="18" charset="0"/>
                            <a:ea typeface="Arial" pitchFamily="34" charset="-122"/>
                            <a:cs typeface="Arial" pitchFamily="34" charset="-120"/>
                          </a:rPr>
                        </m:ctrlPr>
                      </m:sSubPr>
                      <m:e>
                        <m:r>
                          <a:rPr lang="en-US" sz="1200" i="1" dirty="0" smtClean="0">
                            <a:solidFill>
                              <a:srgbClr val="1F2937"/>
                            </a:solidFill>
                            <a:latin typeface="Cambria Math" panose="02040503050406030204" pitchFamily="18" charset="0"/>
                            <a:ea typeface="Arial" pitchFamily="34" charset="-122"/>
                            <a:cs typeface="Arial" pitchFamily="34" charset="-120"/>
                          </a:rPr>
                          <m:t>𝑇</m:t>
                        </m:r>
                      </m:e>
                      <m:sub>
                        <m:r>
                          <a:rPr lang="en-US" sz="1200" i="1" dirty="0" smtClean="0">
                            <a:solidFill>
                              <a:srgbClr val="1F2937"/>
                            </a:solidFill>
                            <a:latin typeface="Cambria Math" panose="02040503050406030204" pitchFamily="18" charset="0"/>
                            <a:ea typeface="Arial" pitchFamily="34" charset="-122"/>
                            <a:cs typeface="Arial" pitchFamily="34" charset="-120"/>
                          </a:rPr>
                          <m:t>𝑡𝑜𝑡𝑎𝑙</m:t>
                        </m:r>
                      </m:sub>
                    </m:sSub>
                    <m:r>
                      <a:rPr lang="en-US" sz="1200" i="1" dirty="0" smtClean="0">
                        <a:solidFill>
                          <a:srgbClr val="1F2937"/>
                        </a:solidFill>
                        <a:latin typeface="Cambria Math" panose="02040503050406030204" pitchFamily="18" charset="0"/>
                        <a:ea typeface="Arial" pitchFamily="34" charset="-122"/>
                        <a:cs typeface="Arial" pitchFamily="34" charset="-120"/>
                      </a:rPr>
                      <m:t> = </m:t>
                    </m:r>
                    <m:sSub>
                      <m:sSubPr>
                        <m:ctrlPr>
                          <a:rPr lang="en-US" sz="1200" i="1" dirty="0" smtClean="0">
                            <a:solidFill>
                              <a:srgbClr val="1F2937"/>
                            </a:solidFill>
                            <a:latin typeface="Cambria Math" panose="02040503050406030204" pitchFamily="18" charset="0"/>
                            <a:ea typeface="Arial" pitchFamily="34" charset="-122"/>
                            <a:cs typeface="Arial" pitchFamily="34" charset="-120"/>
                          </a:rPr>
                        </m:ctrlPr>
                      </m:sSubPr>
                      <m:e>
                        <m:r>
                          <a:rPr lang="en-US" sz="1200" i="1" dirty="0" smtClean="0">
                            <a:solidFill>
                              <a:srgbClr val="1F2937"/>
                            </a:solidFill>
                            <a:latin typeface="Cambria Math" panose="02040503050406030204" pitchFamily="18" charset="0"/>
                            <a:ea typeface="Arial" pitchFamily="34" charset="-122"/>
                            <a:cs typeface="Arial" pitchFamily="34" charset="-120"/>
                          </a:rPr>
                          <m:t>𝑇</m:t>
                        </m:r>
                      </m:e>
                      <m:sub>
                        <m:r>
                          <a:rPr lang="en-US" sz="1200" i="1" dirty="0" smtClean="0">
                            <a:solidFill>
                              <a:srgbClr val="1F2937"/>
                            </a:solidFill>
                            <a:latin typeface="Cambria Math" panose="02040503050406030204" pitchFamily="18" charset="0"/>
                            <a:ea typeface="Arial" pitchFamily="34" charset="-122"/>
                            <a:cs typeface="Arial" pitchFamily="34" charset="-120"/>
                          </a:rPr>
                          <m:t>1</m:t>
                        </m:r>
                      </m:sub>
                    </m:sSub>
                    <m:r>
                      <a:rPr lang="en-US" sz="1200" i="1" dirty="0" smtClean="0">
                        <a:solidFill>
                          <a:srgbClr val="1F2937"/>
                        </a:solidFill>
                        <a:latin typeface="Cambria Math" panose="02040503050406030204" pitchFamily="18" charset="0"/>
                        <a:ea typeface="Arial" pitchFamily="34" charset="-122"/>
                        <a:cs typeface="Arial" pitchFamily="34" charset="-120"/>
                      </a:rPr>
                      <m:t>→2 × </m:t>
                    </m:r>
                    <m:sSub>
                      <m:sSubPr>
                        <m:ctrlPr>
                          <a:rPr lang="en-US" sz="1200" i="1" dirty="0" smtClean="0">
                            <a:solidFill>
                              <a:srgbClr val="1F2937"/>
                            </a:solidFill>
                            <a:latin typeface="Cambria Math" panose="02040503050406030204" pitchFamily="18" charset="0"/>
                            <a:ea typeface="Arial" pitchFamily="34" charset="-122"/>
                            <a:cs typeface="Arial" pitchFamily="34" charset="-120"/>
                          </a:rPr>
                        </m:ctrlPr>
                      </m:sSubPr>
                      <m:e>
                        <m:r>
                          <a:rPr lang="en-US" sz="1200" i="1" dirty="0" smtClean="0">
                            <a:solidFill>
                              <a:srgbClr val="1F2937"/>
                            </a:solidFill>
                            <a:latin typeface="Cambria Math" panose="02040503050406030204" pitchFamily="18" charset="0"/>
                            <a:ea typeface="Arial" pitchFamily="34" charset="-122"/>
                            <a:cs typeface="Arial" pitchFamily="34" charset="-120"/>
                          </a:rPr>
                          <m:t>𝑇</m:t>
                        </m:r>
                      </m:e>
                      <m:sub>
                        <m:r>
                          <a:rPr lang="en-US" sz="1200" i="1" dirty="0" smtClean="0">
                            <a:solidFill>
                              <a:srgbClr val="1F2937"/>
                            </a:solidFill>
                            <a:latin typeface="Cambria Math" panose="02040503050406030204" pitchFamily="18" charset="0"/>
                            <a:ea typeface="Arial" pitchFamily="34" charset="-122"/>
                            <a:cs typeface="Arial" pitchFamily="34" charset="-120"/>
                          </a:rPr>
                          <m:t>2</m:t>
                        </m:r>
                      </m:sub>
                    </m:sSub>
                    <m:r>
                      <a:rPr lang="en-US" sz="1200" i="1" dirty="0" smtClean="0">
                        <a:solidFill>
                          <a:srgbClr val="1F2937"/>
                        </a:solidFill>
                        <a:latin typeface="Cambria Math" panose="02040503050406030204" pitchFamily="18" charset="0"/>
                        <a:ea typeface="Arial" pitchFamily="34" charset="-122"/>
                        <a:cs typeface="Arial" pitchFamily="34" charset="-120"/>
                      </a:rPr>
                      <m:t>→3 × </m:t>
                    </m:r>
                    <m:sSub>
                      <m:sSubPr>
                        <m:ctrlPr>
                          <a:rPr lang="en-US" sz="1200" i="1" dirty="0" smtClean="0">
                            <a:solidFill>
                              <a:srgbClr val="1F2937"/>
                            </a:solidFill>
                            <a:latin typeface="Cambria Math" panose="02040503050406030204" pitchFamily="18" charset="0"/>
                            <a:ea typeface="Arial" pitchFamily="34" charset="-122"/>
                            <a:cs typeface="Arial" pitchFamily="34" charset="-120"/>
                          </a:rPr>
                        </m:ctrlPr>
                      </m:sSubPr>
                      <m:e>
                        <m:r>
                          <a:rPr lang="en-US" sz="1200" i="1" dirty="0" smtClean="0">
                            <a:solidFill>
                              <a:srgbClr val="1F2937"/>
                            </a:solidFill>
                            <a:latin typeface="Cambria Math" panose="02040503050406030204" pitchFamily="18" charset="0"/>
                            <a:ea typeface="Arial" pitchFamily="34" charset="-122"/>
                            <a:cs typeface="Arial" pitchFamily="34" charset="-120"/>
                          </a:rPr>
                          <m:t>𝑇</m:t>
                        </m:r>
                      </m:e>
                      <m:sub>
                        <m:r>
                          <a:rPr lang="en-US" sz="1200" i="1" dirty="0" smtClean="0">
                            <a:solidFill>
                              <a:srgbClr val="1F2937"/>
                            </a:solidFill>
                            <a:latin typeface="Cambria Math" panose="02040503050406030204" pitchFamily="18" charset="0"/>
                            <a:ea typeface="Arial" pitchFamily="34" charset="-122"/>
                            <a:cs typeface="Arial" pitchFamily="34" charset="-120"/>
                          </a:rPr>
                          <m:t>3</m:t>
                        </m:r>
                      </m:sub>
                    </m:sSub>
                    <m:r>
                      <a:rPr lang="en-US" sz="1200" i="1" dirty="0" smtClean="0">
                        <a:solidFill>
                          <a:srgbClr val="1F2937"/>
                        </a:solidFill>
                        <a:latin typeface="Cambria Math" panose="02040503050406030204" pitchFamily="18" charset="0"/>
                        <a:ea typeface="Arial" pitchFamily="34" charset="-122"/>
                        <a:cs typeface="Arial" pitchFamily="34" charset="-120"/>
                      </a:rPr>
                      <m:t>→4 × …</m:t>
                    </m:r>
                  </m:oMath>
                </a14:m>
                <a:endParaRPr lang="en-US" sz="1200" dirty="0"/>
              </a:p>
            </p:txBody>
          </p:sp>
        </mc:Choice>
        <mc:Fallback xmlns="">
          <p:sp>
            <p:nvSpPr>
              <p:cNvPr id="20" name="Text 1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5760" y="3017520"/>
                <a:ext cx="8412480" cy="1440180"/>
              </a:xfrm>
              <a:prstGeom prst="rect">
                <a:avLst/>
              </a:prstGeom>
              <a:blipFill>
                <a:blip r:embed="rId3"/>
                <a:stretch>
                  <a:fillRect b="-847"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0F2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F4C81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8288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Monocular vs. Stereo Visual Odometry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274320" y="731520"/>
            <a:ext cx="4114800" cy="21945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731520"/>
            <a:ext cx="54864" cy="21945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7" name="Text 5"/>
          <p:cNvSpPr/>
          <p:nvPr/>
        </p:nvSpPr>
        <p:spPr>
          <a:xfrm>
            <a:off x="438912" y="786384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Monocular VO (one camera)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38912" y="1078992"/>
            <a:ext cx="3840480" cy="1783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Uses one camera only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 estimate rotation well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CANNOT estimate true scale!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(a 1m cube at 5m looks the same as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a 2m cube at 10m from one camera)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Needs external info for scale (IMU, known object)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Simpler hardware, harder math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663440" y="731520"/>
            <a:ext cx="4206240" cy="21945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63440" y="731520"/>
            <a:ext cx="54864" cy="219456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1" name="Text 9"/>
          <p:cNvSpPr/>
          <p:nvPr/>
        </p:nvSpPr>
        <p:spPr>
          <a:xfrm>
            <a:off x="4828032" y="786384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Stereo VO (two cameras)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828032" y="1078992"/>
            <a:ext cx="3931920" cy="1783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Uses stereo baseline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Known baseline → known scale!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 compute true metric motion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More robust (triangulation with 2 views)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More hardware, more computation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65760" y="310896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4C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 provides an independent motion estimate — complementary to encoders and IMU in sensor fusion (MOD-04).</a:t>
            </a:r>
            <a:endParaRPr lang="en-US" sz="12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0F2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F4C81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8288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VO: Where It Fits and When It Fails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274320" y="731520"/>
            <a:ext cx="4114800" cy="16459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731520"/>
            <a:ext cx="54864" cy="16459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7" name="Text 5"/>
          <p:cNvSpPr/>
          <p:nvPr/>
        </p:nvSpPr>
        <p:spPr>
          <a:xfrm>
            <a:off x="438912" y="786384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VO works well when: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38912" y="1078992"/>
            <a:ext cx="384048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Enough visual texture (features to track)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Camera moves slowly (features don't blur)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Good lighting (stable features)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Combined with IMU in VIO (Visual-Inertial)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663440" y="731520"/>
            <a:ext cx="4206240" cy="16459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63440" y="731520"/>
            <a:ext cx="54864" cy="164592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1" name="Text 9"/>
          <p:cNvSpPr/>
          <p:nvPr/>
        </p:nvSpPr>
        <p:spPr>
          <a:xfrm>
            <a:off x="4828032" y="786384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❌ VO fails when: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828032" y="1078992"/>
            <a:ext cx="393192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Pure rotation (no translation → no triangulation)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Textureless surfaces (no features to match)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 motion → motion blur → features lost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Dark environments, direct sunlight</a:t>
            </a:r>
            <a:endParaRPr lang="ar-SA" sz="1200" dirty="0">
              <a:solidFill>
                <a:srgbClr val="6B7280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342900" indent="-342900">
              <a:buSzPct val="100000"/>
              <a:buChar char="•"/>
            </a:pP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Drifts over time (like any odometry)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65760" y="265176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4C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 in the autonomy stack: </a:t>
            </a: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Used as an ADDITIONAL odometry source in sensor fusion. Feeds into the EKF alongside encoders and IMU. When wheel odometry slips, VO provides an independent motion estimate.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3200400"/>
            <a:ext cx="411480" cy="41148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3218688"/>
            <a:ext cx="411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960120" y="3218688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OPERATE: </a:t>
            </a: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practice: VO alone drifts. VIO (Visual-Inertial Odometry) combines VO + IMU for robust indoor navigation. Standard on drones and AR headsets.</a:t>
            </a:r>
            <a:endParaRPr lang="en-US" sz="12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F4C8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91440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BLOCK G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1371600"/>
            <a:ext cx="77724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 Detection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274320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B0C4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Finding and identifying objects in the scene</a:t>
            </a:r>
            <a:endParaRPr lang="en-US" sz="15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0F2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F4C81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8288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PBL: Wheelchair in the Corridor — Obstacle or Passable?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274320" y="685800"/>
            <a:ext cx="8595360" cy="731520"/>
          </a:xfrm>
          <a:prstGeom prst="rect">
            <a:avLst/>
          </a:prstGeom>
          <a:solidFill>
            <a:srgbClr val="FFFBEB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685800"/>
            <a:ext cx="54864" cy="73152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758952"/>
            <a:ext cx="827532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PBL SCENARIO: </a:t>
            </a: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MediBot sees an object in the corridor. Is it a wheelchair (obstacle — must avoid) or an open door (passable — can go through)? The shape in the LiDAR scan is ambiguous — both look like a rectangular void. The camera image can tell the difference.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65760" y="16002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4C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 detection: find WHERE objects are AND WHAT they are.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274320" y="1965960"/>
            <a:ext cx="2743200" cy="18288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74320" y="1965960"/>
            <a:ext cx="54864" cy="18288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1" name="Text 9"/>
          <p:cNvSpPr/>
          <p:nvPr/>
        </p:nvSpPr>
        <p:spPr>
          <a:xfrm>
            <a:off x="438912" y="2020824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Detection outputs: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38912" y="2313432"/>
            <a:ext cx="246888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Bounding box: (x, y, w, h)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 label: "wheelchair"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Confidence: 0.92 (92%)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detection per object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200400" y="1965960"/>
            <a:ext cx="2743200" cy="18288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00400" y="1965960"/>
            <a:ext cx="54864" cy="182880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5" name="Text 13"/>
          <p:cNvSpPr/>
          <p:nvPr/>
        </p:nvSpPr>
        <p:spPr>
          <a:xfrm>
            <a:off x="3364992" y="2020824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Classical approach: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364992" y="2313432"/>
            <a:ext cx="246888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Handcrafted features (HOG, Haar)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Sliding window + classifier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Template matching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Interpretable, no training data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126480" y="1965960"/>
            <a:ext cx="2743200" cy="18288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126480" y="1965960"/>
            <a:ext cx="54864" cy="18288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9" name="Text 17"/>
          <p:cNvSpPr/>
          <p:nvPr/>
        </p:nvSpPr>
        <p:spPr>
          <a:xfrm>
            <a:off x="6291072" y="2020824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 learning approach: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291072" y="2313432"/>
            <a:ext cx="246888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Learned features (CNN)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End-to-end: image → detections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YOLO, SSD, Faster R-CNN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Powerful but needs training data</a:t>
            </a:r>
            <a:endParaRPr lang="en-US" sz="12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0F2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F4C81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8288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Classical: Hough Transform for Lines and Circles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365760" y="68580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Detect geometric shapes — essential for structured environments (corridors, doors, rails)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" y="1051560"/>
            <a:ext cx="4114800" cy="18288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051560"/>
            <a:ext cx="54864" cy="18288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8" name="Text 6"/>
          <p:cNvSpPr/>
          <p:nvPr/>
        </p:nvSpPr>
        <p:spPr>
          <a:xfrm>
            <a:off x="438912" y="1106424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Hough Line Transform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38912" y="1399032"/>
            <a:ext cx="384048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Apply Canny edge detection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Each edge pixel votes for all lines that could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pass through it: r = x·cos(θ) + y·sin(θ)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Accumulate votes in (r, θ) space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Peaks in accumulator = detected lines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Used for: corridor walls, door frames, lane markings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663440" y="1051560"/>
            <a:ext cx="4206240" cy="18288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63440" y="1051560"/>
            <a:ext cx="54864" cy="18288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2" name="Text 10"/>
          <p:cNvSpPr/>
          <p:nvPr/>
        </p:nvSpPr>
        <p:spPr>
          <a:xfrm>
            <a:off x="4828032" y="1106424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Hough Circle Transform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828032" y="1399032"/>
            <a:ext cx="393192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idea but for circles: (x−a)² + (y−b)² = r²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edge pixel votes for all circles through it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3D accumulator: (a, b, r)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Peaks = detected circles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Used for: wheel detection, pipe detection,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button/dial recognition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65760" y="310896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Hough transforms are fast, robust to noise, and don't need training data. Perfect for structured environments.</a:t>
            </a:r>
            <a:endParaRPr lang="en-US" sz="12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0F2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F4C81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8288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Brief Intro: Deep Learning Detection (YOLO)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365760" y="6858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Modern object detection uses Convolutional Neural Networks (CNNs).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" y="1097280"/>
            <a:ext cx="1920240" cy="640080"/>
          </a:xfrm>
          <a:prstGeom prst="rect">
            <a:avLst/>
          </a:prstGeom>
          <a:solidFill>
            <a:srgbClr val="3B82F6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74320" y="1115568"/>
            <a:ext cx="192024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Image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640×480×3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194560" y="118872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2468880" y="1097280"/>
            <a:ext cx="1920240" cy="640080"/>
          </a:xfrm>
          <a:prstGeom prst="rect">
            <a:avLst/>
          </a:prstGeom>
          <a:solidFill>
            <a:srgbClr val="8B5CF6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468880" y="1115568"/>
            <a:ext cx="192024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CNN Backbone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(learned filters)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389120" y="118872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663440" y="1097280"/>
            <a:ext cx="1920240" cy="640080"/>
          </a:xfrm>
          <a:prstGeom prst="rect">
            <a:avLst/>
          </a:prstGeom>
          <a:solidFill>
            <a:srgbClr val="F59E0B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663440" y="1115568"/>
            <a:ext cx="192024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 Maps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(what CNN "sees")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583680" y="118872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858000" y="1097280"/>
            <a:ext cx="1920240" cy="640080"/>
          </a:xfrm>
          <a:prstGeom prst="rect">
            <a:avLst/>
          </a:prstGeom>
          <a:solidFill>
            <a:srgbClr val="10B981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858000" y="1115568"/>
            <a:ext cx="192024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Detection Head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(boxes + classes)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74320" y="2011680"/>
            <a:ext cx="4114800" cy="1674272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74320" y="2011680"/>
            <a:ext cx="54864" cy="146304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9" name="Text 17"/>
          <p:cNvSpPr/>
          <p:nvPr/>
        </p:nvSpPr>
        <p:spPr>
          <a:xfrm>
            <a:off x="438912" y="2066544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YOLO: You Only Look Once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38912" y="2359152"/>
            <a:ext cx="384048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Divides image into grid (e.g., 13×13)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cell predicts: bounding boxes + confidence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+ class probabilities — ALL at once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Single forward pass → real-time (30+ FPS)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 err="1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YOLOv</a:t>
            </a:r>
            <a:r>
              <a:rPr lang="cs-CZ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</a:t>
            </a: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state of the art for robots (202</a:t>
            </a:r>
            <a:r>
              <a:rPr lang="cs-CZ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663440" y="2011679"/>
            <a:ext cx="4206240" cy="1674273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663440" y="2011680"/>
            <a:ext cx="54864" cy="146304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3" name="Text 21"/>
          <p:cNvSpPr/>
          <p:nvPr/>
        </p:nvSpPr>
        <p:spPr>
          <a:xfrm>
            <a:off x="4828032" y="2066544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to use DL vs. Classical?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828032" y="2359152"/>
            <a:ext cx="393192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DL: many object classes, complex shapes,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have training data, have GPU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Classical: geometric shapes (lines, circles),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no training data, interpretable,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limited compute (embedded systems)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Many robots use BOTH in parallel!</a:t>
            </a:r>
            <a:endParaRPr lang="en-US" sz="12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0F4C8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91440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BLOCK H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1371600"/>
            <a:ext cx="77724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Point Cloud Processing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274320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B0C4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100,000 dots to individual objects</a:t>
            </a:r>
            <a:endParaRPr lang="en-US" sz="15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0F2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F4C81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8288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PBL: 100,000 LiDAR Points — Where Are the Obstacles?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274320" y="685800"/>
            <a:ext cx="8595360" cy="731520"/>
          </a:xfrm>
          <a:prstGeom prst="rect">
            <a:avLst/>
          </a:prstGeom>
          <a:solidFill>
            <a:srgbClr val="FFFBEB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685800"/>
            <a:ext cx="54864" cy="73152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758952"/>
            <a:ext cx="827532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PBL SCENARIO: </a:t>
            </a: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MediBot's 3D LiDAR returns 100,000 points per scan. Most points are the floor, walls, and ceiling — not obstacles. The planning module (MOD-09) needs a list of OBJECTS with bounding boxes, not a cloud of raw points.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65760" y="16002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4C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point cloud processing pipeline: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137160" y="1920240"/>
            <a:ext cx="1600200" cy="731520"/>
          </a:xfrm>
          <a:prstGeom prst="rect">
            <a:avLst/>
          </a:prstGeom>
          <a:solidFill>
            <a:srgbClr val="6B7280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137160" y="1938528"/>
            <a:ext cx="160020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Raw Cloud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100K points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737360" y="2057400"/>
            <a:ext cx="182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1920240" y="1920240"/>
            <a:ext cx="1600200" cy="731520"/>
          </a:xfrm>
          <a:prstGeom prst="rect">
            <a:avLst/>
          </a:prstGeom>
          <a:solidFill>
            <a:srgbClr val="0D9488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1920240" y="1938528"/>
            <a:ext cx="160020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Downsample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(voxel grid)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520440" y="2057400"/>
            <a:ext cx="182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3703320" y="1920240"/>
            <a:ext cx="1600200" cy="731520"/>
          </a:xfrm>
          <a:prstGeom prst="rect">
            <a:avLst/>
          </a:prstGeom>
          <a:solidFill>
            <a:srgbClr val="3B82F6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703320" y="1938528"/>
            <a:ext cx="160020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Remove Ground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(RANSAC plane)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303520" y="2057400"/>
            <a:ext cx="182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5486400" y="1920240"/>
            <a:ext cx="1600200" cy="731520"/>
          </a:xfrm>
          <a:prstGeom prst="rect">
            <a:avLst/>
          </a:prstGeom>
          <a:solidFill>
            <a:srgbClr val="8B5CF6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5486400" y="1938528"/>
            <a:ext cx="160020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Cluster Objects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(Euclidean)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7086600" y="2057400"/>
            <a:ext cx="182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7269480" y="1920240"/>
            <a:ext cx="1600200" cy="731520"/>
          </a:xfrm>
          <a:prstGeom prst="rect">
            <a:avLst/>
          </a:prstGeom>
          <a:solidFill>
            <a:srgbClr val="10B981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7269480" y="1938528"/>
            <a:ext cx="160020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Bounding Boxes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(for planning)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65760" y="292608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step reduces data: 100K → 20K → 5K → 500 (3 clusters) → 3 bounding boxes. 33,000× data reduction!</a:t>
            </a:r>
            <a:endParaRPr lang="en-US" sz="12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0F2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F4C81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8288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by Step: What Each Operation Does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274320" y="731520"/>
            <a:ext cx="4114800" cy="1778506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731520"/>
            <a:ext cx="54864" cy="13716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7" name="Text 5"/>
          <p:cNvSpPr/>
          <p:nvPr/>
        </p:nvSpPr>
        <p:spPr>
          <a:xfrm>
            <a:off x="438912" y="786384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Voxel Grid Downsampling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38912" y="1078992"/>
            <a:ext cx="384048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Divide space into small cubes (voxels) e.g. 5cm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Replace all points in each voxel with ONE point (centroid)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100K → 20K points. Same shape, less data.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Reduces computation for all following steps.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663440" y="731519"/>
            <a:ext cx="4206240" cy="1778507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63440" y="731520"/>
            <a:ext cx="54864" cy="13716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1" name="Text 9"/>
          <p:cNvSpPr/>
          <p:nvPr/>
        </p:nvSpPr>
        <p:spPr>
          <a:xfrm>
            <a:off x="4828032" y="786384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Ground Plane Removal (RANSAC)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828032" y="1078992"/>
            <a:ext cx="393192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largest plane in the cloud = the floor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RANSAC: pick 3 random points → fit plane → count inliers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Repeat → keep best plane → remove its points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20K → 5K points. Floor is GONE, only obstacles remain.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74320" y="2838891"/>
            <a:ext cx="4114800" cy="1778508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74320" y="2838891"/>
            <a:ext cx="54864" cy="137160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5" name="Text 13"/>
          <p:cNvSpPr/>
          <p:nvPr/>
        </p:nvSpPr>
        <p:spPr>
          <a:xfrm>
            <a:off x="438912" y="2893755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Euclidean Clustering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38912" y="3186363"/>
            <a:ext cx="384048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Group nearby non-ground points into clusters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Points within distance d of each other = same object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cluster = one physical object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5K points → 3 clusters (wheelchair, cart, person)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663440" y="2838891"/>
            <a:ext cx="4206240" cy="1778508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663440" y="2838891"/>
            <a:ext cx="54864" cy="13716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9" name="Text 17"/>
          <p:cNvSpPr/>
          <p:nvPr/>
        </p:nvSpPr>
        <p:spPr>
          <a:xfrm>
            <a:off x="4828032" y="2893755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Bounding Box Fitting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828032" y="3186363"/>
            <a:ext cx="393192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each cluster: fit the smallest box that contains it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Output: position (x,y,z), dimensions (w,h,d)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is what the planner needs: obstacle position + size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clusters → 3 bounding boxes → 3 obstacles</a:t>
            </a:r>
            <a:endParaRPr lang="en-US" sz="12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0F2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F4C81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8288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Normal Estimation: Surface Orientation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365760" y="68580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Normals tell you which way a surface FACES — critical for SLAM and mapping.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" y="1051559"/>
            <a:ext cx="8595360" cy="940273"/>
          </a:xfrm>
          <a:prstGeom prst="rect">
            <a:avLst/>
          </a:prstGeom>
          <a:solidFill>
            <a:srgbClr val="EBF5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11480" y="1125632"/>
            <a:ext cx="8321040" cy="34564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each point: fit a small plane to its k nearest neighbors → normal = plane's perpendicular vector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11480" y="1491632"/>
            <a:ext cx="8321040" cy="42793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Floor normals point UP (0,0,1). Wall normals point SIDEWAYS (1,0,0 or 0,1,0).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ramp normal is tilted. Normal estimation distinguishes floor from wall from obstacle automatically.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74320" y="2103120"/>
            <a:ext cx="4114800" cy="1866368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74320" y="2103120"/>
            <a:ext cx="54864" cy="13716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1" name="Text 9"/>
          <p:cNvSpPr/>
          <p:nvPr/>
        </p:nvSpPr>
        <p:spPr>
          <a:xfrm>
            <a:off x="438912" y="2157984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normals matter: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38912" y="2450592"/>
            <a:ext cx="384048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MOD-09 Planning: is this surface driveable? (normal ≈ up → yes)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MOD-08 SLAM: align two scans using normal consistency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Obstacle detection: vertical normal → wall, tilted → ramp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Semantic: flat+up → floor, flat+sideways → wall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663440" y="2103119"/>
            <a:ext cx="4206240" cy="1866367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663440" y="2103120"/>
            <a:ext cx="54864" cy="1371600"/>
          </a:xfrm>
          <a:prstGeom prst="rect">
            <a:avLst/>
          </a:prstGeom>
          <a:solidFill>
            <a:srgbClr val="6B7280"/>
          </a:solidFill>
          <a:ln/>
        </p:spPr>
      </p:sp>
      <p:sp>
        <p:nvSpPr>
          <p:cNvPr id="15" name="Text 13"/>
          <p:cNvSpPr/>
          <p:nvPr/>
        </p:nvSpPr>
        <p:spPr>
          <a:xfrm>
            <a:off x="4828032" y="2157984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828032" y="2450592"/>
            <a:ext cx="393192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practice: PCL library (C++) or Open3D (Python)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ROS: pcl_ros package processes PointCloud2 messages</a:t>
            </a:r>
            <a:endParaRPr lang="en-US" sz="12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0F4C8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91440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BLOCK I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1371600"/>
            <a:ext cx="77724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Semantic Understanding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274320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B0C4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Beyond geometry: WHAT does the robot see?</a:t>
            </a:r>
            <a:endParaRPr lang="en-US" sz="15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0F2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F4C81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8288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PBL: Closed Door vs. Open Door — Same Shape, Different Meaning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274320" y="685800"/>
            <a:ext cx="8595360" cy="822960"/>
          </a:xfrm>
          <a:prstGeom prst="rect">
            <a:avLst/>
          </a:prstGeom>
          <a:solidFill>
            <a:srgbClr val="FFFBEB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685800"/>
            <a:ext cx="54864" cy="73152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758952"/>
            <a:ext cx="827532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PBL SCENARIO: </a:t>
            </a: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MediBot approaches Ward B. The LiDAR scan shows a rectangular gap in the wall. Is the door OPEN (can drive through) or CLOSED (must stop and wait)? Geometrically, both look similar. Only semantic understanding — knowing what a 'door' means — resolves this.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65760" y="16002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4C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Semantic understanding = assigning MEANING to perceived objects.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182880" y="1965960"/>
            <a:ext cx="2834640" cy="18288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182880" y="1965960"/>
            <a:ext cx="54864" cy="18288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020824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Classification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47472" y="2313432"/>
            <a:ext cx="256032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"What IS this object?"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label per image/region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"This is a wheelchair"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Simplest semantic task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154680" y="1965960"/>
            <a:ext cx="2834640" cy="18288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154680" y="1965960"/>
            <a:ext cx="54864" cy="182880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5" name="Text 13"/>
          <p:cNvSpPr/>
          <p:nvPr/>
        </p:nvSpPr>
        <p:spPr>
          <a:xfrm>
            <a:off x="3319272" y="2020824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 Detection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319272" y="2313432"/>
            <a:ext cx="256032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Classification + WHERE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Bounding box + class label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 err="1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E.g</a:t>
            </a: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"Wheelchair at (3.2, 1.5)"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126480" y="1965960"/>
            <a:ext cx="2834640" cy="18288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126480" y="1965960"/>
            <a:ext cx="54864" cy="18288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9" name="Text 17"/>
          <p:cNvSpPr/>
          <p:nvPr/>
        </p:nvSpPr>
        <p:spPr>
          <a:xfrm>
            <a:off x="6291072" y="2020824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Semantic Segmentation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291072" y="2313432"/>
            <a:ext cx="256032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PIXEL gets a label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</a:t>
            </a:r>
            <a:r>
              <a:rPr lang="en-US" sz="1200" dirty="0" err="1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e.g</a:t>
            </a: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floor or wall"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Dense understanding of scene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Most complete but most expensive</a:t>
            </a:r>
            <a:endParaRPr lang="en-US" sz="12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0F2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F4C81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8288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Semantics Help the Robot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34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274320" y="731520"/>
            <a:ext cx="4114800" cy="18288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731520"/>
            <a:ext cx="54864" cy="18288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7" name="Text 5"/>
          <p:cNvSpPr/>
          <p:nvPr/>
        </p:nvSpPr>
        <p:spPr>
          <a:xfrm>
            <a:off x="438912" y="786384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Semantic information enables: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38912" y="1078992"/>
            <a:ext cx="384048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"That's a DOOR → I can go through" (planning)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"That's a PERSON → yield and wait" (behavior)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"That's a SIGN → read the text" (localization)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"That's FLOOR → safe to drive" (costmap)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"That's GLASS → LiDAR </a:t>
            </a:r>
            <a:r>
              <a:rPr lang="cs-CZ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</a:t>
            </a: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fail" (sensor selection)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663440" y="731520"/>
            <a:ext cx="4206240" cy="18288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63440" y="731520"/>
            <a:ext cx="54864" cy="18288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1" name="Text 9"/>
          <p:cNvSpPr/>
          <p:nvPr/>
        </p:nvSpPr>
        <p:spPr>
          <a:xfrm>
            <a:off x="4828032" y="786384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Connection to MOD-09 Planning: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828032" y="1078992"/>
            <a:ext cx="393192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Semantic costmap layers: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Floor → FREE (cost = 0)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Wall → OCCUPIED (cost = infinity)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Person → HIGH COST (avoid but possible)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Door (open) → FREE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Door (closed) → OCCUPIED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planner uses these costs to find safe paths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65760" y="283464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Without semantics: robot treats everything as either 'obstacle' or 'free.' With semantics: nuanced decisions.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3291840"/>
            <a:ext cx="411480" cy="41148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3310128"/>
            <a:ext cx="411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960120" y="3310128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OPERATE: </a:t>
            </a: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practice: semantic segmentation runs on GPU. Classical robots use simpler classification. Choose based on compute budget.</a:t>
            </a:r>
            <a:endParaRPr lang="en-US" sz="12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0F4C8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91440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BLOCK J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1371600"/>
            <a:ext cx="77724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Perception in the</a:t>
            </a:r>
            <a:endParaRPr lang="en-US" sz="2800" dirty="0"/>
          </a:p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Autonomy Stack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274320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B0C4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perception connects to everything else</a:t>
            </a:r>
            <a:endParaRPr lang="en-US" sz="15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0F2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F4C81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8288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Perception: The Central Bridge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36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3200400" y="1371600"/>
            <a:ext cx="2743200" cy="1828800"/>
          </a:xfrm>
          <a:prstGeom prst="ellipse">
            <a:avLst/>
          </a:prstGeom>
          <a:solidFill>
            <a:srgbClr val="8B5CF6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200400" y="1737360"/>
            <a:ext cx="2743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PERCEPTION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(MOD-07)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274320" y="731520"/>
            <a:ext cx="2011680" cy="822960"/>
          </a:xfrm>
          <a:prstGeom prst="rect">
            <a:avLst/>
          </a:prstGeom>
          <a:solidFill>
            <a:srgbClr val="3B82F6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74320" y="7772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Sensors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(MOD-04)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400800" y="731520"/>
            <a:ext cx="2011680" cy="822960"/>
          </a:xfrm>
          <a:prstGeom prst="rect">
            <a:avLst/>
          </a:prstGeom>
          <a:solidFill>
            <a:srgbClr val="10B981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400800" y="7772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Localization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(MOD-06)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2926080"/>
            <a:ext cx="2011680" cy="822960"/>
          </a:xfrm>
          <a:prstGeom prst="rect">
            <a:avLst/>
          </a:prstGeom>
          <a:solidFill>
            <a:srgbClr val="0D9488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00800" y="297180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Planning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(MOD-09)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74320" y="2926080"/>
            <a:ext cx="2011680" cy="822960"/>
          </a:xfrm>
          <a:prstGeom prst="rect">
            <a:avLst/>
          </a:prstGeom>
          <a:solidFill>
            <a:srgbClr val="EF4444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274320" y="297180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SLAM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(MOD-08)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331720" y="1334386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raw data →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943600" y="1608706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landmarks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886184" y="26289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obstacles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2427768" y="2963294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features →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65760" y="402336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perception fails, EVERYTHING downstream fails. Robustness is critical.</a:t>
            </a:r>
            <a:endParaRPr lang="en-US" sz="12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0F2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F4C81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8288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Perception Fails — And How to Recover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37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274320" y="731519"/>
            <a:ext cx="4114800" cy="2458247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731520"/>
            <a:ext cx="54864" cy="201168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7" name="Text 5"/>
          <p:cNvSpPr/>
          <p:nvPr/>
        </p:nvSpPr>
        <p:spPr>
          <a:xfrm>
            <a:off x="438912" y="786384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perception failures: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38912" y="1078992"/>
            <a:ext cx="3840480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 detection fails: textureless surface → no features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→ VO fails, SLAM loses tracking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 detection fails: unusual object (never seen before)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→ planner doesn't know it's an obstacle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Point cloud fails: glass, rain, fog, dust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→ obstacles invisible in 3D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Semantic fails: novel scene (construction zone)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→ wrong labels → wrong decisions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663440" y="731520"/>
            <a:ext cx="4206240" cy="2458246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63440" y="731520"/>
            <a:ext cx="54864" cy="201168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1" name="Text 9"/>
          <p:cNvSpPr/>
          <p:nvPr/>
        </p:nvSpPr>
        <p:spPr>
          <a:xfrm>
            <a:off x="4828032" y="786384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Robustness strategies: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828032" y="1078992"/>
            <a:ext cx="3931920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Multi-sensor perception: camera + LiDAR + radar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(from MOD-04 fusion — same principle!)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Fallback modes: if detection fails, treat as obstacle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(conservative = safe)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Confidence thresholds: only act on high-confidence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detections (&gt;0.8 confidence)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Temporal consistency: object must be detected in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3+ consecutive frames to count (reduces false positives)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38912" y="3966051"/>
            <a:ext cx="411480" cy="41148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4" name="Text 12"/>
          <p:cNvSpPr/>
          <p:nvPr/>
        </p:nvSpPr>
        <p:spPr>
          <a:xfrm>
            <a:off x="438912" y="3984339"/>
            <a:ext cx="411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941832" y="3984339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OPERATE: </a:t>
            </a: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Perception is NOT 100% reliable. Design the system to degrade gracefully (based on sensor health monitoring).</a:t>
            </a:r>
            <a:endParaRPr lang="en-US" sz="12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0F2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F4C81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8288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Takeaways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228600" y="777240"/>
            <a:ext cx="2788920" cy="14630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38328" y="886968"/>
            <a:ext cx="411480" cy="411480"/>
          </a:xfrm>
          <a:prstGeom prst="ellipse">
            <a:avLst/>
          </a:prstGeom>
          <a:solidFill>
            <a:srgbClr val="0F4C81"/>
          </a:solidFill>
          <a:ln/>
        </p:spPr>
      </p:sp>
      <p:sp>
        <p:nvSpPr>
          <p:cNvPr id="7" name="Text 5"/>
          <p:cNvSpPr/>
          <p:nvPr/>
        </p:nvSpPr>
        <p:spPr>
          <a:xfrm>
            <a:off x="338328" y="905256"/>
            <a:ext cx="411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22960" y="886968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Pipeline matters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38328" y="137160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Sense → Preprocess → Detect → Classify → Interpret. Each stage adds value.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154680" y="777240"/>
            <a:ext cx="2788920" cy="14630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64408" y="886968"/>
            <a:ext cx="411480" cy="411480"/>
          </a:xfrm>
          <a:prstGeom prst="ellipse">
            <a:avLst/>
          </a:prstGeom>
          <a:solidFill>
            <a:srgbClr val="0F4C81"/>
          </a:solidFill>
          <a:ln/>
        </p:spPr>
      </p:sp>
      <p:sp>
        <p:nvSpPr>
          <p:cNvPr id="12" name="Text 10"/>
          <p:cNvSpPr/>
          <p:nvPr/>
        </p:nvSpPr>
        <p:spPr>
          <a:xfrm>
            <a:off x="3264408" y="905256"/>
            <a:ext cx="411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749040" y="886968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Features = identity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264408" y="137160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ORB/Harris detect, descriptors describe, RANSAC verifies.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080760" y="777240"/>
            <a:ext cx="2788920" cy="14630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190488" y="886968"/>
            <a:ext cx="411480" cy="411480"/>
          </a:xfrm>
          <a:prstGeom prst="ellipse">
            <a:avLst/>
          </a:prstGeom>
          <a:solidFill>
            <a:srgbClr val="0F4C81"/>
          </a:solidFill>
          <a:ln/>
        </p:spPr>
      </p:sp>
      <p:sp>
        <p:nvSpPr>
          <p:cNvPr id="17" name="Text 15"/>
          <p:cNvSpPr/>
          <p:nvPr/>
        </p:nvSpPr>
        <p:spPr>
          <a:xfrm>
            <a:off x="6190488" y="905256"/>
            <a:ext cx="411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675120" y="886968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 = camera odometry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190488" y="137160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Independent motion estimate from images. Drifts but complements IMU.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228600" y="2468880"/>
            <a:ext cx="2788920" cy="14630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38328" y="2578608"/>
            <a:ext cx="411480" cy="411480"/>
          </a:xfrm>
          <a:prstGeom prst="ellipse">
            <a:avLst/>
          </a:prstGeom>
          <a:solidFill>
            <a:srgbClr val="0F4C81"/>
          </a:solidFill>
          <a:ln/>
        </p:spPr>
      </p:sp>
      <p:sp>
        <p:nvSpPr>
          <p:cNvPr id="22" name="Text 20"/>
          <p:cNvSpPr/>
          <p:nvPr/>
        </p:nvSpPr>
        <p:spPr>
          <a:xfrm>
            <a:off x="338328" y="2596896"/>
            <a:ext cx="411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822960" y="2578608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Detection = actionable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38328" y="306324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Classical (Hough) for geometry, DL (YOLO) for objects. Use both.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3154680" y="2468880"/>
            <a:ext cx="2788920" cy="14630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264408" y="2578608"/>
            <a:ext cx="411480" cy="411480"/>
          </a:xfrm>
          <a:prstGeom prst="ellipse">
            <a:avLst/>
          </a:prstGeom>
          <a:solidFill>
            <a:srgbClr val="0F4C81"/>
          </a:solidFill>
          <a:ln/>
        </p:spPr>
      </p:sp>
      <p:sp>
        <p:nvSpPr>
          <p:cNvPr id="27" name="Text 25"/>
          <p:cNvSpPr/>
          <p:nvPr/>
        </p:nvSpPr>
        <p:spPr>
          <a:xfrm>
            <a:off x="3264408" y="2596896"/>
            <a:ext cx="411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3749040" y="2578608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Point clouds → objects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3264408" y="306324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Downsample → ground remove → cluster → bounding boxes.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6080760" y="2468880"/>
            <a:ext cx="2788920" cy="14630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190488" y="2578608"/>
            <a:ext cx="411480" cy="411480"/>
          </a:xfrm>
          <a:prstGeom prst="ellipse">
            <a:avLst/>
          </a:prstGeom>
          <a:solidFill>
            <a:srgbClr val="0F4C81"/>
          </a:solidFill>
          <a:ln/>
        </p:spPr>
      </p:sp>
      <p:sp>
        <p:nvSpPr>
          <p:cNvPr id="32" name="Text 30"/>
          <p:cNvSpPr/>
          <p:nvPr/>
        </p:nvSpPr>
        <p:spPr>
          <a:xfrm>
            <a:off x="6190488" y="2596896"/>
            <a:ext cx="411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6675120" y="2578608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Semantics = meaning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6190488" y="306324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Door=passable, wall=blocked, person=yield. Enables smart planning.</a:t>
            </a:r>
            <a:endParaRPr lang="en-US" sz="12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39">
    <p:bg>
      <p:bgPr>
        <a:solidFill>
          <a:srgbClr val="F0F2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F4C81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8288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Bridge to MOD-09: Planning &amp; Navigation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39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274320" y="731520"/>
            <a:ext cx="8595360" cy="13716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731520"/>
            <a:ext cx="54864" cy="13716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7" name="Text 5"/>
          <p:cNvSpPr/>
          <p:nvPr/>
        </p:nvSpPr>
        <p:spPr>
          <a:xfrm>
            <a:off x="438912" y="786384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MOD-07 provides → What MOD-09 needs: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38912" y="1078992"/>
            <a:ext cx="832104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MOD-07 provides: obstacle bounding boxes, free space map, semantic labels, visual odometry.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MOD-09 needs: "Given this map of obstacles, plan a safe path from A to B and avoid collisions."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MOD-07 answers WHERE things are. MOD-09 answers HOW to get past them.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obstacle map from point cloud processing feeds directly into the planning costmap.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29184" y="21717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4C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autonomy pipeline so far: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0040" y="2743200"/>
            <a:ext cx="1097280" cy="73152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1" name="Text 9"/>
          <p:cNvSpPr/>
          <p:nvPr/>
        </p:nvSpPr>
        <p:spPr>
          <a:xfrm>
            <a:off x="320040" y="2788920"/>
            <a:ext cx="1097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Sensors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(MOD-04)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417320" y="2880360"/>
            <a:ext cx="137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1536192" y="2743200"/>
            <a:ext cx="1097280" cy="73152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4" name="Text 12"/>
          <p:cNvSpPr/>
          <p:nvPr/>
        </p:nvSpPr>
        <p:spPr>
          <a:xfrm>
            <a:off x="1536192" y="2788920"/>
            <a:ext cx="1097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Probability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(MOD-05)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2633472" y="2880360"/>
            <a:ext cx="137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2752344" y="2743200"/>
            <a:ext cx="1097280" cy="7315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7" name="Text 15"/>
          <p:cNvSpPr/>
          <p:nvPr/>
        </p:nvSpPr>
        <p:spPr>
          <a:xfrm>
            <a:off x="2752344" y="2788920"/>
            <a:ext cx="1097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Localization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(MOD-06)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849624" y="2880360"/>
            <a:ext cx="137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968496" y="2743200"/>
            <a:ext cx="1097280" cy="73152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20" name="Text 18"/>
          <p:cNvSpPr/>
          <p:nvPr/>
        </p:nvSpPr>
        <p:spPr>
          <a:xfrm>
            <a:off x="3968496" y="2788920"/>
            <a:ext cx="1097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Perception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(MOD-07)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281928" y="2880360"/>
            <a:ext cx="137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400800" y="2743200"/>
            <a:ext cx="1097280" cy="7315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3" name="Text 21"/>
          <p:cNvSpPr/>
          <p:nvPr/>
        </p:nvSpPr>
        <p:spPr>
          <a:xfrm>
            <a:off x="6400800" y="2788920"/>
            <a:ext cx="1097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Planning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(MOD-09)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7498080" y="2880360"/>
            <a:ext cx="137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5166360" y="2743200"/>
            <a:ext cx="1097280" cy="73152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26" name="Text 24"/>
          <p:cNvSpPr/>
          <p:nvPr/>
        </p:nvSpPr>
        <p:spPr>
          <a:xfrm>
            <a:off x="5166360" y="2788920"/>
            <a:ext cx="1097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SLAM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(MOD-08)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263640" y="2880360"/>
            <a:ext cx="137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0F2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F4C81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8288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365760" y="777240"/>
            <a:ext cx="841248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Szeliski, R. (2022). Computer Vision: Algorithms and Applications, 2nd ed. Springer.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Hartley &amp; Zisserman (2004). Multiple View Geometry in Computer Vision. Cambridge.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Rublee et al. (2011). ORB: An Efficient Alternative to SIFT or SURF. ICCV.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Lowe, D.G. (2004). Distinctive Image Features from Scale-Invariant Keypoints. IJCV.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Redmon et al. (2016). You Only Look Once: Unified, Real-Time Object Detection. CVPR.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Fischler &amp; Bolles (1981). Random Sample Consensus (RANSAC). Communications of the ACM.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 Scaramuzza &amp; Fraundorfer (2011). Visual Odometry Tutorial. IEEE RAM. Parts I and II.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 Rusu &amp; Cousins (2011). 3D is here: Point Cloud Library (PCL). ICRA.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Next: MOD-09 — Planning &amp; Navigation (path planning, DWA, costmaps, Nav2)</a:t>
            </a:r>
            <a:endParaRPr lang="en-US" sz="12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-1371600"/>
            <a:ext cx="4572000" cy="4572000"/>
          </a:xfrm>
          <a:prstGeom prst="ellipse">
            <a:avLst/>
          </a:prstGeom>
          <a:solidFill>
            <a:srgbClr val="0F3045">
              <a:alpha val="5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371600" y="3200400"/>
            <a:ext cx="3657600" cy="3657600"/>
          </a:xfrm>
          <a:prstGeom prst="ellipse">
            <a:avLst/>
          </a:prstGeom>
          <a:solidFill>
            <a:srgbClr val="1A1040">
              <a:alpha val="5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3200400" y="914400"/>
            <a:ext cx="27432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?</a:t>
            </a:r>
            <a:endParaRPr lang="en-US" sz="1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4497</Words>
  <Application>Microsoft Office PowerPoint</Application>
  <PresentationFormat>On-screen Show (16:9)</PresentationFormat>
  <Paragraphs>721</Paragraphs>
  <Slides>42</Slides>
  <Notes>42</Notes>
  <HiddenSlides>2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42</vt:i4>
      </vt:variant>
    </vt:vector>
  </HeadingPairs>
  <TitlesOfParts>
    <vt:vector size="46" baseType="lpstr">
      <vt:lpstr>Arial</vt:lpstr>
      <vt:lpstr>Calibri</vt:lpstr>
      <vt:lpstr>Cambria Math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MOD-07: Robot Perception</dc:title>
  <dc:subject>PptxGenJS Presentation</dc:subject>
  <dc:creator>Dr. Ahmad Abbadi</dc:creator>
  <cp:lastModifiedBy>Ahmad Abbadi</cp:lastModifiedBy>
  <cp:revision>32</cp:revision>
  <dcterms:created xsi:type="dcterms:W3CDTF">2026-03-12T00:30:10Z</dcterms:created>
  <dcterms:modified xsi:type="dcterms:W3CDTF">2026-06-08T07:52:24Z</dcterms:modified>
</cp:coreProperties>
</file>