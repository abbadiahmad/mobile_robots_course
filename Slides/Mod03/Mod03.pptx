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41"/>
  </p:notesMasterIdLst>
  <p:sldIdLst>
    <p:sldId id="256" r:id="rId2"/>
    <p:sldId id="302" r:id="rId3"/>
    <p:sldId id="303" r:id="rId4"/>
    <p:sldId id="307" r:id="rId5"/>
    <p:sldId id="308" r:id="rId6"/>
    <p:sldId id="283" r:id="rId7"/>
    <p:sldId id="284" r:id="rId8"/>
    <p:sldId id="279" r:id="rId9"/>
    <p:sldId id="280" r:id="rId10"/>
    <p:sldId id="282" r:id="rId11"/>
    <p:sldId id="285" r:id="rId12"/>
    <p:sldId id="287" r:id="rId13"/>
    <p:sldId id="288" r:id="rId14"/>
    <p:sldId id="289" r:id="rId15"/>
    <p:sldId id="291" r:id="rId16"/>
    <p:sldId id="296" r:id="rId17"/>
    <p:sldId id="297" r:id="rId18"/>
    <p:sldId id="298" r:id="rId19"/>
    <p:sldId id="295" r:id="rId20"/>
    <p:sldId id="299" r:id="rId21"/>
    <p:sldId id="304" r:id="rId22"/>
    <p:sldId id="305" r:id="rId23"/>
    <p:sldId id="309" r:id="rId24"/>
    <p:sldId id="306" r:id="rId25"/>
    <p:sldId id="311" r:id="rId26"/>
    <p:sldId id="310" r:id="rId27"/>
    <p:sldId id="312" r:id="rId28"/>
    <p:sldId id="313" r:id="rId29"/>
    <p:sldId id="301" r:id="rId30"/>
    <p:sldId id="315" r:id="rId31"/>
    <p:sldId id="314" r:id="rId32"/>
    <p:sldId id="317" r:id="rId33"/>
    <p:sldId id="318" r:id="rId34"/>
    <p:sldId id="316" r:id="rId35"/>
    <p:sldId id="319" r:id="rId36"/>
    <p:sldId id="320" r:id="rId37"/>
    <p:sldId id="300" r:id="rId38"/>
    <p:sldId id="277" r:id="rId39"/>
    <p:sldId id="278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23" autoAdjust="0"/>
  </p:normalViewPr>
  <p:slideViewPr>
    <p:cSldViewPr snapToGrid="0" snapToObjects="1">
      <p:cViewPr varScale="1">
        <p:scale>
          <a:sx n="91" d="100"/>
          <a:sy n="91" d="100"/>
        </p:scale>
        <p:origin x="113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3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0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7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1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1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15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82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08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53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96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35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65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520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77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xtbooks.clemson.edu/wangrobotics/chapter/forward-kinematic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www.roboticsbook.org/S52_diffdrive_actions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boticsbook.org/S52_diffdrive_actions.html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boticsbook.org/S52_diffdrive_actions.html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www.roboticsbook.org/S52_diffdrive_action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hyperlink" Target="https://www.roboticsbook.org/S52_diffdrive_actions.html" TargetMode="Externa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  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Kinematics</a:t>
            </a:r>
            <a:br>
              <a:rPr lang="en-US" sz="3600" dirty="0"/>
            </a:b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Motion Models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By Dr. Ahmad Abbadi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ECB9-45D2-4822-8A7D-17BCDBEE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62AF-B7EA-42D9-BAA4-64FB1630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company wants to build a </a:t>
            </a:r>
            <a:r>
              <a:rPr lang="en-US" b="1" dirty="0"/>
              <a:t>warehouse delivery robot</a:t>
            </a:r>
            <a:r>
              <a:rPr lang="en-US" dirty="0"/>
              <a:t> that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between shelves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carry packages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 its position without GPS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slipping when carrying heavy loads</a:t>
            </a:r>
          </a:p>
          <a:p>
            <a:pPr marL="0" indent="0">
              <a:buNone/>
            </a:pPr>
            <a:r>
              <a:rPr lang="en-US" b="1" dirty="0"/>
              <a:t>The robot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drive in narrow aisles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at intersections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 its position accurately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316FD-B5B9-41BA-B484-77FC588A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D3055-9D04-4D9C-B393-DB208A2C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31037F-1D80-4D85-B24E-C6439EB2A4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09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ECB9-45D2-4822-8A7D-17BCDBEE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62AF-B7EA-42D9-BAA4-64FB1630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How should we mathematically describe the robot motion?</a:t>
            </a:r>
          </a:p>
          <a:p>
            <a:r>
              <a:rPr lang="en-US" dirty="0"/>
              <a:t>What motion is physically possible for wheeled robots?</a:t>
            </a:r>
          </a:p>
          <a:p>
            <a:r>
              <a:rPr lang="en-US" dirty="0"/>
              <a:t>How do we plan motion that respects these limits?</a:t>
            </a:r>
          </a:p>
          <a:p>
            <a:r>
              <a:rPr lang="en-US" dirty="0"/>
              <a:t>How can the robot estimate where it is?</a:t>
            </a:r>
          </a:p>
          <a:p>
            <a:r>
              <a:rPr lang="en-US" dirty="0"/>
              <a:t>What happens if wheels slip?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316FD-B5B9-41BA-B484-77FC588A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D3055-9D04-4D9C-B393-DB208A2C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31037F-1D80-4D85-B24E-C6439EB2A4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4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B21F-2AA4-4D28-8AB1-DDB0810E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6A75F-1D01-457E-88F2-43E371645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robot moving across a warehouse floor has freedom to translate and to rotate. </a:t>
            </a:r>
          </a:p>
          <a:p>
            <a:r>
              <a:rPr lang="en-US" dirty="0"/>
              <a:t>we need a precise mathematical relationship between </a:t>
            </a:r>
          </a:p>
          <a:p>
            <a:pPr lvl="1"/>
            <a:r>
              <a:rPr lang="en-US" dirty="0"/>
              <a:t>what we </a:t>
            </a:r>
            <a:r>
              <a:rPr lang="en-US" i="1" dirty="0"/>
              <a:t>control</a:t>
            </a:r>
            <a:r>
              <a:rPr lang="en-US" dirty="0"/>
              <a:t> (the wheel motors) and </a:t>
            </a:r>
          </a:p>
          <a:p>
            <a:pPr lvl="1"/>
            <a:r>
              <a:rPr lang="en-US" dirty="0"/>
              <a:t>what we </a:t>
            </a:r>
            <a:r>
              <a:rPr lang="en-US" i="1" dirty="0"/>
              <a:t>observe</a:t>
            </a:r>
            <a:r>
              <a:rPr lang="en-US" dirty="0"/>
              <a:t> (the robot's position and orientation in the warehouse).</a:t>
            </a:r>
          </a:p>
          <a:p>
            <a:r>
              <a:rPr lang="en-US" dirty="0"/>
              <a:t>This relationship is called the </a:t>
            </a:r>
            <a:r>
              <a:rPr lang="en-US" b="1" dirty="0"/>
              <a:t>kinematic model</a:t>
            </a:r>
            <a:r>
              <a:rPr lang="en-US" dirty="0"/>
              <a:t>. </a:t>
            </a:r>
          </a:p>
          <a:p>
            <a:r>
              <a:rPr lang="en-US" dirty="0"/>
              <a:t>Without it, </a:t>
            </a:r>
          </a:p>
          <a:p>
            <a:pPr lvl="1"/>
            <a:r>
              <a:rPr lang="en-US" dirty="0"/>
              <a:t>every command we send would be a guess, </a:t>
            </a:r>
          </a:p>
          <a:p>
            <a:pPr lvl="1"/>
            <a:r>
              <a:rPr lang="en-US" dirty="0"/>
              <a:t>we could not predict the robot's path, plan collision-free trajectories, </a:t>
            </a:r>
          </a:p>
          <a:p>
            <a:pPr lvl="1"/>
            <a:r>
              <a:rPr lang="en-US" dirty="0"/>
              <a:t>or estimate the robot's position from sensor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C9F1E-4C98-4D32-810A-4CB12458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DFD57-4C30-4535-80CF-E3C6F72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F733AE-CDB9-4127-BBA2-4954457F7F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0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9CF2-BBDE-4ED8-BE5B-09E5414B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033E3-0B9B-4A08-A338-AAE0BE23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Lets divide the problem into smaller ones and think systematically.</a:t>
            </a:r>
          </a:p>
          <a:p>
            <a:endParaRPr lang="en-US" dirty="0"/>
          </a:p>
          <a:p>
            <a:r>
              <a:rPr lang="en-US" dirty="0"/>
              <a:t>First: what is the robot references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452E5-07B0-4E5B-BF87-2E7F3EEF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65185-4FFF-429F-91EA-000A0076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DAD558-794C-4716-890A-3598F6F654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CE8D-C092-45B1-9500-8F9B958B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Frame Coordination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2635-199E-46B1-8498-0A8BE824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Scene: A Warehouse AMR detects a shelf at [1.0,0.5] in its LIDAR frame. The robot is currently at [10.0,5.0,π/4] in the Global Map frame.</a:t>
            </a:r>
          </a:p>
          <a:p>
            <a:r>
              <a:rPr lang="en-US" sz="1800" dirty="0"/>
              <a:t>The Problem: The central server needs to update the shelf's position on the global map.</a:t>
            </a:r>
          </a:p>
          <a:p>
            <a:r>
              <a:rPr lang="en-US" sz="1800" dirty="0"/>
              <a:t>The Challenge: </a:t>
            </a:r>
          </a:p>
          <a:p>
            <a:pPr marL="457200" lvl="1" indent="0">
              <a:buNone/>
            </a:pPr>
            <a:r>
              <a:rPr lang="en-US" sz="1600" b="1" dirty="0"/>
              <a:t>How do we communicate "where things are" across multiple moving frames of reference (Robot, Sensor, Map) without losing accuracy?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DC85-43B0-4C1B-AA93-B4033020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B8908-BB33-4A81-94DC-A8AAD3C4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B2BF20-F6C1-414B-9F7F-62F1930A3A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F33E40-DD07-4830-A65A-E8C5E356CD25}"/>
              </a:ext>
            </a:extLst>
          </p:cNvPr>
          <p:cNvGrpSpPr/>
          <p:nvPr/>
        </p:nvGrpSpPr>
        <p:grpSpPr>
          <a:xfrm>
            <a:off x="4888310" y="2835479"/>
            <a:ext cx="4056287" cy="2104159"/>
            <a:chOff x="832539" y="2470858"/>
            <a:chExt cx="4056287" cy="2104159"/>
          </a:xfrm>
        </p:grpSpPr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C1A50D9E-C2D9-488F-A877-CFCBAEE2769F}"/>
                </a:ext>
              </a:extLst>
            </p:cNvPr>
            <p:cNvSpPr/>
            <p:nvPr/>
          </p:nvSpPr>
          <p:spPr>
            <a:xfrm rot="206985">
              <a:off x="2251215" y="3459743"/>
              <a:ext cx="834437" cy="719964"/>
            </a:xfrm>
            <a:prstGeom prst="cube">
              <a:avLst>
                <a:gd name="adj" fmla="val 556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5AAE13B-A4C6-4E09-9DA1-37746DC9DCD4}"/>
                </a:ext>
              </a:extLst>
            </p:cNvPr>
            <p:cNvGrpSpPr/>
            <p:nvPr/>
          </p:nvGrpSpPr>
          <p:grpSpPr>
            <a:xfrm rot="21391549">
              <a:off x="2186460" y="2904479"/>
              <a:ext cx="1635904" cy="1568811"/>
              <a:chOff x="859600" y="2246720"/>
              <a:chExt cx="1635904" cy="1568811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5CCB602-C07E-4B82-B4EE-B3EAE089342B}"/>
                  </a:ext>
                </a:extLst>
              </p:cNvPr>
              <p:cNvGrpSpPr/>
              <p:nvPr/>
            </p:nvGrpSpPr>
            <p:grpSpPr>
              <a:xfrm>
                <a:off x="859600" y="2246720"/>
                <a:ext cx="1635904" cy="1568811"/>
                <a:chOff x="1262935" y="2062162"/>
                <a:chExt cx="1635904" cy="1568811"/>
              </a:xfrm>
            </p:grpSpPr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9F9694B-D4DD-4E18-AA55-DB96165B38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87782151-52BE-46FA-AC70-51FEEB145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V="1">
                  <a:off x="1858104" y="2062162"/>
                  <a:ext cx="13548" cy="967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32CA52D1-F76D-4450-8B9B-772BAC5AD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73ABA41-0195-4D9C-828C-19E69418120D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CBAC5B1-D37C-476C-93B2-CCC410FA0354}"/>
                </a:ext>
              </a:extLst>
            </p:cNvPr>
            <p:cNvGrpSpPr/>
            <p:nvPr/>
          </p:nvGrpSpPr>
          <p:grpSpPr>
            <a:xfrm>
              <a:off x="1259083" y="2470858"/>
              <a:ext cx="1644243" cy="1683091"/>
              <a:chOff x="1106683" y="2318458"/>
              <a:chExt cx="1644243" cy="1683091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4AD32E9-E13D-43BA-9F34-E5CB885ECE3B}"/>
                  </a:ext>
                </a:extLst>
              </p:cNvPr>
              <p:cNvGrpSpPr/>
              <p:nvPr/>
            </p:nvGrpSpPr>
            <p:grpSpPr>
              <a:xfrm>
                <a:off x="1106683" y="2318458"/>
                <a:ext cx="1644243" cy="1683091"/>
                <a:chOff x="1510018" y="2133900"/>
                <a:chExt cx="1644243" cy="1683091"/>
              </a:xfrm>
            </p:grpSpPr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975A5196-B8BF-4208-A6F0-BD58DEF3C2FA}"/>
                    </a:ext>
                  </a:extLst>
                </p:cNvPr>
                <p:cNvCxnSpPr/>
                <p:nvPr/>
              </p:nvCxnSpPr>
              <p:spPr>
                <a:xfrm>
                  <a:off x="1828800" y="3028426"/>
                  <a:ext cx="132546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5F679754-C961-4FFD-B823-D7A66B09C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28800" y="2133900"/>
                  <a:ext cx="0" cy="8945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65156C7E-95E4-4EC7-9E87-E1FBA9C9D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0018" y="3028426"/>
                  <a:ext cx="318783" cy="788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68BA970-DA0A-4CA1-A502-BED076EC34FA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94422842-6C85-4CB6-BE0B-8AC50C167072}"/>
                </a:ext>
              </a:extLst>
            </p:cNvPr>
            <p:cNvSpPr/>
            <p:nvPr/>
          </p:nvSpPr>
          <p:spPr>
            <a:xfrm>
              <a:off x="2459291" y="3673767"/>
              <a:ext cx="142948" cy="16370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CBC2B83-64FC-45C6-B8FA-EF6FEB38F73F}"/>
                </a:ext>
              </a:extLst>
            </p:cNvPr>
            <p:cNvGrpSpPr/>
            <p:nvPr/>
          </p:nvGrpSpPr>
          <p:grpSpPr>
            <a:xfrm rot="21391549">
              <a:off x="1936862" y="2768233"/>
              <a:ext cx="1635904" cy="1535756"/>
              <a:chOff x="859600" y="2279775"/>
              <a:chExt cx="1635904" cy="153575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81D6A6D-479B-41C2-AB16-5026BE4DCC83}"/>
                  </a:ext>
                </a:extLst>
              </p:cNvPr>
              <p:cNvGrpSpPr/>
              <p:nvPr/>
            </p:nvGrpSpPr>
            <p:grpSpPr>
              <a:xfrm>
                <a:off x="859600" y="2279775"/>
                <a:ext cx="1635904" cy="1535756"/>
                <a:chOff x="1262935" y="2095217"/>
                <a:chExt cx="1635904" cy="1535756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C9191308-2DD6-4265-BC45-F547837900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8DE0FCA7-63F1-4CBA-A5B9-9CBAA750F7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V="1">
                  <a:off x="1857101" y="2095217"/>
                  <a:ext cx="5101" cy="93422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9BD25C66-01F5-4E81-AEF8-54C39CF05B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42789B4-1764-494E-8893-3B457F210795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914072-6C44-4D95-B793-554C6CBFF8EE}"/>
                </a:ext>
              </a:extLst>
            </p:cNvPr>
            <p:cNvSpPr txBox="1"/>
            <p:nvPr/>
          </p:nvSpPr>
          <p:spPr>
            <a:xfrm>
              <a:off x="832539" y="2996053"/>
              <a:ext cx="1234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Base frame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F8F9FD-14BE-4D50-98B0-40A432F066FD}"/>
                </a:ext>
              </a:extLst>
            </p:cNvPr>
            <p:cNvSpPr txBox="1"/>
            <p:nvPr/>
          </p:nvSpPr>
          <p:spPr>
            <a:xfrm>
              <a:off x="2599659" y="3928686"/>
              <a:ext cx="8002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Robot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AD49274-1FC2-47A9-AD08-BCAD0C8F48F0}"/>
                </a:ext>
              </a:extLst>
            </p:cNvPr>
            <p:cNvSpPr txBox="1"/>
            <p:nvPr/>
          </p:nvSpPr>
          <p:spPr>
            <a:xfrm>
              <a:off x="1727352" y="3499586"/>
              <a:ext cx="8723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Sensor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18" name="Flowchart: Data 17">
              <a:extLst>
                <a:ext uri="{FF2B5EF4-FFF2-40B4-BE49-F238E27FC236}">
                  <a16:creationId xmlns:a16="http://schemas.microsoft.com/office/drawing/2014/main" id="{D4830AEE-A8C4-427B-9429-667402507331}"/>
                </a:ext>
              </a:extLst>
            </p:cNvPr>
            <p:cNvSpPr/>
            <p:nvPr/>
          </p:nvSpPr>
          <p:spPr>
            <a:xfrm rot="21055302">
              <a:off x="4212198" y="3498205"/>
              <a:ext cx="676628" cy="899176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45C952F-83A3-4A19-BCE9-4DC0EB60BEB9}"/>
                </a:ext>
              </a:extLst>
            </p:cNvPr>
            <p:cNvCxnSpPr/>
            <p:nvPr/>
          </p:nvCxnSpPr>
          <p:spPr>
            <a:xfrm flipV="1">
              <a:off x="2602239" y="3673767"/>
              <a:ext cx="1671567" cy="42647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A11C4A-8C22-4B8A-B849-D72D505F6C59}"/>
                </a:ext>
              </a:extLst>
            </p:cNvPr>
            <p:cNvSpPr txBox="1"/>
            <p:nvPr/>
          </p:nvSpPr>
          <p:spPr>
            <a:xfrm>
              <a:off x="3693327" y="3609650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1m</a:t>
              </a:r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6A2CA1D-62B4-4F94-9987-BADDDE7B8926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1627209" y="3408115"/>
              <a:ext cx="2646597" cy="24593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859D67-0F82-42BA-AE6D-2C7F41AE2FD2}"/>
              </a:ext>
            </a:extLst>
          </p:cNvPr>
          <p:cNvGrpSpPr/>
          <p:nvPr/>
        </p:nvGrpSpPr>
        <p:grpSpPr>
          <a:xfrm>
            <a:off x="170384" y="3296827"/>
            <a:ext cx="3785616" cy="457200"/>
            <a:chOff x="-756103" y="1610229"/>
            <a:chExt cx="3785616" cy="457200"/>
          </a:xfrm>
        </p:grpSpPr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80FB0169-0194-4C9A-BFD9-B6F700A2220D}"/>
                </a:ext>
              </a:extLst>
            </p:cNvPr>
            <p:cNvSpPr/>
            <p:nvPr/>
          </p:nvSpPr>
          <p:spPr>
            <a:xfrm>
              <a:off x="-756103" y="1610229"/>
              <a:ext cx="1828800" cy="457200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B553F900-5A8D-4866-B925-423EA394D94B}"/>
                </a:ext>
              </a:extLst>
            </p:cNvPr>
            <p:cNvSpPr/>
            <p:nvPr/>
          </p:nvSpPr>
          <p:spPr>
            <a:xfrm>
              <a:off x="-756103" y="1610229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{W} World Frame</a:t>
              </a:r>
              <a:endParaRPr lang="en-US" sz="1000" dirty="0"/>
            </a:p>
          </p:txBody>
        </p:sp>
        <p:sp>
          <p:nvSpPr>
            <p:cNvPr id="42" name="Shape 10">
              <a:extLst>
                <a:ext uri="{FF2B5EF4-FFF2-40B4-BE49-F238E27FC236}">
                  <a16:creationId xmlns:a16="http://schemas.microsoft.com/office/drawing/2014/main" id="{BF697FFF-3338-4A11-9C5A-D124DF817C57}"/>
                </a:ext>
              </a:extLst>
            </p:cNvPr>
            <p:cNvSpPr/>
            <p:nvPr/>
          </p:nvSpPr>
          <p:spPr>
            <a:xfrm>
              <a:off x="1109273" y="1610229"/>
              <a:ext cx="1920240" cy="457200"/>
            </a:xfrm>
            <a:prstGeom prst="rect">
              <a:avLst/>
            </a:prstGeom>
            <a:solidFill>
              <a:srgbClr val="EBF5FF"/>
            </a:solidFill>
            <a:ln w="12700">
              <a:solidFill>
                <a:srgbClr val="BBDDFF"/>
              </a:solidFill>
              <a:prstDash val="solid"/>
            </a:ln>
          </p:spPr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8BF13454-4DE0-4D43-AC39-A74D00713F41}"/>
                </a:ext>
              </a:extLst>
            </p:cNvPr>
            <p:cNvSpPr/>
            <p:nvPr/>
          </p:nvSpPr>
          <p:spPr>
            <a:xfrm>
              <a:off x="1200713" y="1646805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 to warehouse. Origin at corner. X = aisle direction. NEVER changes.</a:t>
              </a:r>
              <a:endParaRPr lang="en-US" sz="95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16F3D7-821A-4FA5-951A-7F63FEB178D3}"/>
              </a:ext>
            </a:extLst>
          </p:cNvPr>
          <p:cNvGrpSpPr/>
          <p:nvPr/>
        </p:nvGrpSpPr>
        <p:grpSpPr>
          <a:xfrm>
            <a:off x="170384" y="3804660"/>
            <a:ext cx="3785616" cy="457200"/>
            <a:chOff x="-756103" y="2597781"/>
            <a:chExt cx="3785616" cy="457200"/>
          </a:xfrm>
        </p:grpSpPr>
        <p:sp>
          <p:nvSpPr>
            <p:cNvPr id="44" name="Shape 12">
              <a:extLst>
                <a:ext uri="{FF2B5EF4-FFF2-40B4-BE49-F238E27FC236}">
                  <a16:creationId xmlns:a16="http://schemas.microsoft.com/office/drawing/2014/main" id="{A503AB9B-B6FD-4B60-8636-06352D8AFA7A}"/>
                </a:ext>
              </a:extLst>
            </p:cNvPr>
            <p:cNvSpPr/>
            <p:nvPr/>
          </p:nvSpPr>
          <p:spPr>
            <a:xfrm>
              <a:off x="-756103" y="2597781"/>
              <a:ext cx="1828800" cy="45720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F22C60FA-DECA-4D07-B04E-95118C355843}"/>
                </a:ext>
              </a:extLst>
            </p:cNvPr>
            <p:cNvSpPr/>
            <p:nvPr/>
          </p:nvSpPr>
          <p:spPr>
            <a:xfrm>
              <a:off x="-756103" y="2597781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{R} Robot Body Frame</a:t>
              </a:r>
              <a:endParaRPr lang="en-US" sz="1000" dirty="0"/>
            </a:p>
          </p:txBody>
        </p:sp>
        <p:sp>
          <p:nvSpPr>
            <p:cNvPr id="46" name="Shape 14">
              <a:extLst>
                <a:ext uri="{FF2B5EF4-FFF2-40B4-BE49-F238E27FC236}">
                  <a16:creationId xmlns:a16="http://schemas.microsoft.com/office/drawing/2014/main" id="{8A3BB154-FED6-419F-B0DB-E6B7420D4042}"/>
                </a:ext>
              </a:extLst>
            </p:cNvPr>
            <p:cNvSpPr/>
            <p:nvPr/>
          </p:nvSpPr>
          <p:spPr>
            <a:xfrm>
              <a:off x="1109273" y="2597781"/>
              <a:ext cx="1920240" cy="457200"/>
            </a:xfrm>
            <a:prstGeom prst="rect">
              <a:avLst/>
            </a:prstGeom>
            <a:solidFill>
              <a:srgbClr val="EBF5FF"/>
            </a:solidFill>
            <a:ln w="12700">
              <a:solidFill>
                <a:srgbClr val="BBDDFF"/>
              </a:solidFill>
              <a:prstDash val="solid"/>
            </a:ln>
          </p:spPr>
        </p: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A6585C8F-8FE2-4F7D-8E91-CDCB473D0E4E}"/>
                </a:ext>
              </a:extLst>
            </p:cNvPr>
            <p:cNvSpPr/>
            <p:nvPr/>
          </p:nvSpPr>
          <p:spPr>
            <a:xfrm>
              <a:off x="1200713" y="2634357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Origin at robot center. Moves with robot. Forward = +X, Left = +Y.</a:t>
              </a:r>
              <a:endParaRPr lang="en-US" sz="9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D3C41C6-63C8-4AFD-8DCD-A758B89E0173}"/>
              </a:ext>
            </a:extLst>
          </p:cNvPr>
          <p:cNvGrpSpPr/>
          <p:nvPr/>
        </p:nvGrpSpPr>
        <p:grpSpPr>
          <a:xfrm>
            <a:off x="170384" y="4312415"/>
            <a:ext cx="3785616" cy="457200"/>
            <a:chOff x="-756103" y="3585333"/>
            <a:chExt cx="3785616" cy="457200"/>
          </a:xfrm>
        </p:grpSpPr>
        <p:sp>
          <p:nvSpPr>
            <p:cNvPr id="48" name="Shape 16">
              <a:extLst>
                <a:ext uri="{FF2B5EF4-FFF2-40B4-BE49-F238E27FC236}">
                  <a16:creationId xmlns:a16="http://schemas.microsoft.com/office/drawing/2014/main" id="{AD682597-7B14-4CAB-8B21-9D0BECE7CDD7}"/>
                </a:ext>
              </a:extLst>
            </p:cNvPr>
            <p:cNvSpPr/>
            <p:nvPr/>
          </p:nvSpPr>
          <p:spPr>
            <a:xfrm>
              <a:off x="-756103" y="3585333"/>
              <a:ext cx="1828800" cy="45720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EF21CC1A-5101-4E7F-982B-755FBFA06522}"/>
                </a:ext>
              </a:extLst>
            </p:cNvPr>
            <p:cNvSpPr/>
            <p:nvPr/>
          </p:nvSpPr>
          <p:spPr>
            <a:xfrm>
              <a:off x="-756103" y="3585333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{S} Sensor Frame</a:t>
              </a:r>
              <a:endParaRPr lang="en-US" sz="1000" dirty="0"/>
            </a:p>
          </p:txBody>
        </p:sp>
        <p:sp>
          <p:nvSpPr>
            <p:cNvPr id="50" name="Shape 18">
              <a:extLst>
                <a:ext uri="{FF2B5EF4-FFF2-40B4-BE49-F238E27FC236}">
                  <a16:creationId xmlns:a16="http://schemas.microsoft.com/office/drawing/2014/main" id="{10CF3803-FE81-4A1A-944B-F982679D1805}"/>
                </a:ext>
              </a:extLst>
            </p:cNvPr>
            <p:cNvSpPr/>
            <p:nvPr/>
          </p:nvSpPr>
          <p:spPr>
            <a:xfrm>
              <a:off x="1109273" y="3585333"/>
              <a:ext cx="1920240" cy="457200"/>
            </a:xfrm>
            <a:prstGeom prst="rect">
              <a:avLst/>
            </a:prstGeom>
            <a:solidFill>
              <a:srgbClr val="EBF5FF"/>
            </a:solidFill>
            <a:ln w="12700">
              <a:solidFill>
                <a:srgbClr val="BBDDFF"/>
              </a:solidFill>
              <a:prstDash val="solid"/>
            </a:ln>
          </p:spPr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A1639A65-C1EE-4116-BF71-9877A771DC28}"/>
                </a:ext>
              </a:extLst>
            </p:cNvPr>
            <p:cNvSpPr/>
            <p:nvPr/>
          </p:nvSpPr>
          <p:spPr>
            <a:xfrm>
              <a:off x="1200713" y="3621909"/>
              <a:ext cx="17830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 to LIDAR mount. Static relative to {R}. Encoded in URDF.</a:t>
              </a: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674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49A7-2681-4A7C-BEB9-7D38BCB9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r>
              <a:rPr lang="en-US" dirty="0"/>
              <a:t>H</a:t>
            </a:r>
            <a:r>
              <a:rPr lang="en-US" b="1" dirty="0"/>
              <a:t>omogeneous Transforms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5D07-9E70-419D-B97C-AD38BE5C1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Core Concept: Representing a pose as a single matrix that encodes both translation and rotation.</a:t>
            </a:r>
          </a:p>
          <a:p>
            <a:r>
              <a:rPr lang="en-US" sz="1800" dirty="0"/>
              <a:t>The Tool: The Special Euclidean Group SE(2) for planar motion.</a:t>
            </a:r>
          </a:p>
          <a:p>
            <a:r>
              <a:rPr lang="en-US" sz="1800" dirty="0"/>
              <a:t>Industry Standard: ROS TF2 (Transform Library) which automates the "Tree" of these matrices across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795A-F622-411B-B79A-70DBD6E2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0B8E0-7855-4470-8A64-EBAACF8A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12F3B1-D1A2-49ED-BB9A-2BAB658B06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9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Translation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x_</a:t>
            </a:r>
            <a:r>
              <a:rPr lang="cs-CZ" dirty="0"/>
              <a:t>new = x_old + T_x</a:t>
            </a:r>
          </a:p>
          <a:p>
            <a:r>
              <a:rPr lang="cs-CZ" dirty="0"/>
              <a:t>y</a:t>
            </a:r>
            <a:r>
              <a:rPr lang="en-US" dirty="0"/>
              <a:t>_</a:t>
            </a:r>
            <a:r>
              <a:rPr lang="cs-CZ" dirty="0"/>
              <a:t>new = y_old + T_y</a:t>
            </a:r>
          </a:p>
          <a:p>
            <a:r>
              <a:rPr lang="cs-CZ" dirty="0"/>
              <a:t>z</a:t>
            </a:r>
            <a:r>
              <a:rPr lang="en-US" dirty="0"/>
              <a:t>_</a:t>
            </a:r>
            <a:r>
              <a:rPr lang="cs-CZ" dirty="0"/>
              <a:t>new = z_old + T_z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55F99-4463-4CB7-A3EA-F0578813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08EA037-C581-458E-AB89-0B633E396B36}"/>
              </a:ext>
            </a:extLst>
          </p:cNvPr>
          <p:cNvGrpSpPr/>
          <p:nvPr/>
        </p:nvGrpSpPr>
        <p:grpSpPr>
          <a:xfrm>
            <a:off x="1737256" y="2625648"/>
            <a:ext cx="1644243" cy="1946246"/>
            <a:chOff x="1106683" y="2055303"/>
            <a:chExt cx="1644243" cy="194624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D6DDEA-1BD1-4E18-A16B-EEB7777A6FCE}"/>
                </a:ext>
              </a:extLst>
            </p:cNvPr>
            <p:cNvGrpSpPr/>
            <p:nvPr/>
          </p:nvGrpSpPr>
          <p:grpSpPr>
            <a:xfrm>
              <a:off x="1106683" y="2055303"/>
              <a:ext cx="1644243" cy="1946246"/>
              <a:chOff x="1510018" y="1870745"/>
              <a:chExt cx="1644243" cy="1946246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3F25AF16-11C2-4529-91A4-21FFB1AB46E6}"/>
                  </a:ext>
                </a:extLst>
              </p:cNvPr>
              <p:cNvCxnSpPr/>
              <p:nvPr/>
            </p:nvCxnSpPr>
            <p:spPr>
              <a:xfrm>
                <a:off x="1828800" y="3028426"/>
                <a:ext cx="132546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9A98C6E-2714-4588-AAEC-997541EB90E2}"/>
                  </a:ext>
                </a:extLst>
              </p:cNvPr>
              <p:cNvCxnSpPr/>
              <p:nvPr/>
            </p:nvCxnSpPr>
            <p:spPr>
              <a:xfrm flipV="1">
                <a:off x="1828800" y="1870745"/>
                <a:ext cx="0" cy="1157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14D14E8-D4AB-4CB6-89E4-FCD22186CD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018" y="3028426"/>
                <a:ext cx="318783" cy="7885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9F7C26-AAC6-4CB5-842B-26D7EB123701}"/>
                </a:ext>
              </a:extLst>
            </p:cNvPr>
            <p:cNvSpPr/>
            <p:nvPr/>
          </p:nvSpPr>
          <p:spPr>
            <a:xfrm>
              <a:off x="1367406" y="3162650"/>
              <a:ext cx="125830" cy="10903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F7A627-E68D-4576-973C-2FEFBA9BC540}"/>
              </a:ext>
            </a:extLst>
          </p:cNvPr>
          <p:cNvGrpSpPr/>
          <p:nvPr/>
        </p:nvGrpSpPr>
        <p:grpSpPr>
          <a:xfrm>
            <a:off x="1259083" y="2207703"/>
            <a:ext cx="1644243" cy="1946246"/>
            <a:chOff x="1106683" y="2055303"/>
            <a:chExt cx="1644243" cy="194624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E00B05D-43FC-440A-AC39-10323BC94E98}"/>
                </a:ext>
              </a:extLst>
            </p:cNvPr>
            <p:cNvGrpSpPr/>
            <p:nvPr/>
          </p:nvGrpSpPr>
          <p:grpSpPr>
            <a:xfrm>
              <a:off x="1106683" y="2055303"/>
              <a:ext cx="1644243" cy="1946246"/>
              <a:chOff x="1510018" y="1870745"/>
              <a:chExt cx="1644243" cy="194624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3AB812F-4F12-4D33-8A49-CAC4AD96B14E}"/>
                  </a:ext>
                </a:extLst>
              </p:cNvPr>
              <p:cNvCxnSpPr/>
              <p:nvPr/>
            </p:nvCxnSpPr>
            <p:spPr>
              <a:xfrm>
                <a:off x="1828800" y="3028426"/>
                <a:ext cx="132546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4183A70-6B4C-41A3-A1EC-7045E97F5B1D}"/>
                  </a:ext>
                </a:extLst>
              </p:cNvPr>
              <p:cNvCxnSpPr/>
              <p:nvPr/>
            </p:nvCxnSpPr>
            <p:spPr>
              <a:xfrm flipV="1">
                <a:off x="1828800" y="1870745"/>
                <a:ext cx="0" cy="11576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1D1A53DE-7E53-477A-BABC-4D56EF9CF6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0018" y="3028426"/>
                <a:ext cx="318783" cy="7885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C1CE6A6-6FB7-4FAA-A02D-70107175EE27}"/>
                </a:ext>
              </a:extLst>
            </p:cNvPr>
            <p:cNvSpPr/>
            <p:nvPr/>
          </p:nvSpPr>
          <p:spPr>
            <a:xfrm>
              <a:off x="1367406" y="3162650"/>
              <a:ext cx="125830" cy="10903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D6C8D8-401F-478E-848F-5D59F9D1C7FA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1414725" y="3748962"/>
            <a:ext cx="601681" cy="123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3B20FC-8E57-4238-9A1A-9E95DFE43DCB}"/>
              </a:ext>
            </a:extLst>
          </p:cNvPr>
          <p:cNvCxnSpPr>
            <a:cxnSpLocks/>
          </p:cNvCxnSpPr>
          <p:nvPr/>
        </p:nvCxnSpPr>
        <p:spPr>
          <a:xfrm flipV="1">
            <a:off x="2087604" y="3382585"/>
            <a:ext cx="140181" cy="36761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CFE45B-E879-4F5B-B765-7EB6D40E573B}"/>
                  </a:ext>
                </a:extLst>
              </p:cNvPr>
              <p:cNvSpPr txBox="1"/>
              <p:nvPr/>
            </p:nvSpPr>
            <p:spPr>
              <a:xfrm>
                <a:off x="4708879" y="1080535"/>
                <a:ext cx="4239310" cy="112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e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cs-CZ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e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FCFE45B-E879-4F5B-B765-7EB6D40E5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79" y="1080535"/>
                <a:ext cx="4239310" cy="11271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915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Rotation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55F99-4463-4CB7-A3EA-F0578813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002F75D-84DF-4A71-AC1F-008B856B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598" y="906967"/>
            <a:ext cx="2181529" cy="60015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A3E101D-2DFA-4F18-BD25-C12CD0DF6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068" y="1612687"/>
            <a:ext cx="2962688" cy="685896"/>
          </a:xfrm>
          <a:prstGeom prst="rect">
            <a:avLst/>
          </a:prstGeom>
        </p:spPr>
      </p:pic>
      <p:sp>
        <p:nvSpPr>
          <p:cNvPr id="45" name="Right Brace 44">
            <a:extLst>
              <a:ext uri="{FF2B5EF4-FFF2-40B4-BE49-F238E27FC236}">
                <a16:creationId xmlns:a16="http://schemas.microsoft.com/office/drawing/2014/main" id="{ACE3D4ED-B8B6-450D-9296-445A5EF3E4E7}"/>
              </a:ext>
            </a:extLst>
          </p:cNvPr>
          <p:cNvSpPr/>
          <p:nvPr/>
        </p:nvSpPr>
        <p:spPr>
          <a:xfrm rot="5400000">
            <a:off x="7059334" y="1994743"/>
            <a:ext cx="247471" cy="9815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8AEA40-1422-40F0-80C7-EDB08CA6EA71}"/>
              </a:ext>
            </a:extLst>
          </p:cNvPr>
          <p:cNvSpPr txBox="1"/>
          <p:nvPr/>
        </p:nvSpPr>
        <p:spPr>
          <a:xfrm>
            <a:off x="6467914" y="2660252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P` = R . P</a:t>
            </a:r>
            <a:endParaRPr lang="en-US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4EF8CD80-1F7F-4218-A3E7-E093489A6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44" y="1507126"/>
            <a:ext cx="3486637" cy="300079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18CD3D7-3C63-494E-9C4E-6A75B2A78193}"/>
              </a:ext>
            </a:extLst>
          </p:cNvPr>
          <p:cNvSpPr/>
          <p:nvPr/>
        </p:nvSpPr>
        <p:spPr>
          <a:xfrm>
            <a:off x="6133333" y="2647119"/>
            <a:ext cx="1661020" cy="420351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1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B19E0-69AB-43F4-BCAA-9E3E3D9426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Rotation + Translation matrices</a:t>
                </a:r>
              </a:p>
              <a:p>
                <a:r>
                  <a:rPr lang="en-US" dirty="0"/>
                  <a:t>x′ = </a:t>
                </a:r>
                <a:r>
                  <a:rPr lang="en-US" b="1" dirty="0"/>
                  <a:t>cos </a:t>
                </a:r>
                <a:r>
                  <a:rPr lang="el-GR" b="1" dirty="0"/>
                  <a:t>θ</a:t>
                </a:r>
                <a:r>
                  <a:rPr lang="de-DE" b="1" dirty="0"/>
                  <a:t> </a:t>
                </a:r>
                <a:r>
                  <a:rPr lang="el-GR" dirty="0"/>
                  <a:t>⋅</a:t>
                </a:r>
                <a:r>
                  <a:rPr lang="de-DE" dirty="0"/>
                  <a:t> </a:t>
                </a:r>
                <a:r>
                  <a:rPr lang="en-US" dirty="0"/>
                  <a:t>x + (</a:t>
                </a:r>
                <a:r>
                  <a:rPr lang="en-US" b="1" dirty="0"/>
                  <a:t>−sin </a:t>
                </a:r>
                <a:r>
                  <a:rPr lang="el-GR" b="1" dirty="0"/>
                  <a:t>θ</a:t>
                </a:r>
                <a:r>
                  <a:rPr lang="el-GR" dirty="0"/>
                  <a:t>)</a:t>
                </a:r>
                <a:r>
                  <a:rPr lang="de-DE" dirty="0"/>
                  <a:t> </a:t>
                </a:r>
                <a:r>
                  <a:rPr lang="el-GR" dirty="0"/>
                  <a:t>⋅</a:t>
                </a:r>
                <a:r>
                  <a:rPr lang="de-DE" dirty="0"/>
                  <a:t> </a:t>
                </a:r>
                <a:r>
                  <a:rPr lang="en-US" dirty="0"/>
                  <a:t>y + </a:t>
                </a:r>
                <a:r>
                  <a:rPr lang="en-US" b="1" dirty="0" err="1"/>
                  <a:t>tx</a:t>
                </a:r>
                <a:endParaRPr lang="en-US" b="1" dirty="0"/>
              </a:p>
              <a:p>
                <a:r>
                  <a:rPr lang="es-ES" dirty="0">
                    <a:effectLst/>
                  </a:rPr>
                  <a:t>y′ </a:t>
                </a:r>
                <a:r>
                  <a:rPr lang="es-ES" dirty="0"/>
                  <a:t>= </a:t>
                </a:r>
                <a:r>
                  <a:rPr lang="es-ES" b="1" dirty="0"/>
                  <a:t>sin </a:t>
                </a:r>
                <a:r>
                  <a:rPr lang="es-ES" b="1" dirty="0">
                    <a:effectLst/>
                  </a:rPr>
                  <a:t>θ </a:t>
                </a:r>
                <a:r>
                  <a:rPr lang="es-ES" dirty="0"/>
                  <a:t>⋅ x + </a:t>
                </a:r>
                <a:r>
                  <a:rPr lang="es-ES" b="1" dirty="0"/>
                  <a:t>cos </a:t>
                </a:r>
                <a:r>
                  <a:rPr lang="es-ES" b="1" dirty="0">
                    <a:effectLst/>
                  </a:rPr>
                  <a:t>θ </a:t>
                </a:r>
                <a:r>
                  <a:rPr lang="es-ES" dirty="0"/>
                  <a:t>⋅ </a:t>
                </a:r>
                <a:r>
                  <a:rPr lang="es-ES" dirty="0">
                    <a:effectLst/>
                  </a:rPr>
                  <a:t>y </a:t>
                </a:r>
                <a:r>
                  <a:rPr lang="es-ES" dirty="0"/>
                  <a:t>+ </a:t>
                </a:r>
                <a:r>
                  <a:rPr lang="es-ES" b="1" dirty="0" err="1"/>
                  <a:t>t</a:t>
                </a:r>
                <a:r>
                  <a:rPr lang="es-ES" b="1" dirty="0" err="1">
                    <a:effectLst/>
                  </a:rPr>
                  <a:t>y</a:t>
                </a:r>
                <a:endParaRPr lang="es-ES" b="1" dirty="0">
                  <a:effectLst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Transformation matrix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B19E0-69AB-43F4-BCAA-9E3E3D942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55F99-4463-4CB7-A3EA-F0578813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https://opentextbooks.clemson.edu/wangrobotics/chapter/forward-kinematics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E37C3-428B-4AF4-9712-C08C446E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62" y="1283698"/>
            <a:ext cx="3362794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4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3716338" algn="l"/>
                <a:tab pos="3775075" algn="l"/>
              </a:tabLst>
            </a:pPr>
            <a:r>
              <a:rPr lang="en-US" baseline="30000" dirty="0">
                <a:effectLst/>
              </a:rPr>
              <a:t>W</a:t>
            </a:r>
            <a:r>
              <a:rPr lang="en-US" dirty="0">
                <a:effectLst/>
              </a:rPr>
              <a:t>P </a:t>
            </a:r>
            <a:r>
              <a:rPr lang="en-US" dirty="0"/>
              <a:t>= </a:t>
            </a:r>
            <a:r>
              <a:rPr lang="en-US" baseline="30000" dirty="0"/>
              <a:t>WR</a:t>
            </a:r>
            <a:r>
              <a:rPr lang="en-US" dirty="0">
                <a:effectLst/>
              </a:rPr>
              <a:t> T</a:t>
            </a:r>
            <a:r>
              <a:rPr lang="en-US" dirty="0"/>
              <a:t>​ ⋅ </a:t>
            </a:r>
            <a:r>
              <a:rPr lang="en-US" baseline="30000" dirty="0"/>
              <a:t>RS</a:t>
            </a:r>
            <a:r>
              <a:rPr lang="en-US" dirty="0">
                <a:effectLst/>
              </a:rPr>
              <a:t>T</a:t>
            </a:r>
            <a:r>
              <a:rPr lang="en-US" dirty="0"/>
              <a:t>​ ⋅ </a:t>
            </a:r>
            <a:r>
              <a:rPr lang="en-US" baseline="30000" dirty="0"/>
              <a:t>S</a:t>
            </a:r>
            <a:r>
              <a:rPr lang="en-US" dirty="0">
                <a:effectLst/>
              </a:rPr>
              <a:t>P</a:t>
            </a: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r>
              <a:rPr lang="en-US" b="1" dirty="0"/>
              <a:t>Inversion:</a:t>
            </a:r>
            <a:r>
              <a:rPr lang="en-US" dirty="0"/>
              <a:t> To go from World to Robot: </a:t>
            </a:r>
            <a:r>
              <a:rPr lang="en-US" baseline="30000" dirty="0"/>
              <a:t>RW</a:t>
            </a:r>
            <a:r>
              <a:rPr lang="en-US" dirty="0">
                <a:effectLst/>
              </a:rPr>
              <a:t>T</a:t>
            </a:r>
            <a:r>
              <a:rPr lang="en-US" dirty="0"/>
              <a:t>​=(</a:t>
            </a:r>
            <a:r>
              <a:rPr lang="en-US" baseline="30000" dirty="0"/>
              <a:t>WR</a:t>
            </a:r>
            <a:r>
              <a:rPr lang="en-US" dirty="0">
                <a:effectLst/>
              </a:rPr>
              <a:t>T</a:t>
            </a:r>
            <a:r>
              <a:rPr lang="en-US" dirty="0"/>
              <a:t>​)</a:t>
            </a:r>
            <a:r>
              <a:rPr lang="en-US" baseline="30000" dirty="0"/>
              <a:t>−1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Transformation Matrix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EEBE53F-13EE-4A93-B4A9-792D8D72E81A}"/>
              </a:ext>
            </a:extLst>
          </p:cNvPr>
          <p:cNvGrpSpPr/>
          <p:nvPr/>
        </p:nvGrpSpPr>
        <p:grpSpPr>
          <a:xfrm>
            <a:off x="4938668" y="2588505"/>
            <a:ext cx="4056287" cy="2367314"/>
            <a:chOff x="832539" y="2207703"/>
            <a:chExt cx="4056287" cy="2367314"/>
          </a:xfrm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AE236A37-D943-4F42-8C23-1BE76CBCFC5D}"/>
                </a:ext>
              </a:extLst>
            </p:cNvPr>
            <p:cNvSpPr/>
            <p:nvPr/>
          </p:nvSpPr>
          <p:spPr>
            <a:xfrm rot="206985">
              <a:off x="2251215" y="3459743"/>
              <a:ext cx="834437" cy="719964"/>
            </a:xfrm>
            <a:prstGeom prst="cube">
              <a:avLst>
                <a:gd name="adj" fmla="val 556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08EA037-C581-458E-AB89-0B633E396B36}"/>
                </a:ext>
              </a:extLst>
            </p:cNvPr>
            <p:cNvGrpSpPr/>
            <p:nvPr/>
          </p:nvGrpSpPr>
          <p:grpSpPr>
            <a:xfrm rot="21391549">
              <a:off x="2180660" y="2713238"/>
              <a:ext cx="1635904" cy="1760228"/>
              <a:chOff x="859600" y="2055303"/>
              <a:chExt cx="1635904" cy="176022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4D6DDEA-1BD1-4E18-A16B-EEB7777A6FCE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3F25AF16-11C2-4529-91A4-21FFB1AB4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39A98C6E-2714-4588-AAEC-997541EB90E2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914D14E8-D4AB-4CB6-89E4-FCD22186CD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9F7C26-AAC6-4CB5-842B-26D7EB123701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7F7A627-E68D-4576-973C-2FEFBA9BC540}"/>
                </a:ext>
              </a:extLst>
            </p:cNvPr>
            <p:cNvGrpSpPr/>
            <p:nvPr/>
          </p:nvGrpSpPr>
          <p:grpSpPr>
            <a:xfrm>
              <a:off x="1259083" y="2207703"/>
              <a:ext cx="1644243" cy="1946246"/>
              <a:chOff x="1106683" y="2055303"/>
              <a:chExt cx="1644243" cy="194624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E00B05D-43FC-440A-AC39-10323BC94E98}"/>
                  </a:ext>
                </a:extLst>
              </p:cNvPr>
              <p:cNvGrpSpPr/>
              <p:nvPr/>
            </p:nvGrpSpPr>
            <p:grpSpPr>
              <a:xfrm>
                <a:off x="1106683" y="2055303"/>
                <a:ext cx="1644243" cy="1946246"/>
                <a:chOff x="1510018" y="1870745"/>
                <a:chExt cx="1644243" cy="1946246"/>
              </a:xfrm>
            </p:grpSpPr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E3AB812F-4F12-4D33-8A49-CAC4AD96B14E}"/>
                    </a:ext>
                  </a:extLst>
                </p:cNvPr>
                <p:cNvCxnSpPr/>
                <p:nvPr/>
              </p:nvCxnSpPr>
              <p:spPr>
                <a:xfrm>
                  <a:off x="1828800" y="3028426"/>
                  <a:ext cx="132546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94183A70-6B4C-41A3-A1EC-7045E97F5B1D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1D1A53DE-7E53-477A-BABC-4D56EF9CF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0018" y="3028426"/>
                  <a:ext cx="318783" cy="788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C1CE6A6-6FB7-4FAA-A02D-70107175EE27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C67D9225-98F5-4BE6-8493-89865385C8FA}"/>
                </a:ext>
              </a:extLst>
            </p:cNvPr>
            <p:cNvSpPr/>
            <p:nvPr/>
          </p:nvSpPr>
          <p:spPr>
            <a:xfrm>
              <a:off x="2459291" y="3673767"/>
              <a:ext cx="142948" cy="16370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1FE2AF1-0AA1-46C9-AF80-08D292FC7CC4}"/>
                </a:ext>
              </a:extLst>
            </p:cNvPr>
            <p:cNvGrpSpPr/>
            <p:nvPr/>
          </p:nvGrpSpPr>
          <p:grpSpPr>
            <a:xfrm rot="21391549">
              <a:off x="1930061" y="2543967"/>
              <a:ext cx="1635904" cy="1760228"/>
              <a:chOff x="859600" y="2055303"/>
              <a:chExt cx="1635904" cy="1760228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CF05CCF-B424-4568-AFE7-00DA312DE893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F3ED4AF7-F50A-405C-8B6B-F7A2B6EAB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2144B207-5A69-4E0A-82DC-AB234428FE91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A25FC66D-6FBE-45CE-B4A6-13172D16EC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7AAD92-0004-489C-95DD-5A2FAFA6EDE4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DD8400-6441-4851-AE58-2978BC2D1E53}"/>
                </a:ext>
              </a:extLst>
            </p:cNvPr>
            <p:cNvSpPr txBox="1"/>
            <p:nvPr/>
          </p:nvSpPr>
          <p:spPr>
            <a:xfrm>
              <a:off x="832539" y="2996053"/>
              <a:ext cx="1234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Base frame</a:t>
              </a:r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AC0EF9-94DD-4EFB-BE7C-760475A36466}"/>
                </a:ext>
              </a:extLst>
            </p:cNvPr>
            <p:cNvSpPr txBox="1"/>
            <p:nvPr/>
          </p:nvSpPr>
          <p:spPr>
            <a:xfrm>
              <a:off x="2599659" y="3928686"/>
              <a:ext cx="8002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Robot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E7873A-51B2-4579-9A8F-A95EFF0E184C}"/>
                </a:ext>
              </a:extLst>
            </p:cNvPr>
            <p:cNvSpPr txBox="1"/>
            <p:nvPr/>
          </p:nvSpPr>
          <p:spPr>
            <a:xfrm>
              <a:off x="1727352" y="3499586"/>
              <a:ext cx="8723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Sensor </a:t>
              </a:r>
            </a:p>
            <a:p>
              <a:r>
                <a:rPr lang="de-DE" dirty="0"/>
                <a:t>frame</a:t>
              </a:r>
              <a:endParaRPr lang="en-US" dirty="0"/>
            </a:p>
          </p:txBody>
        </p:sp>
        <p:sp>
          <p:nvSpPr>
            <p:cNvPr id="41" name="Flowchart: Data 40">
              <a:extLst>
                <a:ext uri="{FF2B5EF4-FFF2-40B4-BE49-F238E27FC236}">
                  <a16:creationId xmlns:a16="http://schemas.microsoft.com/office/drawing/2014/main" id="{82BFECA6-D9A1-42D2-B440-16279D8BF2A2}"/>
                </a:ext>
              </a:extLst>
            </p:cNvPr>
            <p:cNvSpPr/>
            <p:nvPr/>
          </p:nvSpPr>
          <p:spPr>
            <a:xfrm rot="21055302">
              <a:off x="4212198" y="3498205"/>
              <a:ext cx="676628" cy="899176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1AF5D5C-A5C3-409F-B4BE-207AA15A88E1}"/>
                </a:ext>
              </a:extLst>
            </p:cNvPr>
            <p:cNvCxnSpPr/>
            <p:nvPr/>
          </p:nvCxnSpPr>
          <p:spPr>
            <a:xfrm flipV="1">
              <a:off x="2602239" y="3673767"/>
              <a:ext cx="1671567" cy="42647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C61612-0F7A-4CD6-B791-ED81E4833EAA}"/>
                </a:ext>
              </a:extLst>
            </p:cNvPr>
            <p:cNvSpPr txBox="1"/>
            <p:nvPr/>
          </p:nvSpPr>
          <p:spPr>
            <a:xfrm>
              <a:off x="3693327" y="3609650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1m</a:t>
              </a:r>
              <a:endParaRPr lang="en-US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2E65EC1-3A1E-42D7-8C19-734B89630542}"/>
                </a:ext>
              </a:extLst>
            </p:cNvPr>
            <p:cNvCxnSpPr>
              <a:cxnSpLocks/>
              <a:stCxn id="25" idx="5"/>
            </p:cNvCxnSpPr>
            <p:nvPr/>
          </p:nvCxnSpPr>
          <p:spPr>
            <a:xfrm>
              <a:off x="1627209" y="3408115"/>
              <a:ext cx="2646597" cy="24593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56D5E5-7ECE-4F64-9F2C-97CB9274261F}"/>
                  </a:ext>
                </a:extLst>
              </p:cNvPr>
              <p:cNvSpPr txBox="1"/>
              <p:nvPr/>
            </p:nvSpPr>
            <p:spPr>
              <a:xfrm>
                <a:off x="617019" y="2085399"/>
                <a:ext cx="457200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aseline="30000" dirty="0"/>
                  <a:t>WR</a:t>
                </a:r>
                <a:r>
                  <a:rPr lang="en-US" dirty="0"/>
                  <a:t>T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56D5E5-7ECE-4F64-9F2C-97CB92742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19" y="2085399"/>
                <a:ext cx="4572000" cy="972702"/>
              </a:xfrm>
              <a:prstGeom prst="rect">
                <a:avLst/>
              </a:prstGeo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158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19E0-69AB-43F4-BCAA-9E3E3D94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endParaRPr lang="en-US" dirty="0"/>
          </a:p>
          <a:p>
            <a:pPr marL="0" indent="0">
              <a:buNone/>
              <a:tabLst>
                <a:tab pos="3716338" algn="l"/>
                <a:tab pos="3775075" algn="l"/>
              </a:tabLst>
            </a:pPr>
            <a:r>
              <a:rPr lang="en-US" dirty="0"/>
              <a:t>In a 3D warehouse with ramps, can we simplify our math back to </a:t>
            </a:r>
            <a:r>
              <a:rPr lang="en-US" dirty="0">
                <a:effectLst/>
              </a:rPr>
              <a:t>SE</a:t>
            </a:r>
            <a:r>
              <a:rPr lang="en-US" dirty="0"/>
              <a:t>(2), or does the "Pitch" and "Roll" of the floor make </a:t>
            </a:r>
            <a:r>
              <a:rPr lang="en-US" dirty="0">
                <a:effectLst/>
              </a:rPr>
              <a:t>SE</a:t>
            </a:r>
            <a:r>
              <a:rPr lang="en-US" dirty="0"/>
              <a:t>(3) mandatory?</a:t>
            </a:r>
            <a:endParaRPr lang="en-US" baseline="30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A3337-C39C-4D45-8C54-26754F7A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omogeneous transformation matrix - </a:t>
            </a:r>
            <a:r>
              <a:rPr lang="de-DE" dirty="0"/>
              <a:t>Notes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834D-67A6-411B-92DD-D6573A13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42302-B54B-4D91-A5CE-68B2BFB7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BEBFB74-398A-4CAF-96AD-43F509759811}"/>
                  </a:ext>
                </a:extLst>
              </p:cNvPr>
              <p:cNvSpPr txBox="1"/>
              <p:nvPr/>
            </p:nvSpPr>
            <p:spPr>
              <a:xfrm>
                <a:off x="527177" y="954878"/>
                <a:ext cx="5932346" cy="552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aseline="30000" dirty="0">
                    <a:solidFill>
                      <a:schemeClr val="tx1"/>
                    </a:solidFill>
                  </a:rPr>
                  <a:t>RW</a:t>
                </a:r>
                <a:r>
                  <a:rPr lang="en-US" dirty="0">
                    <a:solidFill>
                      <a:schemeClr val="tx1"/>
                    </a:solidFill>
                  </a:rPr>
                  <a:t>T = (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WR</a:t>
                </a:r>
                <a:r>
                  <a:rPr lang="en-US" dirty="0">
                    <a:solidFill>
                      <a:schemeClr val="tx1"/>
                    </a:solidFill>
                  </a:rPr>
                  <a:t>T)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-1</a:t>
                </a:r>
                <a:r>
                  <a:rPr lang="en-US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b="0" i="1" baseline="30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 baseline="30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m:rPr>
                                  <m:nor/>
                                </m:rPr>
                                <a:rPr lang="de-DE" b="0" i="0" baseline="30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</a:rPr>
                                <m:t>p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(Computationally efficient)</a:t>
                </a: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BEBFB74-398A-4CAF-96AD-43F509759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77" y="954878"/>
                <a:ext cx="5932346" cy="552395"/>
              </a:xfrm>
              <a:prstGeom prst="rect">
                <a:avLst/>
              </a:prstGeom>
              <a:blipFill>
                <a:blip r:embed="rId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1">
            <a:extLst>
              <a:ext uri="{FF2B5EF4-FFF2-40B4-BE49-F238E27FC236}">
                <a16:creationId xmlns:a16="http://schemas.microsoft.com/office/drawing/2014/main" id="{18EAF9C3-498D-4C3A-A461-C5DAF7E68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77" y="1588206"/>
            <a:ext cx="87748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we never use inv() in real-time code; we use the geometric property of the rotation matrix. </a:t>
            </a:r>
          </a:p>
        </p:txBody>
      </p:sp>
    </p:spTree>
    <p:extLst>
      <p:ext uri="{BB962C8B-B14F-4D97-AF65-F5344CB8AC3E}">
        <p14:creationId xmlns:p14="http://schemas.microsoft.com/office/powerpoint/2010/main" val="296521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CE8D-C092-45B1-9500-8F9B958B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Frame Coordination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2635-199E-46B1-8498-0A8BE824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The Scene: A Warehouse AMR detects a shelf at [1.0,0.5] in its LIDAR frame. The robot is currently at [10.0,5.0,π/4] in the Global Map frame.</a:t>
            </a:r>
          </a:p>
          <a:p>
            <a:r>
              <a:rPr lang="en-US" sz="1400" dirty="0"/>
              <a:t>The Problem: The central server needs to update the shelf's position on the global map.</a:t>
            </a:r>
          </a:p>
          <a:p>
            <a:r>
              <a:rPr lang="en-US" sz="1400" b="1" dirty="0"/>
              <a:t>where things are across multiple moving frames of reference (Robot, Sensor, Map)?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You want the shelf point from LIDAR frame → Robot base frame → Global Map frame</a:t>
            </a:r>
          </a:p>
          <a:p>
            <a:r>
              <a:rPr lang="en-US" sz="1400" dirty="0"/>
              <a:t>Shelf point in sensor: </a:t>
            </a:r>
            <a:r>
              <a:rPr lang="en-US" sz="1400" dirty="0" err="1"/>
              <a:t>p</a:t>
            </a:r>
            <a:r>
              <a:rPr lang="en-US" sz="1400" baseline="30000" dirty="0" err="1"/>
              <a:t>S</a:t>
            </a:r>
            <a:r>
              <a:rPr lang="en-US" sz="1400" dirty="0"/>
              <a:t>=[1.0, 0.5]</a:t>
            </a:r>
          </a:p>
          <a:p>
            <a:endParaRPr lang="en-US" sz="1100" dirty="0">
              <a:solidFill>
                <a:schemeClr val="accent1"/>
              </a:solidFill>
            </a:endParaRPr>
          </a:p>
          <a:p>
            <a:endParaRPr lang="en-US" sz="14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DC85-43B0-4C1B-AA93-B4033020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B8908-BB33-4A81-94DC-A8AAD3C4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020869-2EBE-4F94-AA45-005A459173D3}"/>
              </a:ext>
            </a:extLst>
          </p:cNvPr>
          <p:cNvGrpSpPr/>
          <p:nvPr/>
        </p:nvGrpSpPr>
        <p:grpSpPr>
          <a:xfrm>
            <a:off x="6090407" y="3415693"/>
            <a:ext cx="2904548" cy="1476499"/>
            <a:chOff x="832539" y="2207703"/>
            <a:chExt cx="4056287" cy="2284154"/>
          </a:xfrm>
        </p:grpSpPr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4F823FE9-1DE7-4257-9100-36633EA2750B}"/>
                </a:ext>
              </a:extLst>
            </p:cNvPr>
            <p:cNvSpPr/>
            <p:nvPr/>
          </p:nvSpPr>
          <p:spPr>
            <a:xfrm rot="206985">
              <a:off x="2251215" y="3459743"/>
              <a:ext cx="834437" cy="719964"/>
            </a:xfrm>
            <a:prstGeom prst="cube">
              <a:avLst>
                <a:gd name="adj" fmla="val 5561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ABB8359-A877-4535-8B65-BBBF4C01A499}"/>
                </a:ext>
              </a:extLst>
            </p:cNvPr>
            <p:cNvGrpSpPr/>
            <p:nvPr/>
          </p:nvGrpSpPr>
          <p:grpSpPr>
            <a:xfrm rot="21391549">
              <a:off x="2180660" y="2713238"/>
              <a:ext cx="1635904" cy="1760228"/>
              <a:chOff x="859600" y="2055303"/>
              <a:chExt cx="1635904" cy="1760228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BEA7EFFA-7705-4E9D-BE4B-A4E3C7C2727E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63E51AB6-CEF2-4F94-BF1F-E5C32D36A7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8AD3488B-A694-4B45-B8E9-84448A70B2E5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099AEB09-C74F-47A3-A691-9EF405C828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D6E0CB6-F454-43A0-9BF6-59D621250803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873DE5A-911A-4700-B28F-8334AACA50DF}"/>
                </a:ext>
              </a:extLst>
            </p:cNvPr>
            <p:cNvGrpSpPr/>
            <p:nvPr/>
          </p:nvGrpSpPr>
          <p:grpSpPr>
            <a:xfrm>
              <a:off x="1259083" y="2207703"/>
              <a:ext cx="1644243" cy="1946246"/>
              <a:chOff x="1106683" y="2055303"/>
              <a:chExt cx="1644243" cy="1946246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88A2D3C8-E2E7-411B-9306-02F3EC6830BF}"/>
                  </a:ext>
                </a:extLst>
              </p:cNvPr>
              <p:cNvGrpSpPr/>
              <p:nvPr/>
            </p:nvGrpSpPr>
            <p:grpSpPr>
              <a:xfrm>
                <a:off x="1106683" y="2055303"/>
                <a:ext cx="1644243" cy="1946246"/>
                <a:chOff x="1510018" y="1870745"/>
                <a:chExt cx="1644243" cy="1946246"/>
              </a:xfrm>
            </p:grpSpPr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641FBDA0-4583-4D8F-8923-4690294BB40B}"/>
                    </a:ext>
                  </a:extLst>
                </p:cNvPr>
                <p:cNvCxnSpPr/>
                <p:nvPr/>
              </p:nvCxnSpPr>
              <p:spPr>
                <a:xfrm>
                  <a:off x="1828800" y="3028426"/>
                  <a:ext cx="132546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F3FE990F-1454-4175-9E8D-B59BEA0C30FF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D498BA80-E8E0-4306-952C-B3C827845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10018" y="3028426"/>
                  <a:ext cx="318783" cy="78856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B1F370F-0782-48DB-A884-174FE82992DB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59" name="Flowchart: Magnetic Disk 58">
              <a:extLst>
                <a:ext uri="{FF2B5EF4-FFF2-40B4-BE49-F238E27FC236}">
                  <a16:creationId xmlns:a16="http://schemas.microsoft.com/office/drawing/2014/main" id="{06EB3CA2-5D5E-486C-89DF-CD70E030707F}"/>
                </a:ext>
              </a:extLst>
            </p:cNvPr>
            <p:cNvSpPr/>
            <p:nvPr/>
          </p:nvSpPr>
          <p:spPr>
            <a:xfrm>
              <a:off x="2459291" y="3673767"/>
              <a:ext cx="142948" cy="163708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26E2AA7-0D4A-441C-8216-E8CF850D6528}"/>
                </a:ext>
              </a:extLst>
            </p:cNvPr>
            <p:cNvGrpSpPr/>
            <p:nvPr/>
          </p:nvGrpSpPr>
          <p:grpSpPr>
            <a:xfrm rot="21391549">
              <a:off x="1930061" y="2543967"/>
              <a:ext cx="1635904" cy="1760228"/>
              <a:chOff x="859600" y="2055303"/>
              <a:chExt cx="1635904" cy="1760228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3B34584-7178-43F0-9769-205B3F02310A}"/>
                  </a:ext>
                </a:extLst>
              </p:cNvPr>
              <p:cNvGrpSpPr/>
              <p:nvPr/>
            </p:nvGrpSpPr>
            <p:grpSpPr>
              <a:xfrm>
                <a:off x="859600" y="2055303"/>
                <a:ext cx="1635904" cy="1760228"/>
                <a:chOff x="1262935" y="1870745"/>
                <a:chExt cx="1635904" cy="1760228"/>
              </a:xfrm>
            </p:grpSpPr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9AB54302-DCD0-42B3-8C25-199AE07F2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 flipH="1">
                  <a:off x="1262935" y="3011265"/>
                  <a:ext cx="547591" cy="6197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13411A9B-9ACD-4767-9D5D-AD2016CBF7E8}"/>
                    </a:ext>
                  </a:extLst>
                </p:cNvPr>
                <p:cNvCxnSpPr/>
                <p:nvPr/>
              </p:nvCxnSpPr>
              <p:spPr>
                <a:xfrm flipV="1">
                  <a:off x="1828800" y="1870745"/>
                  <a:ext cx="0" cy="115768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D58CC02D-8097-49F5-B1A0-467B7A4766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08451">
                  <a:off x="1824152" y="3060878"/>
                  <a:ext cx="1074687" cy="1208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D5D6F24-B855-46E4-9B9E-10C10C9EDCE5}"/>
                  </a:ext>
                </a:extLst>
              </p:cNvPr>
              <p:cNvSpPr/>
              <p:nvPr/>
            </p:nvSpPr>
            <p:spPr>
              <a:xfrm>
                <a:off x="1367406" y="3162650"/>
                <a:ext cx="125830" cy="109032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4994A3D-6323-4B2F-94C5-693BF12B366D}"/>
                </a:ext>
              </a:extLst>
            </p:cNvPr>
            <p:cNvSpPr txBox="1"/>
            <p:nvPr/>
          </p:nvSpPr>
          <p:spPr>
            <a:xfrm>
              <a:off x="832539" y="2996053"/>
              <a:ext cx="1004286" cy="341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Base frame</a:t>
              </a:r>
              <a:endParaRPr lang="en-US" sz="105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0FABE4E-681F-4296-86A8-B82CD0DA6B7D}"/>
                </a:ext>
              </a:extLst>
            </p:cNvPr>
            <p:cNvSpPr txBox="1"/>
            <p:nvPr/>
          </p:nvSpPr>
          <p:spPr>
            <a:xfrm>
              <a:off x="2599658" y="3928686"/>
              <a:ext cx="680010" cy="563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Robot </a:t>
              </a:r>
            </a:p>
            <a:p>
              <a:r>
                <a:rPr lang="de-DE" sz="1050" dirty="0"/>
                <a:t>frame</a:t>
              </a:r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4A57C54-34FB-4BB0-9C42-9269E5D09CFF}"/>
                </a:ext>
              </a:extLst>
            </p:cNvPr>
            <p:cNvSpPr txBox="1"/>
            <p:nvPr/>
          </p:nvSpPr>
          <p:spPr>
            <a:xfrm>
              <a:off x="1727351" y="3499586"/>
              <a:ext cx="730496" cy="563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Sensor </a:t>
              </a:r>
            </a:p>
            <a:p>
              <a:r>
                <a:rPr lang="de-DE" sz="1050" dirty="0"/>
                <a:t>frame</a:t>
              </a:r>
              <a:endParaRPr lang="en-US" sz="1050" dirty="0"/>
            </a:p>
          </p:txBody>
        </p:sp>
        <p:sp>
          <p:nvSpPr>
            <p:cNvPr id="64" name="Flowchart: Data 63">
              <a:extLst>
                <a:ext uri="{FF2B5EF4-FFF2-40B4-BE49-F238E27FC236}">
                  <a16:creationId xmlns:a16="http://schemas.microsoft.com/office/drawing/2014/main" id="{1CA2C31F-4E5D-4CF8-8133-4D3FF8EFC7F7}"/>
                </a:ext>
              </a:extLst>
            </p:cNvPr>
            <p:cNvSpPr/>
            <p:nvPr/>
          </p:nvSpPr>
          <p:spPr>
            <a:xfrm rot="21055302">
              <a:off x="4212198" y="3498205"/>
              <a:ext cx="676628" cy="899176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472B651-1FD1-40E4-8C6E-EA76AEDAC74B}"/>
                </a:ext>
              </a:extLst>
            </p:cNvPr>
            <p:cNvCxnSpPr/>
            <p:nvPr/>
          </p:nvCxnSpPr>
          <p:spPr>
            <a:xfrm flipV="1">
              <a:off x="2602239" y="3673767"/>
              <a:ext cx="1671567" cy="42647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819ECFF-6692-415B-8D5F-3A7AFF0D6349}"/>
                </a:ext>
              </a:extLst>
            </p:cNvPr>
            <p:cNvSpPr txBox="1"/>
            <p:nvPr/>
          </p:nvSpPr>
          <p:spPr>
            <a:xfrm>
              <a:off x="3693327" y="3609650"/>
              <a:ext cx="446997" cy="341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050" dirty="0"/>
                <a:t>1m</a:t>
              </a:r>
              <a:endParaRPr lang="en-US" sz="1050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6D04BC9-C178-4057-A897-49DFF03AA012}"/>
                </a:ext>
              </a:extLst>
            </p:cNvPr>
            <p:cNvCxnSpPr>
              <a:cxnSpLocks/>
              <a:stCxn id="74" idx="5"/>
            </p:cNvCxnSpPr>
            <p:nvPr/>
          </p:nvCxnSpPr>
          <p:spPr>
            <a:xfrm>
              <a:off x="1627209" y="3408115"/>
              <a:ext cx="2646597" cy="245938"/>
            </a:xfrm>
            <a:prstGeom prst="straightConnector1">
              <a:avLst/>
            </a:prstGeom>
            <a:ln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68CBA58-3BCC-4291-B61B-8F0ED252F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67" y="2939159"/>
            <a:ext cx="2780810" cy="590661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3B31C09-A57A-48F5-AF07-7051680085C3}"/>
              </a:ext>
            </a:extLst>
          </p:cNvPr>
          <p:cNvSpPr txBox="1"/>
          <p:nvPr/>
        </p:nvSpPr>
        <p:spPr>
          <a:xfrm>
            <a:off x="809670" y="3092158"/>
            <a:ext cx="12969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Transform R → 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7CD543-A627-4851-B817-69D5E12AA97A}"/>
              </a:ext>
            </a:extLst>
          </p:cNvPr>
          <p:cNvSpPr txBox="1"/>
          <p:nvPr/>
        </p:nvSpPr>
        <p:spPr>
          <a:xfrm>
            <a:off x="769003" y="259253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we assumed a point in robot frame equals point in LIDAR frame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52F5A16-365B-4B28-9DCF-1B6F308B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128" y="2972515"/>
            <a:ext cx="609685" cy="523948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E13B7457-F6F4-45BC-B75C-EE00A08D34FD}"/>
              </a:ext>
            </a:extLst>
          </p:cNvPr>
          <p:cNvSpPr txBox="1"/>
          <p:nvPr/>
        </p:nvSpPr>
        <p:spPr>
          <a:xfrm>
            <a:off x="5129924" y="3117414"/>
            <a:ext cx="2300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Homogeneous point in S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310B74B0-FB3F-41B0-9DAE-A1B8D7763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774" y="2658834"/>
            <a:ext cx="1070780" cy="22154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8283D16-0A78-4789-9741-6700E1319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12" y="3632151"/>
            <a:ext cx="1286054" cy="476316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852E94C2-643A-4281-8632-D9D1EABFF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026" y="3789861"/>
            <a:ext cx="2514951" cy="2953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55068E-D8AC-498D-AF3D-2E2E56B2075B}"/>
                  </a:ext>
                </a:extLst>
              </p:cNvPr>
              <p:cNvSpPr txBox="1"/>
              <p:nvPr/>
            </p:nvSpPr>
            <p:spPr>
              <a:xfrm>
                <a:off x="557199" y="4327152"/>
                <a:ext cx="4819461" cy="545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If the sensor not same as the robot frame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go back to sensor frame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</m:sSubSup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bSup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sz="1400" dirty="0"/>
                  <a:t>   </a:t>
                </a:r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D55068E-D8AC-498D-AF3D-2E2E56B20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99" y="4327152"/>
                <a:ext cx="4819461" cy="545662"/>
              </a:xfrm>
              <a:prstGeom prst="rect">
                <a:avLst/>
              </a:prstGeom>
              <a:blipFill>
                <a:blip r:embed="rId7"/>
                <a:stretch>
                  <a:fillRect l="-379" b="-1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647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The Narrow Aisle Navigation Problem</a:t>
                </a:r>
              </a:p>
              <a:p>
                <a:r>
                  <a:rPr lang="en-US" sz="1800" dirty="0"/>
                  <a:t>The Warehouse AMR must enter a 1.2m wide aisle, rotate 90°, and exit.</a:t>
                </a:r>
              </a:p>
              <a:p>
                <a:r>
                  <a:rPr lang="en-US" sz="1800" dirty="0"/>
                  <a:t>The robot is a Differential Drive platform.</a:t>
                </a:r>
              </a:p>
              <a:p>
                <a:r>
                  <a:rPr lang="en-US" sz="1800" b="1" dirty="0"/>
                  <a:t>The Challenge: </a:t>
                </a:r>
              </a:p>
              <a:p>
                <a:pPr marL="0" indent="0">
                  <a:buNone/>
                </a:pPr>
                <a:r>
                  <a:rPr lang="en-US" sz="1800" dirty="0"/>
                  <a:t>How to command the wheel speeds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​, </m:t>
                    </m:r>
                    <m:sSub>
                      <m:sSubPr>
                        <m:ctrlPr>
                          <a:rPr lang="de-DE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err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800" dirty="0"/>
                  <a:t>​) to execute a "Zero-Radius Turn" without the chassis hitting the racks.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8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3EE788-7AEA-4728-9F8E-F8F696C66890}"/>
              </a:ext>
            </a:extLst>
          </p:cNvPr>
          <p:cNvGrpSpPr/>
          <p:nvPr/>
        </p:nvGrpSpPr>
        <p:grpSpPr>
          <a:xfrm>
            <a:off x="6686026" y="3380763"/>
            <a:ext cx="2271530" cy="1500801"/>
            <a:chOff x="6686026" y="3380763"/>
            <a:chExt cx="2271530" cy="15008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B2C63BF-DFD1-44D3-B9CB-1AC4A08E1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7640" y="3380763"/>
              <a:ext cx="1079916" cy="1500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420E1-A3B5-4DAE-A47F-53EDC5678F90}"/>
                </a:ext>
              </a:extLst>
            </p:cNvPr>
            <p:cNvGrpSpPr/>
            <p:nvPr/>
          </p:nvGrpSpPr>
          <p:grpSpPr>
            <a:xfrm>
              <a:off x="7457813" y="3702493"/>
              <a:ext cx="1499743" cy="1129564"/>
              <a:chOff x="7531428" y="3708266"/>
              <a:chExt cx="1426128" cy="100558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DA05972-8972-4BC7-9816-5EE46E12ECE6}"/>
                  </a:ext>
                </a:extLst>
              </p:cNvPr>
              <p:cNvGrpSpPr/>
              <p:nvPr/>
            </p:nvGrpSpPr>
            <p:grpSpPr>
              <a:xfrm>
                <a:off x="7531428" y="3861564"/>
                <a:ext cx="1426128" cy="852288"/>
                <a:chOff x="5486400" y="3662776"/>
                <a:chExt cx="1426128" cy="852288"/>
              </a:xfrm>
            </p:grpSpPr>
            <p:sp>
              <p:nvSpPr>
                <p:cNvPr id="10" name="Flowchart: Magnetic Disk 9">
                  <a:extLst>
                    <a:ext uri="{FF2B5EF4-FFF2-40B4-BE49-F238E27FC236}">
                      <a16:creationId xmlns:a16="http://schemas.microsoft.com/office/drawing/2014/main" id="{2ADB21D9-B7EF-43ED-A89B-58BCF1322552}"/>
                    </a:ext>
                  </a:extLst>
                </p:cNvPr>
                <p:cNvSpPr/>
                <p:nvPr/>
              </p:nvSpPr>
              <p:spPr>
                <a:xfrm rot="5400000">
                  <a:off x="5658488" y="3913789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ube 7">
                  <a:extLst>
                    <a:ext uri="{FF2B5EF4-FFF2-40B4-BE49-F238E27FC236}">
                      <a16:creationId xmlns:a16="http://schemas.microsoft.com/office/drawing/2014/main" id="{1AC91677-A7CE-443E-B518-3CF4A7316189}"/>
                    </a:ext>
                  </a:extLst>
                </p:cNvPr>
                <p:cNvSpPr/>
                <p:nvPr/>
              </p:nvSpPr>
              <p:spPr>
                <a:xfrm>
                  <a:off x="5486400" y="3733101"/>
                  <a:ext cx="1426128" cy="781963"/>
                </a:xfrm>
                <a:prstGeom prst="cube">
                  <a:avLst>
                    <a:gd name="adj" fmla="val 7756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lowchart: Magnetic Disk 8">
                  <a:extLst>
                    <a:ext uri="{FF2B5EF4-FFF2-40B4-BE49-F238E27FC236}">
                      <a16:creationId xmlns:a16="http://schemas.microsoft.com/office/drawing/2014/main" id="{4200872E-4E89-43AF-8BCA-4639D62B46DB}"/>
                    </a:ext>
                  </a:extLst>
                </p:cNvPr>
                <p:cNvSpPr/>
                <p:nvPr/>
              </p:nvSpPr>
              <p:spPr>
                <a:xfrm rot="5400000">
                  <a:off x="6532195" y="3974925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Arrow: Curved Left 11">
                  <a:extLst>
                    <a:ext uri="{FF2B5EF4-FFF2-40B4-BE49-F238E27FC236}">
                      <a16:creationId xmlns:a16="http://schemas.microsoft.com/office/drawing/2014/main" id="{42CDE1AA-68E5-4C09-B6F3-682DF18D0E5C}"/>
                    </a:ext>
                  </a:extLst>
                </p:cNvPr>
                <p:cNvSpPr/>
                <p:nvPr/>
              </p:nvSpPr>
              <p:spPr>
                <a:xfrm>
                  <a:off x="6189189" y="3662776"/>
                  <a:ext cx="369116" cy="721453"/>
                </a:xfrm>
                <a:prstGeom prst="curvedLeftArrow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397397-C427-421D-9674-2810136720BC}"/>
                  </a:ext>
                </a:extLst>
              </p:cNvPr>
              <p:cNvGrpSpPr/>
              <p:nvPr/>
            </p:nvGrpSpPr>
            <p:grpSpPr>
              <a:xfrm rot="941600">
                <a:off x="7989527" y="3708266"/>
                <a:ext cx="313233" cy="680478"/>
                <a:chOff x="679445" y="2186563"/>
                <a:chExt cx="839999" cy="157871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357B57B-7189-4D6E-8A0D-A417B7BF3FBC}"/>
                    </a:ext>
                  </a:extLst>
                </p:cNvPr>
                <p:cNvGrpSpPr/>
                <p:nvPr/>
              </p:nvGrpSpPr>
              <p:grpSpPr>
                <a:xfrm>
                  <a:off x="679445" y="2186563"/>
                  <a:ext cx="839999" cy="1578711"/>
                  <a:chOff x="1082780" y="2002005"/>
                  <a:chExt cx="839999" cy="1578711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9327B294-8C05-4CA0-8120-131C41B89074}"/>
                      </a:ext>
                    </a:extLst>
                  </p:cNvPr>
                  <p:cNvCxnSpPr>
                    <a:cxnSpLocks/>
                    <a:stCxn id="16" idx="2"/>
                  </p:cNvCxnSpPr>
                  <p:nvPr/>
                </p:nvCxnSpPr>
                <p:spPr>
                  <a:xfrm rot="20658400" flipH="1" flipV="1">
                    <a:off x="1082780" y="3089316"/>
                    <a:ext cx="697612" cy="20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FF0E86F3-3DAF-47C0-BF96-2F9AAE72F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 flipV="1">
                    <a:off x="1613790" y="2002005"/>
                    <a:ext cx="51502" cy="105205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835E7EE-BAF5-4F60-BD02-839B1E07AA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>
                    <a:off x="1427816" y="3073184"/>
                    <a:ext cx="494963" cy="5075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BE8FEDC-3162-4816-9107-F64D9B36D82D}"/>
                    </a:ext>
                  </a:extLst>
                </p:cNvPr>
                <p:cNvSpPr/>
                <p:nvPr/>
              </p:nvSpPr>
              <p:spPr>
                <a:xfrm>
                  <a:off x="1367406" y="3162650"/>
                  <a:ext cx="125830" cy="10903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FBC38A-EF8B-4240-97CC-9F80BBD48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6026" y="4713852"/>
              <a:ext cx="1191614" cy="167712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83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3AD1DE17-9674-4AE7-BF42-EE0AB31DF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05" y="786880"/>
            <a:ext cx="3122539" cy="303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https://www.roboticsbook.org/S52_diffdrive_actions.html</a:t>
            </a:r>
            <a:endParaRPr lang="en-US" dirty="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422B2928-0976-42F5-B2E9-AE1A6C6A3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338" y="934498"/>
            <a:ext cx="3223323" cy="262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F81A6FB-54B6-48B5-819A-E643164F1180}"/>
              </a:ext>
            </a:extLst>
          </p:cNvPr>
          <p:cNvSpPr txBox="1"/>
          <p:nvPr/>
        </p:nvSpPr>
        <p:spPr>
          <a:xfrm>
            <a:off x="3595840" y="3426048"/>
            <a:ext cx="151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forward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20BFF8-1594-40DD-AEE9-29A3020DB04B}"/>
              </a:ext>
            </a:extLst>
          </p:cNvPr>
          <p:cNvSpPr txBox="1"/>
          <p:nvPr/>
        </p:nvSpPr>
        <p:spPr>
          <a:xfrm>
            <a:off x="1035836" y="3448678"/>
            <a:ext cx="799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0F18CB3-369A-458B-A15D-F21205713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9315" y="1354497"/>
            <a:ext cx="2956073" cy="209418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E4F0502-1867-4EAD-B64A-BCDB71E1F9FC}"/>
              </a:ext>
            </a:extLst>
          </p:cNvPr>
          <p:cNvSpPr txBox="1"/>
          <p:nvPr/>
        </p:nvSpPr>
        <p:spPr>
          <a:xfrm>
            <a:off x="6605653" y="3454644"/>
            <a:ext cx="1588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on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31A7-AFD5-4033-B8B1-DEAC76B2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sz="1600" dirty="0"/>
              <a:t>Why?</a:t>
            </a:r>
          </a:p>
          <a:p>
            <a:pPr marL="0" indent="0">
              <a:buNone/>
            </a:pPr>
            <a:r>
              <a:rPr lang="en-US" sz="1600" dirty="0"/>
              <a:t>How to move the robot in a specific radius? </a:t>
            </a:r>
          </a:p>
        </p:txBody>
      </p:sp>
    </p:spTree>
    <p:extLst>
      <p:ext uri="{BB962C8B-B14F-4D97-AF65-F5344CB8AC3E}">
        <p14:creationId xmlns:p14="http://schemas.microsoft.com/office/powerpoint/2010/main" val="254294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E535BD09-8B9D-4E0E-9DFE-B9E48210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757" y="2519750"/>
            <a:ext cx="2896190" cy="236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67B3DC1F-ACC4-4B60-8A08-E3257708C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104" y="809353"/>
            <a:ext cx="1588970" cy="16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The forward speed of a wheel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acc>
                        <m:accPr>
                          <m:chr m:val="̇"/>
                          <m:ctrlP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acc>
                    </m:oMath>
                  </m:oMathPara>
                </a14:m>
                <a:endParaRPr lang="de-DE" sz="18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Then the angular speed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acc>
                      <m:r>
                        <a:rPr lang="de-DE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e-DE" sz="18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To move the robot forward</a:t>
                </a:r>
              </a:p>
              <a:p>
                <a:pPr marL="0" indent="0">
                  <a:buNone/>
                </a:pPr>
                <a:r>
                  <a:rPr lang="en-US" sz="1800" dirty="0"/>
                  <a:t>the angular speeds on the right and left wheels should be similar </a:t>
                </a:r>
                <a:endParaRPr lang="de-DE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f>
                        <m:fPr>
                          <m:ctrlP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de-DE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58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6"/>
              </a:rPr>
              <a:t>https://www.roboticsbook.org/S52_diffdrive_actions.html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74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C0D7ED95-8379-44D5-BEC0-8137784A5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523" y="2624860"/>
            <a:ext cx="2307502" cy="224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67B3DC1F-ACC4-4B60-8A08-E3257708C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104" y="809353"/>
            <a:ext cx="1588970" cy="16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sz="2000" dirty="0"/>
              <a:t>Rotating robot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Given that the angular speeds on the wheels are</a:t>
                </a:r>
                <a:endParaRPr lang="en-US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acc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acc>
                        </m:e>
                        <m:sub>
                          <m:r>
                            <a:rPr lang="de-DE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Equal but opposite forward wheel speeds 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That cause the robot to rotate</a:t>
                </a:r>
              </a:p>
              <a:p>
                <a:pPr marL="0" indent="0">
                  <a:buNone/>
                </a:pPr>
                <a:r>
                  <a:rPr lang="en-US" sz="1400" dirty="0"/>
                  <a:t>Both speeds are tangent to a circle of diameter L </a:t>
                </a:r>
              </a:p>
              <a:p>
                <a:pPr marL="0" indent="0">
                  <a:buNone/>
                </a:pPr>
                <a:r>
                  <a:rPr lang="en-US" sz="1400" dirty="0"/>
                  <a:t>centered at the origin of the body-attached frame</a:t>
                </a:r>
              </a:p>
              <a:p>
                <a:pPr marL="0" indent="0">
                  <a:buNone/>
                </a:pPr>
                <a:r>
                  <a:rPr lang="en-US" sz="1400" dirty="0"/>
                  <a:t>linear velocity of the robot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400" dirty="0"/>
                  <a:t> is zero,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400" dirty="0"/>
                  <a:t> cancel one another out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 circular motion of the robot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14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de-DE" sz="14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400" dirty="0"/>
                  <a:t> 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de-DE" sz="1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de-DE" sz="1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 	</a:t>
                </a:r>
                <a:r>
                  <a:rPr lang="de-DE" sz="14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de-DE" sz="1400" dirty="0">
                    <a:ea typeface="Cambria Math" panose="02040503050406030204" pitchFamily="18" charset="0"/>
                  </a:rPr>
                  <a:t> </a:t>
                </a: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221" t="-1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6"/>
              </a:rPr>
              <a:t>https://www.roboticsbook.org/S52_diffdrive_actions.html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5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The wheel velocity is the sum of linear and angular speeds</a:t>
                </a:r>
              </a:p>
              <a:p>
                <a:pPr marL="0" indent="0">
                  <a:buNone/>
                </a:pPr>
                <a:r>
                  <a:rPr lang="en-US" sz="1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1" i="1" smtClean="0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600" b="1" i="1"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 smtClean="0"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600" b="0" i="1" smtClean="0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b="0" i="1" smtClean="0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600" b="0" i="1" smtClean="0"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600" b="0" i="1" smtClean="0"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600" b="0" i="1" smtClean="0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600" b="0" i="1" smtClean="0"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600" b="0" i="1" smtClean="0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600" i="1"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600" b="0" i="1" smtClean="0"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	</a:t>
                </a:r>
                <a:r>
                  <a:rPr lang="de-DE" sz="16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1" i="1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600" b="1" i="1"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600" i="1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b="0" i="1" smtClean="0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600" b="0" i="1" smtClean="0"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600" b="0" i="1" smtClean="0"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1600" i="1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600" i="1"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600" i="1"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600" i="1"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de-DE" sz="1600" dirty="0">
                    <a:ea typeface="Cambria Math" panose="02040503050406030204" pitchFamily="18" charset="0"/>
                  </a:rPr>
                  <a:t> </a:t>
                </a:r>
                <a:endParaRPr lang="en-US" sz="16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These two equations define the </a:t>
                </a:r>
                <a:r>
                  <a:rPr lang="en-US" sz="1400" b="1" dirty="0"/>
                  <a:t>inverse velocity kinematics</a:t>
                </a:r>
              </a:p>
              <a:p>
                <a:pPr marL="0" indent="0">
                  <a:buNone/>
                </a:pPr>
                <a:r>
                  <a:rPr lang="en-US" sz="1400" dirty="0"/>
                  <a:t>The </a:t>
                </a:r>
                <a:r>
                  <a:rPr lang="en-US" sz="1400" b="1" dirty="0"/>
                  <a:t>forward velocity kinematics</a:t>
                </a:r>
                <a:r>
                  <a:rPr lang="en-US" sz="1400" dirty="0"/>
                  <a:t> are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sz="1600" b="0" i="1" smtClean="0"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de-DE" sz="1600" b="0" i="1" smtClean="0"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6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400" dirty="0"/>
                  <a:t>On the robot frame the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400" dirty="0"/>
                  <a:t> is on x axis at any time</a:t>
                </a:r>
              </a:p>
              <a:p>
                <a:pPr marL="0" indent="0">
                  <a:buNone/>
                </a:pPr>
                <a:r>
                  <a:rPr lang="en-US" sz="1400" dirty="0"/>
                  <a:t>The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400" dirty="0"/>
                  <a:t> is tangent to the robot motion curve</a:t>
                </a:r>
              </a:p>
              <a:p>
                <a:pPr marL="0" indent="0">
                  <a:buNone/>
                </a:pPr>
                <a:r>
                  <a:rPr lang="en-US" sz="1400" dirty="0"/>
                  <a:t>Lets call 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21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https://www.roboticsbook.org/S52_diffdrive_actions.html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11E53-544B-47FF-BB5A-DAC5D133A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579" y="2787382"/>
            <a:ext cx="2956073" cy="209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14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CF08881-9ABB-4AC2-AB9E-E45293CD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53" y="3372374"/>
            <a:ext cx="2130318" cy="15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i="1" dirty="0"/>
                  <a:t>The velocity of the robot in its frame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Body</m:t>
                          </m:r>
                          <m: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p>
                      </m:sSup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de-DE" sz="14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DE" sz="1400" b="0" i="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The velocity in the world frame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latin typeface="Cambria Math" panose="02040503050406030204" pitchFamily="18" charset="0"/>
                            </a:rPr>
                            <m:t>World</m:t>
                          </m:r>
                          <m: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p>
                      </m:sSup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e-D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de-D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de-DE" sz="1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DE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1" dirty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de-DE" sz="1400" b="0" i="1" dirty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de-DE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de-DE" sz="1400" b="0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de-DE" sz="1400" b="0" i="0" dirty="0" smtClean="0">
                                        <a:latin typeface="Cambria Math" panose="02040503050406030204" pitchFamily="18" charset="0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de-DE" sz="1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Combine the angular velocity with the linear one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400" b="0" i="0" dirty="0" smtClean="0">
                            <a:latin typeface="Cambria Math" panose="02040503050406030204" pitchFamily="18" charset="0"/>
                          </a:rPr>
                          <m:t>World</m:t>
                        </m:r>
                      </m:sup>
                    </m:sSup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de-DE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de-DE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de-DE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dirty="0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i="0" dirty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de-DE" sz="140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  <a:p>
                <a:pPr marL="0" indent="0">
                  <a:buNone/>
                </a:pP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400" b="0" i="0" dirty="0" smtClean="0">
                            <a:latin typeface="Cambria Math" panose="02040503050406030204" pitchFamily="18" charset="0"/>
                          </a:rPr>
                          <m:t>Body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dirty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de-DE" sz="1400" dirty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sz="14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de-DE" sz="1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221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5"/>
              </a:rPr>
              <a:t>https://www.roboticsbook.org/S52_diffdrive_actions.html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569979-614F-4480-8A05-BD1B28E693E2}"/>
                  </a:ext>
                </a:extLst>
              </p:cNvPr>
              <p:cNvSpPr txBox="1"/>
              <p:nvPr/>
            </p:nvSpPr>
            <p:spPr>
              <a:xfrm>
                <a:off x="6116452" y="906967"/>
                <a:ext cx="2809434" cy="379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e>
                            </m:acc>
                          </m:e>
                          <m:sub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  <m:r>
                          <a:rPr lang="de-DE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̇"/>
                            <m:ctrlP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569979-614F-4480-8A05-BD1B28E6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452" y="906967"/>
                <a:ext cx="2809434" cy="379463"/>
              </a:xfrm>
              <a:prstGeom prst="rect">
                <a:avLst/>
              </a:prstGeom>
              <a:blipFill>
                <a:blip r:embed="rId6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B6A39093-822B-4C88-A07C-8CF28415859D}"/>
              </a:ext>
            </a:extLst>
          </p:cNvPr>
          <p:cNvSpPr/>
          <p:nvPr/>
        </p:nvSpPr>
        <p:spPr>
          <a:xfrm>
            <a:off x="2407640" y="2809594"/>
            <a:ext cx="302004" cy="16037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BA302-3537-4832-8130-BCC4612771F9}"/>
                  </a:ext>
                </a:extLst>
              </p:cNvPr>
              <p:cNvSpPr txBox="1"/>
              <p:nvPr/>
            </p:nvSpPr>
            <p:spPr>
              <a:xfrm>
                <a:off x="2951096" y="2463512"/>
                <a:ext cx="3009573" cy="217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400" b="0" i="0" dirty="0" smtClean="0">
                            <a:latin typeface="Cambria Math" panose="02040503050406030204" pitchFamily="18" charset="0"/>
                          </a:rPr>
                          <m:t>World</m:t>
                        </m:r>
                      </m:sup>
                    </m:sSup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lang="de-DE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̇"/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sub>
                              </m:sSub>
                              <m:r>
                                <a:rPr lang="de-DE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de-DE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400" b="0" i="0" dirty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de-DE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∅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sub>
                                      </m:s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𝑳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  <m:func>
                                    <m:funcPr>
                                      <m:ctrlPr>
                                        <a:rPr lang="de-DE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dirty="0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de-DE" sz="1400" b="0" i="0" dirty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de-DE" sz="1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  <m:e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1400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∅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sub>
                                      </m:s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̇"/>
                                          <m:ctrlP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𝑳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  <a:p>
                <a:r>
                  <a:rPr lang="en-US" sz="1400" dirty="0"/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400" b="0" i="0" dirty="0" smtClean="0">
                              <a:latin typeface="Cambria Math" panose="02040503050406030204" pitchFamily="18" charset="0"/>
                            </a:rPr>
                            <m:t>Body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4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4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3BA302-3537-4832-8130-BCC461277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096" y="2463512"/>
                <a:ext cx="3009573" cy="21768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841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b="1" dirty="0"/>
                  <a:t>The Narrow Aisle Navigation Problem</a:t>
                </a:r>
              </a:p>
              <a:p>
                <a:r>
                  <a:rPr lang="en-US" sz="1400" dirty="0"/>
                  <a:t>The Warehouse AMR must enter a 1.2m wide aisle, rotate 90°, and exit.</a:t>
                </a:r>
              </a:p>
              <a:p>
                <a:pPr marL="0" indent="0">
                  <a:buNone/>
                </a:pPr>
                <a:r>
                  <a:rPr lang="en-US" sz="1400" b="1" dirty="0"/>
                  <a:t>Calculate the exact wheel speeds required to execute a "Zero-Radius Turn" without the chassis hitting the racks.</a:t>
                </a:r>
              </a:p>
              <a:p>
                <a:pPr marL="0" indent="0">
                  <a:buNone/>
                </a:pPr>
                <a:r>
                  <a:rPr lang="en-US" sz="1400" dirty="0"/>
                  <a:t>Zero-radius turn ⇒ robot’s linear velocity is zero,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l-GR" sz="1400" dirty="0">
                        <a:latin typeface="Cambria Math" panose="02040503050406030204" pitchFamily="18" charset="0"/>
                      </a:rPr>
                      <m:t>ϕ</m:t>
                    </m:r>
                    <m:sSub>
                      <m:sSubPr>
                        <m:ctrlPr>
                          <a:rPr lang="de-DE" sz="14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dirty="0">
                            <a:latin typeface="Cambria Math" panose="02040503050406030204" pitchFamily="18" charset="0"/>
                          </a:rPr>
                          <m:t>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dirty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sz="1400" dirty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l-GR" sz="1400" dirty="0">
                        <a:latin typeface="Cambria Math" panose="02040503050406030204" pitchFamily="18" charset="0"/>
                      </a:rPr>
                      <m:t>ϕ</m:t>
                    </m:r>
                    <m:sSub>
                      <m:sSubPr>
                        <m:ctrlPr>
                          <a:rPr lang="de-DE" sz="14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400" dirty="0">
                            <a:latin typeface="Cambria Math" panose="02040503050406030204" pitchFamily="18" charset="0"/>
                          </a:rPr>
                          <m:t>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dirty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400" dirty="0"/>
                  <a:t>given wheel radius </a:t>
                </a:r>
                <a:r>
                  <a:rPr lang="en-US" sz="1400" dirty="0">
                    <a:effectLst/>
                  </a:rPr>
                  <a:t>r</a:t>
                </a:r>
                <a:r>
                  <a:rPr lang="en-US" sz="1400" dirty="0"/>
                  <a:t>, distance between wheel centers L , and desired turn angle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in T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400" i="1" dirty="0" smtClean="0">
                              <a:effectLst/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de-DE" sz="1400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de-DE" sz="1400" b="0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sz="1800" dirty="0"/>
                  <a:t> = 0 -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1800" b="0" i="1" dirty="0" smtClean="0">
                            <a:latin typeface="Cambria Math" panose="02040503050406030204" pitchFamily="18" charset="0"/>
                          </a:rPr>
                          <m:t> .4 </m:t>
                        </m:r>
                        <m:r>
                          <a:rPr lang="de-DE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de-DE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1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rgbClr val="C00000"/>
                    </a:solidFill>
                  </a:rPr>
                  <a:t> ,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8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rgbClr val="C00000"/>
                        </a:solidFill>
                      </a:rPr>
                      <m:t> </m:t>
                    </m:r>
                    <m:f>
                      <m:fPr>
                        <m:ctrlP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260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3EE788-7AEA-4728-9F8E-F8F696C66890}"/>
              </a:ext>
            </a:extLst>
          </p:cNvPr>
          <p:cNvGrpSpPr/>
          <p:nvPr/>
        </p:nvGrpSpPr>
        <p:grpSpPr>
          <a:xfrm>
            <a:off x="4760280" y="3331383"/>
            <a:ext cx="2271530" cy="1500801"/>
            <a:chOff x="6686026" y="3380763"/>
            <a:chExt cx="2271530" cy="1500801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B2C63BF-DFD1-44D3-B9CB-1AC4A08E1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77640" y="3380763"/>
              <a:ext cx="1079916" cy="1500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420E1-A3B5-4DAE-A47F-53EDC5678F90}"/>
                </a:ext>
              </a:extLst>
            </p:cNvPr>
            <p:cNvGrpSpPr/>
            <p:nvPr/>
          </p:nvGrpSpPr>
          <p:grpSpPr>
            <a:xfrm>
              <a:off x="7457813" y="3702493"/>
              <a:ext cx="1499743" cy="1129564"/>
              <a:chOff x="7531428" y="3708266"/>
              <a:chExt cx="1426128" cy="100558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DA05972-8972-4BC7-9816-5EE46E12ECE6}"/>
                  </a:ext>
                </a:extLst>
              </p:cNvPr>
              <p:cNvGrpSpPr/>
              <p:nvPr/>
            </p:nvGrpSpPr>
            <p:grpSpPr>
              <a:xfrm>
                <a:off x="7531428" y="3861564"/>
                <a:ext cx="1426128" cy="852288"/>
                <a:chOff x="5486400" y="3662776"/>
                <a:chExt cx="1426128" cy="852288"/>
              </a:xfrm>
            </p:grpSpPr>
            <p:sp>
              <p:nvSpPr>
                <p:cNvPr id="10" name="Flowchart: Magnetic Disk 9">
                  <a:extLst>
                    <a:ext uri="{FF2B5EF4-FFF2-40B4-BE49-F238E27FC236}">
                      <a16:creationId xmlns:a16="http://schemas.microsoft.com/office/drawing/2014/main" id="{2ADB21D9-B7EF-43ED-A89B-58BCF1322552}"/>
                    </a:ext>
                  </a:extLst>
                </p:cNvPr>
                <p:cNvSpPr/>
                <p:nvPr/>
              </p:nvSpPr>
              <p:spPr>
                <a:xfrm rot="5400000">
                  <a:off x="5658488" y="3913789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ube 7">
                  <a:extLst>
                    <a:ext uri="{FF2B5EF4-FFF2-40B4-BE49-F238E27FC236}">
                      <a16:creationId xmlns:a16="http://schemas.microsoft.com/office/drawing/2014/main" id="{1AC91677-A7CE-443E-B518-3CF4A7316189}"/>
                    </a:ext>
                  </a:extLst>
                </p:cNvPr>
                <p:cNvSpPr/>
                <p:nvPr/>
              </p:nvSpPr>
              <p:spPr>
                <a:xfrm>
                  <a:off x="5486400" y="3733101"/>
                  <a:ext cx="1426128" cy="781963"/>
                </a:xfrm>
                <a:prstGeom prst="cube">
                  <a:avLst>
                    <a:gd name="adj" fmla="val 7756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lowchart: Magnetic Disk 8">
                  <a:extLst>
                    <a:ext uri="{FF2B5EF4-FFF2-40B4-BE49-F238E27FC236}">
                      <a16:creationId xmlns:a16="http://schemas.microsoft.com/office/drawing/2014/main" id="{4200872E-4E89-43AF-8BCA-4639D62B46DB}"/>
                    </a:ext>
                  </a:extLst>
                </p:cNvPr>
                <p:cNvSpPr/>
                <p:nvPr/>
              </p:nvSpPr>
              <p:spPr>
                <a:xfrm rot="5400000">
                  <a:off x="6532195" y="3974925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Arrow: Curved Left 11">
                  <a:extLst>
                    <a:ext uri="{FF2B5EF4-FFF2-40B4-BE49-F238E27FC236}">
                      <a16:creationId xmlns:a16="http://schemas.microsoft.com/office/drawing/2014/main" id="{42CDE1AA-68E5-4C09-B6F3-682DF18D0E5C}"/>
                    </a:ext>
                  </a:extLst>
                </p:cNvPr>
                <p:cNvSpPr/>
                <p:nvPr/>
              </p:nvSpPr>
              <p:spPr>
                <a:xfrm>
                  <a:off x="6189189" y="3662776"/>
                  <a:ext cx="369116" cy="721453"/>
                </a:xfrm>
                <a:prstGeom prst="curvedLeftArrow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397397-C427-421D-9674-2810136720BC}"/>
                  </a:ext>
                </a:extLst>
              </p:cNvPr>
              <p:cNvGrpSpPr/>
              <p:nvPr/>
            </p:nvGrpSpPr>
            <p:grpSpPr>
              <a:xfrm rot="941600">
                <a:off x="7989527" y="3708266"/>
                <a:ext cx="313233" cy="680478"/>
                <a:chOff x="679445" y="2186563"/>
                <a:chExt cx="839999" cy="157871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357B57B-7189-4D6E-8A0D-A417B7BF3FBC}"/>
                    </a:ext>
                  </a:extLst>
                </p:cNvPr>
                <p:cNvGrpSpPr/>
                <p:nvPr/>
              </p:nvGrpSpPr>
              <p:grpSpPr>
                <a:xfrm>
                  <a:off x="679445" y="2186563"/>
                  <a:ext cx="839999" cy="1578711"/>
                  <a:chOff x="1082780" y="2002005"/>
                  <a:chExt cx="839999" cy="1578711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9327B294-8C05-4CA0-8120-131C41B89074}"/>
                      </a:ext>
                    </a:extLst>
                  </p:cNvPr>
                  <p:cNvCxnSpPr>
                    <a:cxnSpLocks/>
                    <a:stCxn id="16" idx="2"/>
                  </p:cNvCxnSpPr>
                  <p:nvPr/>
                </p:nvCxnSpPr>
                <p:spPr>
                  <a:xfrm rot="20658400" flipH="1" flipV="1">
                    <a:off x="1082780" y="3089316"/>
                    <a:ext cx="697612" cy="20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FF0E86F3-3DAF-47C0-BF96-2F9AAE72F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 flipV="1">
                    <a:off x="1613790" y="2002005"/>
                    <a:ext cx="51502" cy="105205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835E7EE-BAF5-4F60-BD02-839B1E07AA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>
                    <a:off x="1427816" y="3073184"/>
                    <a:ext cx="494963" cy="5075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BE8FEDC-3162-4816-9107-F64D9B36D82D}"/>
                    </a:ext>
                  </a:extLst>
                </p:cNvPr>
                <p:cNvSpPr/>
                <p:nvPr/>
              </p:nvSpPr>
              <p:spPr>
                <a:xfrm>
                  <a:off x="1367406" y="3162650"/>
                  <a:ext cx="125830" cy="10903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8FBC38A-EF8B-4240-97CC-9F80BBD48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6026" y="4713852"/>
              <a:ext cx="1191614" cy="167712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F89EC9-8B53-4694-947D-13180F4F22E5}"/>
                  </a:ext>
                </a:extLst>
              </p:cNvPr>
              <p:cNvSpPr txBox="1"/>
              <p:nvPr/>
            </p:nvSpPr>
            <p:spPr>
              <a:xfrm>
                <a:off x="7377177" y="2812380"/>
                <a:ext cx="1751552" cy="903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200" dirty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de-DE" sz="1200" b="0" i="0" dirty="0" smtClean="0">
                              <a:latin typeface="Cambria Math" panose="02040503050406030204" pitchFamily="18" charset="0"/>
                            </a:rPr>
                            <m:t>Body</m:t>
                          </m:r>
                        </m:sup>
                      </m:sSup>
                      <m:r>
                        <a:rPr lang="en-US" sz="12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2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12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∅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sub>
                                    </m:s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2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de-DE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F89EC9-8B53-4694-947D-13180F4F2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177" y="2812380"/>
                <a:ext cx="1751552" cy="9030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048D5C-0ACF-4362-9E6B-45737E0E7E1A}"/>
                  </a:ext>
                </a:extLst>
              </p:cNvPr>
              <p:cNvSpPr txBox="1"/>
              <p:nvPr/>
            </p:nvSpPr>
            <p:spPr>
              <a:xfrm>
                <a:off x="8037046" y="1932494"/>
                <a:ext cx="2478006" cy="882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acc>
                        </m:e>
                        <m:sub>
                          <m:r>
                            <a:rPr lang="de-DE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de-DE" sz="1200" b="0" dirty="0">
                  <a:ea typeface="Cambria Math" panose="02040503050406030204" pitchFamily="18" charset="0"/>
                </a:endParaRPr>
              </a:p>
              <a:p>
                <a:pPr/>
                <a:endParaRPr lang="de-DE" sz="12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acc>
                      </m:e>
                      <m:sub>
                        <m:r>
                          <a:rPr lang="de-DE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de-DE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de-DE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de-DE" sz="1200" dirty="0">
                    <a:ea typeface="Cambria Math" panose="02040503050406030204" pitchFamily="18" charset="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5048D5C-0ACF-4362-9E6B-45737E0E7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046" y="1932494"/>
                <a:ext cx="2478006" cy="8828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90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Warehouse AMR is on position (0,0,0) and wants to go to the delivery position on (0,2,x)</a:t>
            </a:r>
          </a:p>
          <a:p>
            <a:r>
              <a:rPr lang="en-US" dirty="0"/>
              <a:t>How to go there?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a planner output</a:t>
            </a:r>
          </a:p>
          <a:p>
            <a:r>
              <a:rPr lang="en-US" dirty="0"/>
              <a:t>Move left 2 meters.</a:t>
            </a:r>
          </a:p>
          <a:p>
            <a:endParaRPr lang="en-US" dirty="0"/>
          </a:p>
          <a:p>
            <a:r>
              <a:rPr lang="en-US" dirty="0"/>
              <a:t>What is your opinion?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6AB045-708D-4CC7-93B5-2F7E475DF7F4}"/>
              </a:ext>
            </a:extLst>
          </p:cNvPr>
          <p:cNvGrpSpPr/>
          <p:nvPr/>
        </p:nvGrpSpPr>
        <p:grpSpPr>
          <a:xfrm>
            <a:off x="6384022" y="2058934"/>
            <a:ext cx="2429410" cy="2240581"/>
            <a:chOff x="5481408" y="1979802"/>
            <a:chExt cx="2429410" cy="224058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2150E3-84F6-44C1-A6EC-5806242B6683}"/>
                </a:ext>
              </a:extLst>
            </p:cNvPr>
            <p:cNvCxnSpPr/>
            <p:nvPr/>
          </p:nvCxnSpPr>
          <p:spPr>
            <a:xfrm>
              <a:off x="5729681" y="1979802"/>
              <a:ext cx="0" cy="218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94BE70-3AF8-458B-B588-DD6B9294BDF1}"/>
                </a:ext>
              </a:extLst>
            </p:cNvPr>
            <p:cNvSpPr/>
            <p:nvPr/>
          </p:nvSpPr>
          <p:spPr>
            <a:xfrm>
              <a:off x="5669622" y="3955570"/>
              <a:ext cx="185889" cy="20972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B2BC44-6A81-4D7C-9463-0A1B839F2B0C}"/>
                </a:ext>
              </a:extLst>
            </p:cNvPr>
            <p:cNvCxnSpPr/>
            <p:nvPr/>
          </p:nvCxnSpPr>
          <p:spPr>
            <a:xfrm>
              <a:off x="5729681" y="4160939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FDE86B-8646-4B64-B928-4955D81696E2}"/>
                </a:ext>
              </a:extLst>
            </p:cNvPr>
            <p:cNvCxnSpPr/>
            <p:nvPr/>
          </p:nvCxnSpPr>
          <p:spPr>
            <a:xfrm>
              <a:off x="5729681" y="370094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D0F210-B8E1-4E1B-B165-4D57A0713FDD}"/>
                </a:ext>
              </a:extLst>
            </p:cNvPr>
            <p:cNvCxnSpPr/>
            <p:nvPr/>
          </p:nvCxnSpPr>
          <p:spPr>
            <a:xfrm>
              <a:off x="5729681" y="3222771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045DDE-D21F-456C-B22F-C98E807FDD01}"/>
                </a:ext>
              </a:extLst>
            </p:cNvPr>
            <p:cNvCxnSpPr/>
            <p:nvPr/>
          </p:nvCxnSpPr>
          <p:spPr>
            <a:xfrm>
              <a:off x="5729681" y="270265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5E3282-3E4A-46DE-99DC-8FD3DA36A894}"/>
                </a:ext>
              </a:extLst>
            </p:cNvPr>
            <p:cNvCxnSpPr/>
            <p:nvPr/>
          </p:nvCxnSpPr>
          <p:spPr>
            <a:xfrm>
              <a:off x="5729681" y="2182536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DABC56-F394-45BC-981C-4236D5D2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4022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EBE76AB-C0F8-4B69-AE1C-28EDDB006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4928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DDDB0A-563A-4605-9389-C3961D7B6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7325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C958F803-A532-415E-88BE-79AC8DD874D8}"/>
                </a:ext>
              </a:extLst>
            </p:cNvPr>
            <p:cNvSpPr/>
            <p:nvPr/>
          </p:nvSpPr>
          <p:spPr>
            <a:xfrm>
              <a:off x="5481408" y="4010659"/>
              <a:ext cx="679574" cy="209724"/>
            </a:xfrm>
            <a:prstGeom prst="cube">
              <a:avLst>
                <a:gd name="adj" fmla="val 607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80356D-99B1-44CD-AC19-9BA3D68E8E51}"/>
                </a:ext>
              </a:extLst>
            </p:cNvPr>
            <p:cNvSpPr/>
            <p:nvPr/>
          </p:nvSpPr>
          <p:spPr>
            <a:xfrm>
              <a:off x="5644393" y="3138181"/>
              <a:ext cx="211118" cy="19663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A285ADF-A7B6-4C67-B229-20C5FAF84647}"/>
              </a:ext>
            </a:extLst>
          </p:cNvPr>
          <p:cNvSpPr txBox="1"/>
          <p:nvPr/>
        </p:nvSpPr>
        <p:spPr>
          <a:xfrm>
            <a:off x="6298232" y="4100236"/>
            <a:ext cx="42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😏</a:t>
            </a:r>
          </a:p>
        </p:txBody>
      </p:sp>
    </p:spTree>
    <p:extLst>
      <p:ext uri="{BB962C8B-B14F-4D97-AF65-F5344CB8AC3E}">
        <p14:creationId xmlns:p14="http://schemas.microsoft.com/office/powerpoint/2010/main" val="299207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Warehouse AMR is on position (0,0,0) and wants to go to the delivery position on (0,2,x)</a:t>
            </a:r>
          </a:p>
          <a:p>
            <a:r>
              <a:rPr lang="en-US" dirty="0"/>
              <a:t>How to go there?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a planner output</a:t>
            </a:r>
          </a:p>
          <a:p>
            <a:r>
              <a:rPr lang="en-US" dirty="0"/>
              <a:t>Move left 2 meters.</a:t>
            </a:r>
          </a:p>
          <a:p>
            <a:r>
              <a:rPr lang="en-US" dirty="0">
                <a:solidFill>
                  <a:srgbClr val="C00000"/>
                </a:solidFill>
              </a:rPr>
              <a:t>Why can't the robot simply move sideways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6AB045-708D-4CC7-93B5-2F7E475DF7F4}"/>
              </a:ext>
            </a:extLst>
          </p:cNvPr>
          <p:cNvGrpSpPr/>
          <p:nvPr/>
        </p:nvGrpSpPr>
        <p:grpSpPr>
          <a:xfrm>
            <a:off x="6384022" y="2058934"/>
            <a:ext cx="2429410" cy="2240581"/>
            <a:chOff x="5481408" y="1979802"/>
            <a:chExt cx="2429410" cy="224058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2150E3-84F6-44C1-A6EC-5806242B6683}"/>
                </a:ext>
              </a:extLst>
            </p:cNvPr>
            <p:cNvCxnSpPr/>
            <p:nvPr/>
          </p:nvCxnSpPr>
          <p:spPr>
            <a:xfrm>
              <a:off x="5729681" y="1979802"/>
              <a:ext cx="0" cy="218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94BE70-3AF8-458B-B588-DD6B9294BDF1}"/>
                </a:ext>
              </a:extLst>
            </p:cNvPr>
            <p:cNvSpPr/>
            <p:nvPr/>
          </p:nvSpPr>
          <p:spPr>
            <a:xfrm>
              <a:off x="5669622" y="3955570"/>
              <a:ext cx="185889" cy="209721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B2BC44-6A81-4D7C-9463-0A1B839F2B0C}"/>
                </a:ext>
              </a:extLst>
            </p:cNvPr>
            <p:cNvCxnSpPr/>
            <p:nvPr/>
          </p:nvCxnSpPr>
          <p:spPr>
            <a:xfrm>
              <a:off x="5729681" y="4160939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FDE86B-8646-4B64-B928-4955D81696E2}"/>
                </a:ext>
              </a:extLst>
            </p:cNvPr>
            <p:cNvCxnSpPr/>
            <p:nvPr/>
          </p:nvCxnSpPr>
          <p:spPr>
            <a:xfrm>
              <a:off x="5729681" y="370094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D0F210-B8E1-4E1B-B165-4D57A0713FDD}"/>
                </a:ext>
              </a:extLst>
            </p:cNvPr>
            <p:cNvCxnSpPr/>
            <p:nvPr/>
          </p:nvCxnSpPr>
          <p:spPr>
            <a:xfrm>
              <a:off x="5729681" y="3222771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045DDE-D21F-456C-B22F-C98E807FDD01}"/>
                </a:ext>
              </a:extLst>
            </p:cNvPr>
            <p:cNvCxnSpPr/>
            <p:nvPr/>
          </p:nvCxnSpPr>
          <p:spPr>
            <a:xfrm>
              <a:off x="5729681" y="2702653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5E3282-3E4A-46DE-99DC-8FD3DA36A894}"/>
                </a:ext>
              </a:extLst>
            </p:cNvPr>
            <p:cNvCxnSpPr/>
            <p:nvPr/>
          </p:nvCxnSpPr>
          <p:spPr>
            <a:xfrm>
              <a:off x="5729681" y="2182536"/>
              <a:ext cx="21811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DABC56-F394-45BC-981C-4236D5D2C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4022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EBE76AB-C0F8-4B69-AE1C-28EDDB006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4928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DDDB0A-563A-4605-9389-C3961D7B6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7325" y="2182536"/>
              <a:ext cx="0" cy="19784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C958F803-A532-415E-88BE-79AC8DD874D8}"/>
                </a:ext>
              </a:extLst>
            </p:cNvPr>
            <p:cNvSpPr/>
            <p:nvPr/>
          </p:nvSpPr>
          <p:spPr>
            <a:xfrm>
              <a:off x="5481408" y="4010659"/>
              <a:ext cx="679574" cy="209724"/>
            </a:xfrm>
            <a:prstGeom prst="cube">
              <a:avLst>
                <a:gd name="adj" fmla="val 607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980356D-99B1-44CD-AC19-9BA3D68E8E51}"/>
                </a:ext>
              </a:extLst>
            </p:cNvPr>
            <p:cNvSpPr/>
            <p:nvPr/>
          </p:nvSpPr>
          <p:spPr>
            <a:xfrm>
              <a:off x="5644393" y="3138181"/>
              <a:ext cx="211118" cy="196638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A285ADF-A7B6-4C67-B229-20C5FAF84647}"/>
              </a:ext>
            </a:extLst>
          </p:cNvPr>
          <p:cNvSpPr txBox="1"/>
          <p:nvPr/>
        </p:nvSpPr>
        <p:spPr>
          <a:xfrm>
            <a:off x="6298232" y="4100236"/>
            <a:ext cx="42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😏</a:t>
            </a:r>
          </a:p>
        </p:txBody>
      </p:sp>
    </p:spTree>
    <p:extLst>
      <p:ext uri="{BB962C8B-B14F-4D97-AF65-F5344CB8AC3E}">
        <p14:creationId xmlns:p14="http://schemas.microsoft.com/office/powerpoint/2010/main" val="1629456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6612922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There is a constrain</a:t>
                </a:r>
              </a:p>
              <a:p>
                <a:pPr lvl="1"/>
                <a:r>
                  <a:rPr lang="en-US" sz="1600" dirty="0"/>
                  <a:t>a </a:t>
                </a:r>
                <a:r>
                  <a:rPr lang="en-US" sz="1600" b="1" dirty="0"/>
                  <a:t>constraint</a:t>
                </a:r>
                <a:r>
                  <a:rPr lang="en-US" sz="1600" dirty="0"/>
                  <a:t> is any condition that restricts the possible motions or configurations of a system.</a:t>
                </a:r>
              </a:p>
              <a:p>
                <a:r>
                  <a:rPr lang="en-US" sz="1600" dirty="0"/>
                  <a:t>A </a:t>
                </a:r>
                <a:r>
                  <a:rPr lang="en-US" sz="1600" b="1" dirty="0"/>
                  <a:t>non-holonomic constraint</a:t>
                </a:r>
                <a:r>
                  <a:rPr lang="en-US" sz="1600" dirty="0"/>
                  <a:t> involves velocities and </a:t>
                </a:r>
                <a:r>
                  <a:rPr lang="en-US" sz="1600" i="1" dirty="0"/>
                  <a:t>cannot</a:t>
                </a:r>
                <a:r>
                  <a:rPr lang="en-US" sz="1600" dirty="0"/>
                  <a:t> be integrated into a position-only equation.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For example the wheels roll without slipping, meaning the robot can only move in the direction it is currently facing.</a:t>
                </a:r>
              </a:p>
              <a:p>
                <a:r>
                  <a:rPr lang="en-US" sz="1600" dirty="0"/>
                  <a:t>velocity component perpendicular to the heading must be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/>
                        <m:t>𝑥</m:t>
                      </m:r>
                      <m:r>
                        <a:rPr lang="en-US" sz="1600" i="1" dirty="0" smtClean="0"/>
                        <m:t>˙</m:t>
                      </m:r>
                      <m:func>
                        <m:funcPr>
                          <m:ctrlPr>
                            <a:rPr lang="en-US" sz="1600" i="1" dirty="0" smtClean="0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 dirty="0" smtClean="0"/>
                            <m:t>sin</m:t>
                          </m:r>
                        </m:fName>
                        <m:e>
                          <m:r>
                            <a:rPr lang="el-GR" sz="1600" i="1" dirty="0" smtClean="0"/>
                            <m:t>𝜃</m:t>
                          </m:r>
                        </m:e>
                      </m:func>
                      <m:r>
                        <a:rPr lang="el-GR" sz="1600" i="1" dirty="0" smtClean="0"/>
                        <m:t>−</m:t>
                      </m:r>
                      <m:r>
                        <a:rPr lang="en-US" sz="1600" i="1" dirty="0" err="1" smtClean="0"/>
                        <m:t>𝑦</m:t>
                      </m:r>
                      <m:r>
                        <a:rPr lang="en-US" sz="1600" i="1" dirty="0" err="1" smtClean="0"/>
                        <m:t>˙</m:t>
                      </m:r>
                      <m:func>
                        <m:funcPr>
                          <m:ctrlPr>
                            <a:rPr lang="en-US" sz="1600" i="1" dirty="0" smtClean="0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 dirty="0" err="1" smtClean="0"/>
                            <m:t>cos</m:t>
                          </m:r>
                        </m:fName>
                        <m:e>
                          <m:r>
                            <a:rPr lang="el-GR" sz="1600" i="1" dirty="0" smtClean="0"/>
                            <m:t>𝜃</m:t>
                          </m:r>
                        </m:e>
                      </m:func>
                      <m:r>
                        <a:rPr lang="el-GR" sz="1600" i="1" dirty="0" smtClean="0"/>
                        <m:t>=0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b="1" dirty="0"/>
                  <a:t>Why can't we integrate it?</a:t>
                </a:r>
                <a:r>
                  <a:rPr lang="en-US" sz="1600" dirty="0"/>
                  <a:t> If we try to integrate this equation to get a position-only constraint, we fail because θ itself changes over time as the robot steers.</a:t>
                </a: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6612922" cy="3645984"/>
              </a:xfrm>
              <a:blipFill>
                <a:blip r:embed="rId2"/>
                <a:stretch>
                  <a:fillRect l="-369" t="-1171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7A7747-6E8D-4D3F-911E-4A0130DB6DF4}"/>
              </a:ext>
            </a:extLst>
          </p:cNvPr>
          <p:cNvGrpSpPr/>
          <p:nvPr/>
        </p:nvGrpSpPr>
        <p:grpSpPr>
          <a:xfrm>
            <a:off x="7186013" y="2322268"/>
            <a:ext cx="1749836" cy="1706197"/>
            <a:chOff x="6298232" y="2058934"/>
            <a:chExt cx="2515200" cy="24369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F6AB045-708D-4CC7-93B5-2F7E475DF7F4}"/>
                </a:ext>
              </a:extLst>
            </p:cNvPr>
            <p:cNvGrpSpPr/>
            <p:nvPr/>
          </p:nvGrpSpPr>
          <p:grpSpPr>
            <a:xfrm>
              <a:off x="6384022" y="2058934"/>
              <a:ext cx="2429410" cy="2240581"/>
              <a:chOff x="5481408" y="1979802"/>
              <a:chExt cx="2429410" cy="224058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72150E3-84F6-44C1-A6EC-5806242B6683}"/>
                  </a:ext>
                </a:extLst>
              </p:cNvPr>
              <p:cNvCxnSpPr/>
              <p:nvPr/>
            </p:nvCxnSpPr>
            <p:spPr>
              <a:xfrm>
                <a:off x="5729681" y="1979802"/>
                <a:ext cx="0" cy="21811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E94BE70-3AF8-458B-B588-DD6B9294BDF1}"/>
                  </a:ext>
                </a:extLst>
              </p:cNvPr>
              <p:cNvSpPr/>
              <p:nvPr/>
            </p:nvSpPr>
            <p:spPr>
              <a:xfrm>
                <a:off x="5669622" y="3955570"/>
                <a:ext cx="185889" cy="20972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B2BC44-6A81-4D7C-9463-0A1B839F2B0C}"/>
                  </a:ext>
                </a:extLst>
              </p:cNvPr>
              <p:cNvCxnSpPr/>
              <p:nvPr/>
            </p:nvCxnSpPr>
            <p:spPr>
              <a:xfrm>
                <a:off x="5729681" y="4160939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1FDE86B-8646-4B64-B928-4955D81696E2}"/>
                  </a:ext>
                </a:extLst>
              </p:cNvPr>
              <p:cNvCxnSpPr/>
              <p:nvPr/>
            </p:nvCxnSpPr>
            <p:spPr>
              <a:xfrm>
                <a:off x="5729681" y="370094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D0F210-B8E1-4E1B-B165-4D57A0713FDD}"/>
                  </a:ext>
                </a:extLst>
              </p:cNvPr>
              <p:cNvCxnSpPr/>
              <p:nvPr/>
            </p:nvCxnSpPr>
            <p:spPr>
              <a:xfrm>
                <a:off x="5729681" y="3222771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7045DDE-D21F-456C-B22F-C98E807FDD01}"/>
                  </a:ext>
                </a:extLst>
              </p:cNvPr>
              <p:cNvCxnSpPr/>
              <p:nvPr/>
            </p:nvCxnSpPr>
            <p:spPr>
              <a:xfrm>
                <a:off x="5729681" y="270265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75E3282-3E4A-46DE-99DC-8FD3DA36A894}"/>
                  </a:ext>
                </a:extLst>
              </p:cNvPr>
              <p:cNvCxnSpPr/>
              <p:nvPr/>
            </p:nvCxnSpPr>
            <p:spPr>
              <a:xfrm>
                <a:off x="5729681" y="2182536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3DABC56-F394-45BC-981C-4236D5D2C5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4022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EBE76AB-C0F8-4B69-AE1C-28EDDB0064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4928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2DDDB0A-563A-4605-9389-C3961D7B68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7325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C958F803-A532-415E-88BE-79AC8DD874D8}"/>
                  </a:ext>
                </a:extLst>
              </p:cNvPr>
              <p:cNvSpPr/>
              <p:nvPr/>
            </p:nvSpPr>
            <p:spPr>
              <a:xfrm>
                <a:off x="5481408" y="4010659"/>
                <a:ext cx="679574" cy="209724"/>
              </a:xfrm>
              <a:prstGeom prst="cube">
                <a:avLst>
                  <a:gd name="adj" fmla="val 607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980356D-99B1-44CD-AC19-9BA3D68E8E51}"/>
                  </a:ext>
                </a:extLst>
              </p:cNvPr>
              <p:cNvSpPr/>
              <p:nvPr/>
            </p:nvSpPr>
            <p:spPr>
              <a:xfrm>
                <a:off x="5644393" y="3138181"/>
                <a:ext cx="211118" cy="19663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285ADF-A7B6-4C67-B229-20C5FAF84647}"/>
                </a:ext>
              </a:extLst>
            </p:cNvPr>
            <p:cNvSpPr txBox="1"/>
            <p:nvPr/>
          </p:nvSpPr>
          <p:spPr>
            <a:xfrm>
              <a:off x="6298232" y="4100235"/>
              <a:ext cx="480509" cy="395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665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robot should move on specific rail? </a:t>
            </a:r>
          </a:p>
          <a:p>
            <a:r>
              <a:rPr lang="en-US" dirty="0"/>
              <a:t>Is that limiting the velocities? </a:t>
            </a:r>
          </a:p>
          <a:p>
            <a:r>
              <a:rPr lang="en-US" dirty="0"/>
              <a:t>Can we reach the goal?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7A7747-6E8D-4D3F-911E-4A0130DB6DF4}"/>
              </a:ext>
            </a:extLst>
          </p:cNvPr>
          <p:cNvGrpSpPr/>
          <p:nvPr/>
        </p:nvGrpSpPr>
        <p:grpSpPr>
          <a:xfrm>
            <a:off x="7350024" y="3194309"/>
            <a:ext cx="1749836" cy="1706197"/>
            <a:chOff x="6298232" y="2058934"/>
            <a:chExt cx="2515200" cy="24369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F6AB045-708D-4CC7-93B5-2F7E475DF7F4}"/>
                </a:ext>
              </a:extLst>
            </p:cNvPr>
            <p:cNvGrpSpPr/>
            <p:nvPr/>
          </p:nvGrpSpPr>
          <p:grpSpPr>
            <a:xfrm>
              <a:off x="6384022" y="2058934"/>
              <a:ext cx="2429410" cy="2240581"/>
              <a:chOff x="5481408" y="1979802"/>
              <a:chExt cx="2429410" cy="224058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72150E3-84F6-44C1-A6EC-5806242B6683}"/>
                  </a:ext>
                </a:extLst>
              </p:cNvPr>
              <p:cNvCxnSpPr/>
              <p:nvPr/>
            </p:nvCxnSpPr>
            <p:spPr>
              <a:xfrm>
                <a:off x="5729681" y="1979802"/>
                <a:ext cx="0" cy="21811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E94BE70-3AF8-458B-B588-DD6B9294BDF1}"/>
                  </a:ext>
                </a:extLst>
              </p:cNvPr>
              <p:cNvSpPr/>
              <p:nvPr/>
            </p:nvSpPr>
            <p:spPr>
              <a:xfrm>
                <a:off x="5669622" y="3955570"/>
                <a:ext cx="185889" cy="20972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CB2BC44-6A81-4D7C-9463-0A1B839F2B0C}"/>
                  </a:ext>
                </a:extLst>
              </p:cNvPr>
              <p:cNvCxnSpPr/>
              <p:nvPr/>
            </p:nvCxnSpPr>
            <p:spPr>
              <a:xfrm>
                <a:off x="5729681" y="4160939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1FDE86B-8646-4B64-B928-4955D81696E2}"/>
                  </a:ext>
                </a:extLst>
              </p:cNvPr>
              <p:cNvCxnSpPr/>
              <p:nvPr/>
            </p:nvCxnSpPr>
            <p:spPr>
              <a:xfrm>
                <a:off x="5729681" y="370094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D0F210-B8E1-4E1B-B165-4D57A0713FDD}"/>
                  </a:ext>
                </a:extLst>
              </p:cNvPr>
              <p:cNvCxnSpPr/>
              <p:nvPr/>
            </p:nvCxnSpPr>
            <p:spPr>
              <a:xfrm>
                <a:off x="5729681" y="3222771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7045DDE-D21F-456C-B22F-C98E807FDD01}"/>
                  </a:ext>
                </a:extLst>
              </p:cNvPr>
              <p:cNvCxnSpPr/>
              <p:nvPr/>
            </p:nvCxnSpPr>
            <p:spPr>
              <a:xfrm>
                <a:off x="5729681" y="270265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75E3282-3E4A-46DE-99DC-8FD3DA36A894}"/>
                  </a:ext>
                </a:extLst>
              </p:cNvPr>
              <p:cNvCxnSpPr/>
              <p:nvPr/>
            </p:nvCxnSpPr>
            <p:spPr>
              <a:xfrm>
                <a:off x="5729681" y="2182536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3DABC56-F394-45BC-981C-4236D5D2C5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4022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EBE76AB-C0F8-4B69-AE1C-28EDDB0064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4928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2DDDB0A-563A-4605-9389-C3961D7B68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7325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C958F803-A532-415E-88BE-79AC8DD874D8}"/>
                  </a:ext>
                </a:extLst>
              </p:cNvPr>
              <p:cNvSpPr/>
              <p:nvPr/>
            </p:nvSpPr>
            <p:spPr>
              <a:xfrm>
                <a:off x="5481408" y="4010659"/>
                <a:ext cx="679574" cy="209724"/>
              </a:xfrm>
              <a:prstGeom prst="cube">
                <a:avLst>
                  <a:gd name="adj" fmla="val 607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980356D-99B1-44CD-AC19-9BA3D68E8E51}"/>
                  </a:ext>
                </a:extLst>
              </p:cNvPr>
              <p:cNvSpPr/>
              <p:nvPr/>
            </p:nvSpPr>
            <p:spPr>
              <a:xfrm>
                <a:off x="5644393" y="3138181"/>
                <a:ext cx="211118" cy="19663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285ADF-A7B6-4C67-B229-20C5FAF84647}"/>
                </a:ext>
              </a:extLst>
            </p:cNvPr>
            <p:cNvSpPr txBox="1"/>
            <p:nvPr/>
          </p:nvSpPr>
          <p:spPr>
            <a:xfrm>
              <a:off x="6298232" y="4100235"/>
              <a:ext cx="480509" cy="395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😏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5216EE93-0547-4EF7-86BC-BABF04DF0BA2}"/>
              </a:ext>
            </a:extLst>
          </p:cNvPr>
          <p:cNvSpPr/>
          <p:nvPr/>
        </p:nvSpPr>
        <p:spPr>
          <a:xfrm>
            <a:off x="6786694" y="3045463"/>
            <a:ext cx="1724676" cy="16337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6614490" cy="364598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What if the robot should move on specific rail? </a:t>
                </a:r>
              </a:p>
              <a:p>
                <a:r>
                  <a:rPr lang="en-US" dirty="0"/>
                  <a:t>Is that limiting the velocities? </a:t>
                </a:r>
              </a:p>
              <a:p>
                <a:pPr lvl="1"/>
                <a:r>
                  <a:rPr lang="en-US" dirty="0"/>
                  <a:t>Holonomic constrain only restrict the configuration variables (positions and angles), </a:t>
                </a:r>
                <a:r>
                  <a:rPr lang="en-US" i="1" dirty="0"/>
                  <a:t>not</a:t>
                </a:r>
                <a:r>
                  <a:rPr lang="en-US" dirty="0"/>
                  <a:t> their time derivatives (velocities).</a:t>
                </a:r>
              </a:p>
              <a:p>
                <a:pPr lvl="1"/>
                <a:r>
                  <a:rPr lang="en-US" dirty="0"/>
                  <a:t>Holonomic constraints reduce the </a:t>
                </a:r>
                <a:r>
                  <a:rPr lang="en-US" i="1" dirty="0"/>
                  <a:t>dimension</a:t>
                </a:r>
                <a:r>
                  <a:rPr lang="en-US" dirty="0"/>
                  <a:t> of the configuration space, e.g. from 2D to 1D. </a:t>
                </a:r>
              </a:p>
              <a:p>
                <a:pPr lvl="1"/>
                <a:endParaRPr lang="en-US" b="1" dirty="0"/>
              </a:p>
              <a:p>
                <a:pPr lvl="1"/>
                <a:r>
                  <a:rPr lang="en-US" b="1" dirty="0"/>
                  <a:t>Robot on a circular rail:</a:t>
                </a:r>
                <a:r>
                  <a:rPr lang="en-US" dirty="0"/>
                  <a:t> A warehouse robot </a:t>
                </a:r>
              </a:p>
              <a:p>
                <a:pPr lvl="1"/>
                <a:r>
                  <a:rPr lang="en-US" dirty="0"/>
                  <a:t>constrained to ride on a circular guide rail of radius R satisfies: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^2+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^2=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^2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FF5211-714D-46A3-BCB2-33428A5F4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6614490" cy="3645984"/>
              </a:xfrm>
              <a:blipFill>
                <a:blip r:embed="rId2"/>
                <a:stretch>
                  <a:fillRect l="-1198" t="-3177" b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A655D2-904C-49CF-8FB9-2C70E17D281C}"/>
              </a:ext>
            </a:extLst>
          </p:cNvPr>
          <p:cNvGrpSpPr/>
          <p:nvPr/>
        </p:nvGrpSpPr>
        <p:grpSpPr>
          <a:xfrm>
            <a:off x="7350024" y="3194309"/>
            <a:ext cx="1749836" cy="1706197"/>
            <a:chOff x="6298232" y="2058934"/>
            <a:chExt cx="2515200" cy="243693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08F6D4E-FDA6-46CD-8977-7B8B6D33EA5D}"/>
                </a:ext>
              </a:extLst>
            </p:cNvPr>
            <p:cNvGrpSpPr/>
            <p:nvPr/>
          </p:nvGrpSpPr>
          <p:grpSpPr>
            <a:xfrm>
              <a:off x="6384022" y="2058934"/>
              <a:ext cx="2429410" cy="2240581"/>
              <a:chOff x="5481408" y="1979802"/>
              <a:chExt cx="2429410" cy="2240581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B859596-9CB8-4692-B428-46E72745D198}"/>
                  </a:ext>
                </a:extLst>
              </p:cNvPr>
              <p:cNvCxnSpPr/>
              <p:nvPr/>
            </p:nvCxnSpPr>
            <p:spPr>
              <a:xfrm>
                <a:off x="5729681" y="1979802"/>
                <a:ext cx="0" cy="21811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8AAE4AE-80AA-4863-AEBB-1482A2FAF01A}"/>
                  </a:ext>
                </a:extLst>
              </p:cNvPr>
              <p:cNvSpPr/>
              <p:nvPr/>
            </p:nvSpPr>
            <p:spPr>
              <a:xfrm>
                <a:off x="5669622" y="3955570"/>
                <a:ext cx="185889" cy="209721"/>
              </a:xfrm>
              <a:prstGeom prst="ellips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AEC57B9-6D87-40EC-819A-A5F310384904}"/>
                  </a:ext>
                </a:extLst>
              </p:cNvPr>
              <p:cNvCxnSpPr/>
              <p:nvPr/>
            </p:nvCxnSpPr>
            <p:spPr>
              <a:xfrm>
                <a:off x="5729681" y="4160939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2847C76-5472-49FB-BA7C-302556E63C16}"/>
                  </a:ext>
                </a:extLst>
              </p:cNvPr>
              <p:cNvCxnSpPr/>
              <p:nvPr/>
            </p:nvCxnSpPr>
            <p:spPr>
              <a:xfrm>
                <a:off x="5729681" y="370094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F10B051-FACE-4136-97CB-BE78F227861F}"/>
                  </a:ext>
                </a:extLst>
              </p:cNvPr>
              <p:cNvCxnSpPr/>
              <p:nvPr/>
            </p:nvCxnSpPr>
            <p:spPr>
              <a:xfrm>
                <a:off x="5729681" y="3222771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C30C7E5E-EF84-4D63-A576-09FD32F577DF}"/>
                  </a:ext>
                </a:extLst>
              </p:cNvPr>
              <p:cNvCxnSpPr/>
              <p:nvPr/>
            </p:nvCxnSpPr>
            <p:spPr>
              <a:xfrm>
                <a:off x="5729681" y="2702653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E31A47-CC11-4A8A-8E15-ABA93CCCC3FA}"/>
                  </a:ext>
                </a:extLst>
              </p:cNvPr>
              <p:cNvCxnSpPr/>
              <p:nvPr/>
            </p:nvCxnSpPr>
            <p:spPr>
              <a:xfrm>
                <a:off x="5729681" y="2182536"/>
                <a:ext cx="218113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22278F9-211F-42BF-963F-EB2E7C75BC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4022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B68E7CB-9C52-44D7-95B3-63115F001B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64928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AF6525A-723E-4308-8055-76EC229110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7325" y="2182536"/>
                <a:ext cx="0" cy="19784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EBCDE44B-8BEF-4342-85F4-AD7DD0297680}"/>
                  </a:ext>
                </a:extLst>
              </p:cNvPr>
              <p:cNvSpPr/>
              <p:nvPr/>
            </p:nvSpPr>
            <p:spPr>
              <a:xfrm>
                <a:off x="5481408" y="4010659"/>
                <a:ext cx="679574" cy="209724"/>
              </a:xfrm>
              <a:prstGeom prst="cube">
                <a:avLst>
                  <a:gd name="adj" fmla="val 60741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86C0BFB-4800-4E85-A0E8-51085EFB3120}"/>
                  </a:ext>
                </a:extLst>
              </p:cNvPr>
              <p:cNvSpPr/>
              <p:nvPr/>
            </p:nvSpPr>
            <p:spPr>
              <a:xfrm>
                <a:off x="5644393" y="3138181"/>
                <a:ext cx="211118" cy="196638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01AE74-5DDA-4E67-8920-EB99F396CF9A}"/>
                </a:ext>
              </a:extLst>
            </p:cNvPr>
            <p:cNvSpPr txBox="1"/>
            <p:nvPr/>
          </p:nvSpPr>
          <p:spPr>
            <a:xfrm>
              <a:off x="6298232" y="4100235"/>
              <a:ext cx="480509" cy="3956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😏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023C895-B9C5-41CA-8F14-C2A39A75315C}"/>
              </a:ext>
            </a:extLst>
          </p:cNvPr>
          <p:cNvSpPr/>
          <p:nvPr/>
        </p:nvSpPr>
        <p:spPr>
          <a:xfrm>
            <a:off x="6786694" y="3045463"/>
            <a:ext cx="1724676" cy="16337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77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1ABAE5-93C1-422A-8B53-C73E44617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14DBEA53-5200-41A9-880E-ED86475DB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968426"/>
              </p:ext>
            </p:extLst>
          </p:nvPr>
        </p:nvGraphicFramePr>
        <p:xfrm>
          <a:off x="750941" y="1225267"/>
          <a:ext cx="7397637" cy="2692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65879">
                  <a:extLst>
                    <a:ext uri="{9D8B030D-6E8A-4147-A177-3AD203B41FA5}">
                      <a16:colId xmlns:a16="http://schemas.microsoft.com/office/drawing/2014/main" val="3900814762"/>
                    </a:ext>
                  </a:extLst>
                </a:gridCol>
                <a:gridCol w="2465879">
                  <a:extLst>
                    <a:ext uri="{9D8B030D-6E8A-4147-A177-3AD203B41FA5}">
                      <a16:colId xmlns:a16="http://schemas.microsoft.com/office/drawing/2014/main" val="2679018815"/>
                    </a:ext>
                  </a:extLst>
                </a:gridCol>
                <a:gridCol w="2465879">
                  <a:extLst>
                    <a:ext uri="{9D8B030D-6E8A-4147-A177-3AD203B41FA5}">
                      <a16:colId xmlns:a16="http://schemas.microsoft.com/office/drawing/2014/main" val="3981341106"/>
                    </a:ext>
                  </a:extLst>
                </a:gridCol>
              </a:tblGrid>
              <a:tr h="397948">
                <a:tc>
                  <a:txBody>
                    <a:bodyPr/>
                    <a:lstStyle/>
                    <a:p>
                      <a:r>
                        <a:rPr lang="en-US" sz="1400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Holonomic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Non-Holonomic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07004"/>
                  </a:ext>
                </a:extLst>
              </a:tr>
              <a:tr h="39794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Depends 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Position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Velocities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248137"/>
                  </a:ext>
                </a:extLst>
              </a:tr>
              <a:tr h="55603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Reduces configuration space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962063"/>
                  </a:ext>
                </a:extLst>
              </a:tr>
              <a:tr h="556038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Restricts reachable positions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 — some positions are forever forbidden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— all positions remain reachable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566080"/>
                  </a:ext>
                </a:extLst>
              </a:tr>
              <a:tr h="784994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Restricts instantaneous velocity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 directly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 — certain velocities are forbidden at each instant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78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769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FEB7-96BE-4752-B9DE-7424E8A6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Constraints - </a:t>
            </a:r>
            <a:r>
              <a:rPr lang="en-US" dirty="0"/>
              <a:t>Holonomic vs Non-Holonomic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F5211-714D-46A3-BCB2-33428A5F4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BA6BA-9AFF-4C00-ABE8-BF927C27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757FF-7362-417C-9A8F-EB1F8C16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024C23-5B23-4C37-838C-90A1733069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6458E-E597-46F8-98F5-920863CB31B4}"/>
              </a:ext>
            </a:extLst>
          </p:cNvPr>
          <p:cNvSpPr txBox="1"/>
          <p:nvPr/>
        </p:nvSpPr>
        <p:spPr>
          <a:xfrm>
            <a:off x="528506" y="1152647"/>
            <a:ext cx="81963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This Matters for Motion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planner that ignores non-holonomic constraints will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 trajectories the robot cannot follow.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 plans must ensure the robot's velocity vector is always aligned with its heading.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why car-like robots cannot change lanes instantaneously and why parallel parking requires a multi-step maneuver.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non-holonomic constraint does not limit </a:t>
            </a:r>
            <a:r>
              <a:rPr lang="en-US" b="1" i="1" dirty="0"/>
              <a:t>where</a:t>
            </a:r>
            <a:r>
              <a:rPr lang="en-US" b="1" dirty="0"/>
              <a:t> the robot can go, but it limits </a:t>
            </a:r>
            <a:r>
              <a:rPr lang="en-US" b="1" i="1" dirty="0"/>
              <a:t>how</a:t>
            </a:r>
            <a:r>
              <a:rPr lang="en-US" b="1" dirty="0"/>
              <a:t> it can get there.</a:t>
            </a:r>
          </a:p>
        </p:txBody>
      </p:sp>
    </p:spTree>
    <p:extLst>
      <p:ext uri="{BB962C8B-B14F-4D97-AF65-F5344CB8AC3E}">
        <p14:creationId xmlns:p14="http://schemas.microsoft.com/office/powerpoint/2010/main" val="211577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2369-69B3-423A-AC35-DF3BC1ED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Heavy Duty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F048-B20E-4C7D-A82E-8920628A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The differential driving model assumes</a:t>
            </a:r>
          </a:p>
          <a:p>
            <a:pPr lvl="1"/>
            <a:r>
              <a:rPr lang="en-US" sz="1600" dirty="0"/>
              <a:t>perfect wheel contact with the floor, </a:t>
            </a:r>
          </a:p>
          <a:p>
            <a:pPr lvl="1"/>
            <a:r>
              <a:rPr lang="en-US" sz="1600" dirty="0"/>
              <a:t>no wheel slipping, and </a:t>
            </a:r>
          </a:p>
          <a:p>
            <a:pPr lvl="1"/>
            <a:r>
              <a:rPr lang="en-US" sz="1600" dirty="0"/>
              <a:t>exact motor control. </a:t>
            </a:r>
          </a:p>
          <a:p>
            <a:r>
              <a:rPr lang="en-US" sz="1600" dirty="0"/>
              <a:t>These assumptions hold well for small, lightweight warehouse robots on smooth concrete. But real vehicles behave differently.</a:t>
            </a:r>
          </a:p>
          <a:p>
            <a:endParaRPr lang="en-US" sz="1600" dirty="0"/>
          </a:p>
          <a:p>
            <a:r>
              <a:rPr lang="en-US" sz="1600" b="1" dirty="0"/>
              <a:t>We need a robots to move heavy pallets</a:t>
            </a:r>
            <a:endParaRPr lang="en-US" sz="1600" dirty="0"/>
          </a:p>
          <a:p>
            <a:r>
              <a:rPr lang="en-US" sz="1600" dirty="0"/>
              <a:t>To better represent steering vehicles we need different kinematics that is more accurate. </a:t>
            </a:r>
          </a:p>
          <a:p>
            <a:pPr marL="0" indent="0" algn="ctr">
              <a:buNone/>
            </a:pPr>
            <a:r>
              <a:rPr lang="en-US" sz="1600" b="1" dirty="0"/>
              <a:t>What can it Be?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8176-D2F9-41EB-AA09-C44C2FE6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EB253-CF3C-4602-83AF-C6BA3330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364CEF-4E09-4279-9D68-04AB0FB2B0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3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Bicycle Model (Car-Like Robots)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31A7-AFD5-4033-B8B1-DEAC76B2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9" y="906967"/>
            <a:ext cx="7039514" cy="3645984"/>
          </a:xfrm>
        </p:spPr>
        <p:txBody>
          <a:bodyPr>
            <a:normAutofit/>
          </a:bodyPr>
          <a:lstStyle/>
          <a:p>
            <a:r>
              <a:rPr lang="en-US" sz="1800" dirty="0"/>
              <a:t>These Robot have </a:t>
            </a:r>
          </a:p>
          <a:p>
            <a:pPr lvl="1"/>
            <a:r>
              <a:rPr lang="en-US" sz="1400" dirty="0"/>
              <a:t>a front steering axle (two wheels that turn together) and </a:t>
            </a:r>
          </a:p>
          <a:p>
            <a:pPr lvl="1"/>
            <a:r>
              <a:rPr lang="en-US" sz="1400" dirty="0"/>
              <a:t>a rear drive axle (two fixed wheels). </a:t>
            </a:r>
          </a:p>
          <a:p>
            <a:r>
              <a:rPr lang="en-US" sz="1800" dirty="0"/>
              <a:t>Unlike the differential-drive robot, </a:t>
            </a:r>
          </a:p>
          <a:p>
            <a:pPr lvl="1"/>
            <a:r>
              <a:rPr lang="en-US" sz="1400" dirty="0"/>
              <a:t>the driver steers by changing the angle of the front wheels</a:t>
            </a:r>
          </a:p>
          <a:p>
            <a:r>
              <a:rPr lang="en-US" sz="1800" dirty="0"/>
              <a:t>The software team needs a kinematic model for this new vehicle type. In order to generate a suitable path.</a:t>
            </a:r>
          </a:p>
          <a:p>
            <a:endParaRPr lang="en-US" sz="1800" b="1" dirty="0"/>
          </a:p>
          <a:p>
            <a:pPr marL="457200" lvl="1" indent="0" algn="ctr">
              <a:buNone/>
            </a:pPr>
            <a:r>
              <a:rPr lang="en-US" sz="1800" b="1" dirty="0"/>
              <a:t>What can we control?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51EEB-03EA-4426-A620-08F0CCC2F643}"/>
              </a:ext>
            </a:extLst>
          </p:cNvPr>
          <p:cNvGrpSpPr/>
          <p:nvPr/>
        </p:nvGrpSpPr>
        <p:grpSpPr>
          <a:xfrm>
            <a:off x="7391310" y="3702493"/>
            <a:ext cx="1566246" cy="1138435"/>
            <a:chOff x="7391310" y="3702493"/>
            <a:chExt cx="1566246" cy="1138435"/>
          </a:xfrm>
        </p:grpSpPr>
        <p:sp>
          <p:nvSpPr>
            <p:cNvPr id="28" name="Flowchart: Magnetic Disk 27">
              <a:extLst>
                <a:ext uri="{FF2B5EF4-FFF2-40B4-BE49-F238E27FC236}">
                  <a16:creationId xmlns:a16="http://schemas.microsoft.com/office/drawing/2014/main" id="{2D85F584-C319-48B6-B514-4ADD3E7BAC03}"/>
                </a:ext>
              </a:extLst>
            </p:cNvPr>
            <p:cNvSpPr/>
            <p:nvPr/>
          </p:nvSpPr>
          <p:spPr>
            <a:xfrm rot="5400000">
              <a:off x="7297323" y="4488869"/>
              <a:ext cx="402826" cy="214852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420E1-A3B5-4DAE-A47F-53EDC5678F90}"/>
                </a:ext>
              </a:extLst>
            </p:cNvPr>
            <p:cNvGrpSpPr/>
            <p:nvPr/>
          </p:nvGrpSpPr>
          <p:grpSpPr>
            <a:xfrm>
              <a:off x="7457813" y="3702493"/>
              <a:ext cx="1499743" cy="1129564"/>
              <a:chOff x="7531428" y="3708266"/>
              <a:chExt cx="1426128" cy="1005586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DA05972-8972-4BC7-9816-5EE46E12ECE6}"/>
                  </a:ext>
                </a:extLst>
              </p:cNvPr>
              <p:cNvGrpSpPr/>
              <p:nvPr/>
            </p:nvGrpSpPr>
            <p:grpSpPr>
              <a:xfrm>
                <a:off x="7531428" y="3931889"/>
                <a:ext cx="1426128" cy="781963"/>
                <a:chOff x="5486400" y="3733101"/>
                <a:chExt cx="1426128" cy="781963"/>
              </a:xfrm>
            </p:grpSpPr>
            <p:sp>
              <p:nvSpPr>
                <p:cNvPr id="10" name="Flowchart: Magnetic Disk 9">
                  <a:extLst>
                    <a:ext uri="{FF2B5EF4-FFF2-40B4-BE49-F238E27FC236}">
                      <a16:creationId xmlns:a16="http://schemas.microsoft.com/office/drawing/2014/main" id="{2ADB21D9-B7EF-43ED-A89B-58BCF1322552}"/>
                    </a:ext>
                  </a:extLst>
                </p:cNvPr>
                <p:cNvSpPr/>
                <p:nvPr/>
              </p:nvSpPr>
              <p:spPr>
                <a:xfrm rot="5400000">
                  <a:off x="5658488" y="3913789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Cube 7">
                  <a:extLst>
                    <a:ext uri="{FF2B5EF4-FFF2-40B4-BE49-F238E27FC236}">
                      <a16:creationId xmlns:a16="http://schemas.microsoft.com/office/drawing/2014/main" id="{1AC91677-A7CE-443E-B518-3CF4A7316189}"/>
                    </a:ext>
                  </a:extLst>
                </p:cNvPr>
                <p:cNvSpPr/>
                <p:nvPr/>
              </p:nvSpPr>
              <p:spPr>
                <a:xfrm>
                  <a:off x="5486400" y="3733101"/>
                  <a:ext cx="1426128" cy="781963"/>
                </a:xfrm>
                <a:prstGeom prst="cube">
                  <a:avLst>
                    <a:gd name="adj" fmla="val 7756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lowchart: Magnetic Disk 8">
                  <a:extLst>
                    <a:ext uri="{FF2B5EF4-FFF2-40B4-BE49-F238E27FC236}">
                      <a16:creationId xmlns:a16="http://schemas.microsoft.com/office/drawing/2014/main" id="{4200872E-4E89-43AF-8BCA-4639D62B46DB}"/>
                    </a:ext>
                  </a:extLst>
                </p:cNvPr>
                <p:cNvSpPr/>
                <p:nvPr/>
              </p:nvSpPr>
              <p:spPr>
                <a:xfrm rot="5400000">
                  <a:off x="6532195" y="3974925"/>
                  <a:ext cx="358613" cy="208925"/>
                </a:xfrm>
                <a:prstGeom prst="flowChartMagneticDisk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397397-C427-421D-9674-2810136720BC}"/>
                  </a:ext>
                </a:extLst>
              </p:cNvPr>
              <p:cNvGrpSpPr/>
              <p:nvPr/>
            </p:nvGrpSpPr>
            <p:grpSpPr>
              <a:xfrm rot="941600">
                <a:off x="7989527" y="3708266"/>
                <a:ext cx="313233" cy="680478"/>
                <a:chOff x="679445" y="2186563"/>
                <a:chExt cx="839999" cy="157871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0357B57B-7189-4D6E-8A0D-A417B7BF3FBC}"/>
                    </a:ext>
                  </a:extLst>
                </p:cNvPr>
                <p:cNvGrpSpPr/>
                <p:nvPr/>
              </p:nvGrpSpPr>
              <p:grpSpPr>
                <a:xfrm>
                  <a:off x="679445" y="2186563"/>
                  <a:ext cx="839999" cy="1578711"/>
                  <a:chOff x="1082780" y="2002005"/>
                  <a:chExt cx="839999" cy="1578711"/>
                </a:xfrm>
              </p:grpSpPr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9327B294-8C05-4CA0-8120-131C41B89074}"/>
                      </a:ext>
                    </a:extLst>
                  </p:cNvPr>
                  <p:cNvCxnSpPr>
                    <a:cxnSpLocks/>
                    <a:stCxn id="16" idx="2"/>
                  </p:cNvCxnSpPr>
                  <p:nvPr/>
                </p:nvCxnSpPr>
                <p:spPr>
                  <a:xfrm rot="20658400" flipH="1" flipV="1">
                    <a:off x="1082780" y="3089316"/>
                    <a:ext cx="697612" cy="20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FF0E86F3-3DAF-47C0-BF96-2F9AAE72F4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 flipV="1">
                    <a:off x="1613790" y="2002005"/>
                    <a:ext cx="51502" cy="105205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835E7EE-BAF5-4F60-BD02-839B1E07AA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20658400" flipH="1">
                    <a:off x="1427816" y="3073184"/>
                    <a:ext cx="494963" cy="50753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BE8FEDC-3162-4816-9107-F64D9B36D82D}"/>
                    </a:ext>
                  </a:extLst>
                </p:cNvPr>
                <p:cNvSpPr/>
                <p:nvPr/>
              </p:nvSpPr>
              <p:spPr>
                <a:xfrm>
                  <a:off x="1367406" y="3162650"/>
                  <a:ext cx="125830" cy="109032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6" name="Flowchart: Magnetic Disk 25">
              <a:extLst>
                <a:ext uri="{FF2B5EF4-FFF2-40B4-BE49-F238E27FC236}">
                  <a16:creationId xmlns:a16="http://schemas.microsoft.com/office/drawing/2014/main" id="{7493DFD9-6677-4362-BDDE-975BB20FDBB3}"/>
                </a:ext>
              </a:extLst>
            </p:cNvPr>
            <p:cNvSpPr/>
            <p:nvPr/>
          </p:nvSpPr>
          <p:spPr>
            <a:xfrm rot="5400000">
              <a:off x="8236280" y="4532089"/>
              <a:ext cx="402826" cy="214852"/>
            </a:xfrm>
            <a:prstGeom prst="flowChartMagneticDisk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1019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State: 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Control inputs:</a:t>
                </a:r>
              </a:p>
              <a:p>
                <a:pPr lvl="1"/>
                <a:r>
                  <a:rPr lang="en-US" sz="1600" dirty="0"/>
                  <a:t>velocity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lvl="1"/>
                <a:r>
                  <a:rPr lang="en-US" sz="1600" dirty="0"/>
                  <a:t>steering angle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Rear wheels become one fixed wheel</a:t>
                </a:r>
              </a:p>
              <a:p>
                <a:pPr lvl="1"/>
                <a:r>
                  <a:rPr lang="en-US" sz="1600" dirty="0"/>
                  <a:t>The rear wheel is fixed (cannot steer), so the rear axle midpoint can only move along the heading direction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600" dirty="0"/>
              </a:p>
              <a:p>
                <a:pPr lvl="1"/>
                <a:endParaRPr lang="en-US" sz="1600" i="1" dirty="0">
                  <a:effectLst/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˙=</m:t>
                    </m:r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i="1" dirty="0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˙=</m:t>
                    </m:r>
                    <m:r>
                      <m:rPr>
                        <m:sty m:val="p"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v</m:t>
                    </m:r>
                    <m:func>
                      <m:func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51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03E5B7D7-1C24-4463-B0B6-4A4AFE237464}"/>
              </a:ext>
            </a:extLst>
          </p:cNvPr>
          <p:cNvSpPr/>
          <p:nvPr/>
        </p:nvSpPr>
        <p:spPr>
          <a:xfrm>
            <a:off x="2432807" y="3702496"/>
            <a:ext cx="75501" cy="5788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6912CC-AA30-489B-85F4-8234B041C6EE}"/>
              </a:ext>
            </a:extLst>
          </p:cNvPr>
          <p:cNvSpPr txBox="1"/>
          <p:nvPr/>
        </p:nvSpPr>
        <p:spPr>
          <a:xfrm>
            <a:off x="2587913" y="3702749"/>
            <a:ext cx="5331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These are identical to the differential-drive equations because the rear wheel obeys the same no-lateral-slip condition</a:t>
            </a:r>
          </a:p>
        </p:txBody>
      </p:sp>
    </p:spTree>
    <p:extLst>
      <p:ext uri="{BB962C8B-B14F-4D97-AF65-F5344CB8AC3E}">
        <p14:creationId xmlns:p14="http://schemas.microsoft.com/office/powerpoint/2010/main" val="3144219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Two front wheels are approximated as one steering wheel. </a:t>
                </a:r>
              </a:p>
              <a:p>
                <a:r>
                  <a:rPr lang="en-US" sz="1400" dirty="0"/>
                  <a:t>the chassis length L, </a:t>
                </a:r>
              </a:p>
              <a:p>
                <a:r>
                  <a:rPr lang="en-US" sz="1400" dirty="0"/>
                  <a:t>the instantaneous center of rotation (ICR) lies on the line extending through the rear axle.</a:t>
                </a:r>
              </a:p>
              <a:p>
                <a:r>
                  <a:rPr lang="en-US" sz="1400" dirty="0"/>
                  <a:t>the distance from the rear axle to the ICR is:</a:t>
                </a:r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l-GR" sz="1400" i="1" dirty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func>
                      </m:den>
                    </m:f>
                  </m:oMath>
                </a14:m>
                <a:endParaRPr lang="de-DE" sz="1400" dirty="0"/>
              </a:p>
              <a:p>
                <a:r>
                  <a:rPr lang="en-US" sz="1400" dirty="0"/>
                  <a:t>The angular velocity of the vehicle is:</a:t>
                </a:r>
              </a:p>
              <a:p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˙=</m:t>
                    </m:r>
                    <m:f>
                      <m:f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de-DE" sz="14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1400" dirty="0"/>
              </a:p>
              <a:p>
                <a:r>
                  <a:rPr lang="en-US" sz="1200" dirty="0"/>
                  <a:t>The turning radius R depends on the steering angle:</a:t>
                </a:r>
              </a:p>
              <a:p>
                <a:r>
                  <a:rPr lang="en-US" sz="1400" dirty="0">
                    <a:effectLst/>
                  </a:rPr>
                  <a:t>R </a:t>
                </a:r>
                <a:r>
                  <a:rPr lang="en-US" sz="1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4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140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</m:den>
                    </m:f>
                  </m:oMath>
                </a14:m>
                <a:endParaRPr lang="de-DE" sz="1400" dirty="0">
                  <a:effectLst/>
                </a:endParaRP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519" t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21353AF-2E26-4E44-B24F-136CB119C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6526" y="2982807"/>
            <a:ext cx="2411477" cy="173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09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A practical consequence: </a:t>
                </a:r>
              </a:p>
              <a:p>
                <a:r>
                  <a:rPr lang="en-US" sz="1400" dirty="0"/>
                  <a:t>the forklift has a </a:t>
                </a:r>
                <a:r>
                  <a:rPr lang="en-US" sz="1400" b="1" dirty="0"/>
                  <a:t>minimum turning radius</a:t>
                </a:r>
                <a:r>
                  <a:rPr lang="en-US" sz="1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/ 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tan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err="1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determined by the maximum steering angle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sz="1400" dirty="0"/>
                  <a:t>of the mechanism. </a:t>
                </a:r>
              </a:p>
              <a:p>
                <a:r>
                  <a:rPr lang="en-US" sz="1400" dirty="0"/>
                  <a:t>This is why forklifts cannot spin in place like differential-drive robots </a:t>
                </a:r>
              </a:p>
              <a:p>
                <a:pPr lvl="1"/>
                <a:r>
                  <a:rPr lang="en-US" sz="1400" dirty="0"/>
                  <a:t>they need space to turn. </a:t>
                </a:r>
              </a:p>
              <a:p>
                <a:r>
                  <a:rPr lang="en-US" sz="1400" dirty="0"/>
                  <a:t>Warehouse aisle widths must accommodate this minimum turning radius.</a:t>
                </a:r>
                <a:endParaRPr lang="de-DE" sz="1400" dirty="0">
                  <a:effectLst/>
                </a:endParaRPr>
              </a:p>
              <a:p>
                <a:endParaRPr lang="en-US" sz="1400" dirty="0"/>
              </a:p>
              <a:p>
                <a:r>
                  <a:rPr lang="en-US" sz="1400" b="1" dirty="0"/>
                  <a:t>Task</a:t>
                </a:r>
                <a:r>
                  <a:rPr lang="en-US" sz="1400" dirty="0"/>
                  <a:t>: The forklift has </a:t>
                </a:r>
              </a:p>
              <a:p>
                <a:pPr lvl="1"/>
                <a:r>
                  <a:rPr lang="en-US" sz="1400" dirty="0"/>
                  <a:t>wheelbase L = 1.5 m and maximum steering angle </a:t>
                </a:r>
                <a:r>
                  <a:rPr lang="en-US" sz="1400" dirty="0" err="1"/>
                  <a:t>φ_max</a:t>
                </a:r>
                <a:r>
                  <a:rPr lang="en-US" sz="1400" dirty="0"/>
                  <a:t> = 35°. </a:t>
                </a:r>
              </a:p>
              <a:p>
                <a:pPr lvl="1"/>
                <a:r>
                  <a:rPr lang="en-US" sz="1400" dirty="0"/>
                  <a:t>It approaches a 90° turn between two aisles at v = 0.8 m/s. </a:t>
                </a:r>
              </a:p>
              <a:p>
                <a:pPr lvl="1"/>
                <a:r>
                  <a:rPr lang="en-US" sz="1400" b="1" dirty="0"/>
                  <a:t>What is the turning radius, and what angular velocity does the robot experience?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87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/>
              <p:nvPr/>
            </p:nvSpPr>
            <p:spPr>
              <a:xfrm>
                <a:off x="6805796" y="921153"/>
                <a:ext cx="2000825" cy="154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˙=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800" dirty="0"/>
              </a:p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v</m:t>
                      </m:r>
                      <m:func>
                        <m:func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227013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f>
                        <m:fPr>
                          <m:ctrlP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de-DE" sz="1800" dirty="0"/>
              </a:p>
              <a:p>
                <a:pPr marL="227013"/>
                <a:r>
                  <a:rPr lang="en-US" sz="1800" dirty="0">
                    <a:effectLst/>
                  </a:rPr>
                  <a:t>R </a:t>
                </a:r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796" y="921153"/>
                <a:ext cx="2000825" cy="1546449"/>
              </a:xfrm>
              <a:prstGeom prst="rect">
                <a:avLst/>
              </a:prstGeom>
              <a:blipFill>
                <a:blip r:embed="rId5"/>
                <a:stretch>
                  <a:fillRect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929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</p:spPr>
            <p:txBody>
              <a:bodyPr>
                <a:normAutofit/>
              </a:bodyPr>
              <a:lstStyle/>
              <a:p>
                <a:r>
                  <a:rPr lang="en-US" sz="1400" b="1" dirty="0"/>
                  <a:t>Task</a:t>
                </a:r>
                <a:r>
                  <a:rPr lang="en-US" sz="1400" dirty="0"/>
                  <a:t>: The forklift has </a:t>
                </a:r>
              </a:p>
              <a:p>
                <a:pPr lvl="1"/>
                <a:r>
                  <a:rPr lang="en-US" sz="1400" dirty="0"/>
                  <a:t>wheelbase L = 1.5 m and maximum steering angle </a:t>
                </a:r>
                <a:r>
                  <a:rPr lang="en-US" sz="1400" dirty="0" err="1"/>
                  <a:t>φ_max</a:t>
                </a:r>
                <a:r>
                  <a:rPr lang="en-US" sz="1400" dirty="0"/>
                  <a:t> = 35°. </a:t>
                </a:r>
              </a:p>
              <a:p>
                <a:pPr lvl="1"/>
                <a:r>
                  <a:rPr lang="en-US" sz="1400" dirty="0"/>
                  <a:t>It approaches a 90° turn between two aisles at v = 0.8 m/s. </a:t>
                </a:r>
              </a:p>
              <a:p>
                <a:pPr lvl="1"/>
                <a:r>
                  <a:rPr lang="en-US" sz="1400" b="1" dirty="0"/>
                  <a:t>What is the turning radius, and what angular velocity does the robot experience?</a:t>
                </a:r>
              </a:p>
              <a:p>
                <a:pPr lvl="1"/>
                <a:endParaRPr lang="en-US" sz="1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1400" i="1" dirty="0" smtClean="0">
                          <a:effectLst/>
                          <a:latin typeface="Cambria Math" panose="02040503050406030204" pitchFamily="18" charset="0"/>
                        </a:rPr>
                        <m:t>˙≈0.3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73 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​≈2.14 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400" dirty="0"/>
              </a:p>
              <a:p>
                <a:endParaRPr lang="en-US" sz="1600" dirty="0"/>
              </a:p>
              <a:p>
                <a:r>
                  <a:rPr lang="en-US" sz="1600" dirty="0"/>
                  <a:t>The forklift follows a circular arc of radius 2.14 m. </a:t>
                </a:r>
              </a:p>
              <a:p>
                <a:r>
                  <a:rPr lang="en-US" sz="1600" dirty="0"/>
                  <a:t>The aisle intersection must be at least this wide for the robot to make the turn </a:t>
                </a:r>
              </a:p>
              <a:p>
                <a:pPr lvl="1"/>
                <a:r>
                  <a:rPr lang="en-US" sz="1200" dirty="0"/>
                  <a:t>a critical warehouse design parameter</a:t>
                </a:r>
                <a:endParaRPr lang="en-US" sz="14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0E31A7-AFD5-4033-B8B1-DEAC76B2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899" y="906967"/>
                <a:ext cx="7039514" cy="3645984"/>
              </a:xfrm>
              <a:blipFill>
                <a:blip r:embed="rId3"/>
                <a:stretch>
                  <a:fillRect l="-346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https://thomasfermi.github.io/Algorithms-for-Automated-Driving/Control/BicycleModel.html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/>
              <p:nvPr/>
            </p:nvSpPr>
            <p:spPr>
              <a:xfrm>
                <a:off x="7402039" y="1032046"/>
                <a:ext cx="2000825" cy="154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˙=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 dirty="0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de-DE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800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800" dirty="0"/>
              </a:p>
              <a:p>
                <a:pPr marL="227013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r>
                        <m:rPr>
                          <m:sty m:val="p"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v</m:t>
                      </m:r>
                      <m:func>
                        <m:func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227013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˙=</m:t>
                      </m:r>
                      <m:f>
                        <m:fPr>
                          <m:ctrlP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800" i="1" dirty="0" smtClean="0"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de-DE" sz="1800" dirty="0"/>
              </a:p>
              <a:p>
                <a:pPr marL="227013"/>
                <a:r>
                  <a:rPr lang="en-US" sz="1800" dirty="0">
                    <a:effectLst/>
                  </a:rPr>
                  <a:t>R </a:t>
                </a:r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180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func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E1634E-20A6-4517-988B-402ECADBE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039" y="1032046"/>
                <a:ext cx="2000825" cy="1546449"/>
              </a:xfrm>
              <a:prstGeom prst="rect">
                <a:avLst/>
              </a:prstGeom>
              <a:blipFill>
                <a:blip r:embed="rId5"/>
                <a:stretch>
                  <a:fillRect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790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B66E11AA-4E83-4CD0-8F1F-B4C9C7082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4089014"/>
                  </p:ext>
                </p:extLst>
              </p:nvPr>
            </p:nvGraphicFramePr>
            <p:xfrm>
              <a:off x="676711" y="1377704"/>
              <a:ext cx="7359942" cy="265245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453314">
                      <a:extLst>
                        <a:ext uri="{9D8B030D-6E8A-4147-A177-3AD203B41FA5}">
                          <a16:colId xmlns:a16="http://schemas.microsoft.com/office/drawing/2014/main" val="1583151115"/>
                        </a:ext>
                      </a:extLst>
                    </a:gridCol>
                    <a:gridCol w="2440265">
                      <a:extLst>
                        <a:ext uri="{9D8B030D-6E8A-4147-A177-3AD203B41FA5}">
                          <a16:colId xmlns:a16="http://schemas.microsoft.com/office/drawing/2014/main" val="3911070545"/>
                        </a:ext>
                      </a:extLst>
                    </a:gridCol>
                    <a:gridCol w="2466363">
                      <a:extLst>
                        <a:ext uri="{9D8B030D-6E8A-4147-A177-3AD203B41FA5}">
                          <a16:colId xmlns:a16="http://schemas.microsoft.com/office/drawing/2014/main" val="27517853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Feature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Differential Drive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Bicycle / Car-Like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036430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Spin in place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/>
                            <a:t>Yes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pt-BR" sz="1400" i="1" dirty="0" smtClean="0">
                                  <a:latin typeface="Cambria Math" panose="02040503050406030204" pitchFamily="18" charset="0"/>
                                </a:rPr>
                                <m:t>= −</m:t>
                              </m:r>
                              <m:sSub>
                                <m:sSubPr>
                                  <m:ctrlP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pt-BR" sz="1400" i="1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400" dirty="0"/>
                            <a:t>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2179812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Minimum turning radius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 (can rotate about its center)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func>
                                      <m:funcPr>
                                        <m:ctrlPr>
                                          <a:rPr lang="sv-SE" sz="1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sv-SE" sz="1400" i="0" dirty="0" smtClean="0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fName>
                                      <m:e/>
                                    </m:func>
                                  </m:sub>
                                </m:sSub>
                                <m:r>
                                  <a:rPr lang="sv-SE" sz="1400" i="1" dirty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sv-SE" sz="1400" i="1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sv-SE" sz="14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sv-SE" sz="1400" i="0" dirty="0" smtClean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sv-SE" sz="14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sv-SE" sz="14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sv-SE" sz="14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𝜑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sv-SE" sz="14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max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  <m:r>
                                  <a:rPr lang="sv-SE" sz="1400" i="1" dirty="0" smtClean="0">
                                    <a:latin typeface="Cambria Math" panose="02040503050406030204" pitchFamily="18" charset="0"/>
                                  </a:rPr>
                                  <m:t>&gt; 0</m:t>
                                </m:r>
                              </m:oMath>
                            </m:oMathPara>
                          </a14:m>
                          <a:endParaRPr lang="sv-SE" sz="1400" dirty="0"/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710311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Control inputs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l-G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4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l-GR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4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(wheel speeds)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(speed and steering angle)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248958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Constraint type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(no lateral slip)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+ minimum turning radius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60065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Typical application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warehouse robots, cleaning robots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Forklifts, cars, autonomous vehicles, agricultural robots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1962220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9">
                <a:extLst>
                  <a:ext uri="{FF2B5EF4-FFF2-40B4-BE49-F238E27FC236}">
                    <a16:creationId xmlns:a16="http://schemas.microsoft.com/office/drawing/2014/main" id="{B66E11AA-4E83-4CD0-8F1F-B4C9C7082C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4089014"/>
                  </p:ext>
                </p:extLst>
              </p:nvPr>
            </p:nvGraphicFramePr>
            <p:xfrm>
              <a:off x="676711" y="1377704"/>
              <a:ext cx="7359942" cy="265245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453314">
                      <a:extLst>
                        <a:ext uri="{9D8B030D-6E8A-4147-A177-3AD203B41FA5}">
                          <a16:colId xmlns:a16="http://schemas.microsoft.com/office/drawing/2014/main" val="1583151115"/>
                        </a:ext>
                      </a:extLst>
                    </a:gridCol>
                    <a:gridCol w="2440265">
                      <a:extLst>
                        <a:ext uri="{9D8B030D-6E8A-4147-A177-3AD203B41FA5}">
                          <a16:colId xmlns:a16="http://schemas.microsoft.com/office/drawing/2014/main" val="3911070545"/>
                        </a:ext>
                      </a:extLst>
                    </a:gridCol>
                    <a:gridCol w="2466363">
                      <a:extLst>
                        <a:ext uri="{9D8B030D-6E8A-4147-A177-3AD203B41FA5}">
                          <a16:colId xmlns:a16="http://schemas.microsoft.com/office/drawing/2014/main" val="27517853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Feature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Differential Drive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Bicycle / Car-Like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036430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Spin in place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01250" t="-103279" r="-102250" b="-5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2179812460"/>
                      </a:ext>
                    </a:extLst>
                  </a:tr>
                  <a:tr h="51919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Minimum turning radius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0 (can rotate about its center)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98765" t="-145882" r="-988" b="-28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311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Control inputs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01250" t="-342623" r="-102250" b="-2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649" marR="83649" marT="41825" marB="41825" anchor="ctr">
                        <a:blipFill>
                          <a:blip r:embed="rId4"/>
                          <a:stretch>
                            <a:fillRect l="-198765" t="-342623" r="-988" b="-291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8958363"/>
                      </a:ext>
                    </a:extLst>
                  </a:tr>
                  <a:tr h="51037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Constraint type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(no lateral slip)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Non-holonomic + minimum turning radius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60065728"/>
                      </a:ext>
                    </a:extLst>
                  </a:tr>
                  <a:tr h="51037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Typical application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Small warehouse robots, cleaning robots</a:t>
                          </a:r>
                        </a:p>
                      </a:txBody>
                      <a:tcPr marL="83649" marR="83649" marT="41825" marB="41825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Forklifts, cars, autonomous vehicles, agricultural robots</a:t>
                          </a:r>
                        </a:p>
                      </a:txBody>
                      <a:tcPr marL="83649" marR="83649" marT="41825" marB="41825" anchor="ctr"/>
                    </a:tc>
                    <a:extLst>
                      <a:ext uri="{0D108BD9-81ED-4DB2-BD59-A6C34878D82A}">
                        <a16:rowId xmlns:a16="http://schemas.microsoft.com/office/drawing/2014/main" val="31962220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8618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 - </a:t>
            </a:r>
            <a:r>
              <a:rPr lang="en-US" dirty="0"/>
              <a:t>The Bicycle Approximation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C32C5-CEE2-4922-9B35-6B992BD3A9FC}"/>
                  </a:ext>
                </a:extLst>
              </p:cNvPr>
              <p:cNvSpPr txBox="1"/>
              <p:nvPr/>
            </p:nvSpPr>
            <p:spPr>
              <a:xfrm>
                <a:off x="434976" y="884038"/>
                <a:ext cx="749262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“</a:t>
                </a:r>
                <a:r>
                  <a:rPr lang="en-US" b="1" dirty="0"/>
                  <a:t>bicycle model</a:t>
                </a:r>
                <a:r>
                  <a:rPr lang="en-US" dirty="0"/>
                  <a:t>” uses a single front steering angle and single rear wheel to approximate that same car, often assuming small slip angles and moderate speeds.</a:t>
                </a:r>
              </a:p>
              <a:p>
                <a:endParaRPr lang="en-US" dirty="0"/>
              </a:p>
              <a:p>
                <a:r>
                  <a:rPr lang="en-US" dirty="0"/>
                  <a:t>A “</a:t>
                </a:r>
                <a:r>
                  <a:rPr lang="en-US" b="1" dirty="0"/>
                  <a:t>car‑like Ackermann model</a:t>
                </a:r>
                <a:r>
                  <a:rPr lang="en-US" dirty="0"/>
                  <a:t>” usually means you explicitly consider left and right wheel steering angles and Ackermann condition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In practice, a bicycle model is often used as an approximation of an Ackermann‑steered car, but it is a reduced‑order model, not the full Ackermann geometry.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C32C5-CEE2-4922-9B35-6B992BD3A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76" y="884038"/>
                <a:ext cx="7492620" cy="2862322"/>
              </a:xfrm>
              <a:prstGeom prst="rect">
                <a:avLst/>
              </a:prstGeom>
              <a:blipFill>
                <a:blip r:embed="rId4"/>
                <a:stretch>
                  <a:fillRect l="-651" t="-1064" b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476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34F7-C844-49D0-8080-43DB654B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Kinematic Blueprints &amp; Constraints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2964-A17C-4C74-9588-5F17549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353" y="4919448"/>
            <a:ext cx="1010951" cy="214539"/>
          </a:xfrm>
        </p:spPr>
        <p:txBody>
          <a:bodyPr/>
          <a:lstStyle/>
          <a:p>
            <a:fld id="{F92AD9DF-DB58-4424-B183-AACA680B9DD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5B723-0CA3-4BEA-88CB-D84F851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2452" y="4919448"/>
            <a:ext cx="719245" cy="214539"/>
          </a:xfrm>
        </p:spPr>
        <p:txBody>
          <a:bodyPr/>
          <a:lstStyle/>
          <a:p>
            <a:fld id="{79258198-EBFC-4421-8D9C-91EDED0B1BE2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E65E32-8EE5-41EA-950B-44E70B347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789A32-0859-4639-9080-71506305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468" y="3204594"/>
            <a:ext cx="726590" cy="135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42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ED4-6BD9-4A8B-8603-F951E1C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Odometry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61E6-EA17-44F3-8A34-30469A2B5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use the wheels to know the position of the robot?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05D2-06C3-4A0C-9CDB-68383280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85D4D-99F2-4DC6-AFBF-DD2FCADF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AB9B3-14AC-4E41-B8FD-56906E997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80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4E0DFA-9C18-48A2-802E-C6B59BC63726}"/>
              </a:ext>
            </a:extLst>
          </p:cNvPr>
          <p:cNvGrpSpPr/>
          <p:nvPr/>
        </p:nvGrpSpPr>
        <p:grpSpPr>
          <a:xfrm>
            <a:off x="164592" y="914400"/>
            <a:ext cx="4206240" cy="3200400"/>
            <a:chOff x="164592" y="914400"/>
            <a:chExt cx="4206240" cy="320040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4F00C8EC-DF03-479B-A7B0-99A3870A5388}"/>
                </a:ext>
              </a:extLst>
            </p:cNvPr>
            <p:cNvSpPr/>
            <p:nvPr/>
          </p:nvSpPr>
          <p:spPr>
            <a:xfrm>
              <a:off x="164592" y="914400"/>
              <a:ext cx="4206240" cy="3200400"/>
            </a:xfrm>
            <a:prstGeom prst="rect">
              <a:avLst/>
            </a:prstGeom>
            <a:solidFill>
              <a:srgbClr val="EBF5FF"/>
            </a:solidFill>
            <a:ln w="19050">
              <a:solidFill>
                <a:srgbClr val="065A82"/>
              </a:solidFill>
              <a:prstDash val="solid"/>
            </a:ln>
          </p:spPr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2B138CE5-87B5-4749-89E8-0E3A07BE5EBA}"/>
                </a:ext>
              </a:extLst>
            </p:cNvPr>
            <p:cNvSpPr/>
            <p:nvPr/>
          </p:nvSpPr>
          <p:spPr>
            <a:xfrm>
              <a:off x="164592" y="914400"/>
              <a:ext cx="4206240" cy="347472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E56E6041-B76A-4DA3-805C-5E0A78095ACD}"/>
                </a:ext>
              </a:extLst>
            </p:cNvPr>
            <p:cNvSpPr/>
            <p:nvPr/>
          </p:nvSpPr>
          <p:spPr>
            <a:xfrm>
              <a:off x="164592" y="914400"/>
              <a:ext cx="42062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MOD-003 DELIVERED (Motion Model)</a:t>
              </a:r>
              <a:endParaRPr lang="en-US" sz="1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06557E9-121B-4449-8317-5FFC0F784865}"/>
                </a:ext>
              </a:extLst>
            </p:cNvPr>
            <p:cNvSpPr/>
            <p:nvPr/>
          </p:nvSpPr>
          <p:spPr>
            <a:xfrm>
              <a:off x="256032" y="1316736"/>
              <a:ext cx="4023360" cy="2743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SE(2) transforms + TF2 (S006)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Diff-drive FK and IK (S009)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No-slip Pfaffian constraint (S010)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Ackermann bicycle model (S011)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Mecanum Jacobian (S012)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Maneuverability δ_M analysis (S013)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Dead reckoning + covariance (S014)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 Slip ratio + traction control (S015)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PREDICT step of EKF complete</a:t>
              </a:r>
              <a:endParaRPr lang="en-US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0C1AC4-1D4E-463D-80F8-6D96B9769BFA}"/>
              </a:ext>
            </a:extLst>
          </p:cNvPr>
          <p:cNvGrpSpPr/>
          <p:nvPr/>
        </p:nvGrpSpPr>
        <p:grpSpPr>
          <a:xfrm>
            <a:off x="4663440" y="914400"/>
            <a:ext cx="4297680" cy="3200400"/>
            <a:chOff x="4663440" y="914400"/>
            <a:chExt cx="4297680" cy="320040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C667C525-B3BD-4A5F-91CE-9EFF0D89E40D}"/>
                </a:ext>
              </a:extLst>
            </p:cNvPr>
            <p:cNvSpPr/>
            <p:nvPr/>
          </p:nvSpPr>
          <p:spPr>
            <a:xfrm>
              <a:off x="4663440" y="914400"/>
              <a:ext cx="4297680" cy="3200400"/>
            </a:xfrm>
            <a:prstGeom prst="rect">
              <a:avLst/>
            </a:prstGeom>
            <a:solidFill>
              <a:srgbClr val="F0FFF4"/>
            </a:solidFill>
            <a:ln w="19050">
              <a:solidFill>
                <a:srgbClr val="00A896"/>
              </a:solidFill>
              <a:prstDash val="solid"/>
            </a:ln>
          </p:spPr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B106E015-6983-4A50-B068-C48AB1CE29CD}"/>
                </a:ext>
              </a:extLst>
            </p:cNvPr>
            <p:cNvSpPr/>
            <p:nvPr/>
          </p:nvSpPr>
          <p:spPr>
            <a:xfrm>
              <a:off x="4663440" y="914400"/>
              <a:ext cx="4297680" cy="347472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93319E8-F72B-443E-A266-63C0DCC71EB1}"/>
                </a:ext>
              </a:extLst>
            </p:cNvPr>
            <p:cNvSpPr/>
            <p:nvPr/>
          </p:nvSpPr>
          <p:spPr>
            <a:xfrm>
              <a:off x="4663440" y="914400"/>
              <a:ext cx="4297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MOD-004 WILL DELIVER (Sensor Model)</a:t>
              </a:r>
              <a:endParaRPr lang="en-US" sz="1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0445243C-6063-411F-AAC4-A9F87D5DA53A}"/>
                </a:ext>
              </a:extLst>
            </p:cNvPr>
            <p:cNvSpPr/>
            <p:nvPr/>
          </p:nvSpPr>
          <p:spPr>
            <a:xfrm>
              <a:off x="4754880" y="1316736"/>
              <a:ext cx="4114800" cy="2743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LIDAR range model (beam model)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Gaussian measurement noise N(0, σ²)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Sensor covariance matrix R_k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Expected vs actual measurement h(q)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Landmark detection model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📡  Log-likelihood observation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UPDATE step of EKF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021C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MOD-005: EKF = PREDICT (MOD-003) + UPDATE (MOD-004)</a:t>
              </a:r>
              <a:endParaRPr lang="en-US" sz="1400" dirty="0"/>
            </a:p>
          </p:txBody>
        </p:sp>
      </p:grpSp>
      <p:sp>
        <p:nvSpPr>
          <p:cNvPr id="15" name="Shape 13">
            <a:extLst>
              <a:ext uri="{FF2B5EF4-FFF2-40B4-BE49-F238E27FC236}">
                <a16:creationId xmlns:a16="http://schemas.microsoft.com/office/drawing/2014/main" id="{02403701-C0C1-4304-83C7-E22BDC820256}"/>
              </a:ext>
            </a:extLst>
          </p:cNvPr>
          <p:cNvSpPr/>
          <p:nvPr/>
        </p:nvSpPr>
        <p:spPr>
          <a:xfrm>
            <a:off x="164592" y="4224528"/>
            <a:ext cx="8778240" cy="594360"/>
          </a:xfrm>
          <a:prstGeom prst="rect">
            <a:avLst/>
          </a:prstGeom>
          <a:solidFill>
            <a:srgbClr val="021C2E"/>
          </a:solidFill>
          <a:ln w="12700">
            <a:solidFill>
              <a:srgbClr val="021C2E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828797-3463-432F-B996-1ED2A9D859F8}"/>
              </a:ext>
            </a:extLst>
          </p:cNvPr>
          <p:cNvSpPr/>
          <p:nvPr/>
        </p:nvSpPr>
        <p:spPr>
          <a:xfrm>
            <a:off x="256032" y="425196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LIDAR correction (trigger when σ_x &gt; 5 cm) requires a mathematical model for WHAT LIDAR measures and HOW UNCERTAIN it is.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MOD-004 provides. MOD-003 + MOD-004 = complete inputs for the Kalman Filter in MOD-005.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2956</Words>
  <Application>Microsoft Office PowerPoint</Application>
  <PresentationFormat>On-screen Show (16:9)</PresentationFormat>
  <Paragraphs>453</Paragraphs>
  <Slides>39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Custom Design</vt:lpstr>
      <vt:lpstr>MOD-03   Robot Kinematics &amp; Motion Models</vt:lpstr>
      <vt:lpstr>The Problem</vt:lpstr>
      <vt:lpstr>The Problem</vt:lpstr>
      <vt:lpstr>PowerPoint Presentation</vt:lpstr>
      <vt:lpstr>PowerPoint Presentation</vt:lpstr>
      <vt:lpstr>The Frame Coordination</vt:lpstr>
      <vt:lpstr>Introduction Homogeneous Transforms</vt:lpstr>
      <vt:lpstr>Homogeneous transformation matrix - Translation Matrix</vt:lpstr>
      <vt:lpstr>Homogeneous transformation matrix - Rotation Matrix</vt:lpstr>
      <vt:lpstr>Homogeneous transformation matrix</vt:lpstr>
      <vt:lpstr>Homogeneous transformation matrix - Transformation Matrix</vt:lpstr>
      <vt:lpstr>Homogeneous transformation matrix - Notes</vt:lpstr>
      <vt:lpstr>The Frame Coordination</vt:lpstr>
      <vt:lpstr>Kinematic Blueprints &amp; Constraints</vt:lpstr>
      <vt:lpstr>Kinematic Blueprints &amp; Constraints</vt:lpstr>
      <vt:lpstr>Kinematic Blueprints &amp; Constraints</vt:lpstr>
      <vt:lpstr>Kinematic Blueprints &amp; Constraints - Rotating robot</vt:lpstr>
      <vt:lpstr>Kinematic Blueprints &amp; Constraints</vt:lpstr>
      <vt:lpstr>Kinematic Blueprints &amp; Constraints</vt:lpstr>
      <vt:lpstr>Kinematic Blueprints &amp; Constraints</vt:lpstr>
      <vt:lpstr>Kinematic Constraints</vt:lpstr>
      <vt:lpstr>Kinematic Constraints</vt:lpstr>
      <vt:lpstr>Kinematic Constraints - Holonomic vs Non-Holonomic Constraints</vt:lpstr>
      <vt:lpstr>Kinematic Constraints - Holonomic vs Non-Holonomic Constraints</vt:lpstr>
      <vt:lpstr>Kinematic Constraints - Holonomic vs Non-Holonomic Constraints</vt:lpstr>
      <vt:lpstr>Kinematic Constraints - Holonomic vs Non-Holonomic Constraints</vt:lpstr>
      <vt:lpstr>Kinematic Constraints - Holonomic vs Non-Holonomic Constraints</vt:lpstr>
      <vt:lpstr>Heavy Duty Robot</vt:lpstr>
      <vt:lpstr>Kinematic Blueprints &amp; Constraints - Bicycle Model (Car-Like Robots)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 - The Bicycle Approximation</vt:lpstr>
      <vt:lpstr>Kinematic Blueprints &amp; Constraints</vt:lpstr>
      <vt:lpstr>Odometry </vt:lpstr>
      <vt:lpstr>PowerPoint Presentation</vt:lpstr>
      <vt:lpstr>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152</cp:revision>
  <dcterms:created xsi:type="dcterms:W3CDTF">2026-02-19T18:14:35Z</dcterms:created>
  <dcterms:modified xsi:type="dcterms:W3CDTF">2026-03-07T20:26:14Z</dcterms:modified>
</cp:coreProperties>
</file>