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62"/>
  </p:notesMasterIdLst>
  <p:sldIdLst>
    <p:sldId id="256" r:id="rId2"/>
    <p:sldId id="302" r:id="rId3"/>
    <p:sldId id="303" r:id="rId4"/>
    <p:sldId id="307" r:id="rId5"/>
    <p:sldId id="308" r:id="rId6"/>
    <p:sldId id="283" r:id="rId7"/>
    <p:sldId id="284" r:id="rId8"/>
    <p:sldId id="279" r:id="rId9"/>
    <p:sldId id="280" r:id="rId10"/>
    <p:sldId id="282" r:id="rId11"/>
    <p:sldId id="285" r:id="rId12"/>
    <p:sldId id="287" r:id="rId13"/>
    <p:sldId id="288" r:id="rId14"/>
    <p:sldId id="289" r:id="rId15"/>
    <p:sldId id="291" r:id="rId16"/>
    <p:sldId id="296" r:id="rId17"/>
    <p:sldId id="297" r:id="rId18"/>
    <p:sldId id="298" r:id="rId19"/>
    <p:sldId id="295" r:id="rId20"/>
    <p:sldId id="299" r:id="rId21"/>
    <p:sldId id="304" r:id="rId22"/>
    <p:sldId id="305" r:id="rId23"/>
    <p:sldId id="309" r:id="rId24"/>
    <p:sldId id="306" r:id="rId25"/>
    <p:sldId id="311" r:id="rId26"/>
    <p:sldId id="310" r:id="rId27"/>
    <p:sldId id="312" r:id="rId28"/>
    <p:sldId id="313" r:id="rId29"/>
    <p:sldId id="301" r:id="rId30"/>
    <p:sldId id="315" r:id="rId31"/>
    <p:sldId id="314" r:id="rId32"/>
    <p:sldId id="317" r:id="rId33"/>
    <p:sldId id="318" r:id="rId34"/>
    <p:sldId id="316" r:id="rId35"/>
    <p:sldId id="319" r:id="rId36"/>
    <p:sldId id="320" r:id="rId37"/>
    <p:sldId id="321" r:id="rId38"/>
    <p:sldId id="322" r:id="rId39"/>
    <p:sldId id="323" r:id="rId40"/>
    <p:sldId id="338" r:id="rId41"/>
    <p:sldId id="300" r:id="rId42"/>
    <p:sldId id="328" r:id="rId43"/>
    <p:sldId id="329" r:id="rId44"/>
    <p:sldId id="330" r:id="rId45"/>
    <p:sldId id="327" r:id="rId46"/>
    <p:sldId id="331" r:id="rId47"/>
    <p:sldId id="332" r:id="rId48"/>
    <p:sldId id="333" r:id="rId49"/>
    <p:sldId id="334" r:id="rId50"/>
    <p:sldId id="335" r:id="rId51"/>
    <p:sldId id="336" r:id="rId52"/>
    <p:sldId id="341" r:id="rId53"/>
    <p:sldId id="337" r:id="rId54"/>
    <p:sldId id="340" r:id="rId55"/>
    <p:sldId id="277" r:id="rId56"/>
    <p:sldId id="278" r:id="rId57"/>
    <p:sldId id="324" r:id="rId58"/>
    <p:sldId id="325" r:id="rId59"/>
    <p:sldId id="326" r:id="rId60"/>
    <p:sldId id="339" r:id="rId6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26DF7E-F04E-4932-B42B-5892A78489E2}">
          <p14:sldIdLst>
            <p14:sldId id="256"/>
            <p14:sldId id="302"/>
            <p14:sldId id="303"/>
            <p14:sldId id="307"/>
            <p14:sldId id="308"/>
            <p14:sldId id="283"/>
            <p14:sldId id="284"/>
            <p14:sldId id="279"/>
            <p14:sldId id="280"/>
            <p14:sldId id="282"/>
            <p14:sldId id="285"/>
            <p14:sldId id="287"/>
            <p14:sldId id="288"/>
            <p14:sldId id="289"/>
            <p14:sldId id="291"/>
            <p14:sldId id="296"/>
            <p14:sldId id="297"/>
            <p14:sldId id="298"/>
            <p14:sldId id="295"/>
            <p14:sldId id="299"/>
            <p14:sldId id="304"/>
            <p14:sldId id="305"/>
            <p14:sldId id="309"/>
            <p14:sldId id="306"/>
            <p14:sldId id="311"/>
            <p14:sldId id="310"/>
            <p14:sldId id="312"/>
            <p14:sldId id="313"/>
            <p14:sldId id="301"/>
            <p14:sldId id="315"/>
            <p14:sldId id="314"/>
            <p14:sldId id="317"/>
            <p14:sldId id="318"/>
            <p14:sldId id="316"/>
            <p14:sldId id="319"/>
            <p14:sldId id="320"/>
            <p14:sldId id="321"/>
            <p14:sldId id="322"/>
            <p14:sldId id="323"/>
            <p14:sldId id="338"/>
            <p14:sldId id="300"/>
            <p14:sldId id="328"/>
            <p14:sldId id="329"/>
            <p14:sldId id="330"/>
            <p14:sldId id="327"/>
            <p14:sldId id="331"/>
            <p14:sldId id="332"/>
            <p14:sldId id="333"/>
            <p14:sldId id="334"/>
            <p14:sldId id="335"/>
            <p14:sldId id="336"/>
            <p14:sldId id="341"/>
            <p14:sldId id="337"/>
            <p14:sldId id="340"/>
            <p14:sldId id="277"/>
            <p14:sldId id="278"/>
          </p14:sldIdLst>
        </p14:section>
        <p14:section name="Archive" id="{9B145C86-BE3C-40DF-A574-9783C30B1665}">
          <p14:sldIdLst>
            <p14:sldId id="324"/>
            <p14:sldId id="325"/>
            <p14:sldId id="326"/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623" autoAdjust="0"/>
  </p:normalViewPr>
  <p:slideViewPr>
    <p:cSldViewPr snapToGrid="0" snapToObjects="1">
      <p:cViewPr varScale="1">
        <p:scale>
          <a:sx n="91" d="100"/>
          <a:sy n="91" d="100"/>
        </p:scale>
        <p:origin x="11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3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0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7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1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1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1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82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08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53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96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35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65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20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779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07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20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51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0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xtbooks.clemson.edu/wangrobotics/chapter/forward-kinematic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roboticsbook.org/S52_diffdrive_actions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oticsbook.org/S52_diffdrive_actions.html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oticsbook.org/S52_diffdrive_actions.html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www.roboticsbook.org/S52_diffdrive_action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hyperlink" Target="https://www.roboticsbook.org/S52_diffdrive_actions.html" TargetMode="Externa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Kinematics</a:t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Motion Models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By Dr. Ahmad Abbadi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ECB9-45D2-4822-8A7D-17BCDBEE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62AF-B7EA-42D9-BAA4-64FB1630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company wants to build a </a:t>
            </a:r>
            <a:r>
              <a:rPr lang="en-US" b="1" dirty="0"/>
              <a:t>warehouse delivery robot</a:t>
            </a:r>
            <a:r>
              <a:rPr lang="en-US" dirty="0"/>
              <a:t> that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between shelves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packages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 its position without GPS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slipping when carrying heavy loads</a:t>
            </a:r>
          </a:p>
          <a:p>
            <a:pPr marL="0" indent="0">
              <a:buNone/>
            </a:pPr>
            <a:r>
              <a:rPr lang="en-US" b="1" dirty="0"/>
              <a:t>The robot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drive in narrow aisles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at intersections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its position accurately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16FD-B5B9-41BA-B484-77FC588A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3055-9D04-4D9C-B393-DB208A2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31037F-1D80-4D85-B24E-C6439EB2A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0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ECB9-45D2-4822-8A7D-17BCDBEE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62AF-B7EA-42D9-BAA4-64FB1630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How should we mathematically describe the robot motion?</a:t>
            </a:r>
          </a:p>
          <a:p>
            <a:r>
              <a:rPr lang="en-US" dirty="0"/>
              <a:t>What motion is physically possible for wheeled robots?</a:t>
            </a:r>
          </a:p>
          <a:p>
            <a:r>
              <a:rPr lang="en-US" dirty="0"/>
              <a:t>How do we plan motion that respects these limits?</a:t>
            </a:r>
          </a:p>
          <a:p>
            <a:r>
              <a:rPr lang="en-US" dirty="0"/>
              <a:t>How can the robot estimate where it is?</a:t>
            </a:r>
          </a:p>
          <a:p>
            <a:r>
              <a:rPr lang="en-US" dirty="0"/>
              <a:t>What happens if wheels slip?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16FD-B5B9-41BA-B484-77FC588A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3055-9D04-4D9C-B393-DB208A2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31037F-1D80-4D85-B24E-C6439EB2A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4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B21F-2AA4-4D28-8AB1-DDB0810E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6A75F-1D01-457E-88F2-43E371645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robot moving across a warehouse floor has freedom to translate and to rotate. </a:t>
            </a:r>
          </a:p>
          <a:p>
            <a:r>
              <a:rPr lang="en-US" dirty="0"/>
              <a:t>we need a precise mathematical relationship between </a:t>
            </a:r>
          </a:p>
          <a:p>
            <a:pPr lvl="1"/>
            <a:r>
              <a:rPr lang="en-US" dirty="0"/>
              <a:t>what we </a:t>
            </a:r>
            <a:r>
              <a:rPr lang="en-US" i="1" dirty="0"/>
              <a:t>control</a:t>
            </a:r>
            <a:r>
              <a:rPr lang="en-US" dirty="0"/>
              <a:t> (the wheel motors) and </a:t>
            </a:r>
          </a:p>
          <a:p>
            <a:pPr lvl="1"/>
            <a:r>
              <a:rPr lang="en-US" dirty="0"/>
              <a:t>what we </a:t>
            </a:r>
            <a:r>
              <a:rPr lang="en-US" i="1" dirty="0"/>
              <a:t>observe</a:t>
            </a:r>
            <a:r>
              <a:rPr lang="en-US" dirty="0"/>
              <a:t> (the robot's position and orientation in the warehouse).</a:t>
            </a:r>
          </a:p>
          <a:p>
            <a:r>
              <a:rPr lang="en-US" dirty="0"/>
              <a:t>This relationship is called the </a:t>
            </a:r>
            <a:r>
              <a:rPr lang="en-US" b="1" dirty="0"/>
              <a:t>kinematic model</a:t>
            </a:r>
            <a:r>
              <a:rPr lang="en-US" dirty="0"/>
              <a:t>. </a:t>
            </a:r>
          </a:p>
          <a:p>
            <a:r>
              <a:rPr lang="en-US" dirty="0"/>
              <a:t>Without it, </a:t>
            </a:r>
          </a:p>
          <a:p>
            <a:pPr lvl="1"/>
            <a:r>
              <a:rPr lang="en-US" dirty="0"/>
              <a:t>every command we send would be a guess, </a:t>
            </a:r>
          </a:p>
          <a:p>
            <a:pPr lvl="1"/>
            <a:r>
              <a:rPr lang="en-US" dirty="0"/>
              <a:t>we could not predict the robot's path, plan collision-free trajectories, </a:t>
            </a:r>
          </a:p>
          <a:p>
            <a:pPr lvl="1"/>
            <a:r>
              <a:rPr lang="en-US" dirty="0"/>
              <a:t>or estimate the robot's position from sensor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C9F1E-4C98-4D32-810A-4CB12458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DFD57-4C30-4535-80CF-E3C6F72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F733AE-CDB9-4127-BBA2-4954457F7F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0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9CF2-BBDE-4ED8-BE5B-09E5414B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033E3-0B9B-4A08-A338-AAE0BE23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Lets divide the problem into smaller ones and think systematically.</a:t>
            </a:r>
          </a:p>
          <a:p>
            <a:endParaRPr lang="en-US" dirty="0"/>
          </a:p>
          <a:p>
            <a:r>
              <a:rPr lang="en-US" dirty="0"/>
              <a:t>First: what is the robot references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452E5-07B0-4E5B-BF87-2E7F3EEF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65185-4FFF-429F-91EA-000A0076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DAD558-794C-4716-890A-3598F6F654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CE8D-C092-45B1-9500-8F9B958B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Frame Coordination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2635-199E-46B1-8498-0A8BE824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Scene: A Warehouse AMR detects a shelf at [1.0,0.5] in its LIDAR frame. The robot is currently at [10.0,5.0,π/4] in the Global Map frame.</a:t>
            </a:r>
          </a:p>
          <a:p>
            <a:r>
              <a:rPr lang="en-US" sz="1800" dirty="0"/>
              <a:t>The Problem: The central server needs to update the shelf's position on the global map.</a:t>
            </a:r>
          </a:p>
          <a:p>
            <a:r>
              <a:rPr lang="en-US" sz="1800" dirty="0"/>
              <a:t>The Challenge: </a:t>
            </a:r>
          </a:p>
          <a:p>
            <a:pPr marL="457200" lvl="1" indent="0">
              <a:buNone/>
            </a:pPr>
            <a:r>
              <a:rPr lang="en-US" sz="1600" b="1" dirty="0"/>
              <a:t>How do we communicate "where things are" across multiple moving frames of reference (Robot, Sensor, Map) without losing accuracy?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DC85-43B0-4C1B-AA93-B4033020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B8908-BB33-4A81-94DC-A8AAD3C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B2BF20-F6C1-414B-9F7F-62F1930A3A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F33E40-DD07-4830-A65A-E8C5E356CD25}"/>
              </a:ext>
            </a:extLst>
          </p:cNvPr>
          <p:cNvGrpSpPr/>
          <p:nvPr/>
        </p:nvGrpSpPr>
        <p:grpSpPr>
          <a:xfrm>
            <a:off x="4888310" y="2835479"/>
            <a:ext cx="4056287" cy="2104159"/>
            <a:chOff x="832539" y="2470858"/>
            <a:chExt cx="4056287" cy="2104159"/>
          </a:xfrm>
        </p:grpSpPr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C1A50D9E-C2D9-488F-A877-CFCBAEE2769F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5AAE13B-A4C6-4E09-9DA1-37746DC9DCD4}"/>
                </a:ext>
              </a:extLst>
            </p:cNvPr>
            <p:cNvGrpSpPr/>
            <p:nvPr/>
          </p:nvGrpSpPr>
          <p:grpSpPr>
            <a:xfrm rot="21391549">
              <a:off x="2186460" y="2904479"/>
              <a:ext cx="1635904" cy="1568811"/>
              <a:chOff x="859600" y="2246720"/>
              <a:chExt cx="1635904" cy="156881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5CCB602-C07E-4B82-B4EE-B3EAE089342B}"/>
                  </a:ext>
                </a:extLst>
              </p:cNvPr>
              <p:cNvGrpSpPr/>
              <p:nvPr/>
            </p:nvGrpSpPr>
            <p:grpSpPr>
              <a:xfrm>
                <a:off x="859600" y="2246720"/>
                <a:ext cx="1635904" cy="1568811"/>
                <a:chOff x="1262935" y="2062162"/>
                <a:chExt cx="1635904" cy="1568811"/>
              </a:xfrm>
            </p:grpSpPr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9F9694B-D4DD-4E18-AA55-DB96165B3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87782151-52BE-46FA-AC70-51FEEB145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V="1">
                  <a:off x="1858104" y="2062162"/>
                  <a:ext cx="13548" cy="967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32CA52D1-F76D-4450-8B9B-772BAC5AD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73ABA41-0195-4D9C-828C-19E69418120D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CBAC5B1-D37C-476C-93B2-CCC410FA0354}"/>
                </a:ext>
              </a:extLst>
            </p:cNvPr>
            <p:cNvGrpSpPr/>
            <p:nvPr/>
          </p:nvGrpSpPr>
          <p:grpSpPr>
            <a:xfrm>
              <a:off x="1259083" y="2470858"/>
              <a:ext cx="1644243" cy="1683091"/>
              <a:chOff x="1106683" y="2318458"/>
              <a:chExt cx="1644243" cy="168309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4AD32E9-E13D-43BA-9F34-E5CB885ECE3B}"/>
                  </a:ext>
                </a:extLst>
              </p:cNvPr>
              <p:cNvGrpSpPr/>
              <p:nvPr/>
            </p:nvGrpSpPr>
            <p:grpSpPr>
              <a:xfrm>
                <a:off x="1106683" y="2318458"/>
                <a:ext cx="1644243" cy="1683091"/>
                <a:chOff x="1510018" y="2133900"/>
                <a:chExt cx="1644243" cy="1683091"/>
              </a:xfrm>
            </p:grpSpPr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975A5196-B8BF-4208-A6F0-BD58DEF3C2FA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5F679754-C961-4FFD-B823-D7A66B09C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28800" y="2133900"/>
                  <a:ext cx="0" cy="8945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65156C7E-95E4-4EC7-9E87-E1FBA9C9D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68BA970-DA0A-4CA1-A502-BED076EC34FA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94422842-6C85-4CB6-BE0B-8AC50C167072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CBC2B83-64FC-45C6-B8FA-EF6FEB38F73F}"/>
                </a:ext>
              </a:extLst>
            </p:cNvPr>
            <p:cNvGrpSpPr/>
            <p:nvPr/>
          </p:nvGrpSpPr>
          <p:grpSpPr>
            <a:xfrm rot="21391549">
              <a:off x="1936862" y="2768233"/>
              <a:ext cx="1635904" cy="1535756"/>
              <a:chOff x="859600" y="2279775"/>
              <a:chExt cx="1635904" cy="153575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81D6A6D-479B-41C2-AB16-5026BE4DCC83}"/>
                  </a:ext>
                </a:extLst>
              </p:cNvPr>
              <p:cNvGrpSpPr/>
              <p:nvPr/>
            </p:nvGrpSpPr>
            <p:grpSpPr>
              <a:xfrm>
                <a:off x="859600" y="2279775"/>
                <a:ext cx="1635904" cy="1535756"/>
                <a:chOff x="1262935" y="2095217"/>
                <a:chExt cx="1635904" cy="1535756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9191308-2DD6-4265-BC45-F547837900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8DE0FCA7-63F1-4CBA-A5B9-9CBAA750F7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V="1">
                  <a:off x="1857101" y="2095217"/>
                  <a:ext cx="5101" cy="9342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BD25C66-01F5-4E81-AEF8-54C39CF05B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2789B4-1764-494E-8893-3B457F210795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914072-6C44-4D95-B793-554C6CBFF8EE}"/>
                </a:ext>
              </a:extLst>
            </p:cNvPr>
            <p:cNvSpPr txBox="1"/>
            <p:nvPr/>
          </p:nvSpPr>
          <p:spPr>
            <a:xfrm>
              <a:off x="832539" y="2996053"/>
              <a:ext cx="1234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Base frame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F8F9FD-14BE-4D50-98B0-40A432F066FD}"/>
                </a:ext>
              </a:extLst>
            </p:cNvPr>
            <p:cNvSpPr txBox="1"/>
            <p:nvPr/>
          </p:nvSpPr>
          <p:spPr>
            <a:xfrm>
              <a:off x="2599659" y="3928686"/>
              <a:ext cx="8002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Robot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D49274-1FC2-47A9-AD08-BCAD0C8F48F0}"/>
                </a:ext>
              </a:extLst>
            </p:cNvPr>
            <p:cNvSpPr txBox="1"/>
            <p:nvPr/>
          </p:nvSpPr>
          <p:spPr>
            <a:xfrm>
              <a:off x="1727352" y="3499586"/>
              <a:ext cx="872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Sensor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18" name="Flowchart: Data 17">
              <a:extLst>
                <a:ext uri="{FF2B5EF4-FFF2-40B4-BE49-F238E27FC236}">
                  <a16:creationId xmlns:a16="http://schemas.microsoft.com/office/drawing/2014/main" id="{D4830AEE-A8C4-427B-9429-667402507331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45C952F-83A3-4A19-BCE9-4DC0EB60BEB9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A11C4A-8C22-4B8A-B849-D72D505F6C59}"/>
                </a:ext>
              </a:extLst>
            </p:cNvPr>
            <p:cNvSpPr txBox="1"/>
            <p:nvPr/>
          </p:nvSpPr>
          <p:spPr>
            <a:xfrm>
              <a:off x="3693327" y="360965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1m</a:t>
              </a:r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A2CA1D-62B4-4F94-9987-BADDDE7B8926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859D67-0F82-42BA-AE6D-2C7F41AE2FD2}"/>
              </a:ext>
            </a:extLst>
          </p:cNvPr>
          <p:cNvGrpSpPr/>
          <p:nvPr/>
        </p:nvGrpSpPr>
        <p:grpSpPr>
          <a:xfrm>
            <a:off x="170384" y="3296827"/>
            <a:ext cx="3785616" cy="457200"/>
            <a:chOff x="-756103" y="1610229"/>
            <a:chExt cx="3785616" cy="457200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80FB0169-0194-4C9A-BFD9-B6F700A2220D}"/>
                </a:ext>
              </a:extLst>
            </p:cNvPr>
            <p:cNvSpPr/>
            <p:nvPr/>
          </p:nvSpPr>
          <p:spPr>
            <a:xfrm>
              <a:off x="-756103" y="1610229"/>
              <a:ext cx="1828800" cy="457200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B553F900-5A8D-4866-B925-423EA394D94B}"/>
                </a:ext>
              </a:extLst>
            </p:cNvPr>
            <p:cNvSpPr/>
            <p:nvPr/>
          </p:nvSpPr>
          <p:spPr>
            <a:xfrm>
              <a:off x="-756103" y="1610229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{W} World Frame</a:t>
              </a:r>
              <a:endParaRPr lang="en-US" sz="1000" dirty="0"/>
            </a:p>
          </p:txBody>
        </p:sp>
        <p:sp>
          <p:nvSpPr>
            <p:cNvPr id="42" name="Shape 10">
              <a:extLst>
                <a:ext uri="{FF2B5EF4-FFF2-40B4-BE49-F238E27FC236}">
                  <a16:creationId xmlns:a16="http://schemas.microsoft.com/office/drawing/2014/main" id="{BF697FFF-3338-4A11-9C5A-D124DF817C57}"/>
                </a:ext>
              </a:extLst>
            </p:cNvPr>
            <p:cNvSpPr/>
            <p:nvPr/>
          </p:nvSpPr>
          <p:spPr>
            <a:xfrm>
              <a:off x="1109273" y="1610229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8BF13454-4DE0-4D43-AC39-A74D00713F41}"/>
                </a:ext>
              </a:extLst>
            </p:cNvPr>
            <p:cNvSpPr/>
            <p:nvPr/>
          </p:nvSpPr>
          <p:spPr>
            <a:xfrm>
              <a:off x="1200713" y="1646805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to warehouse. Origin at corner. X = aisle direction. NEVER changes.</a:t>
              </a:r>
              <a:endParaRPr lang="en-US" sz="95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16F3D7-821A-4FA5-951A-7F63FEB178D3}"/>
              </a:ext>
            </a:extLst>
          </p:cNvPr>
          <p:cNvGrpSpPr/>
          <p:nvPr/>
        </p:nvGrpSpPr>
        <p:grpSpPr>
          <a:xfrm>
            <a:off x="170384" y="3804660"/>
            <a:ext cx="3785616" cy="457200"/>
            <a:chOff x="-756103" y="2597781"/>
            <a:chExt cx="3785616" cy="457200"/>
          </a:xfrm>
        </p:grpSpPr>
        <p:sp>
          <p:nvSpPr>
            <p:cNvPr id="44" name="Shape 12">
              <a:extLst>
                <a:ext uri="{FF2B5EF4-FFF2-40B4-BE49-F238E27FC236}">
                  <a16:creationId xmlns:a16="http://schemas.microsoft.com/office/drawing/2014/main" id="{A503AB9B-B6FD-4B60-8636-06352D8AFA7A}"/>
                </a:ext>
              </a:extLst>
            </p:cNvPr>
            <p:cNvSpPr/>
            <p:nvPr/>
          </p:nvSpPr>
          <p:spPr>
            <a:xfrm>
              <a:off x="-756103" y="2597781"/>
              <a:ext cx="1828800" cy="45720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F22C60FA-DECA-4D07-B04E-95118C355843}"/>
                </a:ext>
              </a:extLst>
            </p:cNvPr>
            <p:cNvSpPr/>
            <p:nvPr/>
          </p:nvSpPr>
          <p:spPr>
            <a:xfrm>
              <a:off x="-756103" y="2597781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{R} Robot Body Frame</a:t>
              </a:r>
              <a:endParaRPr lang="en-US" sz="1000" dirty="0"/>
            </a:p>
          </p:txBody>
        </p:sp>
        <p:sp>
          <p:nvSpPr>
            <p:cNvPr id="46" name="Shape 14">
              <a:extLst>
                <a:ext uri="{FF2B5EF4-FFF2-40B4-BE49-F238E27FC236}">
                  <a16:creationId xmlns:a16="http://schemas.microsoft.com/office/drawing/2014/main" id="{8A3BB154-FED6-419F-B0DB-E6B7420D4042}"/>
                </a:ext>
              </a:extLst>
            </p:cNvPr>
            <p:cNvSpPr/>
            <p:nvPr/>
          </p:nvSpPr>
          <p:spPr>
            <a:xfrm>
              <a:off x="1109273" y="2597781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A6585C8F-8FE2-4F7D-8E91-CDCB473D0E4E}"/>
                </a:ext>
              </a:extLst>
            </p:cNvPr>
            <p:cNvSpPr/>
            <p:nvPr/>
          </p:nvSpPr>
          <p:spPr>
            <a:xfrm>
              <a:off x="1200713" y="2634357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Origin at robot center. Moves with robot. Forward = +X, Left = +Y.</a:t>
              </a:r>
              <a:endParaRPr lang="en-US" sz="9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D3C41C6-63C8-4AFD-8DCD-A758B89E0173}"/>
              </a:ext>
            </a:extLst>
          </p:cNvPr>
          <p:cNvGrpSpPr/>
          <p:nvPr/>
        </p:nvGrpSpPr>
        <p:grpSpPr>
          <a:xfrm>
            <a:off x="170384" y="4312415"/>
            <a:ext cx="3785616" cy="457200"/>
            <a:chOff x="-756103" y="3585333"/>
            <a:chExt cx="3785616" cy="457200"/>
          </a:xfrm>
        </p:grpSpPr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AD682597-7B14-4CAB-8B21-9D0BECE7CDD7}"/>
                </a:ext>
              </a:extLst>
            </p:cNvPr>
            <p:cNvSpPr/>
            <p:nvPr/>
          </p:nvSpPr>
          <p:spPr>
            <a:xfrm>
              <a:off x="-756103" y="3585333"/>
              <a:ext cx="1828800" cy="45720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EF21CC1A-5101-4E7F-982B-755FBFA06522}"/>
                </a:ext>
              </a:extLst>
            </p:cNvPr>
            <p:cNvSpPr/>
            <p:nvPr/>
          </p:nvSpPr>
          <p:spPr>
            <a:xfrm>
              <a:off x="-756103" y="3585333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{S} Sensor Frame</a:t>
              </a:r>
              <a:endParaRPr lang="en-US" sz="1000" dirty="0"/>
            </a:p>
          </p:txBody>
        </p:sp>
        <p:sp>
          <p:nvSpPr>
            <p:cNvPr id="50" name="Shape 18">
              <a:extLst>
                <a:ext uri="{FF2B5EF4-FFF2-40B4-BE49-F238E27FC236}">
                  <a16:creationId xmlns:a16="http://schemas.microsoft.com/office/drawing/2014/main" id="{10CF3803-FE81-4A1A-944B-F982679D1805}"/>
                </a:ext>
              </a:extLst>
            </p:cNvPr>
            <p:cNvSpPr/>
            <p:nvPr/>
          </p:nvSpPr>
          <p:spPr>
            <a:xfrm>
              <a:off x="1109273" y="3585333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A1639A65-C1EE-4116-BF71-9877A771DC28}"/>
                </a:ext>
              </a:extLst>
            </p:cNvPr>
            <p:cNvSpPr/>
            <p:nvPr/>
          </p:nvSpPr>
          <p:spPr>
            <a:xfrm>
              <a:off x="1200713" y="3621909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to LIDAR mount. Static relative to {R}. Encoded in URDF.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674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49A7-2681-4A7C-BEB9-7D38BCB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r>
              <a:rPr lang="en-US" dirty="0"/>
              <a:t>H</a:t>
            </a:r>
            <a:r>
              <a:rPr lang="en-US" b="1" dirty="0"/>
              <a:t>omogeneous Transforms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5D07-9E70-419D-B97C-AD38BE5C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Core Concept: Representing a pose as a single matrix that encodes both translation and rotation.</a:t>
            </a:r>
          </a:p>
          <a:p>
            <a:r>
              <a:rPr lang="en-US" sz="1800" dirty="0"/>
              <a:t>The Tool: The Special Euclidean Group SE(2) for planar motion.</a:t>
            </a:r>
          </a:p>
          <a:p>
            <a:r>
              <a:rPr lang="en-US" sz="1800" dirty="0"/>
              <a:t>Industry Standard: ROS TF2 (Transform Library) which automates the "Tree" of these matrices across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795A-F622-411B-B79A-70DBD6E2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0B8E0-7855-4470-8A64-EBAACF8A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12F3B1-D1A2-49ED-BB9A-2BAB658B06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9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Translation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x_</a:t>
            </a:r>
            <a:r>
              <a:rPr lang="cs-CZ" dirty="0"/>
              <a:t>new = x_old + T_x</a:t>
            </a:r>
          </a:p>
          <a:p>
            <a:r>
              <a:rPr lang="cs-CZ" dirty="0"/>
              <a:t>y</a:t>
            </a:r>
            <a:r>
              <a:rPr lang="en-US" dirty="0"/>
              <a:t>_</a:t>
            </a:r>
            <a:r>
              <a:rPr lang="cs-CZ" dirty="0"/>
              <a:t>new = y_old + T_y</a:t>
            </a:r>
          </a:p>
          <a:p>
            <a:r>
              <a:rPr lang="cs-CZ" dirty="0"/>
              <a:t>z</a:t>
            </a:r>
            <a:r>
              <a:rPr lang="en-US" dirty="0"/>
              <a:t>_</a:t>
            </a:r>
            <a:r>
              <a:rPr lang="cs-CZ" dirty="0"/>
              <a:t>new = z_old + T_z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8EA037-C581-458E-AB89-0B633E396B36}"/>
              </a:ext>
            </a:extLst>
          </p:cNvPr>
          <p:cNvGrpSpPr/>
          <p:nvPr/>
        </p:nvGrpSpPr>
        <p:grpSpPr>
          <a:xfrm>
            <a:off x="1737256" y="2625648"/>
            <a:ext cx="1644243" cy="1946246"/>
            <a:chOff x="1106683" y="2055303"/>
            <a:chExt cx="1644243" cy="19462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D6DDEA-1BD1-4E18-A16B-EEB7777A6FCE}"/>
                </a:ext>
              </a:extLst>
            </p:cNvPr>
            <p:cNvGrpSpPr/>
            <p:nvPr/>
          </p:nvGrpSpPr>
          <p:grpSpPr>
            <a:xfrm>
              <a:off x="1106683" y="2055303"/>
              <a:ext cx="1644243" cy="1946246"/>
              <a:chOff x="1510018" y="1870745"/>
              <a:chExt cx="1644243" cy="194624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3F25AF16-11C2-4529-91A4-21FFB1AB46E6}"/>
                  </a:ext>
                </a:extLst>
              </p:cNvPr>
              <p:cNvCxnSpPr/>
              <p:nvPr/>
            </p:nvCxnSpPr>
            <p:spPr>
              <a:xfrm>
                <a:off x="1828800" y="3028426"/>
                <a:ext cx="13254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9A98C6E-2714-4588-AAEC-997541EB90E2}"/>
                  </a:ext>
                </a:extLst>
              </p:cNvPr>
              <p:cNvCxnSpPr/>
              <p:nvPr/>
            </p:nvCxnSpPr>
            <p:spPr>
              <a:xfrm flipV="1">
                <a:off x="1828800" y="1870745"/>
                <a:ext cx="0" cy="1157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14D14E8-D4AB-4CB6-89E4-FCD22186CD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018" y="3028426"/>
                <a:ext cx="318783" cy="7885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9F7C26-AAC6-4CB5-842B-26D7EB123701}"/>
                </a:ext>
              </a:extLst>
            </p:cNvPr>
            <p:cNvSpPr/>
            <p:nvPr/>
          </p:nvSpPr>
          <p:spPr>
            <a:xfrm>
              <a:off x="1367406" y="3162650"/>
              <a:ext cx="125830" cy="10903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F7A627-E68D-4576-973C-2FEFBA9BC540}"/>
              </a:ext>
            </a:extLst>
          </p:cNvPr>
          <p:cNvGrpSpPr/>
          <p:nvPr/>
        </p:nvGrpSpPr>
        <p:grpSpPr>
          <a:xfrm>
            <a:off x="1259083" y="2207703"/>
            <a:ext cx="1644243" cy="1946246"/>
            <a:chOff x="1106683" y="2055303"/>
            <a:chExt cx="1644243" cy="194624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E00B05D-43FC-440A-AC39-10323BC94E98}"/>
                </a:ext>
              </a:extLst>
            </p:cNvPr>
            <p:cNvGrpSpPr/>
            <p:nvPr/>
          </p:nvGrpSpPr>
          <p:grpSpPr>
            <a:xfrm>
              <a:off x="1106683" y="2055303"/>
              <a:ext cx="1644243" cy="1946246"/>
              <a:chOff x="1510018" y="1870745"/>
              <a:chExt cx="1644243" cy="194624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3AB812F-4F12-4D33-8A49-CAC4AD96B14E}"/>
                  </a:ext>
                </a:extLst>
              </p:cNvPr>
              <p:cNvCxnSpPr/>
              <p:nvPr/>
            </p:nvCxnSpPr>
            <p:spPr>
              <a:xfrm>
                <a:off x="1828800" y="3028426"/>
                <a:ext cx="13254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4183A70-6B4C-41A3-A1EC-7045E97F5B1D}"/>
                  </a:ext>
                </a:extLst>
              </p:cNvPr>
              <p:cNvCxnSpPr/>
              <p:nvPr/>
            </p:nvCxnSpPr>
            <p:spPr>
              <a:xfrm flipV="1">
                <a:off x="1828800" y="1870745"/>
                <a:ext cx="0" cy="1157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D1A53DE-7E53-477A-BABC-4D56EF9CF6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018" y="3028426"/>
                <a:ext cx="318783" cy="7885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C1CE6A6-6FB7-4FAA-A02D-70107175EE27}"/>
                </a:ext>
              </a:extLst>
            </p:cNvPr>
            <p:cNvSpPr/>
            <p:nvPr/>
          </p:nvSpPr>
          <p:spPr>
            <a:xfrm>
              <a:off x="1367406" y="3162650"/>
              <a:ext cx="125830" cy="10903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D6C8D8-401F-478E-848F-5D59F9D1C7F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414725" y="3748962"/>
            <a:ext cx="601681" cy="123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3B20FC-8E57-4238-9A1A-9E95DFE43DCB}"/>
              </a:ext>
            </a:extLst>
          </p:cNvPr>
          <p:cNvCxnSpPr>
            <a:cxnSpLocks/>
          </p:cNvCxnSpPr>
          <p:nvPr/>
        </p:nvCxnSpPr>
        <p:spPr>
          <a:xfrm flipV="1">
            <a:off x="2087604" y="3382585"/>
            <a:ext cx="140181" cy="36761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FE45B-E879-4F5B-B765-7EB6D40E573B}"/>
                  </a:ext>
                </a:extLst>
              </p:cNvPr>
              <p:cNvSpPr txBox="1"/>
              <p:nvPr/>
            </p:nvSpPr>
            <p:spPr>
              <a:xfrm>
                <a:off x="4708879" y="1080535"/>
                <a:ext cx="4239310" cy="112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e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e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FE45B-E879-4F5B-B765-7EB6D40E5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79" y="1080535"/>
                <a:ext cx="4239310" cy="11271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915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Rotation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002F75D-84DF-4A71-AC1F-008B856B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98" y="906967"/>
            <a:ext cx="2181529" cy="60015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A3E101D-2DFA-4F18-BD25-C12CD0DF6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068" y="1612687"/>
            <a:ext cx="2962688" cy="685896"/>
          </a:xfrm>
          <a:prstGeom prst="rect">
            <a:avLst/>
          </a:prstGeom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ACE3D4ED-B8B6-450D-9296-445A5EF3E4E7}"/>
              </a:ext>
            </a:extLst>
          </p:cNvPr>
          <p:cNvSpPr/>
          <p:nvPr/>
        </p:nvSpPr>
        <p:spPr>
          <a:xfrm rot="5400000">
            <a:off x="7059334" y="1994743"/>
            <a:ext cx="247471" cy="9815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8AEA40-1422-40F0-80C7-EDB08CA6EA71}"/>
              </a:ext>
            </a:extLst>
          </p:cNvPr>
          <p:cNvSpPr txBox="1"/>
          <p:nvPr/>
        </p:nvSpPr>
        <p:spPr>
          <a:xfrm>
            <a:off x="6467914" y="2660252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P` = R . P</a:t>
            </a:r>
            <a:endParaRPr lang="en-US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EF8CD80-1F7F-4218-A3E7-E093489A6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44" y="1507126"/>
            <a:ext cx="3486637" cy="300079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18CD3D7-3C63-494E-9C4E-6A75B2A78193}"/>
              </a:ext>
            </a:extLst>
          </p:cNvPr>
          <p:cNvSpPr/>
          <p:nvPr/>
        </p:nvSpPr>
        <p:spPr>
          <a:xfrm>
            <a:off x="6133333" y="2647119"/>
            <a:ext cx="1661020" cy="420351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1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2D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B19E0-69AB-43F4-BCAA-9E3E3D942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Rotation + Translation matrices in 2D</a:t>
                </a:r>
              </a:p>
              <a:p>
                <a:r>
                  <a:rPr lang="en-US" dirty="0"/>
                  <a:t>x′ = </a:t>
                </a:r>
                <a:r>
                  <a:rPr lang="en-US" b="1" dirty="0"/>
                  <a:t>cos </a:t>
                </a:r>
                <a:r>
                  <a:rPr lang="el-GR" b="1" dirty="0"/>
                  <a:t>θ</a:t>
                </a:r>
                <a:r>
                  <a:rPr lang="de-DE" b="1" dirty="0"/>
                  <a:t> </a:t>
                </a:r>
                <a:r>
                  <a:rPr lang="el-GR" dirty="0"/>
                  <a:t>⋅</a:t>
                </a:r>
                <a:r>
                  <a:rPr lang="de-DE" dirty="0"/>
                  <a:t> </a:t>
                </a:r>
                <a:r>
                  <a:rPr lang="en-US" dirty="0"/>
                  <a:t>x + (</a:t>
                </a:r>
                <a:r>
                  <a:rPr lang="en-US" b="1" dirty="0"/>
                  <a:t>−sin </a:t>
                </a:r>
                <a:r>
                  <a:rPr lang="el-GR" b="1" dirty="0"/>
                  <a:t>θ</a:t>
                </a:r>
                <a:r>
                  <a:rPr lang="el-GR" dirty="0"/>
                  <a:t>)</a:t>
                </a:r>
                <a:r>
                  <a:rPr lang="de-DE" dirty="0"/>
                  <a:t> </a:t>
                </a:r>
                <a:r>
                  <a:rPr lang="el-GR" dirty="0"/>
                  <a:t>⋅</a:t>
                </a:r>
                <a:r>
                  <a:rPr lang="de-DE" dirty="0"/>
                  <a:t> </a:t>
                </a:r>
                <a:r>
                  <a:rPr lang="en-US" dirty="0"/>
                  <a:t>y + </a:t>
                </a:r>
                <a:r>
                  <a:rPr lang="en-US" b="1" dirty="0" err="1"/>
                  <a:t>tx</a:t>
                </a:r>
                <a:endParaRPr lang="en-US" b="1" dirty="0"/>
              </a:p>
              <a:p>
                <a:r>
                  <a:rPr lang="es-ES" dirty="0">
                    <a:effectLst/>
                  </a:rPr>
                  <a:t>y′ </a:t>
                </a:r>
                <a:r>
                  <a:rPr lang="es-ES" dirty="0"/>
                  <a:t>= </a:t>
                </a:r>
                <a:r>
                  <a:rPr lang="es-ES" b="1" dirty="0"/>
                  <a:t>sin </a:t>
                </a:r>
                <a:r>
                  <a:rPr lang="es-ES" b="1" dirty="0">
                    <a:effectLst/>
                  </a:rPr>
                  <a:t>θ </a:t>
                </a:r>
                <a:r>
                  <a:rPr lang="es-ES" dirty="0"/>
                  <a:t>⋅ x + </a:t>
                </a:r>
                <a:r>
                  <a:rPr lang="es-ES" b="1" dirty="0"/>
                  <a:t>cos </a:t>
                </a:r>
                <a:r>
                  <a:rPr lang="es-ES" b="1" dirty="0">
                    <a:effectLst/>
                  </a:rPr>
                  <a:t>θ </a:t>
                </a:r>
                <a:r>
                  <a:rPr lang="es-ES" dirty="0"/>
                  <a:t>⋅ </a:t>
                </a:r>
                <a:r>
                  <a:rPr lang="es-ES" dirty="0">
                    <a:effectLst/>
                  </a:rPr>
                  <a:t>y </a:t>
                </a:r>
                <a:r>
                  <a:rPr lang="es-ES" dirty="0"/>
                  <a:t>+ </a:t>
                </a:r>
                <a:r>
                  <a:rPr lang="es-ES" b="1" dirty="0" err="1"/>
                  <a:t>t</a:t>
                </a:r>
                <a:r>
                  <a:rPr lang="es-ES" b="1" dirty="0" err="1">
                    <a:effectLst/>
                  </a:rPr>
                  <a:t>y</a:t>
                </a:r>
                <a:endParaRPr lang="es-ES" b="1" dirty="0">
                  <a:effectLst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Transformation matrix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B19E0-69AB-43F4-BCAA-9E3E3D942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https://opentextbooks.clemson.edu/wangrobotics/chapter/forward-kinematics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E37C3-428B-4AF4-9712-C08C446E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62" y="1283698"/>
            <a:ext cx="3362794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4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baseline="30000" dirty="0">
                <a:effectLst/>
              </a:rPr>
              <a:t>W</a:t>
            </a:r>
            <a:r>
              <a:rPr lang="en-US" dirty="0">
                <a:effectLst/>
              </a:rPr>
              <a:t>P </a:t>
            </a:r>
            <a:r>
              <a:rPr lang="en-US" dirty="0"/>
              <a:t>= </a:t>
            </a:r>
            <a:r>
              <a:rPr lang="en-US" baseline="30000" dirty="0"/>
              <a:t>WR</a:t>
            </a:r>
            <a:r>
              <a:rPr lang="en-US" dirty="0">
                <a:effectLst/>
              </a:rPr>
              <a:t> T</a:t>
            </a:r>
            <a:r>
              <a:rPr lang="en-US" dirty="0"/>
              <a:t>​ ⋅ </a:t>
            </a:r>
            <a:r>
              <a:rPr lang="en-US" baseline="30000" dirty="0"/>
              <a:t>RS</a:t>
            </a:r>
            <a:r>
              <a:rPr lang="en-US" dirty="0">
                <a:effectLst/>
              </a:rPr>
              <a:t>T</a:t>
            </a:r>
            <a:r>
              <a:rPr lang="en-US" dirty="0"/>
              <a:t>​ ⋅ </a:t>
            </a:r>
            <a:r>
              <a:rPr lang="en-US" baseline="30000" dirty="0"/>
              <a:t>S</a:t>
            </a:r>
            <a:r>
              <a:rPr lang="en-US" dirty="0">
                <a:effectLst/>
              </a:rPr>
              <a:t>P</a:t>
            </a: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b="1" dirty="0"/>
              <a:t>Inversion:</a:t>
            </a:r>
            <a:r>
              <a:rPr lang="en-US" dirty="0"/>
              <a:t> To go from World to Robot: </a:t>
            </a:r>
            <a:r>
              <a:rPr lang="en-US" baseline="30000" dirty="0"/>
              <a:t>RW</a:t>
            </a:r>
            <a:r>
              <a:rPr lang="en-US" dirty="0">
                <a:effectLst/>
              </a:rPr>
              <a:t>T</a:t>
            </a:r>
            <a:r>
              <a:rPr lang="en-US" dirty="0"/>
              <a:t>​=(</a:t>
            </a:r>
            <a:r>
              <a:rPr lang="en-US" baseline="30000" dirty="0"/>
              <a:t>WR</a:t>
            </a:r>
            <a:r>
              <a:rPr lang="en-US" dirty="0">
                <a:effectLst/>
              </a:rPr>
              <a:t>T</a:t>
            </a:r>
            <a:r>
              <a:rPr lang="en-US" dirty="0"/>
              <a:t>​)</a:t>
            </a:r>
            <a:r>
              <a:rPr lang="en-US" baseline="30000" dirty="0"/>
              <a:t>−1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Transformation Matrix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EEBE53F-13EE-4A93-B4A9-792D8D72E81A}"/>
              </a:ext>
            </a:extLst>
          </p:cNvPr>
          <p:cNvGrpSpPr/>
          <p:nvPr/>
        </p:nvGrpSpPr>
        <p:grpSpPr>
          <a:xfrm>
            <a:off x="4938668" y="2588505"/>
            <a:ext cx="4056287" cy="2367314"/>
            <a:chOff x="832539" y="2207703"/>
            <a:chExt cx="4056287" cy="2367314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AE236A37-D943-4F42-8C23-1BE76CBCFC5D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08EA037-C581-458E-AB89-0B633E396B36}"/>
                </a:ext>
              </a:extLst>
            </p:cNvPr>
            <p:cNvGrpSpPr/>
            <p:nvPr/>
          </p:nvGrpSpPr>
          <p:grpSpPr>
            <a:xfrm rot="21391549">
              <a:off x="2180660" y="2713238"/>
              <a:ext cx="1635904" cy="1760228"/>
              <a:chOff x="859600" y="2055303"/>
              <a:chExt cx="1635904" cy="17602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4D6DDEA-1BD1-4E18-A16B-EEB7777A6FCE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3F25AF16-11C2-4529-91A4-21FFB1AB4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39A98C6E-2714-4588-AAEC-997541EB90E2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914D14E8-D4AB-4CB6-89E4-FCD22186CD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9F7C26-AAC6-4CB5-842B-26D7EB123701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7F7A627-E68D-4576-973C-2FEFBA9BC540}"/>
                </a:ext>
              </a:extLst>
            </p:cNvPr>
            <p:cNvGrpSpPr/>
            <p:nvPr/>
          </p:nvGrpSpPr>
          <p:grpSpPr>
            <a:xfrm>
              <a:off x="1259083" y="2207703"/>
              <a:ext cx="1644243" cy="1946246"/>
              <a:chOff x="1106683" y="2055303"/>
              <a:chExt cx="1644243" cy="194624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E00B05D-43FC-440A-AC39-10323BC94E98}"/>
                  </a:ext>
                </a:extLst>
              </p:cNvPr>
              <p:cNvGrpSpPr/>
              <p:nvPr/>
            </p:nvGrpSpPr>
            <p:grpSpPr>
              <a:xfrm>
                <a:off x="1106683" y="2055303"/>
                <a:ext cx="1644243" cy="1946246"/>
                <a:chOff x="1510018" y="1870745"/>
                <a:chExt cx="1644243" cy="1946246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E3AB812F-4F12-4D33-8A49-CAC4AD96B14E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94183A70-6B4C-41A3-A1EC-7045E97F5B1D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1D1A53DE-7E53-477A-BABC-4D56EF9CF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C1CE6A6-6FB7-4FAA-A02D-70107175EE27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C67D9225-98F5-4BE6-8493-89865385C8FA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1FE2AF1-0AA1-46C9-AF80-08D292FC7CC4}"/>
                </a:ext>
              </a:extLst>
            </p:cNvPr>
            <p:cNvGrpSpPr/>
            <p:nvPr/>
          </p:nvGrpSpPr>
          <p:grpSpPr>
            <a:xfrm rot="21391549">
              <a:off x="1930061" y="2543967"/>
              <a:ext cx="1635904" cy="1760228"/>
              <a:chOff x="859600" y="2055303"/>
              <a:chExt cx="1635904" cy="176022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CF05CCF-B424-4568-AFE7-00DA312DE893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F3ED4AF7-F50A-405C-8B6B-F7A2B6EAB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2144B207-5A69-4E0A-82DC-AB234428FE91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A25FC66D-6FBE-45CE-B4A6-13172D16EC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7AAD92-0004-489C-95DD-5A2FAFA6EDE4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DD8400-6441-4851-AE58-2978BC2D1E53}"/>
                </a:ext>
              </a:extLst>
            </p:cNvPr>
            <p:cNvSpPr txBox="1"/>
            <p:nvPr/>
          </p:nvSpPr>
          <p:spPr>
            <a:xfrm>
              <a:off x="832539" y="2996053"/>
              <a:ext cx="1234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Base frame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AC0EF9-94DD-4EFB-BE7C-760475A36466}"/>
                </a:ext>
              </a:extLst>
            </p:cNvPr>
            <p:cNvSpPr txBox="1"/>
            <p:nvPr/>
          </p:nvSpPr>
          <p:spPr>
            <a:xfrm>
              <a:off x="2599659" y="3928686"/>
              <a:ext cx="8002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Robot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E7873A-51B2-4579-9A8F-A95EFF0E184C}"/>
                </a:ext>
              </a:extLst>
            </p:cNvPr>
            <p:cNvSpPr txBox="1"/>
            <p:nvPr/>
          </p:nvSpPr>
          <p:spPr>
            <a:xfrm>
              <a:off x="1727352" y="3499586"/>
              <a:ext cx="872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Sensor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41" name="Flowchart: Data 40">
              <a:extLst>
                <a:ext uri="{FF2B5EF4-FFF2-40B4-BE49-F238E27FC236}">
                  <a16:creationId xmlns:a16="http://schemas.microsoft.com/office/drawing/2014/main" id="{82BFECA6-D9A1-42D2-B440-16279D8BF2A2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1AF5D5C-A5C3-409F-B4BE-207AA15A88E1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C61612-0F7A-4CD6-B791-ED81E4833EAA}"/>
                </a:ext>
              </a:extLst>
            </p:cNvPr>
            <p:cNvSpPr txBox="1"/>
            <p:nvPr/>
          </p:nvSpPr>
          <p:spPr>
            <a:xfrm>
              <a:off x="3693327" y="360965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1m</a:t>
              </a:r>
              <a:endParaRPr lang="en-US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2E65EC1-3A1E-42D7-8C19-734B89630542}"/>
                </a:ext>
              </a:extLst>
            </p:cNvPr>
            <p:cNvCxnSpPr>
              <a:cxnSpLocks/>
              <a:stCxn id="25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56D5E5-7ECE-4F64-9F2C-97CB9274261F}"/>
                  </a:ext>
                </a:extLst>
              </p:cNvPr>
              <p:cNvSpPr txBox="1"/>
              <p:nvPr/>
            </p:nvSpPr>
            <p:spPr>
              <a:xfrm>
                <a:off x="617019" y="2085399"/>
                <a:ext cx="457200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aseline="30000" dirty="0"/>
                  <a:t>WR</a:t>
                </a:r>
                <a:r>
                  <a:rPr lang="en-US" dirty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56D5E5-7ECE-4F64-9F2C-97CB92742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19" y="2085399"/>
                <a:ext cx="4572000" cy="972702"/>
              </a:xfrm>
              <a:prstGeom prst="rect">
                <a:avLst/>
              </a:prstGeo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5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dirty="0"/>
              <a:t>In a 3D warehouse with ramps, can we simplify our math back to </a:t>
            </a:r>
            <a:r>
              <a:rPr lang="en-US" dirty="0">
                <a:effectLst/>
              </a:rPr>
              <a:t>SE</a:t>
            </a:r>
            <a:r>
              <a:rPr lang="en-US" dirty="0"/>
              <a:t>(2), or does the "Pitch" and "Roll" of the floor make </a:t>
            </a:r>
            <a:r>
              <a:rPr lang="en-US" dirty="0">
                <a:effectLst/>
              </a:rPr>
              <a:t>SE</a:t>
            </a:r>
            <a:r>
              <a:rPr lang="en-US" dirty="0"/>
              <a:t>(3) mandatory?</a:t>
            </a:r>
            <a:endParaRPr lang="en-US" baseline="30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Notes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EBFB74-398A-4CAF-96AD-43F509759811}"/>
                  </a:ext>
                </a:extLst>
              </p:cNvPr>
              <p:cNvSpPr txBox="1"/>
              <p:nvPr/>
            </p:nvSpPr>
            <p:spPr>
              <a:xfrm>
                <a:off x="527177" y="954878"/>
                <a:ext cx="5932346" cy="552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aseline="30000" dirty="0">
                    <a:solidFill>
                      <a:schemeClr val="tx1"/>
                    </a:solidFill>
                  </a:rPr>
                  <a:t>RW</a:t>
                </a:r>
                <a:r>
                  <a:rPr lang="en-US" dirty="0">
                    <a:solidFill>
                      <a:schemeClr val="tx1"/>
                    </a:solidFill>
                  </a:rPr>
                  <a:t>T = (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WR</a:t>
                </a:r>
                <a:r>
                  <a:rPr lang="en-US" dirty="0">
                    <a:solidFill>
                      <a:schemeClr val="tx1"/>
                    </a:solidFill>
                  </a:rPr>
                  <a:t>T)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b="0" i="1" baseline="30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 baseline="30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m:rPr>
                                  <m:nor/>
                                </m:rPr>
                                <a:rPr lang="de-DE" b="0" i="0" baseline="30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</a:rPr>
                                <m:t>p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(Computationally efficient)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EBFB74-398A-4CAF-96AD-43F509759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77" y="954878"/>
                <a:ext cx="5932346" cy="552395"/>
              </a:xfrm>
              <a:prstGeom prst="rect">
                <a:avLst/>
              </a:prstGeom>
              <a:blipFill>
                <a:blip r:embed="rId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1">
            <a:extLst>
              <a:ext uri="{FF2B5EF4-FFF2-40B4-BE49-F238E27FC236}">
                <a16:creationId xmlns:a16="http://schemas.microsoft.com/office/drawing/2014/main" id="{18EAF9C3-498D-4C3A-A461-C5DAF7E6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77" y="1588206"/>
            <a:ext cx="8774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we never use inv() in real-time code; we use the geometric property of the rotation matrix. </a:t>
            </a:r>
          </a:p>
        </p:txBody>
      </p:sp>
    </p:spTree>
    <p:extLst>
      <p:ext uri="{BB962C8B-B14F-4D97-AF65-F5344CB8AC3E}">
        <p14:creationId xmlns:p14="http://schemas.microsoft.com/office/powerpoint/2010/main" val="296521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CE8D-C092-45B1-9500-8F9B958B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Frame Coordination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2635-199E-46B1-8498-0A8BE824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The Scene: A Warehouse AMR detects a shelf at [1.0,0.5] in its LIDAR frame. The robot is currently at [10.0,5.0,π/4] in the Global Map frame.</a:t>
            </a:r>
          </a:p>
          <a:p>
            <a:r>
              <a:rPr lang="en-US" sz="1400" dirty="0"/>
              <a:t>The Problem: The central server needs to update the shelf's position on the global map.</a:t>
            </a:r>
          </a:p>
          <a:p>
            <a:r>
              <a:rPr lang="en-US" sz="1400" b="1" dirty="0"/>
              <a:t>where things are across multiple moving frames of reference (Robot, Sensor, Map)?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You want the shelf point from LIDAR frame → Robot base frame → Global Map frame</a:t>
            </a:r>
          </a:p>
          <a:p>
            <a:r>
              <a:rPr lang="en-US" sz="1400" dirty="0"/>
              <a:t>Shelf point in sensor: </a:t>
            </a:r>
            <a:r>
              <a:rPr lang="en-US" sz="1400" dirty="0" err="1"/>
              <a:t>p</a:t>
            </a:r>
            <a:r>
              <a:rPr lang="en-US" sz="1400" baseline="30000" dirty="0" err="1"/>
              <a:t>S</a:t>
            </a:r>
            <a:r>
              <a:rPr lang="en-US" sz="1400" dirty="0"/>
              <a:t>=[1.0, 0.5]</a:t>
            </a:r>
          </a:p>
          <a:p>
            <a:endParaRPr lang="en-US" sz="1100" dirty="0">
              <a:solidFill>
                <a:schemeClr val="accent1"/>
              </a:solidFill>
            </a:endParaRPr>
          </a:p>
          <a:p>
            <a:endParaRPr lang="en-US" sz="1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DC85-43B0-4C1B-AA93-B4033020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B8908-BB33-4A81-94DC-A8AAD3C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020869-2EBE-4F94-AA45-005A459173D3}"/>
              </a:ext>
            </a:extLst>
          </p:cNvPr>
          <p:cNvGrpSpPr/>
          <p:nvPr/>
        </p:nvGrpSpPr>
        <p:grpSpPr>
          <a:xfrm>
            <a:off x="6090407" y="3415693"/>
            <a:ext cx="2904548" cy="1476499"/>
            <a:chOff x="832539" y="2207703"/>
            <a:chExt cx="4056287" cy="2284154"/>
          </a:xfrm>
        </p:grpSpPr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4F823FE9-1DE7-4257-9100-36633EA2750B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ABB8359-A877-4535-8B65-BBBF4C01A499}"/>
                </a:ext>
              </a:extLst>
            </p:cNvPr>
            <p:cNvGrpSpPr/>
            <p:nvPr/>
          </p:nvGrpSpPr>
          <p:grpSpPr>
            <a:xfrm rot="21391549">
              <a:off x="2180660" y="2713238"/>
              <a:ext cx="1635904" cy="1760228"/>
              <a:chOff x="859600" y="2055303"/>
              <a:chExt cx="1635904" cy="176022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EA7EFFA-7705-4E9D-BE4B-A4E3C7C2727E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63E51AB6-CEF2-4F94-BF1F-E5C32D36A7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8AD3488B-A694-4B45-B8E9-84448A70B2E5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099AEB09-C74F-47A3-A691-9EF405C828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D6E0CB6-F454-43A0-9BF6-59D621250803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873DE5A-911A-4700-B28F-8334AACA50DF}"/>
                </a:ext>
              </a:extLst>
            </p:cNvPr>
            <p:cNvGrpSpPr/>
            <p:nvPr/>
          </p:nvGrpSpPr>
          <p:grpSpPr>
            <a:xfrm>
              <a:off x="1259083" y="2207703"/>
              <a:ext cx="1644243" cy="1946246"/>
              <a:chOff x="1106683" y="2055303"/>
              <a:chExt cx="1644243" cy="1946246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88A2D3C8-E2E7-411B-9306-02F3EC6830BF}"/>
                  </a:ext>
                </a:extLst>
              </p:cNvPr>
              <p:cNvGrpSpPr/>
              <p:nvPr/>
            </p:nvGrpSpPr>
            <p:grpSpPr>
              <a:xfrm>
                <a:off x="1106683" y="2055303"/>
                <a:ext cx="1644243" cy="1946246"/>
                <a:chOff x="1510018" y="1870745"/>
                <a:chExt cx="1644243" cy="1946246"/>
              </a:xfrm>
            </p:grpSpPr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641FBDA0-4583-4D8F-8923-4690294BB40B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F3FE990F-1454-4175-9E8D-B59BEA0C30FF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D498BA80-E8E0-4306-952C-B3C827845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B1F370F-0782-48DB-A884-174FE82992DB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9" name="Flowchart: Magnetic Disk 58">
              <a:extLst>
                <a:ext uri="{FF2B5EF4-FFF2-40B4-BE49-F238E27FC236}">
                  <a16:creationId xmlns:a16="http://schemas.microsoft.com/office/drawing/2014/main" id="{06EB3CA2-5D5E-486C-89DF-CD70E030707F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26E2AA7-0D4A-441C-8216-E8CF850D6528}"/>
                </a:ext>
              </a:extLst>
            </p:cNvPr>
            <p:cNvGrpSpPr/>
            <p:nvPr/>
          </p:nvGrpSpPr>
          <p:grpSpPr>
            <a:xfrm rot="21391549">
              <a:off x="1930061" y="2543967"/>
              <a:ext cx="1635904" cy="1760228"/>
              <a:chOff x="859600" y="2055303"/>
              <a:chExt cx="1635904" cy="1760228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3B34584-7178-43F0-9769-205B3F02310A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9AB54302-DCD0-42B3-8C25-199AE07F2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13411A9B-9ACD-4767-9D5D-AD2016CBF7E8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D58CC02D-8097-49F5-B1A0-467B7A4766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D5D6F24-B855-46E4-9B9E-10C10C9EDCE5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4994A3D-6323-4B2F-94C5-693BF12B366D}"/>
                </a:ext>
              </a:extLst>
            </p:cNvPr>
            <p:cNvSpPr txBox="1"/>
            <p:nvPr/>
          </p:nvSpPr>
          <p:spPr>
            <a:xfrm>
              <a:off x="832539" y="2996053"/>
              <a:ext cx="1004286" cy="341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Base frame</a:t>
              </a:r>
              <a:endParaRPr lang="en-US" sz="105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0FABE4E-681F-4296-86A8-B82CD0DA6B7D}"/>
                </a:ext>
              </a:extLst>
            </p:cNvPr>
            <p:cNvSpPr txBox="1"/>
            <p:nvPr/>
          </p:nvSpPr>
          <p:spPr>
            <a:xfrm>
              <a:off x="2599658" y="3928686"/>
              <a:ext cx="680010" cy="563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Robot </a:t>
              </a:r>
            </a:p>
            <a:p>
              <a:r>
                <a:rPr lang="de-DE" sz="1050" dirty="0"/>
                <a:t>frame</a:t>
              </a:r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A57C54-34FB-4BB0-9C42-9269E5D09CFF}"/>
                </a:ext>
              </a:extLst>
            </p:cNvPr>
            <p:cNvSpPr txBox="1"/>
            <p:nvPr/>
          </p:nvSpPr>
          <p:spPr>
            <a:xfrm>
              <a:off x="1727351" y="3499586"/>
              <a:ext cx="730496" cy="563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Sensor </a:t>
              </a:r>
            </a:p>
            <a:p>
              <a:r>
                <a:rPr lang="de-DE" sz="1050" dirty="0"/>
                <a:t>frame</a:t>
              </a:r>
              <a:endParaRPr lang="en-US" sz="1050" dirty="0"/>
            </a:p>
          </p:txBody>
        </p:sp>
        <p:sp>
          <p:nvSpPr>
            <p:cNvPr id="64" name="Flowchart: Data 63">
              <a:extLst>
                <a:ext uri="{FF2B5EF4-FFF2-40B4-BE49-F238E27FC236}">
                  <a16:creationId xmlns:a16="http://schemas.microsoft.com/office/drawing/2014/main" id="{1CA2C31F-4E5D-4CF8-8133-4D3FF8EFC7F7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472B651-1FD1-40E4-8C6E-EA76AEDAC74B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819ECFF-6692-415B-8D5F-3A7AFF0D6349}"/>
                </a:ext>
              </a:extLst>
            </p:cNvPr>
            <p:cNvSpPr txBox="1"/>
            <p:nvPr/>
          </p:nvSpPr>
          <p:spPr>
            <a:xfrm>
              <a:off x="3693327" y="3609650"/>
              <a:ext cx="446997" cy="341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1m</a:t>
              </a:r>
              <a:endParaRPr lang="en-US" sz="1050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6D04BC9-C178-4057-A897-49DFF03AA012}"/>
                </a:ext>
              </a:extLst>
            </p:cNvPr>
            <p:cNvCxnSpPr>
              <a:cxnSpLocks/>
              <a:stCxn id="74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68CBA58-3BCC-4291-B61B-8F0ED252F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67" y="2939159"/>
            <a:ext cx="2780810" cy="590661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3B31C09-A57A-48F5-AF07-7051680085C3}"/>
              </a:ext>
            </a:extLst>
          </p:cNvPr>
          <p:cNvSpPr txBox="1"/>
          <p:nvPr/>
        </p:nvSpPr>
        <p:spPr>
          <a:xfrm>
            <a:off x="809670" y="3092158"/>
            <a:ext cx="12969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Transform R → 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7CD543-A627-4851-B817-69D5E12AA97A}"/>
              </a:ext>
            </a:extLst>
          </p:cNvPr>
          <p:cNvSpPr txBox="1"/>
          <p:nvPr/>
        </p:nvSpPr>
        <p:spPr>
          <a:xfrm>
            <a:off x="769003" y="259253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we assumed a point in robot frame equals point in LIDAR frame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52F5A16-365B-4B28-9DCF-1B6F308B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128" y="2972515"/>
            <a:ext cx="609685" cy="52394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E13B7457-F6F4-45BC-B75C-EE00A08D34FD}"/>
              </a:ext>
            </a:extLst>
          </p:cNvPr>
          <p:cNvSpPr txBox="1"/>
          <p:nvPr/>
        </p:nvSpPr>
        <p:spPr>
          <a:xfrm>
            <a:off x="5129924" y="3117414"/>
            <a:ext cx="2300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Homogeneous point in 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310B74B0-FB3F-41B0-9DAE-A1B8D7763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774" y="2658834"/>
            <a:ext cx="1070780" cy="22154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8283D16-0A78-4789-9741-6700E1319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12" y="3632151"/>
            <a:ext cx="1286054" cy="47631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852E94C2-643A-4281-8632-D9D1EABFF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026" y="3789861"/>
            <a:ext cx="2514951" cy="295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55068E-D8AC-498D-AF3D-2E2E56B2075B}"/>
                  </a:ext>
                </a:extLst>
              </p:cNvPr>
              <p:cNvSpPr txBox="1"/>
              <p:nvPr/>
            </p:nvSpPr>
            <p:spPr>
              <a:xfrm>
                <a:off x="557199" y="4327152"/>
                <a:ext cx="4819461" cy="545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If the sensor not same as the robot frame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go back to sensor frame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bSup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sz="1400" dirty="0"/>
                  <a:t>   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55068E-D8AC-498D-AF3D-2E2E56B20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99" y="4327152"/>
                <a:ext cx="4819461" cy="545662"/>
              </a:xfrm>
              <a:prstGeom prst="rect">
                <a:avLst/>
              </a:prstGeom>
              <a:blipFill>
                <a:blip r:embed="rId7"/>
                <a:stretch>
                  <a:fillRect l="-379" b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647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The Narrow Aisle Navigation Problem</a:t>
                </a:r>
              </a:p>
              <a:p>
                <a:r>
                  <a:rPr lang="en-US" sz="1800" dirty="0"/>
                  <a:t>The Warehouse AMR must enter a 1.2m wide aisle, rotate 90°, and exit.</a:t>
                </a:r>
              </a:p>
              <a:p>
                <a:r>
                  <a:rPr lang="en-US" sz="1800" dirty="0"/>
                  <a:t>The robot is a Differential Drive platform.</a:t>
                </a:r>
              </a:p>
              <a:p>
                <a:r>
                  <a:rPr lang="en-US" sz="1800" b="1" dirty="0"/>
                  <a:t>The Challenge: 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command the wheel speeds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​, </m:t>
                    </m:r>
                    <m:sSub>
                      <m:sSubPr>
                        <m:ctrlPr>
                          <a:rPr lang="de-DE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800" dirty="0"/>
                  <a:t>​) to execute a "Zero-Radius Turn" without the chassis hitting the racks.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8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3EE788-7AEA-4728-9F8E-F8F696C66890}"/>
              </a:ext>
            </a:extLst>
          </p:cNvPr>
          <p:cNvGrpSpPr/>
          <p:nvPr/>
        </p:nvGrpSpPr>
        <p:grpSpPr>
          <a:xfrm>
            <a:off x="6686026" y="3380763"/>
            <a:ext cx="2271530" cy="1500801"/>
            <a:chOff x="6686026" y="3380763"/>
            <a:chExt cx="2271530" cy="15008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2C63BF-DFD1-44D3-B9CB-1AC4A08E1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7640" y="3380763"/>
              <a:ext cx="1079916" cy="1500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861564"/>
                <a:ext cx="1426128" cy="852288"/>
                <a:chOff x="5486400" y="3662776"/>
                <a:chExt cx="1426128" cy="852288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Arrow: Curved Left 11">
                  <a:extLst>
                    <a:ext uri="{FF2B5EF4-FFF2-40B4-BE49-F238E27FC236}">
                      <a16:creationId xmlns:a16="http://schemas.microsoft.com/office/drawing/2014/main" id="{42CDE1AA-68E5-4C09-B6F3-682DF18D0E5C}"/>
                    </a:ext>
                  </a:extLst>
                </p:cNvPr>
                <p:cNvSpPr/>
                <p:nvPr/>
              </p:nvSpPr>
              <p:spPr>
                <a:xfrm>
                  <a:off x="6189189" y="3662776"/>
                  <a:ext cx="369116" cy="721453"/>
                </a:xfrm>
                <a:prstGeom prst="curvedLeftArrow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FBC38A-EF8B-4240-97CC-9F80BBD48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6026" y="4713852"/>
              <a:ext cx="1191614" cy="16771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83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3AD1DE17-9674-4AE7-BF42-EE0AB31DF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05" y="786880"/>
            <a:ext cx="3122539" cy="303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https://www.roboticsbook.org/S52_diffdrive_actions.html</a:t>
            </a:r>
            <a:endParaRPr lang="en-US" dirty="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422B2928-0976-42F5-B2E9-AE1A6C6A3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338" y="934498"/>
            <a:ext cx="3223323" cy="2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81A6FB-54B6-48B5-819A-E643164F1180}"/>
              </a:ext>
            </a:extLst>
          </p:cNvPr>
          <p:cNvSpPr txBox="1"/>
          <p:nvPr/>
        </p:nvSpPr>
        <p:spPr>
          <a:xfrm>
            <a:off x="3595840" y="3426048"/>
            <a:ext cx="151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forward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20BFF8-1594-40DD-AEE9-29A3020DB04B}"/>
              </a:ext>
            </a:extLst>
          </p:cNvPr>
          <p:cNvSpPr txBox="1"/>
          <p:nvPr/>
        </p:nvSpPr>
        <p:spPr>
          <a:xfrm>
            <a:off x="1035836" y="3448678"/>
            <a:ext cx="799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0F18CB3-369A-458B-A15D-F21205713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9315" y="1354497"/>
            <a:ext cx="2956073" cy="209418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E4F0502-1867-4EAD-B64A-BCDB71E1F9FC}"/>
              </a:ext>
            </a:extLst>
          </p:cNvPr>
          <p:cNvSpPr txBox="1"/>
          <p:nvPr/>
        </p:nvSpPr>
        <p:spPr>
          <a:xfrm>
            <a:off x="6605653" y="3454644"/>
            <a:ext cx="158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on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31A7-AFD5-4033-B8B1-DEAC76B2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600" dirty="0"/>
              <a:t>Why?</a:t>
            </a:r>
          </a:p>
          <a:p>
            <a:pPr marL="0" indent="0">
              <a:buNone/>
            </a:pPr>
            <a:r>
              <a:rPr lang="en-US" sz="1600" dirty="0"/>
              <a:t>How to move the robot in a specific radius? </a:t>
            </a:r>
          </a:p>
        </p:txBody>
      </p:sp>
    </p:spTree>
    <p:extLst>
      <p:ext uri="{BB962C8B-B14F-4D97-AF65-F5344CB8AC3E}">
        <p14:creationId xmlns:p14="http://schemas.microsoft.com/office/powerpoint/2010/main" val="254294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E535BD09-8B9D-4E0E-9DFE-B9E48210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757" y="2519750"/>
            <a:ext cx="2896190" cy="236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67B3DC1F-ACC4-4B60-8A08-E3257708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104" y="809353"/>
            <a:ext cx="1588970" cy="16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The forward speed of a wheel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acc>
                        <m:accPr>
                          <m:chr m:val="̇"/>
                          <m:ctrlP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acc>
                    </m:oMath>
                  </m:oMathPara>
                </a14:m>
                <a:endParaRPr lang="de-DE" sz="18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Then the angular speed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acc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e-DE" sz="18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To move the robot forward</a:t>
                </a:r>
              </a:p>
              <a:p>
                <a:pPr marL="0" indent="0">
                  <a:buNone/>
                </a:pPr>
                <a:r>
                  <a:rPr lang="en-US" sz="1800" dirty="0"/>
                  <a:t>the angular speeds on the right and left wheels should be similar </a:t>
                </a:r>
                <a:endParaRPr lang="de-DE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f>
                        <m:fPr>
                          <m:ctrlP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58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6"/>
              </a:rPr>
              <a:t>https://www.roboticsbook.org/S52_diffdrive_actions.html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7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C0D7ED95-8379-44D5-BEC0-8137784A5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523" y="2624860"/>
            <a:ext cx="2307502" cy="224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67B3DC1F-ACC4-4B60-8A08-E3257708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104" y="809353"/>
            <a:ext cx="1588970" cy="16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sz="2000" dirty="0"/>
              <a:t>Rotating robot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Given that the angular speeds on the wheels are</a:t>
                </a:r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Equal but opposite forward wheel speeds 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That cause the robot to rotate</a:t>
                </a:r>
              </a:p>
              <a:p>
                <a:pPr marL="0" indent="0">
                  <a:buNone/>
                </a:pPr>
                <a:r>
                  <a:rPr lang="en-US" sz="1400" dirty="0"/>
                  <a:t>Both speeds are tangent to a circle of diameter L </a:t>
                </a:r>
              </a:p>
              <a:p>
                <a:pPr marL="0" indent="0">
                  <a:buNone/>
                </a:pPr>
                <a:r>
                  <a:rPr lang="en-US" sz="1400" dirty="0"/>
                  <a:t>centered at the origin of the body-attached frame</a:t>
                </a:r>
              </a:p>
              <a:p>
                <a:pPr marL="0" indent="0">
                  <a:buNone/>
                </a:pPr>
                <a:r>
                  <a:rPr lang="en-US" sz="1400" dirty="0"/>
                  <a:t>linear velocity of the robot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zero,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400" dirty="0"/>
                  <a:t> cancel one another out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circular motion of the robot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4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400" dirty="0"/>
                  <a:t> 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de-DE" sz="1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	</a:t>
                </a:r>
                <a:r>
                  <a:rPr lang="de-DE" sz="1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400" dirty="0">
                    <a:ea typeface="Cambria Math" panose="02040503050406030204" pitchFamily="18" charset="0"/>
                  </a:rPr>
                  <a:t> 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221"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6"/>
              </a:rPr>
              <a:t>https://www.roboticsbook.org/S52_diffdrive_actions.html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5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The wheel velocity is the sum of linear and angular speeds</a:t>
                </a:r>
              </a:p>
              <a:p>
                <a:pPr marL="0" indent="0">
                  <a:buNone/>
                </a:pPr>
                <a:r>
                  <a:rPr lang="en-US" sz="1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	</a:t>
                </a:r>
                <a:r>
                  <a:rPr lang="de-DE" sz="16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600" dirty="0">
                    <a:ea typeface="Cambria Math" panose="02040503050406030204" pitchFamily="18" charset="0"/>
                  </a:rPr>
                  <a:t> 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These two equations define the </a:t>
                </a:r>
                <a:r>
                  <a:rPr lang="en-US" sz="1400" b="1" dirty="0"/>
                  <a:t>inverse velocity kinematics</a:t>
                </a:r>
              </a:p>
              <a:p>
                <a:pPr marL="0" indent="0">
                  <a:buNone/>
                </a:pPr>
                <a:r>
                  <a:rPr lang="en-US" sz="1400" dirty="0"/>
                  <a:t>The </a:t>
                </a:r>
                <a:r>
                  <a:rPr lang="en-US" sz="1400" b="1" dirty="0"/>
                  <a:t>forward velocity kinematics</a:t>
                </a:r>
                <a:r>
                  <a:rPr lang="en-US" sz="1400" dirty="0"/>
                  <a:t> are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600" dirty="0"/>
                  <a:t>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400" dirty="0"/>
                  <a:t>On the robot frame the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on x axis at any time</a:t>
                </a:r>
              </a:p>
              <a:p>
                <a:pPr marL="0" indent="0">
                  <a:buNone/>
                </a:pPr>
                <a:r>
                  <a:rPr lang="en-US" sz="1400" dirty="0"/>
                  <a:t>The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tangent to the robot motion curve</a:t>
                </a:r>
              </a:p>
              <a:p>
                <a:pPr marL="0" indent="0">
                  <a:buNone/>
                </a:pPr>
                <a:r>
                  <a:rPr lang="en-US" sz="1400" dirty="0"/>
                  <a:t>Lets call 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1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https://www.roboticsbook.org/S52_diffdrive_actions.html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11E53-544B-47FF-BB5A-DAC5D133A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579" y="2787382"/>
            <a:ext cx="2956073" cy="209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14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F08881-9ABB-4AC2-AB9E-E45293CD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53" y="3372374"/>
            <a:ext cx="2130318" cy="15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i="1" dirty="0"/>
                  <a:t>The velocity of the robot in its frame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  <m: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p>
                      </m:sSup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DE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velocity in the world frame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latin typeface="Cambria Math" panose="02040503050406030204" pitchFamily="18" charset="0"/>
                            </a:rPr>
                            <m:t>World</m:t>
                          </m:r>
                          <m: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p>
                      </m:sSup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de-DE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400" b="0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Combine the angular velocity with the linear one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World</m:t>
                        </m:r>
                      </m:sup>
                    </m:sSup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dirty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i="0" dirty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de-DE" sz="140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  <a:p>
                <a:pPr marL="0" indent="0">
                  <a:buNone/>
                </a:pP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Body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dirty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sz="1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de-DE" sz="1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221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5"/>
              </a:rPr>
              <a:t>https://www.roboticsbook.org/S52_diffdrive_actions.html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69979-614F-4480-8A05-BD1B28E693E2}"/>
                  </a:ext>
                </a:extLst>
              </p:cNvPr>
              <p:cNvSpPr txBox="1"/>
              <p:nvPr/>
            </p:nvSpPr>
            <p:spPr>
              <a:xfrm>
                <a:off x="6116452" y="906967"/>
                <a:ext cx="2809434" cy="37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69979-614F-4480-8A05-BD1B28E6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52" y="906967"/>
                <a:ext cx="2809434" cy="379463"/>
              </a:xfrm>
              <a:prstGeom prst="rect">
                <a:avLst/>
              </a:prstGeom>
              <a:blipFill>
                <a:blip r:embed="rId6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B6A39093-822B-4C88-A07C-8CF28415859D}"/>
              </a:ext>
            </a:extLst>
          </p:cNvPr>
          <p:cNvSpPr/>
          <p:nvPr/>
        </p:nvSpPr>
        <p:spPr>
          <a:xfrm>
            <a:off x="2407640" y="2809594"/>
            <a:ext cx="302004" cy="16037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BA302-3537-4832-8130-BCC4612771F9}"/>
                  </a:ext>
                </a:extLst>
              </p:cNvPr>
              <p:cNvSpPr txBox="1"/>
              <p:nvPr/>
            </p:nvSpPr>
            <p:spPr>
              <a:xfrm>
                <a:off x="2951096" y="2463512"/>
                <a:ext cx="3009573" cy="217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World</m:t>
                        </m:r>
                      </m:sup>
                    </m:sSup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func>
                                    <m:func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dirty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i="0" dirty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e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BA302-3537-4832-8130-BCC461277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96" y="2463512"/>
                <a:ext cx="3009573" cy="2176878"/>
              </a:xfrm>
              <a:prstGeom prst="rect">
                <a:avLst/>
              </a:prstGeom>
              <a:blipFill>
                <a:blip r:embed="rId7"/>
                <a:stretch>
                  <a:fillRect l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841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b="1" dirty="0"/>
                  <a:t>The Narrow Aisle Navigation Problem</a:t>
                </a:r>
              </a:p>
              <a:p>
                <a:r>
                  <a:rPr lang="en-US" sz="1400" dirty="0"/>
                  <a:t>The Warehouse AMR must enter a 1.2m wide aisle, rotate 90°, and exit.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Calculate the exact wheel speeds required to execute a "Zero-Radius Turn" without the chassis hitting the racks.</a:t>
                </a:r>
              </a:p>
              <a:p>
                <a:pPr marL="0" indent="0">
                  <a:buNone/>
                </a:pPr>
                <a:r>
                  <a:rPr lang="en-US" sz="1400" dirty="0"/>
                  <a:t>Zero-radius turn ⇒ robot’s linear velocity is zero,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l-GR" sz="1400" dirty="0">
                        <a:latin typeface="Cambria Math" panose="02040503050406030204" pitchFamily="18" charset="0"/>
                      </a:rPr>
                      <m:t>ϕ</m:t>
                    </m:r>
                    <m:sSub>
                      <m:sSubPr>
                        <m:ctrlPr>
                          <a:rPr lang="de-DE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dirty="0">
                            <a:latin typeface="Cambria Math" panose="02040503050406030204" pitchFamily="18" charset="0"/>
                          </a:rPr>
                          <m:t>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dirty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400" dirty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l-GR" sz="1400" dirty="0">
                        <a:latin typeface="Cambria Math" panose="02040503050406030204" pitchFamily="18" charset="0"/>
                      </a:rPr>
                      <m:t>ϕ</m:t>
                    </m:r>
                    <m:sSub>
                      <m:sSubPr>
                        <m:ctrlPr>
                          <a:rPr lang="de-DE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dirty="0">
                            <a:latin typeface="Cambria Math" panose="02040503050406030204" pitchFamily="18" charset="0"/>
                          </a:rPr>
                          <m:t>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dirty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400" dirty="0"/>
                  <a:t>given wheel radius </a:t>
                </a:r>
                <a:r>
                  <a:rPr lang="en-US" sz="1400" dirty="0">
                    <a:effectLst/>
                  </a:rPr>
                  <a:t>r</a:t>
                </a:r>
                <a:r>
                  <a:rPr lang="en-US" sz="1400" dirty="0"/>
                  <a:t>, distance between wheel centers L , and desired turn angle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in T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 dirty="0" smtClean="0">
                              <a:effectLst/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de-DE" sz="1400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sz="1800" dirty="0"/>
                  <a:t> = 0 -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 .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rgbClr val="C00000"/>
                        </a:solidFill>
                      </a:rPr>
                      <m:t> </m:t>
                    </m:r>
                    <m:f>
                      <m:fPr>
                        <m:ctrlP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260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3EE788-7AEA-4728-9F8E-F8F696C66890}"/>
              </a:ext>
            </a:extLst>
          </p:cNvPr>
          <p:cNvGrpSpPr/>
          <p:nvPr/>
        </p:nvGrpSpPr>
        <p:grpSpPr>
          <a:xfrm>
            <a:off x="4760280" y="3331383"/>
            <a:ext cx="2271530" cy="1500801"/>
            <a:chOff x="6686026" y="3380763"/>
            <a:chExt cx="2271530" cy="15008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2C63BF-DFD1-44D3-B9CB-1AC4A08E1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7640" y="3380763"/>
              <a:ext cx="1079916" cy="1500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861564"/>
                <a:ext cx="1426128" cy="852288"/>
                <a:chOff x="5486400" y="3662776"/>
                <a:chExt cx="1426128" cy="852288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Arrow: Curved Left 11">
                  <a:extLst>
                    <a:ext uri="{FF2B5EF4-FFF2-40B4-BE49-F238E27FC236}">
                      <a16:creationId xmlns:a16="http://schemas.microsoft.com/office/drawing/2014/main" id="{42CDE1AA-68E5-4C09-B6F3-682DF18D0E5C}"/>
                    </a:ext>
                  </a:extLst>
                </p:cNvPr>
                <p:cNvSpPr/>
                <p:nvPr/>
              </p:nvSpPr>
              <p:spPr>
                <a:xfrm>
                  <a:off x="6189189" y="3662776"/>
                  <a:ext cx="369116" cy="721453"/>
                </a:xfrm>
                <a:prstGeom prst="curvedLeftArrow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FBC38A-EF8B-4240-97CC-9F80BBD48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6026" y="4713852"/>
              <a:ext cx="1191614" cy="16771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9EC9-8B53-4694-947D-13180F4F22E5}"/>
                  </a:ext>
                </a:extLst>
              </p:cNvPr>
              <p:cNvSpPr txBox="1"/>
              <p:nvPr/>
            </p:nvSpPr>
            <p:spPr>
              <a:xfrm>
                <a:off x="7377177" y="2812380"/>
                <a:ext cx="1751552" cy="903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2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sup>
                      </m:sSup>
                      <m:r>
                        <a:rPr lang="en-US" sz="12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9EC9-8B53-4694-947D-13180F4F2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177" y="2812380"/>
                <a:ext cx="1751552" cy="9030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048D5C-0ACF-4362-9E6B-45737E0E7E1A}"/>
                  </a:ext>
                </a:extLst>
              </p:cNvPr>
              <p:cNvSpPr txBox="1"/>
              <p:nvPr/>
            </p:nvSpPr>
            <p:spPr>
              <a:xfrm>
                <a:off x="8037046" y="1932494"/>
                <a:ext cx="2478006" cy="882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e-DE" sz="1200" b="0" dirty="0">
                  <a:ea typeface="Cambria Math" panose="02040503050406030204" pitchFamily="18" charset="0"/>
                </a:endParaRPr>
              </a:p>
              <a:p>
                <a:endParaRPr lang="de-DE" sz="12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200" dirty="0">
                    <a:ea typeface="Cambria Math" panose="02040503050406030204" pitchFamily="18" charset="0"/>
                  </a:rPr>
                  <a:t> </a:t>
                </a:r>
                <a:endParaRPr 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048D5C-0ACF-4362-9E6B-45737E0E7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046" y="1932494"/>
                <a:ext cx="2478006" cy="882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90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Warehouse AMR is on position (0,0,0) and wants to go to the delivery position on (0,2,x)</a:t>
            </a:r>
          </a:p>
          <a:p>
            <a:r>
              <a:rPr lang="en-US" dirty="0"/>
              <a:t>How to go there?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a planner output</a:t>
            </a:r>
          </a:p>
          <a:p>
            <a:r>
              <a:rPr lang="en-US" dirty="0"/>
              <a:t>Move left 2 meters.</a:t>
            </a:r>
          </a:p>
          <a:p>
            <a:endParaRPr lang="en-US" dirty="0"/>
          </a:p>
          <a:p>
            <a:r>
              <a:rPr lang="en-US" dirty="0"/>
              <a:t>What is your opinion?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6AB045-708D-4CC7-93B5-2F7E475DF7F4}"/>
              </a:ext>
            </a:extLst>
          </p:cNvPr>
          <p:cNvGrpSpPr/>
          <p:nvPr/>
        </p:nvGrpSpPr>
        <p:grpSpPr>
          <a:xfrm>
            <a:off x="6384022" y="2058934"/>
            <a:ext cx="2429410" cy="2240581"/>
            <a:chOff x="5481408" y="1979802"/>
            <a:chExt cx="2429410" cy="224058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2150E3-84F6-44C1-A6EC-5806242B6683}"/>
                </a:ext>
              </a:extLst>
            </p:cNvPr>
            <p:cNvCxnSpPr/>
            <p:nvPr/>
          </p:nvCxnSpPr>
          <p:spPr>
            <a:xfrm>
              <a:off x="5729681" y="1979802"/>
              <a:ext cx="0" cy="218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94BE70-3AF8-458B-B588-DD6B9294BDF1}"/>
                </a:ext>
              </a:extLst>
            </p:cNvPr>
            <p:cNvSpPr/>
            <p:nvPr/>
          </p:nvSpPr>
          <p:spPr>
            <a:xfrm>
              <a:off x="5669622" y="3955570"/>
              <a:ext cx="185889" cy="20972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B2BC44-6A81-4D7C-9463-0A1B839F2B0C}"/>
                </a:ext>
              </a:extLst>
            </p:cNvPr>
            <p:cNvCxnSpPr/>
            <p:nvPr/>
          </p:nvCxnSpPr>
          <p:spPr>
            <a:xfrm>
              <a:off x="5729681" y="4160939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FDE86B-8646-4B64-B928-4955D81696E2}"/>
                </a:ext>
              </a:extLst>
            </p:cNvPr>
            <p:cNvCxnSpPr/>
            <p:nvPr/>
          </p:nvCxnSpPr>
          <p:spPr>
            <a:xfrm>
              <a:off x="5729681" y="370094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D0F210-B8E1-4E1B-B165-4D57A0713FDD}"/>
                </a:ext>
              </a:extLst>
            </p:cNvPr>
            <p:cNvCxnSpPr/>
            <p:nvPr/>
          </p:nvCxnSpPr>
          <p:spPr>
            <a:xfrm>
              <a:off x="5729681" y="3222771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045DDE-D21F-456C-B22F-C98E807FDD01}"/>
                </a:ext>
              </a:extLst>
            </p:cNvPr>
            <p:cNvCxnSpPr/>
            <p:nvPr/>
          </p:nvCxnSpPr>
          <p:spPr>
            <a:xfrm>
              <a:off x="5729681" y="270265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5E3282-3E4A-46DE-99DC-8FD3DA36A894}"/>
                </a:ext>
              </a:extLst>
            </p:cNvPr>
            <p:cNvCxnSpPr/>
            <p:nvPr/>
          </p:nvCxnSpPr>
          <p:spPr>
            <a:xfrm>
              <a:off x="5729681" y="2182536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DABC56-F394-45BC-981C-4236D5D2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022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EBE76AB-C0F8-4B69-AE1C-28EDDB006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4928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DDDB0A-563A-4605-9389-C3961D7B6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7325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958F803-A532-415E-88BE-79AC8DD874D8}"/>
                </a:ext>
              </a:extLst>
            </p:cNvPr>
            <p:cNvSpPr/>
            <p:nvPr/>
          </p:nvSpPr>
          <p:spPr>
            <a:xfrm>
              <a:off x="5481408" y="4010659"/>
              <a:ext cx="679574" cy="209724"/>
            </a:xfrm>
            <a:prstGeom prst="cube">
              <a:avLst>
                <a:gd name="adj" fmla="val 607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80356D-99B1-44CD-AC19-9BA3D68E8E51}"/>
                </a:ext>
              </a:extLst>
            </p:cNvPr>
            <p:cNvSpPr/>
            <p:nvPr/>
          </p:nvSpPr>
          <p:spPr>
            <a:xfrm>
              <a:off x="5644393" y="3138181"/>
              <a:ext cx="211118" cy="19663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285ADF-A7B6-4C67-B229-20C5FAF84647}"/>
              </a:ext>
            </a:extLst>
          </p:cNvPr>
          <p:cNvSpPr txBox="1"/>
          <p:nvPr/>
        </p:nvSpPr>
        <p:spPr>
          <a:xfrm>
            <a:off x="6298232" y="4100236"/>
            <a:ext cx="42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😏</a:t>
            </a:r>
          </a:p>
        </p:txBody>
      </p:sp>
    </p:spTree>
    <p:extLst>
      <p:ext uri="{BB962C8B-B14F-4D97-AF65-F5344CB8AC3E}">
        <p14:creationId xmlns:p14="http://schemas.microsoft.com/office/powerpoint/2010/main" val="299207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Warehouse AMR is on position (0,0,0) and wants to go to the delivery position on (0,2,x)</a:t>
            </a:r>
          </a:p>
          <a:p>
            <a:r>
              <a:rPr lang="en-US" dirty="0"/>
              <a:t>How to go there?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a planner output</a:t>
            </a:r>
          </a:p>
          <a:p>
            <a:r>
              <a:rPr lang="en-US" dirty="0"/>
              <a:t>Move left 2 meters.</a:t>
            </a:r>
          </a:p>
          <a:p>
            <a:r>
              <a:rPr lang="en-US" dirty="0">
                <a:solidFill>
                  <a:srgbClr val="C00000"/>
                </a:solidFill>
              </a:rPr>
              <a:t>Why can't the robot simply move sideways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6AB045-708D-4CC7-93B5-2F7E475DF7F4}"/>
              </a:ext>
            </a:extLst>
          </p:cNvPr>
          <p:cNvGrpSpPr/>
          <p:nvPr/>
        </p:nvGrpSpPr>
        <p:grpSpPr>
          <a:xfrm>
            <a:off x="6384022" y="2058934"/>
            <a:ext cx="2429410" cy="2240581"/>
            <a:chOff x="5481408" y="1979802"/>
            <a:chExt cx="2429410" cy="224058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2150E3-84F6-44C1-A6EC-5806242B6683}"/>
                </a:ext>
              </a:extLst>
            </p:cNvPr>
            <p:cNvCxnSpPr/>
            <p:nvPr/>
          </p:nvCxnSpPr>
          <p:spPr>
            <a:xfrm>
              <a:off x="5729681" y="1979802"/>
              <a:ext cx="0" cy="218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94BE70-3AF8-458B-B588-DD6B9294BDF1}"/>
                </a:ext>
              </a:extLst>
            </p:cNvPr>
            <p:cNvSpPr/>
            <p:nvPr/>
          </p:nvSpPr>
          <p:spPr>
            <a:xfrm>
              <a:off x="5669622" y="3955570"/>
              <a:ext cx="185889" cy="20972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B2BC44-6A81-4D7C-9463-0A1B839F2B0C}"/>
                </a:ext>
              </a:extLst>
            </p:cNvPr>
            <p:cNvCxnSpPr/>
            <p:nvPr/>
          </p:nvCxnSpPr>
          <p:spPr>
            <a:xfrm>
              <a:off x="5729681" y="4160939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FDE86B-8646-4B64-B928-4955D81696E2}"/>
                </a:ext>
              </a:extLst>
            </p:cNvPr>
            <p:cNvCxnSpPr/>
            <p:nvPr/>
          </p:nvCxnSpPr>
          <p:spPr>
            <a:xfrm>
              <a:off x="5729681" y="370094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D0F210-B8E1-4E1B-B165-4D57A0713FDD}"/>
                </a:ext>
              </a:extLst>
            </p:cNvPr>
            <p:cNvCxnSpPr/>
            <p:nvPr/>
          </p:nvCxnSpPr>
          <p:spPr>
            <a:xfrm>
              <a:off x="5729681" y="3222771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045DDE-D21F-456C-B22F-C98E807FDD01}"/>
                </a:ext>
              </a:extLst>
            </p:cNvPr>
            <p:cNvCxnSpPr/>
            <p:nvPr/>
          </p:nvCxnSpPr>
          <p:spPr>
            <a:xfrm>
              <a:off x="5729681" y="270265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5E3282-3E4A-46DE-99DC-8FD3DA36A894}"/>
                </a:ext>
              </a:extLst>
            </p:cNvPr>
            <p:cNvCxnSpPr/>
            <p:nvPr/>
          </p:nvCxnSpPr>
          <p:spPr>
            <a:xfrm>
              <a:off x="5729681" y="2182536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DABC56-F394-45BC-981C-4236D5D2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022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EBE76AB-C0F8-4B69-AE1C-28EDDB006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4928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DDDB0A-563A-4605-9389-C3961D7B6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7325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958F803-A532-415E-88BE-79AC8DD874D8}"/>
                </a:ext>
              </a:extLst>
            </p:cNvPr>
            <p:cNvSpPr/>
            <p:nvPr/>
          </p:nvSpPr>
          <p:spPr>
            <a:xfrm>
              <a:off x="5481408" y="4010659"/>
              <a:ext cx="679574" cy="209724"/>
            </a:xfrm>
            <a:prstGeom prst="cube">
              <a:avLst>
                <a:gd name="adj" fmla="val 607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80356D-99B1-44CD-AC19-9BA3D68E8E51}"/>
                </a:ext>
              </a:extLst>
            </p:cNvPr>
            <p:cNvSpPr/>
            <p:nvPr/>
          </p:nvSpPr>
          <p:spPr>
            <a:xfrm>
              <a:off x="5644393" y="3138181"/>
              <a:ext cx="211118" cy="19663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285ADF-A7B6-4C67-B229-20C5FAF84647}"/>
              </a:ext>
            </a:extLst>
          </p:cNvPr>
          <p:cNvSpPr txBox="1"/>
          <p:nvPr/>
        </p:nvSpPr>
        <p:spPr>
          <a:xfrm>
            <a:off x="6298232" y="4100236"/>
            <a:ext cx="42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😏</a:t>
            </a:r>
          </a:p>
        </p:txBody>
      </p:sp>
    </p:spTree>
    <p:extLst>
      <p:ext uri="{BB962C8B-B14F-4D97-AF65-F5344CB8AC3E}">
        <p14:creationId xmlns:p14="http://schemas.microsoft.com/office/powerpoint/2010/main" val="1629456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6612922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There is a constrain</a:t>
                </a:r>
              </a:p>
              <a:p>
                <a:pPr lvl="1"/>
                <a:r>
                  <a:rPr lang="en-US" sz="1600" dirty="0"/>
                  <a:t>a </a:t>
                </a:r>
                <a:r>
                  <a:rPr lang="en-US" sz="1600" b="1" dirty="0"/>
                  <a:t>constraint</a:t>
                </a:r>
                <a:r>
                  <a:rPr lang="en-US" sz="1600" dirty="0"/>
                  <a:t> is any condition that restricts the possible motions or configurations of a system.</a:t>
                </a:r>
              </a:p>
              <a:p>
                <a:r>
                  <a:rPr lang="en-US" sz="1600" dirty="0"/>
                  <a:t>A </a:t>
                </a:r>
                <a:r>
                  <a:rPr lang="en-US" sz="1600" b="1" dirty="0"/>
                  <a:t>non-holonomic constraint</a:t>
                </a:r>
                <a:r>
                  <a:rPr lang="en-US" sz="1600" dirty="0"/>
                  <a:t> involves velocities and </a:t>
                </a:r>
                <a:r>
                  <a:rPr lang="en-US" sz="1600" i="1" dirty="0"/>
                  <a:t>cannot</a:t>
                </a:r>
                <a:r>
                  <a:rPr lang="en-US" sz="1600" dirty="0"/>
                  <a:t> be integrated into a position-only equation - does NOT reduce reachable C-space.</a:t>
                </a:r>
              </a:p>
              <a:p>
                <a:r>
                  <a:rPr lang="en-US" sz="1600" dirty="0"/>
                  <a:t>For example the wheels roll without slipping, meaning the robot can only move in the direction it is currently facing.</a:t>
                </a:r>
              </a:p>
              <a:p>
                <a:r>
                  <a:rPr lang="en-US" sz="1600" dirty="0"/>
                  <a:t>velocity component perpendicular to the heading must be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˙</m:t>
                      </m:r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sz="16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err="1" smtClean="0">
                          <a:latin typeface="Cambria Math" panose="02040503050406030204" pitchFamily="18" charset="0"/>
                        </a:rPr>
                        <m:t>˙</m:t>
                      </m:r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dirty="0" err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sz="16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b="1" dirty="0"/>
                  <a:t>Why can't we integrate it?</a:t>
                </a:r>
                <a:r>
                  <a:rPr lang="en-US" sz="1600" dirty="0"/>
                  <a:t> If we try to integrate this equation to get a position-only constraint, we fail because θ itself changes over time as the robot steers.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6612922" cy="3645984"/>
              </a:xfrm>
              <a:blipFill>
                <a:blip r:embed="rId2"/>
                <a:stretch>
                  <a:fillRect l="-369" t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7A7747-6E8D-4D3F-911E-4A0130DB6DF4}"/>
              </a:ext>
            </a:extLst>
          </p:cNvPr>
          <p:cNvGrpSpPr/>
          <p:nvPr/>
        </p:nvGrpSpPr>
        <p:grpSpPr>
          <a:xfrm>
            <a:off x="7186013" y="2322268"/>
            <a:ext cx="1749836" cy="1706197"/>
            <a:chOff x="6298232" y="2058934"/>
            <a:chExt cx="2515200" cy="24369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6AB045-708D-4CC7-93B5-2F7E475DF7F4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72150E3-84F6-44C1-A6EC-5806242B6683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94BE70-3AF8-458B-B588-DD6B9294BDF1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B2BC44-6A81-4D7C-9463-0A1B839F2B0C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FDE86B-8646-4B64-B928-4955D81696E2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D0F210-B8E1-4E1B-B165-4D57A0713FDD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7045DDE-D21F-456C-B22F-C98E807FDD01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75E3282-3E4A-46DE-99DC-8FD3DA36A894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3DABC56-F394-45BC-981C-4236D5D2C5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EBE76AB-C0F8-4B69-AE1C-28EDDB0064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DDDB0A-563A-4605-9389-C3961D7B68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C958F803-A532-415E-88BE-79AC8DD874D8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80356D-99B1-44CD-AC19-9BA3D68E8E51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285ADF-A7B6-4C67-B229-20C5FAF84647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665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robot should move on specific rail? </a:t>
            </a:r>
          </a:p>
          <a:p>
            <a:r>
              <a:rPr lang="en-US" dirty="0"/>
              <a:t>Is that limiting the velocities? </a:t>
            </a:r>
          </a:p>
          <a:p>
            <a:r>
              <a:rPr lang="en-US" dirty="0"/>
              <a:t>Can we reach the goal?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7A7747-6E8D-4D3F-911E-4A0130DB6DF4}"/>
              </a:ext>
            </a:extLst>
          </p:cNvPr>
          <p:cNvGrpSpPr/>
          <p:nvPr/>
        </p:nvGrpSpPr>
        <p:grpSpPr>
          <a:xfrm>
            <a:off x="7350024" y="3194309"/>
            <a:ext cx="1749836" cy="1706197"/>
            <a:chOff x="6298232" y="2058934"/>
            <a:chExt cx="2515200" cy="24369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6AB045-708D-4CC7-93B5-2F7E475DF7F4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72150E3-84F6-44C1-A6EC-5806242B6683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94BE70-3AF8-458B-B588-DD6B9294BDF1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B2BC44-6A81-4D7C-9463-0A1B839F2B0C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FDE86B-8646-4B64-B928-4955D81696E2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D0F210-B8E1-4E1B-B165-4D57A0713FDD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7045DDE-D21F-456C-B22F-C98E807FDD01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75E3282-3E4A-46DE-99DC-8FD3DA36A894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3DABC56-F394-45BC-981C-4236D5D2C5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EBE76AB-C0F8-4B69-AE1C-28EDDB0064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DDDB0A-563A-4605-9389-C3961D7B68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C958F803-A532-415E-88BE-79AC8DD874D8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80356D-99B1-44CD-AC19-9BA3D68E8E51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285ADF-A7B6-4C67-B229-20C5FAF84647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5216EE93-0547-4EF7-86BC-BABF04DF0BA2}"/>
              </a:ext>
            </a:extLst>
          </p:cNvPr>
          <p:cNvSpPr/>
          <p:nvPr/>
        </p:nvSpPr>
        <p:spPr>
          <a:xfrm>
            <a:off x="6786694" y="3045463"/>
            <a:ext cx="1724676" cy="16337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6614490" cy="364598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What if the robot should move on specific rail? </a:t>
                </a:r>
              </a:p>
              <a:p>
                <a:r>
                  <a:rPr lang="en-US" dirty="0"/>
                  <a:t>Is that limiting the velocities? </a:t>
                </a:r>
              </a:p>
              <a:p>
                <a:pPr lvl="1"/>
                <a:r>
                  <a:rPr lang="en-US" dirty="0"/>
                  <a:t>Holonomic constrain only restrict the configuration variables (positions and angles), </a:t>
                </a:r>
                <a:r>
                  <a:rPr lang="en-US" i="1" dirty="0"/>
                  <a:t>not</a:t>
                </a:r>
                <a:r>
                  <a:rPr lang="en-US" dirty="0"/>
                  <a:t> their time derivatives (velocities).</a:t>
                </a:r>
              </a:p>
              <a:p>
                <a:pPr lvl="1"/>
                <a:r>
                  <a:rPr lang="en-US" dirty="0"/>
                  <a:t>Holonomic constraints reduce the </a:t>
                </a:r>
                <a:r>
                  <a:rPr lang="en-US" i="1" dirty="0"/>
                  <a:t>dimension</a:t>
                </a:r>
                <a:r>
                  <a:rPr lang="en-US" dirty="0"/>
                  <a:t> of the configuration space, e.g. from 2D to 1D. </a:t>
                </a:r>
              </a:p>
              <a:p>
                <a:pPr lvl="1"/>
                <a:endParaRPr lang="en-US" b="1" dirty="0"/>
              </a:p>
              <a:p>
                <a:pPr lvl="1"/>
                <a:r>
                  <a:rPr lang="en-US" b="1" dirty="0"/>
                  <a:t>Robot on a circular rail:</a:t>
                </a:r>
                <a:r>
                  <a:rPr lang="en-US" dirty="0"/>
                  <a:t> A warehouse robot </a:t>
                </a:r>
              </a:p>
              <a:p>
                <a:pPr lvl="1"/>
                <a:r>
                  <a:rPr lang="en-US" dirty="0"/>
                  <a:t>constrained to ride on a circular guide rail of radius R satisfies: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6614490" cy="3645984"/>
              </a:xfrm>
              <a:blipFill>
                <a:blip r:embed="rId2"/>
                <a:stretch>
                  <a:fillRect l="-1198" t="-3177" b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A655D2-904C-49CF-8FB9-2C70E17D281C}"/>
              </a:ext>
            </a:extLst>
          </p:cNvPr>
          <p:cNvGrpSpPr/>
          <p:nvPr/>
        </p:nvGrpSpPr>
        <p:grpSpPr>
          <a:xfrm>
            <a:off x="7350024" y="3194309"/>
            <a:ext cx="1749836" cy="1706197"/>
            <a:chOff x="6298232" y="2058934"/>
            <a:chExt cx="2515200" cy="243693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08F6D4E-FDA6-46CD-8977-7B8B6D33EA5D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B859596-9CB8-4692-B428-46E72745D198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8AAE4AE-80AA-4863-AEBB-1482A2FAF01A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AEC57B9-6D87-40EC-819A-A5F310384904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2847C76-5472-49FB-BA7C-302556E63C16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10B051-FACE-4136-97CB-BE78F227861F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30C7E5E-EF84-4D63-A576-09FD32F577DF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E31A47-CC11-4A8A-8E15-ABA93CCCC3FA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22278F9-211F-42BF-963F-EB2E7C75BC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B68E7CB-9C52-44D7-95B3-63115F001B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AF6525A-723E-4308-8055-76EC229110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EBCDE44B-8BEF-4342-85F4-AD7DD0297680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86C0BFB-4800-4E85-A0E8-51085EFB3120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01AE74-5DDA-4E67-8920-EB99F396CF9A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023C895-B9C5-41CA-8F14-C2A39A75315C}"/>
              </a:ext>
            </a:extLst>
          </p:cNvPr>
          <p:cNvSpPr/>
          <p:nvPr/>
        </p:nvSpPr>
        <p:spPr>
          <a:xfrm>
            <a:off x="6786694" y="3045463"/>
            <a:ext cx="1724676" cy="16337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77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14DBEA53-5200-41A9-880E-ED86475DB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968426"/>
              </p:ext>
            </p:extLst>
          </p:nvPr>
        </p:nvGraphicFramePr>
        <p:xfrm>
          <a:off x="750941" y="1225267"/>
          <a:ext cx="7397637" cy="2692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5879">
                  <a:extLst>
                    <a:ext uri="{9D8B030D-6E8A-4147-A177-3AD203B41FA5}">
                      <a16:colId xmlns:a16="http://schemas.microsoft.com/office/drawing/2014/main" val="3900814762"/>
                    </a:ext>
                  </a:extLst>
                </a:gridCol>
                <a:gridCol w="2465879">
                  <a:extLst>
                    <a:ext uri="{9D8B030D-6E8A-4147-A177-3AD203B41FA5}">
                      <a16:colId xmlns:a16="http://schemas.microsoft.com/office/drawing/2014/main" val="2679018815"/>
                    </a:ext>
                  </a:extLst>
                </a:gridCol>
                <a:gridCol w="2465879">
                  <a:extLst>
                    <a:ext uri="{9D8B030D-6E8A-4147-A177-3AD203B41FA5}">
                      <a16:colId xmlns:a16="http://schemas.microsoft.com/office/drawing/2014/main" val="3981341106"/>
                    </a:ext>
                  </a:extLst>
                </a:gridCol>
              </a:tblGrid>
              <a:tr h="397948">
                <a:tc>
                  <a:txBody>
                    <a:bodyPr/>
                    <a:lstStyle/>
                    <a:p>
                      <a:r>
                        <a:rPr lang="en-US" sz="14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Holonomic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Non-Holonomic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07004"/>
                  </a:ext>
                </a:extLst>
              </a:tr>
              <a:tr h="39794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Depends 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Position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Velocities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248137"/>
                  </a:ext>
                </a:extLst>
              </a:tr>
              <a:tr h="55603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Reduces configuration space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962063"/>
                  </a:ext>
                </a:extLst>
              </a:tr>
              <a:tr h="55603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Restricts reachable positions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 — some positions are forever forbidden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— all positions remain reachable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566080"/>
                  </a:ext>
                </a:extLst>
              </a:tr>
              <a:tr h="784994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Restricts instantaneous velocity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 — certain velocities are forbidden at each instant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78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769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024C23-5B23-4C37-838C-90A1733069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6458E-E597-46F8-98F5-920863CB31B4}"/>
              </a:ext>
            </a:extLst>
          </p:cNvPr>
          <p:cNvSpPr txBox="1"/>
          <p:nvPr/>
        </p:nvSpPr>
        <p:spPr>
          <a:xfrm>
            <a:off x="528506" y="1152647"/>
            <a:ext cx="81963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This Matters for Motion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planner that ignores non-holonomic constraints will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 trajectories the robot cannot follow.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 plans must ensure the robot's velocity vector is always aligned with its heading.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why car-like robots cannot change lanes instantaneously and why parallel parking requires a multi-step maneuver.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non-holonomic constraint does not limit </a:t>
            </a:r>
            <a:r>
              <a:rPr lang="en-US" b="1" i="1" dirty="0"/>
              <a:t>where</a:t>
            </a:r>
            <a:r>
              <a:rPr lang="en-US" b="1" dirty="0"/>
              <a:t> the robot can go, but it limits </a:t>
            </a:r>
            <a:r>
              <a:rPr lang="en-US" b="1" i="1" dirty="0"/>
              <a:t>how</a:t>
            </a:r>
            <a:r>
              <a:rPr lang="en-US" b="1" dirty="0"/>
              <a:t> it can get there.</a:t>
            </a:r>
          </a:p>
        </p:txBody>
      </p:sp>
    </p:spTree>
    <p:extLst>
      <p:ext uri="{BB962C8B-B14F-4D97-AF65-F5344CB8AC3E}">
        <p14:creationId xmlns:p14="http://schemas.microsoft.com/office/powerpoint/2010/main" val="211577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2369-69B3-423A-AC35-DF3BC1ED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Heavy Duty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F048-B20E-4C7D-A82E-8920628A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The differential driving model assumes</a:t>
            </a:r>
          </a:p>
          <a:p>
            <a:pPr lvl="1"/>
            <a:r>
              <a:rPr lang="en-US" sz="1600" dirty="0"/>
              <a:t>perfect wheel contact with the floor, </a:t>
            </a:r>
          </a:p>
          <a:p>
            <a:pPr lvl="1"/>
            <a:r>
              <a:rPr lang="en-US" sz="1600" dirty="0"/>
              <a:t>no wheel slipping, and </a:t>
            </a:r>
          </a:p>
          <a:p>
            <a:pPr lvl="1"/>
            <a:r>
              <a:rPr lang="en-US" sz="1600" dirty="0"/>
              <a:t>exact motor control. </a:t>
            </a:r>
          </a:p>
          <a:p>
            <a:r>
              <a:rPr lang="en-US" sz="1600" dirty="0"/>
              <a:t>These assumptions hold well for small, lightweight warehouse robots on smooth concrete. But real vehicles behave differently.</a:t>
            </a:r>
          </a:p>
          <a:p>
            <a:endParaRPr lang="en-US" sz="1600" dirty="0"/>
          </a:p>
          <a:p>
            <a:r>
              <a:rPr lang="en-US" sz="1600" b="1" dirty="0"/>
              <a:t>We need a robots to move heavy pallets</a:t>
            </a:r>
            <a:endParaRPr lang="en-US" sz="1600" dirty="0"/>
          </a:p>
          <a:p>
            <a:r>
              <a:rPr lang="en-US" sz="1600" dirty="0"/>
              <a:t>To better represent steering vehicles we need different kinematics that is more accurate. </a:t>
            </a:r>
          </a:p>
          <a:p>
            <a:pPr marL="0" indent="0" algn="ctr">
              <a:buNone/>
            </a:pPr>
            <a:r>
              <a:rPr lang="en-US" sz="1600" b="1" dirty="0"/>
              <a:t>What can it Be?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8176-D2F9-41EB-AA09-C44C2FE6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EB253-CF3C-4602-83AF-C6BA3330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364CEF-4E09-4279-9D68-04AB0FB2B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3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Bicycle Model (Car-Like Robots)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31A7-AFD5-4033-B8B1-DEAC76B2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9" y="906967"/>
            <a:ext cx="7039514" cy="3645984"/>
          </a:xfrm>
        </p:spPr>
        <p:txBody>
          <a:bodyPr>
            <a:normAutofit/>
          </a:bodyPr>
          <a:lstStyle/>
          <a:p>
            <a:r>
              <a:rPr lang="en-US" sz="1800" dirty="0"/>
              <a:t>These Robot have </a:t>
            </a:r>
          </a:p>
          <a:p>
            <a:pPr lvl="1"/>
            <a:r>
              <a:rPr lang="en-US" sz="1400" dirty="0"/>
              <a:t>a front steering axle (two wheels that turn together) and </a:t>
            </a:r>
          </a:p>
          <a:p>
            <a:pPr lvl="1"/>
            <a:r>
              <a:rPr lang="en-US" sz="1400" dirty="0"/>
              <a:t>a rear drive axle (two fixed wheels). </a:t>
            </a:r>
          </a:p>
          <a:p>
            <a:r>
              <a:rPr lang="en-US" sz="1800" dirty="0"/>
              <a:t>Unlike the differential-drive robot, </a:t>
            </a:r>
          </a:p>
          <a:p>
            <a:pPr lvl="1"/>
            <a:r>
              <a:rPr lang="en-US" sz="1400" dirty="0"/>
              <a:t>the driver steers by changing the angle of the front wheels</a:t>
            </a:r>
          </a:p>
          <a:p>
            <a:r>
              <a:rPr lang="en-US" sz="1800" dirty="0"/>
              <a:t>The software team needs a kinematic model for this new vehicle type. In order to generate a suitable path.</a:t>
            </a:r>
          </a:p>
          <a:p>
            <a:endParaRPr lang="en-US" sz="1800" b="1" dirty="0"/>
          </a:p>
          <a:p>
            <a:pPr marL="457200" lvl="1" indent="0" algn="ctr">
              <a:buNone/>
            </a:pPr>
            <a:r>
              <a:rPr lang="en-US" sz="1800" b="1" dirty="0"/>
              <a:t>What can we control?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51EEB-03EA-4426-A620-08F0CCC2F643}"/>
              </a:ext>
            </a:extLst>
          </p:cNvPr>
          <p:cNvGrpSpPr/>
          <p:nvPr/>
        </p:nvGrpSpPr>
        <p:grpSpPr>
          <a:xfrm>
            <a:off x="7391310" y="3702493"/>
            <a:ext cx="1566246" cy="1138435"/>
            <a:chOff x="7391310" y="3702493"/>
            <a:chExt cx="1566246" cy="1138435"/>
          </a:xfrm>
        </p:grpSpPr>
        <p:sp>
          <p:nvSpPr>
            <p:cNvPr id="28" name="Flowchart: Magnetic Disk 27">
              <a:extLst>
                <a:ext uri="{FF2B5EF4-FFF2-40B4-BE49-F238E27FC236}">
                  <a16:creationId xmlns:a16="http://schemas.microsoft.com/office/drawing/2014/main" id="{2D85F584-C319-48B6-B514-4ADD3E7BAC03}"/>
                </a:ext>
              </a:extLst>
            </p:cNvPr>
            <p:cNvSpPr/>
            <p:nvPr/>
          </p:nvSpPr>
          <p:spPr>
            <a:xfrm rot="5400000">
              <a:off x="7297323" y="4488869"/>
              <a:ext cx="402826" cy="214852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931889"/>
                <a:ext cx="1426128" cy="781963"/>
                <a:chOff x="5486400" y="3733101"/>
                <a:chExt cx="1426128" cy="781963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7493DFD9-6677-4362-BDDE-975BB20FDBB3}"/>
                </a:ext>
              </a:extLst>
            </p:cNvPr>
            <p:cNvSpPr/>
            <p:nvPr/>
          </p:nvSpPr>
          <p:spPr>
            <a:xfrm rot="5400000">
              <a:off x="8236280" y="4532089"/>
              <a:ext cx="402826" cy="214852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019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State: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Control inputs:</a:t>
                </a:r>
              </a:p>
              <a:p>
                <a:pPr lvl="1"/>
                <a:r>
                  <a:rPr lang="en-US" sz="1600" dirty="0"/>
                  <a:t>velocity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r>
                  <a:rPr lang="en-US" sz="1600" dirty="0"/>
                  <a:t>steering angle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Rear wheels become one fixed wheel</a:t>
                </a:r>
              </a:p>
              <a:p>
                <a:pPr lvl="1"/>
                <a:r>
                  <a:rPr lang="en-US" sz="1600" dirty="0"/>
                  <a:t>The rear wheel is fixed (cannot steer), so the rear axle midpoint can only move along the heading direction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600" dirty="0"/>
              </a:p>
              <a:p>
                <a:pPr lvl="1"/>
                <a:endParaRPr lang="en-US" sz="1600" i="1" dirty="0">
                  <a:effectLst/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160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˙=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i="1" dirty="0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˙=</m:t>
                    </m:r>
                    <m:r>
                      <m:rPr>
                        <m:sty m:val="p"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v</m:t>
                    </m:r>
                    <m:func>
                      <m:func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51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03E5B7D7-1C24-4463-B0B6-4A4AFE237464}"/>
              </a:ext>
            </a:extLst>
          </p:cNvPr>
          <p:cNvSpPr/>
          <p:nvPr/>
        </p:nvSpPr>
        <p:spPr>
          <a:xfrm>
            <a:off x="2470557" y="3589352"/>
            <a:ext cx="75501" cy="5788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6912CC-AA30-489B-85F4-8234B041C6EE}"/>
              </a:ext>
            </a:extLst>
          </p:cNvPr>
          <p:cNvSpPr txBox="1"/>
          <p:nvPr/>
        </p:nvSpPr>
        <p:spPr>
          <a:xfrm>
            <a:off x="2587913" y="3597725"/>
            <a:ext cx="5331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These are identical to the differential-drive equations because the rear wheel obeys the same no-lateral-slip condition</a:t>
            </a:r>
          </a:p>
        </p:txBody>
      </p:sp>
    </p:spTree>
    <p:extLst>
      <p:ext uri="{BB962C8B-B14F-4D97-AF65-F5344CB8AC3E}">
        <p14:creationId xmlns:p14="http://schemas.microsoft.com/office/powerpoint/2010/main" val="3144219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Two front wheels are approximated as one steering wheel. </a:t>
                </a:r>
              </a:p>
              <a:p>
                <a:r>
                  <a:rPr lang="en-US" sz="1400" dirty="0"/>
                  <a:t>the chassis length L, </a:t>
                </a:r>
              </a:p>
              <a:p>
                <a:r>
                  <a:rPr lang="en-US" sz="1400" dirty="0"/>
                  <a:t>the instantaneous center of rotation (ICR) lies on the line extending through the rear axle.</a:t>
                </a:r>
              </a:p>
              <a:p>
                <a:r>
                  <a:rPr lang="en-US" sz="1400" dirty="0"/>
                  <a:t>the distance from the rear axle to the ICR is:</a:t>
                </a:r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l-GR" sz="1400" i="1" dirty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func>
                      </m:den>
                    </m:f>
                  </m:oMath>
                </a14:m>
                <a:endParaRPr lang="de-DE" sz="1400" dirty="0"/>
              </a:p>
              <a:p>
                <a:r>
                  <a:rPr lang="en-US" sz="1400" dirty="0"/>
                  <a:t>The angular velocity of the vehicle is:</a:t>
                </a:r>
              </a:p>
              <a:p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˙=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de-DE" sz="14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400" dirty="0"/>
              </a:p>
              <a:p>
                <a:r>
                  <a:rPr lang="en-US" sz="1200" dirty="0"/>
                  <a:t>The turning radius R depends on the steering angle:</a:t>
                </a:r>
              </a:p>
              <a:p>
                <a:r>
                  <a:rPr lang="en-US" sz="1400" dirty="0">
                    <a:effectLst/>
                  </a:rPr>
                  <a:t>R </a:t>
                </a:r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4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de-DE" sz="1400" dirty="0">
                  <a:effectLst/>
                </a:endParaRP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51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21353AF-2E26-4E44-B24F-136CB119C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526" y="2982807"/>
            <a:ext cx="2411477" cy="173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09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A practical consequence: </a:t>
                </a:r>
              </a:p>
              <a:p>
                <a:r>
                  <a:rPr lang="en-US" sz="1400" dirty="0"/>
                  <a:t>the forklift has a </a:t>
                </a:r>
                <a:r>
                  <a:rPr lang="en-US" sz="1400" b="1" dirty="0"/>
                  <a:t>minimum turning radius</a:t>
                </a:r>
                <a:r>
                  <a:rPr lang="en-US" sz="1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err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determined by the maximum steering angle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sz="1400" dirty="0"/>
                  <a:t>of the mechanism. </a:t>
                </a:r>
              </a:p>
              <a:p>
                <a:r>
                  <a:rPr lang="en-US" sz="1400" dirty="0"/>
                  <a:t>This is why forklifts cannot spin in place like differential-drive robots </a:t>
                </a:r>
              </a:p>
              <a:p>
                <a:pPr lvl="1"/>
                <a:r>
                  <a:rPr lang="en-US" sz="1400" dirty="0"/>
                  <a:t>they need space to turn. </a:t>
                </a:r>
              </a:p>
              <a:p>
                <a:r>
                  <a:rPr lang="en-US" sz="1400" dirty="0"/>
                  <a:t>Warehouse aisle widths must accommodate this minimum turning radius.</a:t>
                </a:r>
                <a:endParaRPr lang="de-DE" sz="1400" dirty="0">
                  <a:effectLst/>
                </a:endParaRPr>
              </a:p>
              <a:p>
                <a:endParaRPr lang="en-US" sz="1400" dirty="0"/>
              </a:p>
              <a:p>
                <a:r>
                  <a:rPr lang="en-US" sz="1400" b="1" dirty="0"/>
                  <a:t>Task</a:t>
                </a:r>
                <a:r>
                  <a:rPr lang="en-US" sz="1400" dirty="0"/>
                  <a:t>: The forklift has </a:t>
                </a:r>
              </a:p>
              <a:p>
                <a:pPr lvl="1"/>
                <a:r>
                  <a:rPr lang="en-US" sz="1400" dirty="0"/>
                  <a:t>wheelbase L = 1.5 m and maximum steering angle </a:t>
                </a:r>
                <a:r>
                  <a:rPr lang="en-US" sz="1400" dirty="0" err="1"/>
                  <a:t>φ_max</a:t>
                </a:r>
                <a:r>
                  <a:rPr lang="en-US" sz="1400" dirty="0"/>
                  <a:t> = 35°. </a:t>
                </a:r>
              </a:p>
              <a:p>
                <a:pPr lvl="1"/>
                <a:r>
                  <a:rPr lang="en-US" sz="1400" dirty="0"/>
                  <a:t>It approaches a 90° turn between two aisles at v = 0.8 m/s. </a:t>
                </a:r>
              </a:p>
              <a:p>
                <a:pPr lvl="1"/>
                <a:r>
                  <a:rPr lang="en-US" sz="1400" b="1" dirty="0"/>
                  <a:t>What is the turning radius, and what angular velocity does the robot experience?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87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/>
              <p:nvPr/>
            </p:nvSpPr>
            <p:spPr>
              <a:xfrm>
                <a:off x="6805796" y="921153"/>
                <a:ext cx="2000825" cy="154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˙=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800" dirty="0"/>
              </a:p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v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2270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f>
                        <m:f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de-DE" sz="1800" dirty="0"/>
              </a:p>
              <a:p>
                <a:pPr marL="227013"/>
                <a:r>
                  <a:rPr lang="en-US" sz="1800" dirty="0">
                    <a:effectLst/>
                  </a:rPr>
                  <a:t>R </a:t>
                </a:r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96" y="921153"/>
                <a:ext cx="2000825" cy="1546449"/>
              </a:xfrm>
              <a:prstGeom prst="rect">
                <a:avLst/>
              </a:prstGeom>
              <a:blipFill>
                <a:blip r:embed="rId5"/>
                <a:stretch>
                  <a:fillRect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29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400" b="1" dirty="0"/>
                  <a:t>Task</a:t>
                </a:r>
                <a:r>
                  <a:rPr lang="en-US" sz="1400" dirty="0"/>
                  <a:t>: The forklift has </a:t>
                </a:r>
              </a:p>
              <a:p>
                <a:pPr lvl="1"/>
                <a:r>
                  <a:rPr lang="en-US" sz="1400" dirty="0"/>
                  <a:t>wheelbase L = 1.5 m and maximum steering angle </a:t>
                </a:r>
                <a:r>
                  <a:rPr lang="en-US" sz="1400" dirty="0" err="1"/>
                  <a:t>φ_max</a:t>
                </a:r>
                <a:r>
                  <a:rPr lang="en-US" sz="1400" dirty="0"/>
                  <a:t> = 35°. </a:t>
                </a:r>
              </a:p>
              <a:p>
                <a:pPr lvl="1"/>
                <a:r>
                  <a:rPr lang="en-US" sz="1400" dirty="0"/>
                  <a:t>It approaches a 90° turn between two aisles at v = 0.8 m/s. </a:t>
                </a:r>
              </a:p>
              <a:p>
                <a:pPr lvl="1"/>
                <a:r>
                  <a:rPr lang="en-US" sz="1400" b="1" dirty="0"/>
                  <a:t>What is the turning radius, and what angular velocity does the robot experience?</a:t>
                </a:r>
              </a:p>
              <a:p>
                <a:pPr lvl="1"/>
                <a:endParaRPr lang="en-US" sz="1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˙≈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373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​≈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400" dirty="0"/>
              </a:p>
              <a:p>
                <a:endParaRPr lang="en-US" sz="1600" dirty="0"/>
              </a:p>
              <a:p>
                <a:r>
                  <a:rPr lang="en-US" sz="1600" dirty="0"/>
                  <a:t>The forklift follows a circular arc of radius 2.14 m. </a:t>
                </a:r>
              </a:p>
              <a:p>
                <a:r>
                  <a:rPr lang="en-US" sz="1600" dirty="0"/>
                  <a:t>The aisle intersection must be at least this wide for the robot to make the turn </a:t>
                </a:r>
              </a:p>
              <a:p>
                <a:pPr lvl="1"/>
                <a:r>
                  <a:rPr lang="en-US" sz="1200" dirty="0"/>
                  <a:t>a critical warehouse design parameter</a:t>
                </a:r>
                <a:endParaRPr lang="en-US" sz="1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346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/>
              <p:nvPr/>
            </p:nvSpPr>
            <p:spPr>
              <a:xfrm>
                <a:off x="7402039" y="1032046"/>
                <a:ext cx="2000825" cy="154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˙=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800" dirty="0"/>
              </a:p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v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2270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f>
                        <m:f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de-DE" sz="1800" dirty="0"/>
              </a:p>
              <a:p>
                <a:pPr marL="227013"/>
                <a:r>
                  <a:rPr lang="en-US" sz="1800" dirty="0">
                    <a:effectLst/>
                  </a:rPr>
                  <a:t>R </a:t>
                </a:r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39" y="1032046"/>
                <a:ext cx="2000825" cy="1546449"/>
              </a:xfrm>
              <a:prstGeom prst="rect">
                <a:avLst/>
              </a:prstGeom>
              <a:blipFill>
                <a:blip r:embed="rId5"/>
                <a:stretch>
                  <a:fillRect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790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B66E11AA-4E83-4CD0-8F1F-B4C9C7082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1035598"/>
                  </p:ext>
                </p:extLst>
              </p:nvPr>
            </p:nvGraphicFramePr>
            <p:xfrm>
              <a:off x="676711" y="1377704"/>
              <a:ext cx="7359942" cy="26524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453314">
                      <a:extLst>
                        <a:ext uri="{9D8B030D-6E8A-4147-A177-3AD203B41FA5}">
                          <a16:colId xmlns:a16="http://schemas.microsoft.com/office/drawing/2014/main" val="1583151115"/>
                        </a:ext>
                      </a:extLst>
                    </a:gridCol>
                    <a:gridCol w="2440265">
                      <a:extLst>
                        <a:ext uri="{9D8B030D-6E8A-4147-A177-3AD203B41FA5}">
                          <a16:colId xmlns:a16="http://schemas.microsoft.com/office/drawing/2014/main" val="3911070545"/>
                        </a:ext>
                      </a:extLst>
                    </a:gridCol>
                    <a:gridCol w="2466363">
                      <a:extLst>
                        <a:ext uri="{9D8B030D-6E8A-4147-A177-3AD203B41FA5}">
                          <a16:colId xmlns:a16="http://schemas.microsoft.com/office/drawing/2014/main" val="27517853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Feature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Differential Drive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Bicycle / Car-Like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036430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Spin in place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/>
                            <a:t>Yes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pt-BR" sz="1400" i="1" dirty="0" smtClean="0">
                                  <a:latin typeface="Cambria Math" panose="02040503050406030204" pitchFamily="18" charset="0"/>
                                </a:rPr>
                                <m:t>= −</m:t>
                              </m:r>
                              <m:sSub>
                                <m:sSubPr>
                                  <m:ctrlP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400" dirty="0"/>
                            <a:t>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2179812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turning radius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 (can rotate about its center)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sv-SE" sz="1400" i="0" dirty="0" smtClean="0">
                                        <a:latin typeface="+mj-lt"/>
                                      </a:rPr>
                                      <m:t>min</m:t>
                                    </m:r>
                                  </m:sub>
                                </m:sSub>
                                <m:r>
                                  <a:rPr lang="sv-SE" sz="1400" i="1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sv-SE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sv-SE" sz="1400" i="0" dirty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sv-SE" sz="14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𝜑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max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  <m:r>
                                  <a:rPr lang="sv-SE" sz="1400" i="1" dirty="0" smtClean="0">
                                    <a:latin typeface="Cambria Math" panose="02040503050406030204" pitchFamily="18" charset="0"/>
                                  </a:rPr>
                                  <m:t>&gt; 0</m:t>
                                </m:r>
                              </m:oMath>
                            </m:oMathPara>
                          </a14:m>
                          <a:endParaRPr lang="sv-SE" sz="1400" dirty="0"/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710311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Control inputs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l-G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4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(wheel speeds)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(speed and steering angle)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248958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Constraint type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(no lateral slip)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+ minimum turning radius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60065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Typical application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warehouse robots, cleaning robots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Forklifts, cars, autonomous vehicles, agricultural robots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1962220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B66E11AA-4E83-4CD0-8F1F-B4C9C7082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1035598"/>
                  </p:ext>
                </p:extLst>
              </p:nvPr>
            </p:nvGraphicFramePr>
            <p:xfrm>
              <a:off x="676711" y="1377704"/>
              <a:ext cx="7359942" cy="26524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453314">
                      <a:extLst>
                        <a:ext uri="{9D8B030D-6E8A-4147-A177-3AD203B41FA5}">
                          <a16:colId xmlns:a16="http://schemas.microsoft.com/office/drawing/2014/main" val="1583151115"/>
                        </a:ext>
                      </a:extLst>
                    </a:gridCol>
                    <a:gridCol w="2440265">
                      <a:extLst>
                        <a:ext uri="{9D8B030D-6E8A-4147-A177-3AD203B41FA5}">
                          <a16:colId xmlns:a16="http://schemas.microsoft.com/office/drawing/2014/main" val="3911070545"/>
                        </a:ext>
                      </a:extLst>
                    </a:gridCol>
                    <a:gridCol w="2466363">
                      <a:extLst>
                        <a:ext uri="{9D8B030D-6E8A-4147-A177-3AD203B41FA5}">
                          <a16:colId xmlns:a16="http://schemas.microsoft.com/office/drawing/2014/main" val="27517853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Feature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Differential Drive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Bicycle / Car-Like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036430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Spin in place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01250" t="-103279" r="-102250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2179812460"/>
                      </a:ext>
                    </a:extLst>
                  </a:tr>
                  <a:tr h="5191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turning radius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 (can rotate about its center)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98765" t="-145882" r="-988" b="-28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311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Control inputs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01250" t="-342623" r="-102250" b="-2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98765" t="-342623" r="-988" b="-2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8958363"/>
                      </a:ext>
                    </a:extLst>
                  </a:tr>
                  <a:tr h="51037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Constraint type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(no lateral slip)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+ minimum turning radius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60065728"/>
                      </a:ext>
                    </a:extLst>
                  </a:tr>
                  <a:tr h="51037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Typical application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warehouse robots, cleaning robots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Forklifts, cars, autonomous vehicles, agricultural robots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1962220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8618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C32C5-CEE2-4922-9B35-6B992BD3A9FC}"/>
                  </a:ext>
                </a:extLst>
              </p:cNvPr>
              <p:cNvSpPr txBox="1"/>
              <p:nvPr/>
            </p:nvSpPr>
            <p:spPr>
              <a:xfrm>
                <a:off x="434976" y="884038"/>
                <a:ext cx="749262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“</a:t>
                </a:r>
                <a:r>
                  <a:rPr lang="en-US" b="1" dirty="0"/>
                  <a:t>bicycle model</a:t>
                </a:r>
                <a:r>
                  <a:rPr lang="en-US" dirty="0"/>
                  <a:t>” uses a single front steering angle and single rear wheel to approximate that same car, often assuming small slip angles and moderate speeds.</a:t>
                </a:r>
              </a:p>
              <a:p>
                <a:endParaRPr lang="en-US" dirty="0"/>
              </a:p>
              <a:p>
                <a:r>
                  <a:rPr lang="en-US" dirty="0"/>
                  <a:t>A “</a:t>
                </a:r>
                <a:r>
                  <a:rPr lang="en-US" b="1" dirty="0"/>
                  <a:t>car‑like Ackermann model</a:t>
                </a:r>
                <a:r>
                  <a:rPr lang="en-US" dirty="0"/>
                  <a:t>” usually means you explicitly consider left and right wheel steering angles and Ackermann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In practice, a bicycle model is often used as an approximation of an Ackermann‑steered car, but it is a reduced‑order model, not the full Ackermann geometry.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C32C5-CEE2-4922-9B35-6B992BD3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6" y="884038"/>
                <a:ext cx="7492620" cy="2862322"/>
              </a:xfrm>
              <a:prstGeom prst="rect">
                <a:avLst/>
              </a:prstGeom>
              <a:blipFill>
                <a:blip r:embed="rId4"/>
                <a:stretch>
                  <a:fillRect l="-651" t="-1064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476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9633-96EC-45F1-8BE1-3B0771B2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Your company is designing a new custom robot and needs to evaluate whether it will be able to navigate tight warehouse sections. </a:t>
            </a:r>
          </a:p>
          <a:p>
            <a:r>
              <a:rPr lang="en-US" dirty="0"/>
              <a:t>Instead of deriving the constraints from scratch for every new wheel configuration, the engineering team wants a </a:t>
            </a:r>
            <a:r>
              <a:rPr lang="en-US" b="1" dirty="0"/>
              <a:t>general mathematical framework</a:t>
            </a:r>
            <a:r>
              <a:rPr lang="en-US" dirty="0"/>
              <a:t> that works for any wheeled mobile robot</a:t>
            </a:r>
          </a:p>
          <a:p>
            <a:endParaRPr lang="en-US" dirty="0"/>
          </a:p>
          <a:p>
            <a:r>
              <a:rPr lang="en-US" dirty="0"/>
              <a:t>Is there a single mathematical framework that captures the constraints of </a:t>
            </a:r>
            <a:r>
              <a:rPr lang="en-US" i="1" dirty="0"/>
              <a:t>any</a:t>
            </a:r>
            <a:r>
              <a:rPr lang="en-US" dirty="0"/>
              <a:t> wheeled robot, so we can analyze new designs systematically?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35CCB-87BF-4A56-A4E1-B3BC3C3DD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42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D9633-96EC-45F1-8BE1-3B0771B23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Pfaffian form</a:t>
                </a:r>
                <a:r>
                  <a:rPr lang="en-US" dirty="0"/>
                  <a:t> expresses all </a:t>
                </a:r>
                <a:r>
                  <a:rPr lang="en-US" b="1" dirty="0"/>
                  <a:t>velocity</a:t>
                </a:r>
                <a:r>
                  <a:rPr lang="en-US" dirty="0"/>
                  <a:t> constraints of a system in a single matrix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˙=0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pPr lvl="1"/>
                <a:r>
                  <a:rPr lang="en-US" b="1" dirty="0"/>
                  <a:t>A(q)</a:t>
                </a:r>
                <a:r>
                  <a:rPr lang="en-US" dirty="0"/>
                  <a:t> is an m × n constraint matrix that may depend on the current configuration q</a:t>
                </a:r>
              </a:p>
              <a:p>
                <a:pPr lvl="1"/>
                <a:r>
                  <a:rPr lang="en-US" b="1" dirty="0"/>
                  <a:t>q̇</a:t>
                </a:r>
                <a:r>
                  <a:rPr lang="en-US" dirty="0"/>
                  <a:t> is the n × 1 velocity vector of the system</a:t>
                </a:r>
              </a:p>
              <a:p>
                <a:pPr lvl="1"/>
                <a:r>
                  <a:rPr lang="en-US" b="1" dirty="0"/>
                  <a:t>m</a:t>
                </a:r>
                <a:r>
                  <a:rPr lang="en-US" dirty="0"/>
                  <a:t> is the number of independent constraints</a:t>
                </a:r>
              </a:p>
              <a:p>
                <a:pPr lvl="1"/>
                <a:r>
                  <a:rPr lang="en-US" b="1" dirty="0"/>
                  <a:t>n</a:t>
                </a:r>
                <a:r>
                  <a:rPr lang="en-US" dirty="0"/>
                  <a:t> is the dimension of the configuration space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D9633-96EC-45F1-8BE1-3B0771B23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7" t="-2341" r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35CCB-87BF-4A56-A4E1-B3BC3C3DD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69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Pfaffian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D9633-96EC-45F1-8BE1-3B0771B23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1600" dirty="0"/>
                  <a:t>A(q) q˙=0</a:t>
                </a:r>
              </a:p>
              <a:p>
                <a:r>
                  <a:rPr lang="en-US" sz="1600" dirty="0"/>
                  <a:t>Each row of A represents one constraint. </a:t>
                </a:r>
              </a:p>
              <a:p>
                <a:r>
                  <a:rPr lang="en-US" sz="1600" dirty="0"/>
                  <a:t>The system can have multiple constraints (multiple rows), each forbidding a particular velocity direction at each configuration.</a:t>
                </a:r>
              </a:p>
              <a:p>
                <a:r>
                  <a:rPr lang="en-US" sz="1600" b="1" dirty="0"/>
                  <a:t>Example: Differential-Drive Robot in Pfaffian Form</a:t>
                </a:r>
              </a:p>
              <a:p>
                <a:r>
                  <a:rPr lang="en-US" sz="1600" dirty="0"/>
                  <a:t>For our differential-drive robot,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)ᵀ </m:t>
                    </m:r>
                  </m:oMath>
                </a14:m>
                <a:r>
                  <a:rPr lang="en-US" sz="1600" dirty="0"/>
                  <a:t>and the single non-holonomic constraint is:</a:t>
                </a:r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˙</m:t>
                    </m:r>
                    <m:func>
                      <m:func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l-GR" sz="16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err="1" smtClean="0">
                        <a:latin typeface="Cambria Math" panose="02040503050406030204" pitchFamily="18" charset="0"/>
                      </a:rPr>
                      <m:t>˙ </m:t>
                    </m:r>
                    <m:r>
                      <m:rPr>
                        <m:sty m:val="p"/>
                      </m:rPr>
                      <a:rPr lang="en-US" sz="1600" i="1" dirty="0" err="1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1600" dirty="0"/>
                  <a:t>Written in Pfaffian form:</a:t>
                </a:r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][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l-GR" sz="1600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˙</m:t>
                          </m:r>
                        </m:e>
                      </m:mr>
                      <m:m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˙</m:t>
                          </m:r>
                        </m:e>
                      </m:mr>
                      <m:mr>
                        <m:e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˙</m:t>
                          </m:r>
                        </m:e>
                      </m:mr>
                    </m:m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endParaRPr lang="en-US" sz="1600" dirty="0"/>
              </a:p>
              <a:p>
                <a:r>
                  <a:rPr lang="en-US" sz="1400" dirty="0"/>
                  <a:t>Substitute our kinematic equations </a:t>
                </a:r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ẋ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, ẏ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l-GR" sz="1400" dirty="0"/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400" i="1" dirty="0" err="1" smtClean="0">
                        <a:latin typeface="Cambria Math" panose="02040503050406030204" pitchFamily="18" charset="0"/>
                      </a:rPr>
                      <m:t>vsin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1400" dirty="0"/>
                  <a:t>  </a:t>
                </a:r>
                <a:r>
                  <a:rPr lang="el-GR" sz="1400" dirty="0"/>
                  <a:t>✓</a:t>
                </a:r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D9633-96EC-45F1-8BE1-3B0771B23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1"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35CCB-87BF-4A56-A4E1-B3BC3C3DD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1B20C-2D07-4469-B84C-D99FBEBD489B}"/>
              </a:ext>
            </a:extLst>
          </p:cNvPr>
          <p:cNvSpPr txBox="1"/>
          <p:nvPr/>
        </p:nvSpPr>
        <p:spPr>
          <a:xfrm>
            <a:off x="5089491" y="3390508"/>
            <a:ext cx="3786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kinematic model automatically satisfies the Pfaffian constraint, as it should — the model was derived </a:t>
            </a:r>
            <a:r>
              <a:rPr lang="en-US" i="1" dirty="0"/>
              <a:t>from</a:t>
            </a:r>
            <a:r>
              <a:rPr lang="en-US" dirty="0"/>
              <a:t> the rolling constraint.</a:t>
            </a:r>
          </a:p>
        </p:txBody>
      </p:sp>
    </p:spTree>
    <p:extLst>
      <p:ext uri="{BB962C8B-B14F-4D97-AF65-F5344CB8AC3E}">
        <p14:creationId xmlns:p14="http://schemas.microsoft.com/office/powerpoint/2010/main" val="3642188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Pfaffian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9633-96EC-45F1-8BE1-3B0771B2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Why Engineers Use Pfaffian Form</a:t>
            </a:r>
          </a:p>
          <a:p>
            <a:pPr marL="0" indent="0">
              <a:buNone/>
            </a:pPr>
            <a:r>
              <a:rPr lang="en-US" sz="1400" dirty="0"/>
              <a:t>The Pfaffian form is powerful because it enables: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Systematic modeling</a:t>
            </a:r>
            <a:r>
              <a:rPr lang="en-US" sz="1400" dirty="0"/>
              <a:t> — For any new robot, list the no-slip conditions for each wheel, express each as a row in A(q), and you have the complete constraint model.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Controllability analysis</a:t>
            </a:r>
            <a:r>
              <a:rPr lang="en-US" sz="1400" dirty="0"/>
              <a:t> — From A(q), we can determine the null space (the set of allowed velocities) and analyze whether the system can reach all configurations (more on this in Section 7).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Motion planning</a:t>
            </a:r>
            <a:r>
              <a:rPr lang="en-US" sz="1400" dirty="0"/>
              <a:t> — Planners can check proposed trajectories against A(q)q̇ = 0 to verify feasibility.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Control design</a:t>
            </a:r>
            <a:r>
              <a:rPr lang="en-US" sz="1400" dirty="0"/>
              <a:t> — The allowed velocity directions (null space of A) define the input distribution, which is the starting point for nonlinear control law design.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35CCB-87BF-4A56-A4E1-B3BC3C3DD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80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B6CA-81A6-44BB-BEFB-8D238CA4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47CCE-6CB7-4978-BFC6-EDC38134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3A3B3-8D3B-45CF-A824-F0B623FE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4E7DA58-1BDA-4532-AA14-842B65C51722}"/>
              </a:ext>
            </a:extLst>
          </p:cNvPr>
          <p:cNvSpPr/>
          <p:nvPr/>
        </p:nvSpPr>
        <p:spPr>
          <a:xfrm>
            <a:off x="164592" y="1170432"/>
            <a:ext cx="2377440" cy="347472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45DC9EB-CE96-4DC5-A1AE-8AD4155CB5CC}"/>
              </a:ext>
            </a:extLst>
          </p:cNvPr>
          <p:cNvSpPr/>
          <p:nvPr/>
        </p:nvSpPr>
        <p:spPr>
          <a:xfrm>
            <a:off x="164592" y="1170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F178F4A5-2A2C-417B-90AB-23B52F20982B}"/>
              </a:ext>
            </a:extLst>
          </p:cNvPr>
          <p:cNvSpPr/>
          <p:nvPr/>
        </p:nvSpPr>
        <p:spPr>
          <a:xfrm>
            <a:off x="2542032" y="1170432"/>
            <a:ext cx="1600200" cy="347472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8C8E902-F199-476D-8B2B-F7B16FC80B90}"/>
              </a:ext>
            </a:extLst>
          </p:cNvPr>
          <p:cNvSpPr/>
          <p:nvPr/>
        </p:nvSpPr>
        <p:spPr>
          <a:xfrm>
            <a:off x="254203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Diff-Drive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E30BD46-4AF0-4D00-B0B5-BAD565CB5572}"/>
              </a:ext>
            </a:extLst>
          </p:cNvPr>
          <p:cNvSpPr/>
          <p:nvPr/>
        </p:nvSpPr>
        <p:spPr>
          <a:xfrm>
            <a:off x="4142232" y="1170432"/>
            <a:ext cx="1600200" cy="347472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CC715C7-2793-480B-9113-9DEC5494103C}"/>
              </a:ext>
            </a:extLst>
          </p:cNvPr>
          <p:cNvSpPr/>
          <p:nvPr/>
        </p:nvSpPr>
        <p:spPr>
          <a:xfrm>
            <a:off x="414223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Ackermann</a:t>
            </a:r>
            <a:endParaRPr lang="en-US" sz="10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B94DCE7-CA37-4A45-9043-750CF556D802}"/>
              </a:ext>
            </a:extLst>
          </p:cNvPr>
          <p:cNvSpPr/>
          <p:nvPr/>
        </p:nvSpPr>
        <p:spPr>
          <a:xfrm>
            <a:off x="5742432" y="1170432"/>
            <a:ext cx="1600200" cy="347472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87AF69D-ABFE-4364-958E-70FBBF02E50C}"/>
              </a:ext>
            </a:extLst>
          </p:cNvPr>
          <p:cNvSpPr/>
          <p:nvPr/>
        </p:nvSpPr>
        <p:spPr>
          <a:xfrm>
            <a:off x="574243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A53731EE-B610-4195-A720-D7F742EFF67E}"/>
              </a:ext>
            </a:extLst>
          </p:cNvPr>
          <p:cNvSpPr/>
          <p:nvPr/>
        </p:nvSpPr>
        <p:spPr>
          <a:xfrm>
            <a:off x="7342632" y="1170432"/>
            <a:ext cx="1600200" cy="347472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F75DBCA-1286-455F-BD11-089912B7BAB8}"/>
              </a:ext>
            </a:extLst>
          </p:cNvPr>
          <p:cNvSpPr/>
          <p:nvPr/>
        </p:nvSpPr>
        <p:spPr>
          <a:xfrm>
            <a:off x="7342632" y="1170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Legged</a:t>
            </a:r>
            <a:endParaRPr lang="en-US" sz="10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A7AFCE2-4D99-48C1-8ED0-1E04A56613B0}"/>
              </a:ext>
            </a:extLst>
          </p:cNvPr>
          <p:cNvSpPr/>
          <p:nvPr/>
        </p:nvSpPr>
        <p:spPr>
          <a:xfrm>
            <a:off x="164592" y="1554480"/>
            <a:ext cx="2377440" cy="713232"/>
          </a:xfrm>
          <a:prstGeom prst="rect">
            <a:avLst/>
          </a:prstGeom>
          <a:solidFill>
            <a:srgbClr val="EBF5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86F4508-2C20-499D-BB7C-407060220729}"/>
              </a:ext>
            </a:extLst>
          </p:cNvPr>
          <p:cNvSpPr/>
          <p:nvPr/>
        </p:nvSpPr>
        <p:spPr>
          <a:xfrm>
            <a:off x="164592" y="15544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tight aisles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&lt; 1 m)</a:t>
            </a:r>
            <a:endParaRPr lang="en-US" sz="10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73B02501-06BF-439B-8CAA-1DB8875C2A92}"/>
              </a:ext>
            </a:extLst>
          </p:cNvPr>
          <p:cNvSpPr/>
          <p:nvPr/>
        </p:nvSpPr>
        <p:spPr>
          <a:xfrm>
            <a:off x="2542032" y="1554480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7BDE4BB-680E-4D48-8A8F-58B5ADCE8844}"/>
              </a:ext>
            </a:extLst>
          </p:cNvPr>
          <p:cNvSpPr/>
          <p:nvPr/>
        </p:nvSpPr>
        <p:spPr>
          <a:xfrm>
            <a:off x="2542032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R_min=0, zero turn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03D57E8E-A08C-4ABC-AF50-1F1FEA2A98C8}"/>
              </a:ext>
            </a:extLst>
          </p:cNvPr>
          <p:cNvSpPr/>
          <p:nvPr/>
        </p:nvSpPr>
        <p:spPr>
          <a:xfrm>
            <a:off x="4142232" y="1554480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02AF843-39D5-47C3-85EC-B713346A89CC}"/>
              </a:ext>
            </a:extLst>
          </p:cNvPr>
          <p:cNvSpPr/>
          <p:nvPr/>
        </p:nvSpPr>
        <p:spPr>
          <a:xfrm>
            <a:off x="4142232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R_min&gt;0, too wide</a:t>
            </a:r>
            <a:endParaRPr lang="en-US" sz="1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CACAC8D4-428C-45C5-A040-24EC301C35C4}"/>
              </a:ext>
            </a:extLst>
          </p:cNvPr>
          <p:cNvSpPr/>
          <p:nvPr/>
        </p:nvSpPr>
        <p:spPr>
          <a:xfrm>
            <a:off x="5742432" y="1554480"/>
            <a:ext cx="1600200" cy="713232"/>
          </a:xfrm>
          <a:prstGeom prst="rect">
            <a:avLst/>
          </a:prstGeom>
          <a:solidFill>
            <a:srgbClr val="FFFDE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E0FBCD5-00F9-4C86-B6F8-406ACB48442E}"/>
              </a:ext>
            </a:extLst>
          </p:cNvPr>
          <p:cNvSpPr/>
          <p:nvPr/>
        </p:nvSpPr>
        <p:spPr>
          <a:xfrm>
            <a:off x="5742432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Clean floor only</a:t>
            </a:r>
            <a:endParaRPr lang="en-US" sz="10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FD7A677A-0561-4949-AF72-B7A99C3145CF}"/>
              </a:ext>
            </a:extLst>
          </p:cNvPr>
          <p:cNvSpPr/>
          <p:nvPr/>
        </p:nvSpPr>
        <p:spPr>
          <a:xfrm>
            <a:off x="7342632" y="1554480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8D94D7B3-6A24-46D7-AB90-1D98DFCA6483}"/>
              </a:ext>
            </a:extLst>
          </p:cNvPr>
          <p:cNvSpPr/>
          <p:nvPr/>
        </p:nvSpPr>
        <p:spPr>
          <a:xfrm>
            <a:off x="7342632" y="155448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R≈0 via steps</a:t>
            </a:r>
            <a:endParaRPr lang="en-US" sz="10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2E94EA6-BD1A-433C-B2BC-833C08EF88CE}"/>
              </a:ext>
            </a:extLst>
          </p:cNvPr>
          <p:cNvSpPr/>
          <p:nvPr/>
        </p:nvSpPr>
        <p:spPr>
          <a:xfrm>
            <a:off x="164592" y="2359152"/>
            <a:ext cx="2377440" cy="713232"/>
          </a:xfrm>
          <a:prstGeom prst="rect">
            <a:avLst/>
          </a:prstGeom>
          <a:solidFill>
            <a:srgbClr val="EBF5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F7157E7D-C7F5-4A53-B2F6-258C1A1DE26C}"/>
              </a:ext>
            </a:extLst>
          </p:cNvPr>
          <p:cNvSpPr/>
          <p:nvPr/>
        </p:nvSpPr>
        <p:spPr>
          <a:xfrm>
            <a:off x="164592" y="23591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outdoor travel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(speed &gt; 2 m/s)</a:t>
            </a:r>
            <a:endParaRPr lang="en-US" sz="10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5E0889A6-2473-40D1-9B28-036A9CD874EC}"/>
              </a:ext>
            </a:extLst>
          </p:cNvPr>
          <p:cNvSpPr/>
          <p:nvPr/>
        </p:nvSpPr>
        <p:spPr>
          <a:xfrm>
            <a:off x="2542032" y="2359152"/>
            <a:ext cx="1600200" cy="713232"/>
          </a:xfrm>
          <a:prstGeom prst="rect">
            <a:avLst/>
          </a:prstGeom>
          <a:solidFill>
            <a:srgbClr val="FFFDE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F10527B0-8D68-4356-8C54-5ED7F1A965AB}"/>
              </a:ext>
            </a:extLst>
          </p:cNvPr>
          <p:cNvSpPr/>
          <p:nvPr/>
        </p:nvSpPr>
        <p:spPr>
          <a:xfrm>
            <a:off x="2542032" y="235915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Slower, less stable</a:t>
            </a:r>
            <a:endParaRPr lang="en-US" sz="10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A2A46C9A-BE6F-451A-81A0-CD5422B47B61}"/>
              </a:ext>
            </a:extLst>
          </p:cNvPr>
          <p:cNvSpPr/>
          <p:nvPr/>
        </p:nvSpPr>
        <p:spPr>
          <a:xfrm>
            <a:off x="4142232" y="2359152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140935A8-64F4-416B-A519-5B2743EB69FF}"/>
              </a:ext>
            </a:extLst>
          </p:cNvPr>
          <p:cNvSpPr/>
          <p:nvPr/>
        </p:nvSpPr>
        <p:spPr>
          <a:xfrm>
            <a:off x="4142232" y="235915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Stable, fast</a:t>
            </a:r>
            <a:endParaRPr lang="en-US" sz="10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E937A5F6-B125-4680-AC4D-7FF1BFCCDD1A}"/>
              </a:ext>
            </a:extLst>
          </p:cNvPr>
          <p:cNvSpPr/>
          <p:nvPr/>
        </p:nvSpPr>
        <p:spPr>
          <a:xfrm>
            <a:off x="5742432" y="2359152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9F084FDC-4498-4617-A581-F0A23D3937C7}"/>
              </a:ext>
            </a:extLst>
          </p:cNvPr>
          <p:cNvSpPr/>
          <p:nvPr/>
        </p:nvSpPr>
        <p:spPr>
          <a:xfrm>
            <a:off x="5742432" y="235915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High slip risk</a:t>
            </a:r>
            <a:endParaRPr lang="en-US" sz="10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6F030B64-F381-4942-88E5-6121A5ECF3A3}"/>
              </a:ext>
            </a:extLst>
          </p:cNvPr>
          <p:cNvSpPr/>
          <p:nvPr/>
        </p:nvSpPr>
        <p:spPr>
          <a:xfrm>
            <a:off x="7342632" y="2359152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6769556-363B-40BF-82F4-EC480BD97A02}"/>
              </a:ext>
            </a:extLst>
          </p:cNvPr>
          <p:cNvSpPr/>
          <p:nvPr/>
        </p:nvSpPr>
        <p:spPr>
          <a:xfrm>
            <a:off x="7342632" y="235915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Too slow</a:t>
            </a:r>
            <a:endParaRPr lang="en-US" sz="100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E42A6A38-C291-4039-AE4E-D38C73258C36}"/>
              </a:ext>
            </a:extLst>
          </p:cNvPr>
          <p:cNvSpPr/>
          <p:nvPr/>
        </p:nvSpPr>
        <p:spPr>
          <a:xfrm>
            <a:off x="164592" y="3163824"/>
            <a:ext cx="2377440" cy="713232"/>
          </a:xfrm>
          <a:prstGeom prst="rect">
            <a:avLst/>
          </a:prstGeom>
          <a:solidFill>
            <a:srgbClr val="EBF5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6335FF99-11A9-4C0F-B5C3-4022082BFAD7}"/>
              </a:ext>
            </a:extLst>
          </p:cNvPr>
          <p:cNvSpPr/>
          <p:nvPr/>
        </p:nvSpPr>
        <p:spPr>
          <a:xfrm>
            <a:off x="164592" y="31638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lateral 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(sideways move)</a:t>
            </a:r>
            <a:endParaRPr lang="en-US" sz="100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9B20A2DC-84C4-475D-B281-B825A4DADFEC}"/>
              </a:ext>
            </a:extLst>
          </p:cNvPr>
          <p:cNvSpPr/>
          <p:nvPr/>
        </p:nvSpPr>
        <p:spPr>
          <a:xfrm>
            <a:off x="2542032" y="3163824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A07BBDDC-518F-49AB-ADC2-A0F4CD8524ED}"/>
              </a:ext>
            </a:extLst>
          </p:cNvPr>
          <p:cNvSpPr/>
          <p:nvPr/>
        </p:nvSpPr>
        <p:spPr>
          <a:xfrm>
            <a:off x="2542032" y="316382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Multi-step maneuver</a:t>
            </a:r>
            <a:endParaRPr lang="en-US" sz="10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F1339B1D-43BB-4A10-AA1D-F7C2560E6B50}"/>
              </a:ext>
            </a:extLst>
          </p:cNvPr>
          <p:cNvSpPr/>
          <p:nvPr/>
        </p:nvSpPr>
        <p:spPr>
          <a:xfrm>
            <a:off x="4142232" y="3163824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763A6FE7-0045-4E19-A25B-D852E9333F57}"/>
              </a:ext>
            </a:extLst>
          </p:cNvPr>
          <p:cNvSpPr/>
          <p:nvPr/>
        </p:nvSpPr>
        <p:spPr>
          <a:xfrm>
            <a:off x="4142232" y="316382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go lateral</a:t>
            </a:r>
            <a:endParaRPr lang="en-US" sz="10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C56118D2-8E90-44FA-AEE0-C8809425E706}"/>
              </a:ext>
            </a:extLst>
          </p:cNvPr>
          <p:cNvSpPr/>
          <p:nvPr/>
        </p:nvSpPr>
        <p:spPr>
          <a:xfrm>
            <a:off x="5742432" y="3163824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5C90564C-9B17-46F7-960E-9FB274A7A9FC}"/>
              </a:ext>
            </a:extLst>
          </p:cNvPr>
          <p:cNvSpPr/>
          <p:nvPr/>
        </p:nvSpPr>
        <p:spPr>
          <a:xfrm>
            <a:off x="5742432" y="316382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Direct lateral</a:t>
            </a:r>
            <a:endParaRPr lang="en-US" sz="1000" dirty="0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7FB7A2D4-2F2B-45B2-A8CB-41BC331F90B9}"/>
              </a:ext>
            </a:extLst>
          </p:cNvPr>
          <p:cNvSpPr/>
          <p:nvPr/>
        </p:nvSpPr>
        <p:spPr>
          <a:xfrm>
            <a:off x="7342632" y="3163824"/>
            <a:ext cx="1600200" cy="713232"/>
          </a:xfrm>
          <a:prstGeom prst="rect">
            <a:avLst/>
          </a:prstGeom>
          <a:solidFill>
            <a:srgbClr val="FFFDE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626F7404-777B-46E3-A291-F9EEFE9FE6C6}"/>
              </a:ext>
            </a:extLst>
          </p:cNvPr>
          <p:cNvSpPr/>
          <p:nvPr/>
        </p:nvSpPr>
        <p:spPr>
          <a:xfrm>
            <a:off x="7342632" y="316382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Slow steps</a:t>
            </a:r>
            <a:endParaRPr lang="en-US" sz="1000" dirty="0"/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D5CF7D94-E48F-4907-95E6-C4298F5C392B}"/>
              </a:ext>
            </a:extLst>
          </p:cNvPr>
          <p:cNvSpPr/>
          <p:nvPr/>
        </p:nvSpPr>
        <p:spPr>
          <a:xfrm>
            <a:off x="164592" y="3968496"/>
            <a:ext cx="2377440" cy="713232"/>
          </a:xfrm>
          <a:prstGeom prst="rect">
            <a:avLst/>
          </a:prstGeom>
          <a:solidFill>
            <a:srgbClr val="EBF5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8DA69BE7-C471-4CD8-9BB0-28F87D094E39}"/>
              </a:ext>
            </a:extLst>
          </p:cNvPr>
          <p:cNvSpPr/>
          <p:nvPr/>
        </p:nvSpPr>
        <p:spPr>
          <a:xfrm>
            <a:off x="164592" y="39684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indoor/outdoor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(variable terrain)</a:t>
            </a:r>
            <a:endParaRPr lang="en-US" sz="1000" dirty="0"/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61C1DAC0-0B5B-44FD-8867-F6F6CD1D6B58}"/>
              </a:ext>
            </a:extLst>
          </p:cNvPr>
          <p:cNvSpPr/>
          <p:nvPr/>
        </p:nvSpPr>
        <p:spPr>
          <a:xfrm>
            <a:off x="2542032" y="3968496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CEC0E008-F2CE-433A-9A2C-03249F415B21}"/>
              </a:ext>
            </a:extLst>
          </p:cNvPr>
          <p:cNvSpPr/>
          <p:nvPr/>
        </p:nvSpPr>
        <p:spPr>
          <a:xfrm>
            <a:off x="2542032" y="396849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Robust, simple</a:t>
            </a:r>
            <a:endParaRPr lang="en-US" sz="1000" dirty="0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8F862315-B078-460D-A0EB-D9EBD87F6813}"/>
              </a:ext>
            </a:extLst>
          </p:cNvPr>
          <p:cNvSpPr/>
          <p:nvPr/>
        </p:nvSpPr>
        <p:spPr>
          <a:xfrm>
            <a:off x="4142232" y="3968496"/>
            <a:ext cx="1600200" cy="713232"/>
          </a:xfrm>
          <a:prstGeom prst="rect">
            <a:avLst/>
          </a:prstGeom>
          <a:solidFill>
            <a:srgbClr val="FFFDE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202032A1-F7BD-4FE3-BB91-1DAEB94985E1}"/>
              </a:ext>
            </a:extLst>
          </p:cNvPr>
          <p:cNvSpPr/>
          <p:nvPr/>
        </p:nvSpPr>
        <p:spPr>
          <a:xfrm>
            <a:off x="4142232" y="396849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Min R constraint</a:t>
            </a:r>
            <a:endParaRPr lang="en-US" sz="1000" dirty="0"/>
          </a:p>
        </p:txBody>
      </p:sp>
      <p:sp>
        <p:nvSpPr>
          <p:cNvPr id="53" name="Shape 52">
            <a:extLst>
              <a:ext uri="{FF2B5EF4-FFF2-40B4-BE49-F238E27FC236}">
                <a16:creationId xmlns:a16="http://schemas.microsoft.com/office/drawing/2014/main" id="{6934F2FB-AEF0-40EF-A8CD-91520EBBE809}"/>
              </a:ext>
            </a:extLst>
          </p:cNvPr>
          <p:cNvSpPr/>
          <p:nvPr/>
        </p:nvSpPr>
        <p:spPr>
          <a:xfrm>
            <a:off x="5742432" y="3968496"/>
            <a:ext cx="160020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008E80F5-0B28-4FF1-9A0B-0EDC6D3E277B}"/>
              </a:ext>
            </a:extLst>
          </p:cNvPr>
          <p:cNvSpPr/>
          <p:nvPr/>
        </p:nvSpPr>
        <p:spPr>
          <a:xfrm>
            <a:off x="5742432" y="396849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Terrain sensitive</a:t>
            </a:r>
            <a:endParaRPr lang="en-US" sz="1000" dirty="0"/>
          </a:p>
        </p:txBody>
      </p:sp>
      <p:sp>
        <p:nvSpPr>
          <p:cNvPr id="55" name="Shape 54">
            <a:extLst>
              <a:ext uri="{FF2B5EF4-FFF2-40B4-BE49-F238E27FC236}">
                <a16:creationId xmlns:a16="http://schemas.microsoft.com/office/drawing/2014/main" id="{74CDDE8E-36DC-4EB8-B0F9-8A2845DC7A7F}"/>
              </a:ext>
            </a:extLst>
          </p:cNvPr>
          <p:cNvSpPr/>
          <p:nvPr/>
        </p:nvSpPr>
        <p:spPr>
          <a:xfrm>
            <a:off x="7342632" y="3968496"/>
            <a:ext cx="1600200" cy="713232"/>
          </a:xfrm>
          <a:prstGeom prst="rect">
            <a:avLst/>
          </a:prstGeom>
          <a:solidFill>
            <a:srgbClr val="E8FFF0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6ECD219C-0B67-49AA-AA23-70DE14B2AF33}"/>
              </a:ext>
            </a:extLst>
          </p:cNvPr>
          <p:cNvSpPr/>
          <p:nvPr/>
        </p:nvSpPr>
        <p:spPr>
          <a:xfrm>
            <a:off x="7342632" y="396849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adaptability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13191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61E6-EA17-44F3-8A34-30469A2B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robot leaves its charging dock at a known position (0, 0, 0) begins driving toward a pick station.</a:t>
            </a:r>
          </a:p>
          <a:p>
            <a:r>
              <a:rPr lang="en-US" dirty="0"/>
              <a:t>The warehouse has no GPS coverage.</a:t>
            </a:r>
          </a:p>
          <a:p>
            <a:r>
              <a:rPr lang="en-US" dirty="0"/>
              <a:t>The robot must estimate its own position using only its internal sensors e.g. the wheel encoders that measure how much each wheel has turned.</a:t>
            </a:r>
          </a:p>
          <a:p>
            <a:r>
              <a:rPr lang="en-US" dirty="0"/>
              <a:t>how does the robot estimate its own position?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80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61E6-EA17-44F3-8A34-30469A2B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idea is straightforward: </a:t>
            </a:r>
          </a:p>
          <a:p>
            <a:r>
              <a:rPr lang="en-US" dirty="0"/>
              <a:t>if you know where you started, and you know </a:t>
            </a:r>
          </a:p>
          <a:p>
            <a:r>
              <a:rPr lang="en-US" dirty="0"/>
              <a:t>how fast and </a:t>
            </a:r>
          </a:p>
          <a:p>
            <a:r>
              <a:rPr lang="en-US" dirty="0"/>
              <a:t>in which direction you have been moving at each moment, you can </a:t>
            </a:r>
          </a:p>
          <a:p>
            <a:r>
              <a:rPr lang="en-US" dirty="0"/>
              <a:t>compute where you are now.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Dead reckoning</a:t>
            </a:r>
            <a:r>
              <a:rPr lang="en-US" dirty="0"/>
              <a:t> is </a:t>
            </a:r>
          </a:p>
          <a:p>
            <a:r>
              <a:rPr lang="en-US" dirty="0"/>
              <a:t>the process of estimating the current position by starting from a known position and integrating velocity over time. </a:t>
            </a:r>
          </a:p>
          <a:p>
            <a:r>
              <a:rPr lang="en-US" dirty="0"/>
              <a:t>It is the simplest form of localization and requires no external sensors, only a kinematic model and internal measurements.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06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- Dead reckoning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C61E6-EA17-44F3-8A34-30469A2B5A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Dead reckoning estimates position using motion integration.</a:t>
                </a:r>
              </a:p>
              <a:p>
                <a:pPr marL="0" indent="0">
                  <a:buNone/>
                </a:pPr>
                <a:r>
                  <a:rPr lang="en-US" dirty="0"/>
                  <a:t>Position Update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de-DE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𝑣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  <m:t>1​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l-GR" i="1" dirty="0" smtClean="0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Measured from:  wheel encoders, steering sensors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C61E6-EA17-44F3-8A34-30469A2B5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5" t="-2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8FF90-3E80-4E85-8195-E5127937C381}"/>
                  </a:ext>
                </a:extLst>
              </p:cNvPr>
              <p:cNvSpPr txBox="1"/>
              <p:nvPr/>
            </p:nvSpPr>
            <p:spPr>
              <a:xfrm>
                <a:off x="6572774" y="3389044"/>
                <a:ext cx="23363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𝑒𝑒𝑙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𝑒𝑒𝑙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8FF90-3E80-4E85-8195-E5127937C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74" y="3389044"/>
                <a:ext cx="23363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300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910D-E026-4106-9B45-C731D843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– Dead reckoning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2237EF-D2AA-4A0F-AF65-A447F07CD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robot starts at (0, 0, 0°). </a:t>
                </a:r>
              </a:p>
              <a:p>
                <a:r>
                  <a:rPr lang="en-US" dirty="0"/>
                  <a:t>Its encoders report v = 0.5 m/s and ω = 0.1 rad/s. </a:t>
                </a:r>
              </a:p>
              <a:p>
                <a:r>
                  <a:rPr lang="en-US" dirty="0"/>
                  <a:t>After one time step of </a:t>
                </a:r>
                <a:r>
                  <a:rPr lang="en-US" dirty="0" err="1"/>
                  <a:t>Δt</a:t>
                </a:r>
                <a:r>
                  <a:rPr lang="en-US" dirty="0"/>
                  <a:t> = 0.1 s, estimate the new pose.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​=0+0.5⋅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⁡(0)⋅0.1=0.05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1=0+0.5⋅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⁡(0)⋅0.1=0.0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l-GR" i="1" dirty="0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 smtClean="0">
                        <a:effectLst/>
                        <a:latin typeface="Cambria Math" panose="02040503050406030204" pitchFamily="18" charset="0"/>
                      </a:rPr>
                      <m:t>1​=0+0.1⋅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0.1=0.01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≈0.573°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2237EF-D2AA-4A0F-AF65-A447F07CD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2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D3B7-5CA2-4B25-9B8E-CD218707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0AADF-BBF0-4CFB-AD2E-EE7BC212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F8DADB-0A66-42C3-9031-6470C8DFDB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52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- </a:t>
            </a:r>
            <a:r>
              <a:rPr lang="en-US" dirty="0"/>
              <a:t>Dead reckoning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61E6-EA17-44F3-8A34-30469A2B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 reckoning suffers from </a:t>
            </a:r>
            <a:r>
              <a:rPr lang="en-US" b="1" dirty="0"/>
              <a:t>unbounded error growth</a:t>
            </a:r>
            <a:r>
              <a:rPr lang="en-US" dirty="0"/>
              <a:t>.</a:t>
            </a:r>
          </a:p>
          <a:p>
            <a:r>
              <a:rPr lang="en-US" dirty="0"/>
              <a:t>Every small measurement error — from wheel slip, uneven floors, or encoder quantization — is accumulated into the position estimate and never corrected. </a:t>
            </a:r>
          </a:p>
          <a:p>
            <a:r>
              <a:rPr lang="en-US" dirty="0"/>
              <a:t>After traveling 100 m, a 1% distance error means the position estimate is off by 1 m. </a:t>
            </a:r>
          </a:p>
          <a:p>
            <a:r>
              <a:rPr lang="en-US" dirty="0"/>
              <a:t>Worse, heading errors cause all subsequent position updates to be projected in the wrong direction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43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- </a:t>
            </a:r>
            <a:r>
              <a:rPr lang="en-US" dirty="0"/>
              <a:t>Dead reckoning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61E6-EA17-44F3-8A34-30469A2B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why dead reckoning is almost never used alone. </a:t>
            </a:r>
          </a:p>
          <a:p>
            <a:r>
              <a:rPr lang="en-US" dirty="0"/>
              <a:t>It is combined with external corrections (landmarks, lidar, cameras) in algorithms like the Extended Kalman Filter or particle filters. </a:t>
            </a:r>
          </a:p>
          <a:p>
            <a:r>
              <a:rPr lang="en-US" dirty="0"/>
              <a:t>But dead reckoning remains the </a:t>
            </a:r>
            <a:r>
              <a:rPr lang="en-US" b="1" dirty="0"/>
              <a:t>backbone</a:t>
            </a:r>
            <a:r>
              <a:rPr lang="en-US" dirty="0"/>
              <a:t> of localization — it provides the continuous, high-rate position estimate between external corrections.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56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3CA5-5CB8-47B2-B9ED-C46BF71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D12B-90C3-4E94-AC2C-8670DDB0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forklift robot picks up a 500 kg pallet </a:t>
            </a:r>
          </a:p>
          <a:p>
            <a:r>
              <a:rPr lang="en-US" dirty="0"/>
              <a:t>accelerates toward the shipping dock. </a:t>
            </a:r>
          </a:p>
          <a:p>
            <a:r>
              <a:rPr lang="en-US" dirty="0"/>
              <a:t>The heavy load increases the normal force on the drive wheels, </a:t>
            </a:r>
          </a:p>
          <a:p>
            <a:r>
              <a:rPr lang="en-US" dirty="0"/>
              <a:t>when the robot reaches a patch of oily concrete, the wheels spin freely. </a:t>
            </a:r>
          </a:p>
          <a:p>
            <a:r>
              <a:rPr lang="en-US" dirty="0"/>
              <a:t>The encoders report 2 m of forward travel, but the robot has only moved 0.5 m. </a:t>
            </a:r>
          </a:p>
          <a:p>
            <a:r>
              <a:rPr lang="en-US" dirty="0"/>
              <a:t>Dead reckoning is now wildly wrong, and the robot misses its target dock by 1.5 m.</a:t>
            </a:r>
          </a:p>
          <a:p>
            <a:pPr marL="0" indent="0">
              <a:buNone/>
            </a:pPr>
            <a:r>
              <a:rPr lang="en-US" b="1" dirty="0"/>
              <a:t>What we should do about that, can we know when the robot is slipping?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9D51-77F3-4B1D-935B-1BFA34E0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F30A9-E14D-4CCF-946F-0B88CB2D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43BFBB-84DE-48CB-8D3A-3ACB317BC1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23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3CA5-5CB8-47B2-B9ED-C46BF71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D12B-90C3-4E94-AC2C-8670DDB0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kinematic models we derived assume </a:t>
            </a:r>
            <a:r>
              <a:rPr lang="en-US" b="1" dirty="0"/>
              <a:t>pure rolling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wheel's contact point has zero velocity relative to the ground. </a:t>
            </a:r>
          </a:p>
          <a:p>
            <a:r>
              <a:rPr lang="en-US" dirty="0"/>
              <a:t>In reality, wheels can slip. </a:t>
            </a:r>
          </a:p>
          <a:p>
            <a:pPr lvl="1"/>
            <a:r>
              <a:rPr lang="en-US" dirty="0"/>
              <a:t>When the drive torque exceeds the friction force the ground can provide, the wheel spins faster than the ground speed — this is </a:t>
            </a:r>
            <a:r>
              <a:rPr lang="en-US" b="1" dirty="0"/>
              <a:t>longitudinal slip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opposite can also happen during braking: the wheel locks up and slides.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9D51-77F3-4B1D-935B-1BFA34E0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F30A9-E14D-4CCF-946F-0B88CB2D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43BFBB-84DE-48CB-8D3A-3ACB317BC1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38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3CA5-5CB8-47B2-B9ED-C46BF71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BD12B-90C3-4E94-AC2C-8670DDB0FF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Slip Ratio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𝑤h𝑒𝑒𝑙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𝑔𝑟𝑜𝑢𝑛𝑑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𝑔𝑟𝑜𝑢𝑛𝑑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​​​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  <a:p>
                <a:r>
                  <a:rPr lang="en-US" dirty="0" err="1"/>
                  <a:t>v_wheel</a:t>
                </a:r>
                <a:r>
                  <a:rPr lang="en-US" dirty="0"/>
                  <a:t> = r · </a:t>
                </a:r>
                <a:r>
                  <a:rPr lang="en-US" dirty="0" err="1"/>
                  <a:t>ω_wheel</a:t>
                </a:r>
                <a:r>
                  <a:rPr lang="en-US" dirty="0"/>
                  <a:t> is the velocity the wheel reports based on its rotation</a:t>
                </a:r>
              </a:p>
              <a:p>
                <a:r>
                  <a:rPr lang="en-US" dirty="0" err="1"/>
                  <a:t>v_ground</a:t>
                </a:r>
                <a:r>
                  <a:rPr lang="en-US" dirty="0"/>
                  <a:t> is the actual velocity of the robot relative to the ground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BD12B-90C3-4E94-AC2C-8670DDB0FF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2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9D51-77F3-4B1D-935B-1BFA34E0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F30A9-E14D-4CCF-946F-0B88CB2D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43BFBB-84DE-48CB-8D3A-3ACB317BC1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39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62ED-53EB-4B1D-8D2B-54A5846D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ADD4EC7-83FA-4620-A41C-49C42AC6E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609645"/>
              </p:ext>
            </p:extLst>
          </p:nvPr>
        </p:nvGraphicFramePr>
        <p:xfrm>
          <a:off x="434975" y="906463"/>
          <a:ext cx="827404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016">
                  <a:extLst>
                    <a:ext uri="{9D8B030D-6E8A-4147-A177-3AD203B41FA5}">
                      <a16:colId xmlns:a16="http://schemas.microsoft.com/office/drawing/2014/main" val="385216763"/>
                    </a:ext>
                  </a:extLst>
                </a:gridCol>
                <a:gridCol w="1924293">
                  <a:extLst>
                    <a:ext uri="{9D8B030D-6E8A-4147-A177-3AD203B41FA5}">
                      <a16:colId xmlns:a16="http://schemas.microsoft.com/office/drawing/2014/main" val="392360480"/>
                    </a:ext>
                  </a:extLst>
                </a:gridCol>
                <a:gridCol w="3591739">
                  <a:extLst>
                    <a:ext uri="{9D8B030D-6E8A-4147-A177-3AD203B41FA5}">
                      <a16:colId xmlns:a16="http://schemas.microsoft.com/office/drawing/2014/main" val="588343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Slip Ratio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33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Pure rolling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matches reality perfectly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6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Wheel spinning (acceleration slip)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 &gt;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over-reports distance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718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Wheel locked (braking slip)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 &lt;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Encoder under-reports distance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94462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1C00-F313-4888-9838-8453CB24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5AF13-38A2-45BA-81A0-1BC1FEAD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37CF14-51FF-410A-8FC6-B3C21D12B2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2579F-717A-4EF5-B482-0C48B53D9848}"/>
                  </a:ext>
                </a:extLst>
              </p:cNvPr>
              <p:cNvSpPr txBox="1"/>
              <p:nvPr/>
            </p:nvSpPr>
            <p:spPr>
              <a:xfrm>
                <a:off x="5591640" y="3861295"/>
                <a:ext cx="4572000" cy="653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𝑤h𝑒𝑒𝑙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𝑔𝑟𝑜𝑢𝑛𝑑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𝑔𝑟𝑜𝑢𝑛𝑑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​​​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C2579F-717A-4EF5-B482-0C48B53D9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640" y="3861295"/>
                <a:ext cx="4572000" cy="653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E1F1750-7BC7-4872-BBB2-F1BF1EE30246}"/>
              </a:ext>
            </a:extLst>
          </p:cNvPr>
          <p:cNvSpPr txBox="1"/>
          <p:nvPr/>
        </p:nvSpPr>
        <p:spPr>
          <a:xfrm>
            <a:off x="434896" y="2937792"/>
            <a:ext cx="8274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Any slip directly violates the Dead reckoning  model's assumptions.</a:t>
            </a:r>
          </a:p>
          <a:p>
            <a:r>
              <a:rPr lang="en-US" b="1" dirty="0"/>
              <a:t>What we should do to limit the slipping? </a:t>
            </a:r>
          </a:p>
        </p:txBody>
      </p:sp>
    </p:spTree>
    <p:extLst>
      <p:ext uri="{BB962C8B-B14F-4D97-AF65-F5344CB8AC3E}">
        <p14:creationId xmlns:p14="http://schemas.microsoft.com/office/powerpoint/2010/main" val="3860151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58F2-F920-4EC4-9A0D-7957EFD1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9078-51F5-40D7-81A3-3942AD931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Traction Control Strategies</a:t>
            </a:r>
          </a:p>
          <a:p>
            <a:r>
              <a:rPr lang="en-US" sz="1600" dirty="0"/>
              <a:t>The goal is to keep the slip ratio as close to zero as possible: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Torque limiting:</a:t>
            </a:r>
            <a:r>
              <a:rPr lang="en-US" sz="1600" dirty="0"/>
              <a:t> Reduce the motor torque when the wheel begins to spin. This is the simplest approach, analogous to traction control in cars.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Wheel speed comparison</a:t>
            </a:r>
            <a:r>
              <a:rPr lang="en-US" sz="1600" dirty="0"/>
              <a:t>: Compare the speeds of the left and right wheels. A sudden difference suggests one wheel is slipping.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IMU-based correction:</a:t>
            </a:r>
            <a:r>
              <a:rPr lang="en-US" sz="1600" dirty="0"/>
              <a:t> An inertial measurement unit (IMU) provides an independent acceleration estimate. If the IMU shows zero acceleration but the encoders report increasing speed, the wheel is slipping. </a:t>
            </a:r>
          </a:p>
          <a:p>
            <a:pPr lvl="1"/>
            <a:r>
              <a:rPr lang="en-US" sz="1400" dirty="0"/>
              <a:t>The robot can reduce torque and flag the dead reckoning estimate as unreliable.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Adaptive speed profiles: </a:t>
            </a:r>
            <a:r>
              <a:rPr lang="en-US" sz="1600" dirty="0"/>
              <a:t>The planner reduces commanded velocities when the robot carries heavy loads or when approaching known low-traction zones (painted floor lines, metal grating, etc.).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18B0A-7DD8-41EF-9D8A-7D79D59C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154F-ECE1-425B-BDF1-D3B03C06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0E41BF-C6DB-454A-9D74-D2D763D8F6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89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8F37-ED6F-45FA-9000-45639531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Odometry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9F5A-8632-47FA-95EE-A10244320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Odometry errors arise from multiple sources: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Encoder quantization</a:t>
            </a:r>
            <a:r>
              <a:rPr lang="en-US" sz="1600" dirty="0"/>
              <a:t>: Finite tick resolution means small motions are rounded.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Wheel diameter uncertainty:</a:t>
            </a:r>
            <a:r>
              <a:rPr lang="en-US" sz="1600" dirty="0"/>
              <a:t> Manufacturing tolerances, tire wear, and inflation pressure cause the actual wheel radius to differ from the nominal value.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Wheel slip: </a:t>
            </a:r>
            <a:r>
              <a:rPr lang="en-US" sz="1600" dirty="0"/>
              <a:t>As discussed, any slip invalidates the pure-rolling assumption.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Uneven floors:</a:t>
            </a:r>
            <a:r>
              <a:rPr lang="en-US" sz="1600" dirty="0"/>
              <a:t> Bumps and slopes cause the wheels to travel different distances than the flat-floor model predicts.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650D-86CE-44A1-9E80-F4E55167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C2C48-BC40-436D-B1AB-593783F3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C859AA-A365-4C9F-98F0-D278C8FF1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044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5424-8A6B-4788-BC70-32392807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B6CEB-A115-4C66-8D89-1842BD30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use the traction information in robotics? </a:t>
            </a:r>
          </a:p>
          <a:p>
            <a:r>
              <a:rPr lang="en-US" dirty="0"/>
              <a:t> Real robots use traction monitoring as a critical safety and localization feature. </a:t>
            </a:r>
          </a:p>
          <a:p>
            <a:pPr lvl="1"/>
            <a:r>
              <a:rPr lang="en-US" dirty="0"/>
              <a:t>When slip is detected, the robot's localization module increases its uncertainty estimate, </a:t>
            </a:r>
          </a:p>
          <a:p>
            <a:pPr lvl="1"/>
            <a:r>
              <a:rPr lang="en-US" dirty="0"/>
              <a:t>prompting the system to rely more heavily on external sensors (lidar, cameras) for position correction. </a:t>
            </a:r>
          </a:p>
          <a:p>
            <a:pPr lvl="1"/>
            <a:r>
              <a:rPr lang="en-US" dirty="0"/>
              <a:t>Heavy-duty outdoor robots (agricultural, mining) use even more sophisticated slip estimation, often fusing encoder, IMU, and GPS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332F-FA48-4C9C-9898-813E8277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52DEE-ADD1-402D-86B7-E1B4DE52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674DAD-87FD-40F5-9FFC-B1D7790A12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201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82A8-FA07-49E1-A59B-747C7A7C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A5E9-C24A-4471-8D96-422116073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Software team is implementing the localization module for differential drive robot. </a:t>
            </a:r>
          </a:p>
          <a:p>
            <a:r>
              <a:rPr lang="en-US" dirty="0"/>
              <a:t>They receive raw data from the wheel encoders: "right wheel rotated 150 ticks, left wheel rotated 143 ticks." </a:t>
            </a:r>
          </a:p>
          <a:p>
            <a:r>
              <a:rPr lang="en-US" dirty="0"/>
              <a:t>They must convert these tick counts into a pose update (</a:t>
            </a:r>
            <a:r>
              <a:rPr lang="en-US" dirty="0" err="1"/>
              <a:t>Δx</a:t>
            </a:r>
            <a:r>
              <a:rPr lang="en-US" dirty="0"/>
              <a:t>, </a:t>
            </a:r>
            <a:r>
              <a:rPr lang="en-US" dirty="0" err="1"/>
              <a:t>Δy</a:t>
            </a:r>
            <a:r>
              <a:rPr lang="en-US" dirty="0"/>
              <a:t>, </a:t>
            </a:r>
            <a:r>
              <a:rPr lang="en-US" dirty="0" err="1"/>
              <a:t>Δθ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Your task is to design a solution that convert the ticks into position. </a:t>
            </a:r>
          </a:p>
          <a:p>
            <a:r>
              <a:rPr lang="en-US" dirty="0"/>
              <a:t>What assumption you need, e.g. ticks resolution, … ? </a:t>
            </a:r>
          </a:p>
          <a:p>
            <a:r>
              <a:rPr lang="en-US" dirty="0"/>
              <a:t>What is your solution(s)? E.g. equations, algorithms,… </a:t>
            </a:r>
          </a:p>
          <a:p>
            <a:r>
              <a:rPr lang="en-US" dirty="0"/>
              <a:t>Make the implementation on paper first then in simulation e.g. using ROS and gazebo, or </a:t>
            </a:r>
            <a:r>
              <a:rPr lang="en-US" dirty="0" err="1"/>
              <a:t>webbot</a:t>
            </a:r>
            <a:r>
              <a:rPr lang="en-US" dirty="0"/>
              <a:t>, . </a:t>
            </a:r>
          </a:p>
          <a:p>
            <a:r>
              <a:rPr lang="en-US" dirty="0"/>
              <a:t>Note: explore the midpoint heading concept to improve the accuracy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5DBAB-66F7-455D-96E0-DF4D052F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F98C0-1EC9-478B-A43E-5959E25C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75E43C-4F4D-43EB-862B-E5B295133C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362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4E0DFA-9C18-48A2-802E-C6B59BC63726}"/>
              </a:ext>
            </a:extLst>
          </p:cNvPr>
          <p:cNvGrpSpPr/>
          <p:nvPr/>
        </p:nvGrpSpPr>
        <p:grpSpPr>
          <a:xfrm>
            <a:off x="164592" y="914400"/>
            <a:ext cx="4206240" cy="3200400"/>
            <a:chOff x="164592" y="914400"/>
            <a:chExt cx="4206240" cy="320040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4F00C8EC-DF03-479B-A7B0-99A3870A5388}"/>
                </a:ext>
              </a:extLst>
            </p:cNvPr>
            <p:cNvSpPr/>
            <p:nvPr/>
          </p:nvSpPr>
          <p:spPr>
            <a:xfrm>
              <a:off x="164592" y="914400"/>
              <a:ext cx="4206240" cy="3200400"/>
            </a:xfrm>
            <a:prstGeom prst="rect">
              <a:avLst/>
            </a:prstGeom>
            <a:solidFill>
              <a:srgbClr val="EBF5FF"/>
            </a:solidFill>
            <a:ln w="19050">
              <a:solidFill>
                <a:srgbClr val="065A82"/>
              </a:solidFill>
              <a:prstDash val="solid"/>
            </a:ln>
          </p:spPr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2B138CE5-87B5-4749-89E8-0E3A07BE5EBA}"/>
                </a:ext>
              </a:extLst>
            </p:cNvPr>
            <p:cNvSpPr/>
            <p:nvPr/>
          </p:nvSpPr>
          <p:spPr>
            <a:xfrm>
              <a:off x="164592" y="914400"/>
              <a:ext cx="4206240" cy="34747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56E6041-B76A-4DA3-805C-5E0A78095ACD}"/>
                </a:ext>
              </a:extLst>
            </p:cNvPr>
            <p:cNvSpPr/>
            <p:nvPr/>
          </p:nvSpPr>
          <p:spPr>
            <a:xfrm>
              <a:off x="164592" y="914400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MOD-003 DELIVERED (Motion Model)</a:t>
              </a:r>
              <a:endParaRPr lang="en-US" sz="1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06557E9-121B-4449-8317-5FFC0F784865}"/>
                </a:ext>
              </a:extLst>
            </p:cNvPr>
            <p:cNvSpPr/>
            <p:nvPr/>
          </p:nvSpPr>
          <p:spPr>
            <a:xfrm>
              <a:off x="256032" y="1316736"/>
              <a:ext cx="4023360" cy="2743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SE(2) transforms + TF2 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Diff-drive FK and IK 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No-slip Pfaffian constraint 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Ackermann bicycle model 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Dead reckoning + covariance 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Slip ratio + traction control 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PREDICT step of EKF complete</a:t>
              </a:r>
              <a:endParaRPr lang="en-US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0C1AC4-1D4E-463D-80F8-6D96B9769BFA}"/>
              </a:ext>
            </a:extLst>
          </p:cNvPr>
          <p:cNvGrpSpPr/>
          <p:nvPr/>
        </p:nvGrpSpPr>
        <p:grpSpPr>
          <a:xfrm>
            <a:off x="4663440" y="914400"/>
            <a:ext cx="4297680" cy="3200400"/>
            <a:chOff x="4663440" y="914400"/>
            <a:chExt cx="4297680" cy="320040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667C525-B3BD-4A5F-91CE-9EFF0D89E40D}"/>
                </a:ext>
              </a:extLst>
            </p:cNvPr>
            <p:cNvSpPr/>
            <p:nvPr/>
          </p:nvSpPr>
          <p:spPr>
            <a:xfrm>
              <a:off x="4663440" y="914400"/>
              <a:ext cx="4297680" cy="3200400"/>
            </a:xfrm>
            <a:prstGeom prst="rect">
              <a:avLst/>
            </a:prstGeom>
            <a:solidFill>
              <a:srgbClr val="F0FFF4"/>
            </a:solidFill>
            <a:ln w="19050">
              <a:solidFill>
                <a:srgbClr val="00A896"/>
              </a:solidFill>
              <a:prstDash val="solid"/>
            </a:ln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106E015-6983-4A50-B068-C48AB1CE29CD}"/>
                </a:ext>
              </a:extLst>
            </p:cNvPr>
            <p:cNvSpPr/>
            <p:nvPr/>
          </p:nvSpPr>
          <p:spPr>
            <a:xfrm>
              <a:off x="4663440" y="914400"/>
              <a:ext cx="4297680" cy="347472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93319E8-F72B-443E-A266-63C0DCC71EB1}"/>
                </a:ext>
              </a:extLst>
            </p:cNvPr>
            <p:cNvSpPr/>
            <p:nvPr/>
          </p:nvSpPr>
          <p:spPr>
            <a:xfrm>
              <a:off x="4663440" y="914400"/>
              <a:ext cx="4297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MOD-004 WILL DELIVER (Sensor Model)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445243C-6063-411F-AAC4-A9F87D5DA53A}"/>
                </a:ext>
              </a:extLst>
            </p:cNvPr>
            <p:cNvSpPr/>
            <p:nvPr/>
          </p:nvSpPr>
          <p:spPr>
            <a:xfrm>
              <a:off x="4754880" y="1316736"/>
              <a:ext cx="4114800" cy="2743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LIDAR range model (beam model)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Gaussian measurement noise N(0, σ²)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Sensor covariance matrix R_k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Expected vs actual measurement h(q)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Landmark detection model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Log-likelihood observation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UPDATE step of EKF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MOD-005: EKF = PREDICT (MOD-003) + UPDATE (MOD-004)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Pfaffian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9633-96EC-45F1-8BE1-3B0771B2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100" b="1" dirty="0"/>
              <a:t>Null Space Interpretation</a:t>
            </a:r>
          </a:p>
          <a:p>
            <a:r>
              <a:rPr lang="en-US" sz="1100" dirty="0"/>
              <a:t>The velocities that the robot </a:t>
            </a:r>
            <a:r>
              <a:rPr lang="en-US" sz="1100" i="1" dirty="0"/>
              <a:t>can</a:t>
            </a:r>
            <a:r>
              <a:rPr lang="en-US" sz="1100" dirty="0"/>
              <a:t> execute are those in the </a:t>
            </a:r>
            <a:r>
              <a:rPr lang="en-US" sz="1100" b="1" dirty="0"/>
              <a:t>null space</a:t>
            </a:r>
            <a:r>
              <a:rPr lang="en-US" sz="1100" dirty="0"/>
              <a:t> of A(q). For the differential-drive robot, the null space of [sin θ, −cos θ, 0] is two-dimensional, spanned by:</a:t>
            </a:r>
          </a:p>
          <a:p>
            <a:endParaRPr lang="en-US" sz="1100" dirty="0"/>
          </a:p>
          <a:p>
            <a:r>
              <a:rPr lang="en-US" sz="1100" dirty="0"/>
              <a:t>​​ These are precisely the forward-motion vector and the rotation vector. Any velocity the robot can achieve is a linear combination </a:t>
            </a:r>
            <a:r>
              <a:rPr lang="en-US" sz="1100" dirty="0" err="1"/>
              <a:t>v·g</a:t>
            </a:r>
            <a:r>
              <a:rPr lang="en-US" sz="1100" dirty="0"/>
              <a:t>₁ + </a:t>
            </a:r>
            <a:r>
              <a:rPr lang="en-US" sz="1100" dirty="0" err="1"/>
              <a:t>ω·g</a:t>
            </a:r>
            <a:r>
              <a:rPr lang="en-US" sz="1100" dirty="0"/>
              <a:t>₂ — which is exactly the kinematic model we derived earlier. </a:t>
            </a:r>
          </a:p>
          <a:p>
            <a:r>
              <a:rPr lang="en-US" sz="1100" dirty="0"/>
              <a:t>The Pfaffian form thus provides an alternative, and often cleaner, route to the kinematic equations.</a:t>
            </a:r>
          </a:p>
          <a:p>
            <a:r>
              <a:rPr lang="en-US" sz="1400" dirty="0"/>
              <a:t>q˙=g1(q)v1+g2(q) ω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35CCB-87BF-4A56-A4E1-B3BC3C3DD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0128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42A6-F656-4CC1-BB6C-412AC36B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 - </a:t>
            </a:r>
            <a:r>
              <a:rPr lang="en-US" dirty="0"/>
              <a:t>Chow's Theorem (Controllability)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FAC1-145A-4FEF-92F4-84D6507E2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robot must parallel-park into a narrow loading dock. It cannot move sideways. Yet experienced human drivers parallel-park cars every day using only forward, reverse, and steering. The question is: </a:t>
            </a:r>
          </a:p>
          <a:p>
            <a:r>
              <a:rPr lang="en-US" i="1" dirty="0"/>
              <a:t>Can we mathematically prove that the robot can reach any pose despite the non-holonomic constraint?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01C16-48A6-4132-B40D-84892878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4657E-9483-4760-A54F-DDCEC461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68FB8-37FA-4A30-879D-432D1E02F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600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42A6-F656-4CC1-BB6C-412AC36B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 - </a:t>
            </a:r>
            <a:r>
              <a:rPr lang="en-US" dirty="0"/>
              <a:t>Chow's Theorem (Controllability)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FAC1-145A-4FEF-92F4-84D6507E2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The Lie Bracket</a:t>
            </a:r>
          </a:p>
          <a:p>
            <a:r>
              <a:rPr lang="en-US" dirty="0"/>
              <a:t>The mathematical tool that captures this idea is the </a:t>
            </a:r>
            <a:r>
              <a:rPr lang="en-US" b="1" dirty="0"/>
              <a:t>Lie bracket</a:t>
            </a:r>
            <a:r>
              <a:rPr lang="en-US" dirty="0"/>
              <a:t> of two vector fields. Given our two control vector fields:</a:t>
            </a:r>
          </a:p>
          <a:p>
            <a:r>
              <a:rPr lang="en-US" dirty="0"/>
              <a:t>g</a:t>
            </a:r>
            <a:r>
              <a:rPr lang="en-US" dirty="0">
                <a:effectLst/>
              </a:rPr>
              <a:t>_1</a:t>
            </a:r>
            <a:r>
              <a:rPr lang="en-US" dirty="0"/>
              <a:t>​=​(</a:t>
            </a:r>
            <a:r>
              <a:rPr lang="en-US" dirty="0">
                <a:effectLst/>
              </a:rPr>
              <a:t>cos</a:t>
            </a:r>
            <a:r>
              <a:rPr lang="el-GR" dirty="0">
                <a:effectLst/>
              </a:rPr>
              <a:t>θ</a:t>
            </a:r>
            <a:r>
              <a:rPr lang="de-DE" dirty="0">
                <a:effectLst/>
              </a:rPr>
              <a:t>,</a:t>
            </a:r>
            <a:r>
              <a:rPr lang="en-US" dirty="0">
                <a:effectLst/>
              </a:rPr>
              <a:t>sin</a:t>
            </a:r>
            <a:r>
              <a:rPr lang="el-GR" dirty="0">
                <a:effectLst/>
              </a:rPr>
              <a:t>θ</a:t>
            </a:r>
            <a:r>
              <a:rPr lang="de-DE" dirty="0">
                <a:effectLst/>
              </a:rPr>
              <a:t>,</a:t>
            </a:r>
            <a:r>
              <a:rPr lang="el-GR" dirty="0">
                <a:effectLst/>
              </a:rPr>
              <a:t>0</a:t>
            </a:r>
            <a:r>
              <a:rPr lang="de-DE" dirty="0">
                <a:effectLst/>
              </a:rPr>
              <a:t>)</a:t>
            </a:r>
            <a:r>
              <a:rPr lang="el-GR" dirty="0"/>
              <a:t>​​(</a:t>
            </a:r>
            <a:r>
              <a:rPr lang="en-US" dirty="0"/>
              <a:t>forward motion),</a:t>
            </a:r>
            <a:r>
              <a:rPr lang="en-US" dirty="0">
                <a:effectLst/>
              </a:rPr>
              <a:t>g_2</a:t>
            </a:r>
            <a:r>
              <a:rPr lang="en-US" dirty="0"/>
              <a:t>​=(​</a:t>
            </a:r>
            <a:r>
              <a:rPr lang="en-US" dirty="0">
                <a:effectLst/>
              </a:rPr>
              <a:t>0,0,1)</a:t>
            </a:r>
            <a:r>
              <a:rPr lang="en-US" dirty="0"/>
              <a:t>​​(rotation)</a:t>
            </a:r>
          </a:p>
          <a:p>
            <a:r>
              <a:rPr lang="en-US" dirty="0"/>
              <a:t> The Lie bracket is defined as:</a:t>
            </a:r>
          </a:p>
          <a:p>
            <a:r>
              <a:rPr lang="en-US" dirty="0"/>
              <a:t>[g_1,g_2]=(∂g_2/∂q)g_1−(∂g_1/∂q)g_2​</a:t>
            </a:r>
          </a:p>
          <a:p>
            <a:endParaRPr lang="en-US" dirty="0"/>
          </a:p>
          <a:p>
            <a:r>
              <a:rPr lang="en-US" b="1" dirty="0"/>
              <a:t>Practical Consequence</a:t>
            </a:r>
          </a:p>
          <a:p>
            <a:r>
              <a:rPr lang="en-US" dirty="0"/>
              <a:t>Chow's Theorem guarantees that a motion planner can always find a path connecting any two configurations, even for non-holonomic robots. The planner may need complex maneuvers (like the multi-step parallel parking sequence), but a solution always exists. This is a foundational result for warehouse robot deployment: no loading dock or shelf position is inherently unreachable, as long as there is sufficient free space for the robot to maneuver.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01C16-48A6-4132-B40D-84892878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4657E-9483-4760-A54F-DDCEC461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68FB8-37FA-4A30-879D-432D1E02F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212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6D53-15DE-42D8-8127-1436BFB7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62ADE-211E-42DC-B5AF-9E3B7C720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911EB-2DD6-476A-A9DF-6F30BC60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D3F7F-E24B-4977-9945-98749F1A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0D79A4-3873-424E-8FA4-C273B5CF8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5D366C-929F-42A1-B8A7-A53C8E68FA70}"/>
              </a:ext>
            </a:extLst>
          </p:cNvPr>
          <p:cNvSpPr/>
          <p:nvPr/>
        </p:nvSpPr>
        <p:spPr>
          <a:xfrm>
            <a:off x="182880" y="1033272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card — photograph this slide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8D7128-FBFD-4F2A-9871-75D00F7BCCE8}"/>
              </a:ext>
            </a:extLst>
          </p:cNvPr>
          <p:cNvSpPr/>
          <p:nvPr/>
        </p:nvSpPr>
        <p:spPr>
          <a:xfrm>
            <a:off x="164592" y="1252728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E33B1D9-A364-4A6F-AB1A-AACF3A0C9C38}"/>
              </a:ext>
            </a:extLst>
          </p:cNvPr>
          <p:cNvSpPr/>
          <p:nvPr/>
        </p:nvSpPr>
        <p:spPr>
          <a:xfrm>
            <a:off x="164592" y="1252728"/>
            <a:ext cx="640080" cy="6126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6F7329-3872-4F59-9AE5-D3C9136F2B27}"/>
              </a:ext>
            </a:extLst>
          </p:cNvPr>
          <p:cNvSpPr/>
          <p:nvPr/>
        </p:nvSpPr>
        <p:spPr>
          <a:xfrm>
            <a:off x="164592" y="1252728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03ED61-C0D1-4C4E-AA55-812EF9606CA0}"/>
              </a:ext>
            </a:extLst>
          </p:cNvPr>
          <p:cNvSpPr/>
          <p:nvPr/>
        </p:nvSpPr>
        <p:spPr>
          <a:xfrm>
            <a:off x="822960" y="1271016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SE(2) Transform</a:t>
            </a:r>
            <a:endParaRPr lang="en-US" sz="9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E2106A-18C5-47B3-9648-EFB1DDAEEEE3}"/>
              </a:ext>
            </a:extLst>
          </p:cNvPr>
          <p:cNvSpPr/>
          <p:nvPr/>
        </p:nvSpPr>
        <p:spPr>
          <a:xfrm>
            <a:off x="822960" y="15087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T=[cosθ −sinθ x; sinθ cosθ y; 0 0 1]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518D8FD-AFB0-4108-A03F-7560B5A915A2}"/>
              </a:ext>
            </a:extLst>
          </p:cNvPr>
          <p:cNvSpPr/>
          <p:nvPr/>
        </p:nvSpPr>
        <p:spPr>
          <a:xfrm>
            <a:off x="2999232" y="1252728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C217E1-6B46-4A3D-A0D4-791E18ECAC06}"/>
              </a:ext>
            </a:extLst>
          </p:cNvPr>
          <p:cNvSpPr/>
          <p:nvPr/>
        </p:nvSpPr>
        <p:spPr>
          <a:xfrm>
            <a:off x="2999232" y="1252728"/>
            <a:ext cx="640080" cy="6126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F8EE964-6ED9-4DF8-AA7C-8F7ABB43F4CC}"/>
              </a:ext>
            </a:extLst>
          </p:cNvPr>
          <p:cNvSpPr/>
          <p:nvPr/>
        </p:nvSpPr>
        <p:spPr>
          <a:xfrm>
            <a:off x="2999232" y="1252728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E171673-FFBC-4427-95BB-3DF6980DC965}"/>
              </a:ext>
            </a:extLst>
          </p:cNvPr>
          <p:cNvSpPr/>
          <p:nvPr/>
        </p:nvSpPr>
        <p:spPr>
          <a:xfrm>
            <a:off x="3657600" y="1271016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Chain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9B5979-8A20-454D-B75E-FD55D4395D04}"/>
              </a:ext>
            </a:extLst>
          </p:cNvPr>
          <p:cNvSpPr/>
          <p:nvPr/>
        </p:nvSpPr>
        <p:spPr>
          <a:xfrm>
            <a:off x="3657600" y="15087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T_WL = T_WR · T_RL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F11AEF5-B8E4-4366-B131-58C8546AA16F}"/>
              </a:ext>
            </a:extLst>
          </p:cNvPr>
          <p:cNvSpPr/>
          <p:nvPr/>
        </p:nvSpPr>
        <p:spPr>
          <a:xfrm>
            <a:off x="5833872" y="1252728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6DFBA7B-5457-4152-B0AA-29A4141EF2D3}"/>
              </a:ext>
            </a:extLst>
          </p:cNvPr>
          <p:cNvSpPr/>
          <p:nvPr/>
        </p:nvSpPr>
        <p:spPr>
          <a:xfrm>
            <a:off x="5833872" y="1252728"/>
            <a:ext cx="640080" cy="6126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ADACF93-E016-4024-936C-806C04159F9E}"/>
              </a:ext>
            </a:extLst>
          </p:cNvPr>
          <p:cNvSpPr/>
          <p:nvPr/>
        </p:nvSpPr>
        <p:spPr>
          <a:xfrm>
            <a:off x="5833872" y="1252728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FFBFFFA-B19A-4AAF-ACA3-73C767522607}"/>
              </a:ext>
            </a:extLst>
          </p:cNvPr>
          <p:cNvSpPr/>
          <p:nvPr/>
        </p:nvSpPr>
        <p:spPr>
          <a:xfrm>
            <a:off x="6492240" y="1271016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— linear speed</a:t>
            </a:r>
            <a:endParaRPr lang="en-US" sz="9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1F21AA-C0AA-4A63-8C34-6613D134FE3B}"/>
              </a:ext>
            </a:extLst>
          </p:cNvPr>
          <p:cNvSpPr/>
          <p:nvPr/>
        </p:nvSpPr>
        <p:spPr>
          <a:xfrm>
            <a:off x="6492240" y="15087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r(ω_R+ω_L)/2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F083269-2E4F-4672-ADA0-76AC39C2D36A}"/>
              </a:ext>
            </a:extLst>
          </p:cNvPr>
          <p:cNvSpPr/>
          <p:nvPr/>
        </p:nvSpPr>
        <p:spPr>
          <a:xfrm>
            <a:off x="164592" y="1911096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05D8388-2F3C-4226-AAE4-B4F6CBC4D724}"/>
              </a:ext>
            </a:extLst>
          </p:cNvPr>
          <p:cNvSpPr/>
          <p:nvPr/>
        </p:nvSpPr>
        <p:spPr>
          <a:xfrm>
            <a:off x="164592" y="1911096"/>
            <a:ext cx="640080" cy="6126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78A31E1-0EA7-4EE4-A593-9B7B0B185BA5}"/>
              </a:ext>
            </a:extLst>
          </p:cNvPr>
          <p:cNvSpPr/>
          <p:nvPr/>
        </p:nvSpPr>
        <p:spPr>
          <a:xfrm>
            <a:off x="164592" y="1911096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E04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F59A73-9883-488E-84B7-61B47655DEB3}"/>
              </a:ext>
            </a:extLst>
          </p:cNvPr>
          <p:cNvSpPr/>
          <p:nvPr/>
        </p:nvSpPr>
        <p:spPr>
          <a:xfrm>
            <a:off x="822960" y="1929384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— pose dot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38EF626-ED92-4F9C-9CE4-A8681764A860}"/>
              </a:ext>
            </a:extLst>
          </p:cNvPr>
          <p:cNvSpPr/>
          <p:nvPr/>
        </p:nvSpPr>
        <p:spPr>
          <a:xfrm>
            <a:off x="822960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[ẋ ẏ θ̇]=[cosθ 0; sinθ 0; 0 1]·[v ω]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BB37DDE-EEEB-4BA7-B23F-D8126A83CA5F}"/>
              </a:ext>
            </a:extLst>
          </p:cNvPr>
          <p:cNvSpPr/>
          <p:nvPr/>
        </p:nvSpPr>
        <p:spPr>
          <a:xfrm>
            <a:off x="2999232" y="1911096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F1400FE-692B-445D-97F4-F2B7FA2ED31C}"/>
              </a:ext>
            </a:extLst>
          </p:cNvPr>
          <p:cNvSpPr/>
          <p:nvPr/>
        </p:nvSpPr>
        <p:spPr>
          <a:xfrm>
            <a:off x="2999232" y="1911096"/>
            <a:ext cx="640080" cy="6126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2FA7C9C-7161-442B-985B-29FC86CB487C}"/>
              </a:ext>
            </a:extLst>
          </p:cNvPr>
          <p:cNvSpPr/>
          <p:nvPr/>
        </p:nvSpPr>
        <p:spPr>
          <a:xfrm>
            <a:off x="2999232" y="1911096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E05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6A1B35-950C-4342-BC33-47BE59E91556}"/>
              </a:ext>
            </a:extLst>
          </p:cNvPr>
          <p:cNvSpPr/>
          <p:nvPr/>
        </p:nvSpPr>
        <p:spPr>
          <a:xfrm>
            <a:off x="3657600" y="1929384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— wheel speeds</a:t>
            </a:r>
            <a:endParaRPr lang="en-US" sz="9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FB61EA1-12FA-4A2C-ADC1-7F59D9FCCAE8}"/>
              </a:ext>
            </a:extLst>
          </p:cNvPr>
          <p:cNvSpPr/>
          <p:nvPr/>
        </p:nvSpPr>
        <p:spPr>
          <a:xfrm>
            <a:off x="3657600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ω_R=(2v+ωl)/(2r), ω_L=(2v−ωl)/(2r)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13435AC-144E-4593-947D-ECAAF57D1063}"/>
              </a:ext>
            </a:extLst>
          </p:cNvPr>
          <p:cNvSpPr/>
          <p:nvPr/>
        </p:nvSpPr>
        <p:spPr>
          <a:xfrm>
            <a:off x="5833872" y="1911096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F203B30-0524-47A0-9855-683635CEFD38}"/>
              </a:ext>
            </a:extLst>
          </p:cNvPr>
          <p:cNvSpPr/>
          <p:nvPr/>
        </p:nvSpPr>
        <p:spPr>
          <a:xfrm>
            <a:off x="5833872" y="1911096"/>
            <a:ext cx="640080" cy="6126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0BBE284-6A7F-4E0D-9719-B4CFE5EFBE01}"/>
              </a:ext>
            </a:extLst>
          </p:cNvPr>
          <p:cNvSpPr/>
          <p:nvPr/>
        </p:nvSpPr>
        <p:spPr>
          <a:xfrm>
            <a:off x="5833872" y="1911096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E06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E8C922F-E196-4D5F-919D-0B389FFA461E}"/>
              </a:ext>
            </a:extLst>
          </p:cNvPr>
          <p:cNvSpPr/>
          <p:nvPr/>
        </p:nvSpPr>
        <p:spPr>
          <a:xfrm>
            <a:off x="6492240" y="1929384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No-Slip Constraint</a:t>
            </a: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1937813-D862-45A2-A512-D906758933A1}"/>
              </a:ext>
            </a:extLst>
          </p:cNvPr>
          <p:cNvSpPr/>
          <p:nvPr/>
        </p:nvSpPr>
        <p:spPr>
          <a:xfrm>
            <a:off x="6492240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ẋ sinθ − ẏ cosθ = 0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66F18FC-A232-419E-9176-C45F0A15672A}"/>
              </a:ext>
            </a:extLst>
          </p:cNvPr>
          <p:cNvSpPr/>
          <p:nvPr/>
        </p:nvSpPr>
        <p:spPr>
          <a:xfrm>
            <a:off x="164592" y="2569464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5E5A86F-6139-43A1-9AB4-21A1EA0D6A76}"/>
              </a:ext>
            </a:extLst>
          </p:cNvPr>
          <p:cNvSpPr/>
          <p:nvPr/>
        </p:nvSpPr>
        <p:spPr>
          <a:xfrm>
            <a:off x="164592" y="2569464"/>
            <a:ext cx="640080" cy="6126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4E5A621-9CCB-4B34-AB23-58BE5585E782}"/>
              </a:ext>
            </a:extLst>
          </p:cNvPr>
          <p:cNvSpPr/>
          <p:nvPr/>
        </p:nvSpPr>
        <p:spPr>
          <a:xfrm>
            <a:off x="164592" y="2569464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E07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BCE5700-9993-4EEA-9BFF-28A9014DF835}"/>
              </a:ext>
            </a:extLst>
          </p:cNvPr>
          <p:cNvSpPr/>
          <p:nvPr/>
        </p:nvSpPr>
        <p:spPr>
          <a:xfrm>
            <a:off x="822960" y="2587752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Pfaffian Form</a:t>
            </a:r>
            <a:endParaRPr lang="en-US" sz="9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7C07C28-674D-4C82-A8A0-3C7B8B6A04A5}"/>
              </a:ext>
            </a:extLst>
          </p:cNvPr>
          <p:cNvSpPr/>
          <p:nvPr/>
        </p:nvSpPr>
        <p:spPr>
          <a:xfrm>
            <a:off x="822960" y="28254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A(q)·q̇=0, A=[sinθ, −cosθ, 0]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7187DBD-7954-48B7-A6F8-C8E79727C16A}"/>
              </a:ext>
            </a:extLst>
          </p:cNvPr>
          <p:cNvSpPr/>
          <p:nvPr/>
        </p:nvSpPr>
        <p:spPr>
          <a:xfrm>
            <a:off x="2999232" y="2569464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905182B-5CBA-4DBC-90E6-4B4438C02C66}"/>
              </a:ext>
            </a:extLst>
          </p:cNvPr>
          <p:cNvSpPr/>
          <p:nvPr/>
        </p:nvSpPr>
        <p:spPr>
          <a:xfrm>
            <a:off x="2999232" y="2569464"/>
            <a:ext cx="640080" cy="6126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1F85890-FD09-49DE-AEFB-E623C0A2EDEE}"/>
              </a:ext>
            </a:extLst>
          </p:cNvPr>
          <p:cNvSpPr/>
          <p:nvPr/>
        </p:nvSpPr>
        <p:spPr>
          <a:xfrm>
            <a:off x="2999232" y="2569464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E08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A44C615-AEB9-483D-89CD-B35F6CEBC72D}"/>
              </a:ext>
            </a:extLst>
          </p:cNvPr>
          <p:cNvSpPr/>
          <p:nvPr/>
        </p:nvSpPr>
        <p:spPr>
          <a:xfrm>
            <a:off x="3657600" y="2587752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Ackermann Model</a:t>
            </a:r>
            <a:endParaRPr lang="en-US" sz="9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C617AE7-6E05-4182-8F8E-FF8BCF32800C}"/>
              </a:ext>
            </a:extLst>
          </p:cNvPr>
          <p:cNvSpPr/>
          <p:nvPr/>
        </p:nvSpPr>
        <p:spPr>
          <a:xfrm>
            <a:off x="3657600" y="28254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ẋ=v cosθ, ẏ=v sinθ, θ̇=(v/L)tanδ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6DE0FF5-A901-4513-B4CE-FCFE9BA72523}"/>
              </a:ext>
            </a:extLst>
          </p:cNvPr>
          <p:cNvSpPr/>
          <p:nvPr/>
        </p:nvSpPr>
        <p:spPr>
          <a:xfrm>
            <a:off x="5833872" y="2569464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4FDDE15-1ACC-409E-9397-E9325AADE595}"/>
              </a:ext>
            </a:extLst>
          </p:cNvPr>
          <p:cNvSpPr/>
          <p:nvPr/>
        </p:nvSpPr>
        <p:spPr>
          <a:xfrm>
            <a:off x="5833872" y="2569464"/>
            <a:ext cx="640080" cy="6126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D62F3B6-3281-4A70-96C4-B15086D5D89B}"/>
              </a:ext>
            </a:extLst>
          </p:cNvPr>
          <p:cNvSpPr/>
          <p:nvPr/>
        </p:nvSpPr>
        <p:spPr>
          <a:xfrm>
            <a:off x="5833872" y="2569464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E09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5D8EB7A-168A-4E74-856F-11A6930E2F50}"/>
              </a:ext>
            </a:extLst>
          </p:cNvPr>
          <p:cNvSpPr/>
          <p:nvPr/>
        </p:nvSpPr>
        <p:spPr>
          <a:xfrm>
            <a:off x="6492240" y="2587752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Ackermann R_min</a:t>
            </a:r>
            <a:endParaRPr lang="en-US" sz="9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C1951C8-DE2F-43A1-896B-95F09B82AD1A}"/>
              </a:ext>
            </a:extLst>
          </p:cNvPr>
          <p:cNvSpPr/>
          <p:nvPr/>
        </p:nvSpPr>
        <p:spPr>
          <a:xfrm>
            <a:off x="6492240" y="282549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R_min = L / tan(δ_max)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898702C-FD32-4438-8656-C50A556770C8}"/>
              </a:ext>
            </a:extLst>
          </p:cNvPr>
          <p:cNvSpPr/>
          <p:nvPr/>
        </p:nvSpPr>
        <p:spPr>
          <a:xfrm>
            <a:off x="164592" y="3227832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85F0688-22C0-4398-A820-6352F74A1837}"/>
              </a:ext>
            </a:extLst>
          </p:cNvPr>
          <p:cNvSpPr/>
          <p:nvPr/>
        </p:nvSpPr>
        <p:spPr>
          <a:xfrm>
            <a:off x="164592" y="3227832"/>
            <a:ext cx="640080" cy="6126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ADE99C1-29CE-40E3-B977-627056A11CAC}"/>
              </a:ext>
            </a:extLst>
          </p:cNvPr>
          <p:cNvSpPr/>
          <p:nvPr/>
        </p:nvSpPr>
        <p:spPr>
          <a:xfrm>
            <a:off x="164592" y="3227832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</a:t>
            </a:r>
            <a:endParaRPr lang="en-US" sz="9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A8E5DAD-6FFE-4847-A4A0-85AC76FCFE2C}"/>
              </a:ext>
            </a:extLst>
          </p:cNvPr>
          <p:cNvSpPr/>
          <p:nvPr/>
        </p:nvSpPr>
        <p:spPr>
          <a:xfrm>
            <a:off x="822960" y="3246120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Mecanum Jacobian</a:t>
            </a:r>
            <a:endParaRPr lang="en-US" sz="95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FF325D1-660C-42DF-9614-6817E1B1AD4D}"/>
              </a:ext>
            </a:extLst>
          </p:cNvPr>
          <p:cNvSpPr/>
          <p:nvPr/>
        </p:nvSpPr>
        <p:spPr>
          <a:xfrm>
            <a:off x="822960" y="34838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[vx vy ω]ᵀ = (r/4)·J·[ω1 ω2 ω3 ω4]ᵀ</a:t>
            </a:r>
            <a:endParaRPr lang="en-US" sz="9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206A243-CBDA-4E4C-B83A-AD7BF7DFF37C}"/>
              </a:ext>
            </a:extLst>
          </p:cNvPr>
          <p:cNvSpPr/>
          <p:nvPr/>
        </p:nvSpPr>
        <p:spPr>
          <a:xfrm>
            <a:off x="2999232" y="3227832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01CA8852-1DBD-46A8-AE5D-9EF97B96BC54}"/>
              </a:ext>
            </a:extLst>
          </p:cNvPr>
          <p:cNvSpPr/>
          <p:nvPr/>
        </p:nvSpPr>
        <p:spPr>
          <a:xfrm>
            <a:off x="2999232" y="3227832"/>
            <a:ext cx="640080" cy="6126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A06A5E3-C777-459C-89E2-DB0E43DE5410}"/>
              </a:ext>
            </a:extLst>
          </p:cNvPr>
          <p:cNvSpPr/>
          <p:nvPr/>
        </p:nvSpPr>
        <p:spPr>
          <a:xfrm>
            <a:off x="2999232" y="3227832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E11</a:t>
            </a:r>
            <a:endParaRPr lang="en-US" sz="9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A2825C5-89BA-4FE3-A2C8-8DD15EDD765A}"/>
              </a:ext>
            </a:extLst>
          </p:cNvPr>
          <p:cNvSpPr/>
          <p:nvPr/>
        </p:nvSpPr>
        <p:spPr>
          <a:xfrm>
            <a:off x="3657600" y="3246120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Maneuverability</a:t>
            </a:r>
            <a:endParaRPr lang="en-US" sz="95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53A438F-9A9D-4AE2-ACA0-8458AC62F999}"/>
              </a:ext>
            </a:extLst>
          </p:cNvPr>
          <p:cNvSpPr/>
          <p:nvPr/>
        </p:nvSpPr>
        <p:spPr>
          <a:xfrm>
            <a:off x="3657600" y="34838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δ_M = δ_m + δ_s</a:t>
            </a:r>
            <a:endParaRPr lang="en-US" sz="9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645FB55-23D1-44CD-A8DF-D3710923F8FB}"/>
              </a:ext>
            </a:extLst>
          </p:cNvPr>
          <p:cNvSpPr/>
          <p:nvPr/>
        </p:nvSpPr>
        <p:spPr>
          <a:xfrm>
            <a:off x="5833872" y="3227832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A07CCB5-79B2-4703-AB4E-17176EBD57D5}"/>
              </a:ext>
            </a:extLst>
          </p:cNvPr>
          <p:cNvSpPr/>
          <p:nvPr/>
        </p:nvSpPr>
        <p:spPr>
          <a:xfrm>
            <a:off x="5833872" y="3227832"/>
            <a:ext cx="640080" cy="6126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F27A1AF-F8F2-49B1-8A23-E37C3B401FB0}"/>
              </a:ext>
            </a:extLst>
          </p:cNvPr>
          <p:cNvSpPr/>
          <p:nvPr/>
        </p:nvSpPr>
        <p:spPr>
          <a:xfrm>
            <a:off x="5833872" y="3227832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E12</a:t>
            </a:r>
            <a:endParaRPr lang="en-US" sz="9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BFE1F3C0-F619-49B7-B2E2-AA225225B57E}"/>
              </a:ext>
            </a:extLst>
          </p:cNvPr>
          <p:cNvSpPr/>
          <p:nvPr/>
        </p:nvSpPr>
        <p:spPr>
          <a:xfrm>
            <a:off x="6492240" y="3246120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Integration</a:t>
            </a:r>
            <a:endParaRPr lang="en-US" sz="95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B7990ABB-6D7D-4C27-97BD-AA503DBE010D}"/>
              </a:ext>
            </a:extLst>
          </p:cNvPr>
          <p:cNvSpPr/>
          <p:nvPr/>
        </p:nvSpPr>
        <p:spPr>
          <a:xfrm>
            <a:off x="6492240" y="348386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q_{k+1} = q_k + f(q_k, u_k)·Δt</a:t>
            </a:r>
            <a:endParaRPr lang="en-US" sz="9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AF4A84BE-9F90-49E7-9E28-1239404C3A17}"/>
              </a:ext>
            </a:extLst>
          </p:cNvPr>
          <p:cNvSpPr/>
          <p:nvPr/>
        </p:nvSpPr>
        <p:spPr>
          <a:xfrm>
            <a:off x="164592" y="3886200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27ADE71-B80B-4A06-BD07-5A853FCF4782}"/>
              </a:ext>
            </a:extLst>
          </p:cNvPr>
          <p:cNvSpPr/>
          <p:nvPr/>
        </p:nvSpPr>
        <p:spPr>
          <a:xfrm>
            <a:off x="164592" y="3886200"/>
            <a:ext cx="640080" cy="6126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29B7C689-9EA4-42E0-B049-9DC615685859}"/>
              </a:ext>
            </a:extLst>
          </p:cNvPr>
          <p:cNvSpPr/>
          <p:nvPr/>
        </p:nvSpPr>
        <p:spPr>
          <a:xfrm>
            <a:off x="164592" y="3886200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E13</a:t>
            </a:r>
            <a:endParaRPr lang="en-US" sz="9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4439A7C4-E380-4E04-8EF1-B2EA80A383AB}"/>
              </a:ext>
            </a:extLst>
          </p:cNvPr>
          <p:cNvSpPr/>
          <p:nvPr/>
        </p:nvSpPr>
        <p:spPr>
          <a:xfrm>
            <a:off x="822960" y="39044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Propagation</a:t>
            </a:r>
            <a:endParaRPr lang="en-US" sz="9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1AB862D1-BE6C-4F16-A70F-C518283BC707}"/>
              </a:ext>
            </a:extLst>
          </p:cNvPr>
          <p:cNvSpPr/>
          <p:nvPr/>
        </p:nvSpPr>
        <p:spPr>
          <a:xfrm>
            <a:off x="822960" y="4142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Σ_{k+1} = F_k·Σ_k·F_kᵀ + Q_k</a:t>
            </a:r>
            <a:endParaRPr lang="en-US" sz="9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24AAD0E-2350-4BED-8482-C46B2B0CAB12}"/>
              </a:ext>
            </a:extLst>
          </p:cNvPr>
          <p:cNvSpPr/>
          <p:nvPr/>
        </p:nvSpPr>
        <p:spPr>
          <a:xfrm>
            <a:off x="2999232" y="3886200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9B1C1C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20B6898-78F8-4229-973B-096F4B6FEFDF}"/>
              </a:ext>
            </a:extLst>
          </p:cNvPr>
          <p:cNvSpPr/>
          <p:nvPr/>
        </p:nvSpPr>
        <p:spPr>
          <a:xfrm>
            <a:off x="2999232" y="3886200"/>
            <a:ext cx="640080" cy="6126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0AF70A6A-7951-4B55-894A-7D0F617526DA}"/>
              </a:ext>
            </a:extLst>
          </p:cNvPr>
          <p:cNvSpPr/>
          <p:nvPr/>
        </p:nvSpPr>
        <p:spPr>
          <a:xfrm>
            <a:off x="2999232" y="3886200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E14</a:t>
            </a:r>
            <a:endParaRPr lang="en-US" sz="9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0479A43B-438D-4035-A547-80FB9C9D0768}"/>
              </a:ext>
            </a:extLst>
          </p:cNvPr>
          <p:cNvSpPr/>
          <p:nvPr/>
        </p:nvSpPr>
        <p:spPr>
          <a:xfrm>
            <a:off x="3657600" y="39044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Ratio</a:t>
            </a:r>
            <a:endParaRPr lang="en-US" sz="95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B31FFA6-2F31-437D-95A4-A9BBDED33204}"/>
              </a:ext>
            </a:extLst>
          </p:cNvPr>
          <p:cNvSpPr/>
          <p:nvPr/>
        </p:nvSpPr>
        <p:spPr>
          <a:xfrm>
            <a:off x="3657600" y="4142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(v_wheel−v_ground)/max(v_w, v_g)</a:t>
            </a:r>
            <a:endParaRPr lang="en-US" sz="9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AD7ED098-219D-4627-BF6D-B07CB9DCF016}"/>
              </a:ext>
            </a:extLst>
          </p:cNvPr>
          <p:cNvSpPr/>
          <p:nvPr/>
        </p:nvSpPr>
        <p:spPr>
          <a:xfrm>
            <a:off x="5833872" y="3886200"/>
            <a:ext cx="2761488" cy="612648"/>
          </a:xfrm>
          <a:prstGeom prst="rect">
            <a:avLst/>
          </a:prstGeom>
          <a:solidFill>
            <a:srgbClr val="F8FBFF"/>
          </a:solidFill>
          <a:ln w="19050">
            <a:solidFill>
              <a:srgbClr val="9B1C1C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B902D0E4-B3A5-45DD-BD9B-891E37207BF2}"/>
              </a:ext>
            </a:extLst>
          </p:cNvPr>
          <p:cNvSpPr/>
          <p:nvPr/>
        </p:nvSpPr>
        <p:spPr>
          <a:xfrm>
            <a:off x="5833872" y="3886200"/>
            <a:ext cx="640080" cy="6126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A4B7256A-2F73-4EA4-9037-C87C76AF193C}"/>
              </a:ext>
            </a:extLst>
          </p:cNvPr>
          <p:cNvSpPr/>
          <p:nvPr/>
        </p:nvSpPr>
        <p:spPr>
          <a:xfrm>
            <a:off x="5833872" y="3886200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E15</a:t>
            </a:r>
            <a:endParaRPr lang="en-US" sz="90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8A99A883-291D-478E-9B45-41F35863D118}"/>
              </a:ext>
            </a:extLst>
          </p:cNvPr>
          <p:cNvSpPr/>
          <p:nvPr/>
        </p:nvSpPr>
        <p:spPr>
          <a:xfrm>
            <a:off x="6492240" y="390448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Limit</a:t>
            </a:r>
            <a:endParaRPr lang="en-US" sz="95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D1F9BC7-B19E-40EE-B3FD-14691CF8A192}"/>
              </a:ext>
            </a:extLst>
          </p:cNvPr>
          <p:cNvSpPr/>
          <p:nvPr/>
        </p:nvSpPr>
        <p:spPr>
          <a:xfrm>
            <a:off x="6492240" y="414223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F_traction ≤ μ_s · 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950581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5280</Words>
  <Application>Microsoft Office PowerPoint</Application>
  <PresentationFormat>On-screen Show (16:9)</PresentationFormat>
  <Paragraphs>719</Paragraphs>
  <Slides>60</Slides>
  <Notes>20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Consolas</vt:lpstr>
      <vt:lpstr>Custom Design</vt:lpstr>
      <vt:lpstr>MOD-03   Robot Kinematics &amp; Motion Models</vt:lpstr>
      <vt:lpstr>The Problem</vt:lpstr>
      <vt:lpstr>The Problem</vt:lpstr>
      <vt:lpstr>PowerPoint Presentation</vt:lpstr>
      <vt:lpstr>PowerPoint Presentation</vt:lpstr>
      <vt:lpstr>The Frame Coordination</vt:lpstr>
      <vt:lpstr>Introduction Homogeneous Transforms</vt:lpstr>
      <vt:lpstr>Homogeneous transformation matrix - Translation Matrix</vt:lpstr>
      <vt:lpstr>Homogeneous transformation matrix - Rotation Matrix</vt:lpstr>
      <vt:lpstr>Homogeneous transformation matrix 2D</vt:lpstr>
      <vt:lpstr>Homogeneous transformation matrix - Transformation Matrix</vt:lpstr>
      <vt:lpstr>Homogeneous transformation matrix - Notes</vt:lpstr>
      <vt:lpstr>The Frame Coordination</vt:lpstr>
      <vt:lpstr>Kinematic Blueprints &amp; Constraints</vt:lpstr>
      <vt:lpstr>Kinematic Blueprints &amp; Constraints</vt:lpstr>
      <vt:lpstr>Kinematic Blueprints &amp; Constraints</vt:lpstr>
      <vt:lpstr>Kinematic Blueprints &amp; Constraints - Rotating robot</vt:lpstr>
      <vt:lpstr>Kinematic Blueprints &amp; Constraints</vt:lpstr>
      <vt:lpstr>Kinematic Blueprints &amp; Constraints</vt:lpstr>
      <vt:lpstr>Kinematic Blueprints &amp; Constraints</vt:lpstr>
      <vt:lpstr>Kinematic Constraints</vt:lpstr>
      <vt:lpstr>Kinematic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Heavy Duty Robot</vt:lpstr>
      <vt:lpstr>Kinematic Blueprints &amp; Constraints - Bicycle Model (Car-Like Robots)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</vt:lpstr>
      <vt:lpstr>Kinematic Blueprints &amp; Constraints</vt:lpstr>
      <vt:lpstr>Kinematic Blueprints &amp; Constraints - Pfaffian</vt:lpstr>
      <vt:lpstr>Kinematic Blueprints &amp; Constraints - Pfaffian</vt:lpstr>
      <vt:lpstr>Kinematic Blueprints &amp; Constraints</vt:lpstr>
      <vt:lpstr>Odometry </vt:lpstr>
      <vt:lpstr>Odometry </vt:lpstr>
      <vt:lpstr>Odometry - Dead reckoning </vt:lpstr>
      <vt:lpstr>Odometry – Dead reckoning </vt:lpstr>
      <vt:lpstr>Odometry - Dead reckoning </vt:lpstr>
      <vt:lpstr>Odometry - Dead reckoning </vt:lpstr>
      <vt:lpstr>Traction control</vt:lpstr>
      <vt:lpstr>Traction control</vt:lpstr>
      <vt:lpstr>Traction control</vt:lpstr>
      <vt:lpstr>Traction control</vt:lpstr>
      <vt:lpstr>Traction control</vt:lpstr>
      <vt:lpstr>Odometry errors</vt:lpstr>
      <vt:lpstr>Traction control</vt:lpstr>
      <vt:lpstr>Your Task</vt:lpstr>
      <vt:lpstr>PowerPoint Presentation</vt:lpstr>
      <vt:lpstr>?</vt:lpstr>
      <vt:lpstr>Kinematic Blueprints &amp; Constraints - Pfaffian</vt:lpstr>
      <vt:lpstr>Kinematic Blueprints &amp; Constraints  - Chow's Theorem (Controllability)</vt:lpstr>
      <vt:lpstr>Kinematic Blueprints &amp; Constraints  - Chow's Theorem (Controllability)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190</cp:revision>
  <dcterms:created xsi:type="dcterms:W3CDTF">2026-02-19T18:14:35Z</dcterms:created>
  <dcterms:modified xsi:type="dcterms:W3CDTF">2026-04-20T12:12:43Z</dcterms:modified>
</cp:coreProperties>
</file>