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96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2" r:id="rId37"/>
    <p:sldId id="293" r:id="rId38"/>
    <p:sldId id="294" r:id="rId39"/>
    <p:sldId id="295" r:id="rId40"/>
    <p:sldId id="290" r:id="rId41"/>
    <p:sldId id="291" r:id="rId4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006BCCEA-B0BC-4DBE-8426-E0F1F73DFA58}">
          <p14:sldIdLst>
            <p14:sldId id="256"/>
            <p14:sldId id="257"/>
            <p14:sldId id="258"/>
            <p14:sldId id="296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2"/>
            <p14:sldId id="293"/>
            <p14:sldId id="294"/>
            <p14:sldId id="295"/>
          </p14:sldIdLst>
        </p14:section>
        <p14:section name="Archive" id="{26EAB6C8-41CB-402D-918F-5CBD8FC1ED64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gqYXzuHgFUAvEqDoIzGNrMQf5L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80D95F-EAE4-4BAD-A3B2-722E57685CAC}">
  <a:tblStyle styleId="{B680D95F-EAE4-4BAD-A3B2-722E57685C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2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" name="Google Shape;2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" name="Google Shape;3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731882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5" name="Google Shape;19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" name="Google Shape;235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4" name="Google Shape;30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5" name="Google Shape;325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5" name="Google Shape;335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3" name="Google Shape;343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2" name="Google Shape;372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8" name="Google Shape;428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" name="Google Shape;436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6" name="Google Shape;466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7" name="Google Shape;487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2" name="Google Shape;552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0" name="Google Shape;570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0" name="Google Shape;590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9" name="Google Shape;60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7" name="Google Shape;61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6" name="Google Shape;626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2" name="Google Shape;65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3" name="Google Shape;723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4" name="Google Shape;724;p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1" name="Google Shape;761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2" name="Google Shape;762;p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5" name="Google Shape;795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4" name="Google Shape;804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0" name="Google Shape;700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1" name="Google Shape;701;p3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s.stanford.edu/videos.ht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438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A4A6E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-1371600" y="2743200"/>
            <a:ext cx="3200400" cy="3200400"/>
          </a:xfrm>
          <a:prstGeom prst="ellipse">
            <a:avLst/>
          </a:prstGeom>
          <a:solidFill>
            <a:srgbClr val="3B2766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2743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0D9488"/>
                </a:solidFill>
                <a:latin typeface="Arial"/>
                <a:ea typeface="Arial"/>
                <a:cs typeface="Arial"/>
                <a:sym typeface="Arial"/>
              </a:rPr>
              <a:t>MOBILE ROBOTS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097280"/>
            <a:ext cx="640080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MOD-06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Mobile Robot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Localization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1"/>
          <p:cNvCxnSpPr/>
          <p:nvPr/>
        </p:nvCxnSpPr>
        <p:spPr>
          <a:xfrm>
            <a:off x="548640" y="3291840"/>
            <a:ext cx="3657600" cy="0"/>
          </a:xfrm>
          <a:prstGeom prst="straightConnector1">
            <a:avLst/>
          </a:prstGeom>
          <a:noFill/>
          <a:ln w="3810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1"/>
          <p:cNvSpPr/>
          <p:nvPr/>
        </p:nvSpPr>
        <p:spPr>
          <a:xfrm>
            <a:off x="548640" y="356616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Arial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By Dr. Ahmad Abbadi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A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Localization Problem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Where am I? — The most fundamental question in mobile robotics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3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Problem: MediBot Wakes Up on Floor 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274320" y="685800"/>
            <a:ext cx="8595360" cy="91440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3"/>
          <p:cNvSpPr/>
          <p:nvPr/>
        </p:nvSpPr>
        <p:spPr>
          <a:xfrm>
            <a:off x="274320" y="685800"/>
            <a:ext cx="54864" cy="9144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3"/>
          <p:cNvSpPr/>
          <p:nvPr/>
        </p:nvSpPr>
        <p:spPr>
          <a:xfrm>
            <a:off x="457200" y="854438"/>
            <a:ext cx="8275320" cy="6817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MediBot's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software crashed and rebooted. It is somewhere on Floor 3 of the hospital. It has a map of Floor 3, sensors are working, but it has NO IDEA where on the map it is. How does it figure out its position?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3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Problem: MediBot Wakes Up on Floor 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274320" y="685800"/>
            <a:ext cx="8595360" cy="91440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3"/>
          <p:cNvSpPr/>
          <p:nvPr/>
        </p:nvSpPr>
        <p:spPr>
          <a:xfrm>
            <a:off x="274320" y="685800"/>
            <a:ext cx="54864" cy="9144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3"/>
          <p:cNvSpPr/>
          <p:nvPr/>
        </p:nvSpPr>
        <p:spPr>
          <a:xfrm>
            <a:off x="457200" y="868680"/>
            <a:ext cx="8275320" cy="667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MediBot's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software crashed and rebooted. It is somewhere on Floor 3 of the hospital. It has a map of Floor 3, sensors are working, but it has NO IDEA where on the map it is. How does it figure out its position?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3"/>
          <p:cNvSpPr/>
          <p:nvPr/>
        </p:nvSpPr>
        <p:spPr>
          <a:xfrm>
            <a:off x="365760" y="17830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This is the LOCALIZATION problem: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274320" y="2148840"/>
            <a:ext cx="8595360" cy="73152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411480" y="2194560"/>
            <a:ext cx="8321040" cy="307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Given:  map m,  sensor readings z₁...zₜ,  controls u₁...uₜ     →     Find:  robot pose xₜ = (x, y, θ)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/>
          <p:nvPr/>
        </p:nvSpPr>
        <p:spPr>
          <a:xfrm>
            <a:off x="411480" y="2470709"/>
            <a:ext cx="8321040" cy="380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robot must figure out WHERE on the known map it is, using ONLY sensor readings and motion commands.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274320" y="3108960"/>
            <a:ext cx="411480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3"/>
          <p:cNvSpPr/>
          <p:nvPr/>
        </p:nvSpPr>
        <p:spPr>
          <a:xfrm>
            <a:off x="274320" y="310896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3"/>
          <p:cNvSpPr/>
          <p:nvPr/>
        </p:nvSpPr>
        <p:spPr>
          <a:xfrm>
            <a:off x="438912" y="316382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What the robot HAS: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438912" y="3456432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 pre-built map of Floor 3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LiDAR, IMU, encoders, camera (MOD-04)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Kalman Filter math (MOD-05)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Odometry motion model (MOD-03)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663440" y="3108960"/>
            <a:ext cx="420624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4663440" y="3108960"/>
            <a:ext cx="54864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3"/>
          <p:cNvSpPr/>
          <p:nvPr/>
        </p:nvSpPr>
        <p:spPr>
          <a:xfrm>
            <a:off x="4828032" y="31638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What the robot DOES NOT HAVE: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4828032" y="3456432"/>
            <a:ext cx="393192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GPS (indoors = no signal)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Its starting position (crashed!)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Any memory of where it was before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 human to tell it where to go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2709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Three Flavors of Localization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182875" y="731526"/>
            <a:ext cx="2834700" cy="3068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182880" y="731520"/>
            <a:ext cx="54864" cy="2560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347472" y="7863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 Position Tracking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347472" y="1078992"/>
            <a:ext cx="2560320" cy="2148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"I roughly know where I started"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Small initial uncertainty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Track as I move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Single Gaussian works → EKF!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e.g. </a:t>
            </a:r>
            <a:r>
              <a:rPr lang="en-US" sz="1200" b="0" i="0" u="none" strike="noStrike" cap="none" dirty="0" err="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starts at pharmacy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and tracks its way to Ward B.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3154675" y="731526"/>
            <a:ext cx="2834700" cy="3068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3154680" y="731520"/>
            <a:ext cx="54864" cy="2560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3319272" y="7863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2. Global Localization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3319272" y="1078992"/>
            <a:ext cx="2560320" cy="2148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"I have NO idea where I am"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Robot could be ANYWHERE on map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Need multi-modal belief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KF CANNOT handle this!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→ Need MCL or histogram filter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e.g. </a:t>
            </a:r>
            <a:r>
              <a:rPr lang="en-US" sz="1200" b="0" i="0" u="none" strike="noStrike" cap="none" dirty="0" err="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crashed, rebooted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on Floor 3. Where am I?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6126475" y="731526"/>
            <a:ext cx="2834700" cy="30687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6126480" y="731520"/>
            <a:ext cx="54864" cy="256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4"/>
          <p:cNvSpPr/>
          <p:nvPr/>
        </p:nvSpPr>
        <p:spPr>
          <a:xfrm>
            <a:off x="6291072" y="7863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 Kidnapped Robot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291072" y="1078992"/>
            <a:ext cx="2560320" cy="2148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"I THOUGHT I knew, then moved"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Was tracking correctly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Someone picked it up &amp; moved it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Must DETECT failure + re-localize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Hardest problem!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e.g. Patient moves </a:t>
            </a:r>
            <a:r>
              <a:rPr lang="en-US" sz="1200" b="0" i="0" u="none" strike="noStrike" cap="none" dirty="0" err="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to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different corridor while charging.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274320" y="4110345"/>
            <a:ext cx="85953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MOD-06 teaches algorithms for ALL three. EKF → #1. Histogram filter → #2. MCL → #2 and #3.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Is a Map? What Is a Pose?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Map (m)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Pre-built representation of the environment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Occupancy grid: 2D grid of free/occupied cells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Feature map: set of landmarks (corners, lines)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The robot KNOWS the map (given, not built here)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Map building = SLAM (MOD-08)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5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5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Pose (x)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Robot's position and orientation: x = (x, y, θ)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x, y = position in the map frame (meters)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θ = heading angle (radians)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This is what we want to ESTIMATE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It changes every time the robot moves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Google Shape;90;p5"/>
              <p:cNvSpPr/>
              <p:nvPr/>
            </p:nvSpPr>
            <p:spPr>
              <a:xfrm>
                <a:off x="365760" y="2788920"/>
                <a:ext cx="841248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lvl="0">
                  <a:buClr>
                    <a:srgbClr val="1E3A5F"/>
                  </a:buClr>
                  <a:buSzPts val="1400"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Localization = estimate xₜ given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de-DE" b="1" i="1" dirty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</m:sub>
                    </m:sSub>
                    <m:r>
                      <a:rPr lang="en-US" b="1" i="1" dirty="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>
                                <a:latin typeface="Cambria Math" panose="02040503050406030204" pitchFamily="18" charset="0"/>
                              </a:rPr>
                              <m:t>1:</m:t>
                            </m:r>
                            <m:r>
                              <a:rPr lang="de-DE" b="1" i="1" dirty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</m:d>
                      </m:sub>
                    </m:sSub>
                  </m:oMath>
                </a14:m>
                <a:endParaRPr dirty="0">
                  <a:sym typeface="Calibri"/>
                </a:endParaRPr>
              </a:p>
            </p:txBody>
          </p:sp>
        </mc:Choice>
        <mc:Fallback>
          <p:sp>
            <p:nvSpPr>
              <p:cNvPr id="90" name="Google Shape;90;p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788920"/>
                <a:ext cx="8412480" cy="274320"/>
              </a:xfrm>
              <a:prstGeom prst="rect">
                <a:avLst/>
              </a:prstGeom>
              <a:blipFill>
                <a:blip r:embed="rId3"/>
                <a:stretch>
                  <a:fillRect l="-217" t="-15556" b="-244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B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EKF Localization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Extending the Kalman Filter to nonlinear robot models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Starts at the Pharmacy (Position Tracking)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274320" y="685800"/>
            <a:ext cx="8595360" cy="775677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274320" y="685800"/>
            <a:ext cx="54864" cy="77567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457200" y="758952"/>
            <a:ext cx="82753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knows it starts at the pharmacy door. It must travel to Ward B on Floor 3. Along the way, it observes known landmarks (corridor corners detected by LiDAR). How does it maintain an accurate position estimate as it moves?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329184" y="1514074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This is POSITION TRACKING — we know roughly where we are and track from there.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329184" y="1802149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Arial"/>
              <a:buNone/>
            </a:pPr>
            <a:r>
              <a:rPr lang="en-US" sz="13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MOD-05 gave us the Kalman Filter. But there's a problem: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86B8AA-FD98-44FB-80F4-50EF72AC8D97}"/>
              </a:ext>
            </a:extLst>
          </p:cNvPr>
          <p:cNvGrpSpPr/>
          <p:nvPr/>
        </p:nvGrpSpPr>
        <p:grpSpPr>
          <a:xfrm>
            <a:off x="301752" y="2143877"/>
            <a:ext cx="4005072" cy="1645920"/>
            <a:chOff x="274320" y="2651760"/>
            <a:chExt cx="4005072" cy="1645920"/>
          </a:xfrm>
        </p:grpSpPr>
        <p:sp>
          <p:nvSpPr>
            <p:cNvPr id="112" name="Google Shape;112;p7"/>
            <p:cNvSpPr/>
            <p:nvPr/>
          </p:nvSpPr>
          <p:spPr>
            <a:xfrm>
              <a:off x="274320" y="2651760"/>
              <a:ext cx="3540677" cy="1645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50800" dist="25400" dir="8100000" algn="bl" rotWithShape="0">
                <a:srgbClr val="000000">
                  <a:alpha val="12156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7"/>
            <p:cNvSpPr/>
            <p:nvPr/>
          </p:nvSpPr>
          <p:spPr>
            <a:xfrm>
              <a:off x="274320" y="2651760"/>
              <a:ext cx="54864" cy="1645920"/>
            </a:xfrm>
            <a:prstGeom prst="rect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7"/>
            <p:cNvSpPr/>
            <p:nvPr/>
          </p:nvSpPr>
          <p:spPr>
            <a:xfrm>
              <a:off x="438912" y="2706624"/>
              <a:ext cx="38404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F2937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 dirty="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KF Requires LINEAR Models</a:t>
              </a:r>
              <a:endParaRPr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Google Shape;115;p7"/>
                <p:cNvSpPr/>
                <p:nvPr/>
              </p:nvSpPr>
              <p:spPr>
                <a:xfrm>
                  <a:off x="438912" y="2999232"/>
                  <a:ext cx="3840480" cy="123444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169863" marR="0" lvl="0" indent="-169863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6B7280"/>
                    </a:buClr>
                    <a:buSzPts val="1200"/>
                    <a:buFont typeface="Arial"/>
                    <a:buChar char="•"/>
                  </a:pPr>
                  <a:r>
                    <a:rPr lang="en-US" sz="1200" b="0" i="0" u="none" strike="noStrike" cap="none" dirty="0">
                      <a:solidFill>
                        <a:srgbClr val="6B7280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State transition</a:t>
                  </a:r>
                  <a14:m>
                    <m:oMath xmlns:m="http://schemas.openxmlformats.org/officeDocument/2006/math">
                      <m:r>
                        <a:rPr lang="en-US" sz="1200" b="0" i="1" u="none" strike="noStrike" cap="none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: </m:t>
                      </m:r>
                      <m:r>
                        <a:rPr lang="en-US" sz="1200" b="0" i="1" u="none" strike="noStrike" cap="none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1200" b="0" i="1" u="none" strike="noStrike" cap="none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′ = 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𝐴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1200" b="0" i="1" u="none" strike="noStrike" cap="none" dirty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𝐵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  <m:r>
                        <a:rPr lang="en-US" sz="1200" b="0" i="1" u="none" strike="noStrike" cap="none" dirty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200" b="0" i="1" u="none" strike="noStrike" cap="none" dirty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𝑤</m:t>
                      </m:r>
                    </m:oMath>
                  </a14:m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  <a:p>
                  <a:pPr marL="169863" marR="0" lvl="0" indent="-169863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6B7280"/>
                    </a:buClr>
                    <a:buSzPts val="1200"/>
                    <a:buFont typeface="Arial"/>
                    <a:buChar char="•"/>
                  </a:pPr>
                  <a:r>
                    <a:rPr lang="en-US" sz="1200" b="0" i="0" u="none" strike="noStrike" cap="none" dirty="0">
                      <a:solidFill>
                        <a:srgbClr val="6B7280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Observation: </a:t>
                  </a:r>
                  <a14:m>
                    <m:oMath xmlns:m="http://schemas.openxmlformats.org/officeDocument/2006/math">
                      <m:r>
                        <a:rPr lang="en-US" sz="1200" b="0" i="1" u="none" strike="noStrike" cap="none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𝑧</m:t>
                      </m:r>
                      <m:r>
                        <a:rPr lang="en-US" sz="1200" b="0" i="1" u="none" strike="noStrike" cap="none" dirty="0" smtClean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𝐻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r>
                        <a:rPr lang="en-US" sz="1200" b="0" i="1" u="none" strike="noStrike" cap="none" dirty="0" err="1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1200" b="0" i="1" u="none" strike="noStrike" cap="none" dirty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200" b="0" i="1" u="none" strike="noStrike" cap="none" dirty="0">
                          <a:solidFill>
                            <a:srgbClr val="6B7280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</m:oMath>
                  </a14:m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  <a:p>
                  <a:pPr marL="169863" marR="0" lvl="0" indent="-169863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6B7280"/>
                    </a:buClr>
                    <a:buSzPts val="1200"/>
                    <a:buFont typeface="Arial"/>
                    <a:buChar char="•"/>
                    <a:tabLst>
                      <a:tab pos="231775" algn="l"/>
                    </a:tabLst>
                  </a:pPr>
                  <a:r>
                    <a:rPr lang="en-US" sz="1200" b="0" i="0" u="none" strike="noStrike" cap="none" dirty="0">
                      <a:solidFill>
                        <a:srgbClr val="6B7280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A and H must be CONSTANT matrices</a:t>
                  </a:r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  <a:p>
                  <a:pPr marL="169863" marR="0" lvl="0" indent="-169863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6B7280"/>
                    </a:buClr>
                    <a:buSzPts val="1200"/>
                    <a:buFont typeface="Arial"/>
                    <a:buChar char="•"/>
                  </a:pPr>
                  <a:r>
                    <a:rPr lang="en-US" sz="1200" b="0" i="0" u="none" strike="noStrike" cap="none" dirty="0">
                      <a:solidFill>
                        <a:srgbClr val="6B7280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But robot kinematics have sin(θ) and cos(θ)!</a:t>
                  </a:r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  <a:p>
                  <a:pPr marL="169863" marR="0" lvl="0" indent="-169863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6B7280"/>
                    </a:buClr>
                    <a:buSzPts val="1200"/>
                    <a:buFont typeface="Arial"/>
                    <a:buChar char="•"/>
                  </a:pPr>
                  <a:r>
                    <a:rPr lang="en-US" sz="1200" b="0" i="0" u="none" strike="noStrike" cap="none" dirty="0">
                      <a:solidFill>
                        <a:srgbClr val="6B7280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These are NONLINEAR → KF breaks!</a:t>
                  </a:r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mc:Choice>
          <mc:Fallback>
            <p:sp>
              <p:nvSpPr>
                <p:cNvPr id="115" name="Google Shape;115;p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912" y="2999232"/>
                  <a:ext cx="3840480" cy="1234440"/>
                </a:xfrm>
                <a:prstGeom prst="rect">
                  <a:avLst/>
                </a:prstGeom>
                <a:blipFill>
                  <a:blip r:embed="rId3"/>
                  <a:stretch>
                    <a:fillRect t="-99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Google Shape;117;p7"/>
            <p:cNvSpPr/>
            <p:nvPr/>
          </p:nvSpPr>
          <p:spPr>
            <a:xfrm>
              <a:off x="3924725" y="2651760"/>
              <a:ext cx="54864" cy="164592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D9FB041-8B1A-4B37-B668-C45FA89992E4}"/>
              </a:ext>
            </a:extLst>
          </p:cNvPr>
          <p:cNvGrpSpPr/>
          <p:nvPr/>
        </p:nvGrpSpPr>
        <p:grpSpPr>
          <a:xfrm>
            <a:off x="3952157" y="2143877"/>
            <a:ext cx="4096512" cy="1645920"/>
            <a:chOff x="3924725" y="2651760"/>
            <a:chExt cx="4096512" cy="1645920"/>
          </a:xfrm>
        </p:grpSpPr>
        <p:sp>
          <p:nvSpPr>
            <p:cNvPr id="116" name="Google Shape;116;p7"/>
            <p:cNvSpPr/>
            <p:nvPr/>
          </p:nvSpPr>
          <p:spPr>
            <a:xfrm>
              <a:off x="3924725" y="2651760"/>
              <a:ext cx="3191406" cy="16459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50800" dist="25400" dir="8100000" algn="bl" rotWithShape="0">
                <a:srgbClr val="000000">
                  <a:alpha val="12156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7"/>
            <p:cNvSpPr/>
            <p:nvPr/>
          </p:nvSpPr>
          <p:spPr>
            <a:xfrm>
              <a:off x="4089317" y="2706624"/>
              <a:ext cx="39319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F2937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EKF Solution: LINEARIZE!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7"/>
            <p:cNvSpPr/>
            <p:nvPr/>
          </p:nvSpPr>
          <p:spPr>
            <a:xfrm>
              <a:off x="4089317" y="2999232"/>
              <a:ext cx="3274152" cy="12344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169863" indent="-169863">
                <a:buClr>
                  <a:srgbClr val="6B7280"/>
                </a:buClr>
                <a:buSzPts val="1200"/>
                <a:buFont typeface="Arial"/>
                <a:buChar char="•"/>
              </a:pPr>
              <a:r>
                <a:rPr lang="en-US" sz="1200" dirty="0">
                  <a:solidFill>
                    <a:srgbClr val="6B7280"/>
                  </a:solidFill>
                </a:rPr>
                <a:t>Replace constant A with Jacobian F(x)</a:t>
              </a:r>
              <a:endParaRPr sz="1200" dirty="0">
                <a:solidFill>
                  <a:srgbClr val="6B7280"/>
                </a:solidFill>
                <a:sym typeface="Calibri"/>
              </a:endParaRPr>
            </a:p>
            <a:p>
              <a:pPr marL="169863" indent="-169863">
                <a:buClr>
                  <a:srgbClr val="6B7280"/>
                </a:buClr>
                <a:buSzPts val="1200"/>
                <a:buFont typeface="Arial"/>
                <a:buChar char="•"/>
              </a:pPr>
              <a:r>
                <a:rPr lang="en-US" sz="1200" dirty="0">
                  <a:solidFill>
                    <a:srgbClr val="6B7280"/>
                  </a:solidFill>
                </a:rPr>
                <a:t>Replace constant H with Jacobian H(x)</a:t>
              </a:r>
              <a:endParaRPr sz="1200" dirty="0">
                <a:solidFill>
                  <a:srgbClr val="6B7280"/>
                </a:solidFill>
                <a:sym typeface="Calibri"/>
              </a:endParaRPr>
            </a:p>
            <a:p>
              <a:pPr marL="169863" indent="-169863">
                <a:buClr>
                  <a:srgbClr val="6B7280"/>
                </a:buClr>
                <a:buSzPts val="1200"/>
                <a:buFont typeface="Arial"/>
                <a:buChar char="•"/>
              </a:pPr>
              <a:r>
                <a:rPr lang="en-US" sz="1200" dirty="0">
                  <a:solidFill>
                    <a:srgbClr val="6B7280"/>
                  </a:solidFill>
                </a:rPr>
                <a:t>Evaluate Jacobians at current estimate</a:t>
              </a:r>
              <a:endParaRPr sz="1200" dirty="0">
                <a:solidFill>
                  <a:srgbClr val="6B7280"/>
                </a:solidFill>
                <a:sym typeface="Calibri"/>
              </a:endParaRPr>
            </a:p>
            <a:p>
              <a:pPr marL="169863" indent="-169863">
                <a:buClr>
                  <a:srgbClr val="6B7280"/>
                </a:buClr>
                <a:buSzPts val="1200"/>
                <a:buFont typeface="Arial"/>
                <a:buChar char="•"/>
              </a:pPr>
              <a:r>
                <a:rPr lang="en-US" sz="1200" dirty="0">
                  <a:solidFill>
                    <a:srgbClr val="6B7280"/>
                  </a:solidFill>
                </a:rPr>
                <a:t>This is a LOCAL linear approximation</a:t>
              </a:r>
              <a:endParaRPr sz="1200" dirty="0">
                <a:solidFill>
                  <a:srgbClr val="6B7280"/>
                </a:solidFill>
                <a:sym typeface="Calibri"/>
              </a:endParaRPr>
            </a:p>
            <a:p>
              <a:pPr marL="169863" indent="-169863">
                <a:buClr>
                  <a:srgbClr val="6B7280"/>
                </a:buClr>
                <a:buSzPts val="1200"/>
                <a:buFont typeface="Arial"/>
                <a:buChar char="•"/>
              </a:pPr>
              <a:r>
                <a:rPr lang="en-US" sz="1200" dirty="0">
                  <a:solidFill>
                    <a:srgbClr val="6B7280"/>
                  </a:solidFill>
                </a:rPr>
                <a:t>Works well if nonlinearity is mild</a:t>
              </a:r>
              <a:endParaRPr sz="1200" dirty="0">
                <a:solidFill>
                  <a:srgbClr val="6B7280"/>
                </a:solidFill>
                <a:sym typeface="Calibri"/>
              </a:endParaRPr>
            </a:p>
          </p:txBody>
        </p:sp>
      </p:grpSp>
      <p:graphicFrame>
        <p:nvGraphicFramePr>
          <p:cNvPr id="23" name="Table 0">
            <a:extLst>
              <a:ext uri="{FF2B5EF4-FFF2-40B4-BE49-F238E27FC236}">
                <a16:creationId xmlns:a16="http://schemas.microsoft.com/office/drawing/2014/main" id="{D259E79A-2881-4144-A58E-F373F55539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581163"/>
              </p:ext>
            </p:extLst>
          </p:nvPr>
        </p:nvGraphicFramePr>
        <p:xfrm>
          <a:off x="5547860" y="3753612"/>
          <a:ext cx="3842697" cy="1371600"/>
        </p:xfrm>
        <a:graphic>
          <a:graphicData uri="http://schemas.openxmlformats.org/drawingml/2006/table">
            <a:tbl>
              <a:tblPr/>
              <a:tblGrid>
                <a:gridCol w="914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7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state evolves in one step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control affects 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sensor measures from state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noise (motion uncertainty)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 noise (sensor uncertainty)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8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Why Linear KF Breaks: The sin/cos Problem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274325" y="731526"/>
            <a:ext cx="8595300" cy="1448042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9" name="Google Shape;129;p8"/>
              <p:cNvSpPr/>
              <p:nvPr/>
            </p:nvSpPr>
            <p:spPr>
              <a:xfrm>
                <a:off x="457200" y="1025500"/>
                <a:ext cx="8321040" cy="42245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Diff-drive motion model (from MOD-03):</a:t>
                </a:r>
                <a:endParaRPr lang="en-US"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ar-SY" sz="1400" b="1" i="1" u="none" strike="noStrike" cap="none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ar-SY" sz="1400" b="1" i="1" u="none" strike="noStrike" cap="none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𝒙</m:t>
                          </m:r>
                        </m:e>
                        <m:sup>
                          <m:r>
                            <a:rPr lang="ar-SY" sz="1400" b="1" i="1" u="none" strike="noStrike" cap="none" dirty="0" smtClean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p>
                      <m:r>
                        <a:rPr lang="ar-SY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a:rPr lang="ar-SY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𝒙</m:t>
                      </m:r>
                      <m:r>
                        <a:rPr lang="ar-SY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ar-SY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ar-SY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𝒔</m:t>
                      </m:r>
                      <m:r>
                        <a:rPr lang="ar-SY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func>
                        <m:funcPr>
                          <m:ctrlPr>
                            <a:rPr lang="ar-SY" sz="1400" b="1" i="1" u="none" strike="noStrike" cap="none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u="none" strike="noStrike" cap="none" dirty="0" err="1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ar-SY" sz="1400" b="1" i="1" u="none" strike="noStrike" cap="none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ar-SY" sz="1400" b="1" i="1" u="none" strike="noStrike" cap="none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𝜽</m:t>
                              </m:r>
                            </m:e>
                          </m:d>
                        </m:e>
                      </m:func>
                      <m:r>
                        <a:rPr lang="ar-SY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  </m:t>
                      </m:r>
                    </m:oMath>
                  </m:oMathPara>
                </a14:m>
                <a:endParaRPr lang="ar-SY" sz="1400" b="1" i="1" u="none" strike="noStrike" cap="none" dirty="0">
                  <a:solidFill>
                    <a:srgbClr val="1E3A5F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ar-SY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</m:t>
                      </m:r>
                      <m:sSup>
                        <m:sSupPr>
                          <m:ctrlPr>
                            <a:rPr lang="ar-SY" sz="1400" b="1" i="1" u="none" strike="noStrike" cap="none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ar-SY" sz="1400" b="1" i="1" u="none" strike="noStrike" cap="none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𝒚</m:t>
                          </m:r>
                        </m:e>
                        <m:sup>
                          <m:r>
                            <a:rPr lang="ar-SY" sz="1400" b="1" i="1" u="none" strike="noStrike" cap="none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′</m:t>
                          </m:r>
                        </m:sup>
                      </m:sSup>
                      <m:r>
                        <a:rPr lang="ar-SY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 </m:t>
                      </m:r>
                      <m:r>
                        <a:rPr lang="ar-SY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𝒚</m:t>
                      </m:r>
                      <m:r>
                        <a:rPr lang="ar-SY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ar-SY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ar-SY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𝒔</m:t>
                      </m:r>
                      <m:r>
                        <a:rPr lang="ar-SY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func>
                        <m:funcPr>
                          <m:ctrlPr>
                            <a:rPr lang="en-US" sz="1400" b="1" i="1" u="none" strike="noStrike" cap="none" dirty="0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u="none" strike="noStrike" cap="none" dirty="0" err="1">
                              <a:solidFill>
                                <a:srgbClr val="1E3A5F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1" i="1" u="none" strike="noStrike" cap="none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1400" b="1" i="1" u="none" strike="noStrike" cap="none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𝜽</m:t>
                              </m:r>
                            </m:e>
                          </m:d>
                        </m:e>
                      </m:func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   </m:t>
                      </m:r>
                    </m:oMath>
                  </m:oMathPara>
                </a14:m>
                <a:endParaRPr lang="de-DE" sz="1400" b="1" i="1" u="none" strike="noStrike" cap="none" dirty="0">
                  <a:solidFill>
                    <a:srgbClr val="1E3A5F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′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</m:oMath>
                  </m:oMathPara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>
          <p:sp>
            <p:nvSpPr>
              <p:cNvPr id="129" name="Google Shape;129;p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025500"/>
                <a:ext cx="8321040" cy="422453"/>
              </a:xfrm>
              <a:prstGeom prst="rect">
                <a:avLst/>
              </a:prstGeom>
              <a:blipFill>
                <a:blip r:embed="rId3"/>
                <a:stretch>
                  <a:fillRect l="-220" t="-62857" b="-5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0" name="Google Shape;130;p8"/>
          <p:cNvSpPr/>
          <p:nvPr/>
        </p:nvSpPr>
        <p:spPr>
          <a:xfrm>
            <a:off x="457200" y="1723361"/>
            <a:ext cx="83211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This is NONLINEAR — x' depends on cos(θ), y' depends on sin(θ).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We cannot write this as x' =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A·x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B·u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because A would need to contain cos(θ) which changes with the state!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411455" y="2223313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Solution: LINEARIZE around the current estimate x using the Jacobian.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274325" y="2548325"/>
            <a:ext cx="8595300" cy="14976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Google Shape;133;p8"/>
              <p:cNvSpPr/>
              <p:nvPr/>
            </p:nvSpPr>
            <p:spPr>
              <a:xfrm>
                <a:off x="1378346" y="2746663"/>
                <a:ext cx="8321100" cy="46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lvl="0">
                  <a:buClr>
                    <a:srgbClr val="1E3A5F"/>
                  </a:buClr>
                  <a:buSzPts val="1400"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Jacobian </a:t>
                </a:r>
                <a14:m>
                  <m:oMath xmlns:m="http://schemas.openxmlformats.org/officeDocument/2006/math"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𝑭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𝝏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𝒇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/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𝝏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𝒙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lang="ar-SY" sz="1400" b="1" i="1" u="none" strike="noStrike" cap="none" dirty="0" smtClean="0">
                            <a:solidFill>
                              <a:srgbClr val="1E3A5F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ar-SY" sz="1400" b="1" i="1" u="none" strike="noStrike" cap="none" dirty="0" smtClean="0">
                                <a:solidFill>
                                  <a:srgbClr val="1E3A5F"/>
                                </a:solidFill>
                                <a:latin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ar-SY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𝟏</m:t>
                              </m:r>
                            </m:e>
                            <m:e>
                              <m:r>
                                <a:rPr lang="de-DE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ar-SY" b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𝚫</m:t>
                              </m:r>
                              <m:r>
                                <a:rPr lang="ar-SY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ar-SY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r>
                                <m:rPr>
                                  <m:sty m:val="p"/>
                                </m:rPr>
                                <a:rPr lang="en-US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 ̂+</m:t>
                              </m:r>
                              <m:r>
                                <a:rPr lang="en-US" b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𝚫</m:t>
                              </m:r>
                              <m:r>
                                <a:rPr lang="en-US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de-DE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de-DE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𝟏</m:t>
                              </m:r>
                            </m:e>
                            <m:e>
                              <m:r>
                                <a:rPr lang="en-US" b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𝚫</m:t>
                              </m:r>
                              <m:r>
                                <a:rPr lang="en-US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·</m:t>
                              </m:r>
                              <m:r>
                                <m:rPr>
                                  <m:sty m:val="p"/>
                                </m:rPr>
                                <a:rPr lang="en-US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 ̂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𝚫</m:t>
                              </m:r>
                              <m:r>
                                <a:rPr lang="en-US" b="1" i="1" dirty="0" err="1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  <m:r>
                                <a:rPr lang="en-US" b="1" i="1" dirty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de-DE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de-DE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𝟎</m:t>
                              </m:r>
                            </m:e>
                            <m:e>
                              <m:r>
                                <a:rPr lang="de-DE" sz="1400" b="1" i="1" u="none" strike="noStrike" cap="none" dirty="0" smtClean="0">
                                  <a:solidFill>
                                    <a:srgbClr val="1E3A5F"/>
                                  </a:solidFill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𝟏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>
          <p:sp>
            <p:nvSpPr>
              <p:cNvPr id="133" name="Google Shape;133;p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346" y="2746663"/>
                <a:ext cx="8321100" cy="460800"/>
              </a:xfrm>
              <a:prstGeom prst="rect">
                <a:avLst/>
              </a:prstGeom>
              <a:blipFill>
                <a:blip r:embed="rId4"/>
                <a:stretch>
                  <a:fillRect l="-220" t="-9333" b="-16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Google Shape;134;p8"/>
          <p:cNvSpPr/>
          <p:nvPr/>
        </p:nvSpPr>
        <p:spPr>
          <a:xfrm>
            <a:off x="411455" y="3374028"/>
            <a:ext cx="8321100" cy="5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 is evaluated at the CURRENT estimate θ̂ — it changes every timestep!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365760" y="4421750"/>
            <a:ext cx="8412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Key insight: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EKF is just the KF with F(x) instead of A, and H(x) instead of H. Everything else stays the same!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9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EKF Algorithm: 5 Modified Equations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182880" y="685800"/>
            <a:ext cx="4297680" cy="201168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9"/>
          <p:cNvSpPr/>
          <p:nvPr/>
        </p:nvSpPr>
        <p:spPr>
          <a:xfrm>
            <a:off x="182880" y="685800"/>
            <a:ext cx="54864" cy="2011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9"/>
          <p:cNvSpPr/>
          <p:nvPr/>
        </p:nvSpPr>
        <p:spPr>
          <a:xfrm>
            <a:off x="365760" y="731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Google Shape;147;p9"/>
              <p:cNvSpPr/>
              <p:nvPr/>
            </p:nvSpPr>
            <p:spPr>
              <a:xfrm>
                <a:off x="365760" y="1051560"/>
                <a:ext cx="3931920" cy="1554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1. </a:t>
                </a:r>
                <a14:m>
                  <m:oMath xmlns:m="http://schemas.openxmlformats.org/officeDocument/2006/math"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𝒙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𝒇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𝒙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𝒖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b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6B7280"/>
                  </a:buClr>
                  <a:buSzPts val="1200"/>
                  <a:buFont typeface="Arial"/>
                  <a:buNone/>
                </a:pPr>
                <a: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    (nonlinear motion model – no change)</a:t>
                </a:r>
                <a:b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b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2. </a:t>
                </a:r>
                <a14:m>
                  <m:oMath xmlns:m="http://schemas.openxmlformats.org/officeDocument/2006/math"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𝑷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𝑭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·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𝑷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·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𝑭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ᵀ + </m:t>
                    </m:r>
                    <m:r>
                      <a:rPr lang="en-US" sz="14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𝑸</m:t>
                    </m:r>
                  </m:oMath>
                </a14:m>
                <a:b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6B7280"/>
                  </a:buClr>
                  <a:buSzPts val="1200"/>
                  <a:buFont typeface="Arial"/>
                  <a:buNone/>
                </a:pPr>
                <a: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    (F = Jacobian of f, evaluated at x̂ )</a:t>
                </a: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47" name="Google Shape;147;p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1051560"/>
                <a:ext cx="3931920" cy="1554480"/>
              </a:xfrm>
              <a:prstGeom prst="rect">
                <a:avLst/>
              </a:prstGeom>
              <a:blipFill>
                <a:blip r:embed="rId3"/>
                <a:stretch>
                  <a:fillRect l="-465" t="-5882" b="-745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8" name="Google Shape;148;p9"/>
          <p:cNvSpPr/>
          <p:nvPr/>
        </p:nvSpPr>
        <p:spPr>
          <a:xfrm>
            <a:off x="4663440" y="685800"/>
            <a:ext cx="4297680" cy="2011680"/>
          </a:xfrm>
          <a:prstGeom prst="rect">
            <a:avLst/>
          </a:prstGeom>
          <a:solidFill>
            <a:srgbClr val="ECFDF5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9"/>
          <p:cNvSpPr/>
          <p:nvPr/>
        </p:nvSpPr>
        <p:spPr>
          <a:xfrm>
            <a:off x="4663440" y="685800"/>
            <a:ext cx="54864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9"/>
          <p:cNvSpPr/>
          <p:nvPr/>
        </p:nvSpPr>
        <p:spPr>
          <a:xfrm>
            <a:off x="4846320" y="731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Google Shape;151;p9"/>
              <p:cNvSpPr/>
              <p:nvPr/>
            </p:nvSpPr>
            <p:spPr>
              <a:xfrm>
                <a:off x="4846320" y="1051560"/>
                <a:ext cx="3931920" cy="1554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300"/>
                  <a:buFont typeface="Arial"/>
                  <a:buNone/>
                </a:pPr>
                <a:r>
                  <a:rPr lang="en-US" sz="13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3. </a:t>
                </a:r>
                <a14:m>
                  <m:oMath xmlns:m="http://schemas.openxmlformats.org/officeDocument/2006/math"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𝑲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𝑯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ᵀ·(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𝑯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𝑯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ᵀ + 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𝑹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¹</m:t>
                    </m:r>
                  </m:oMath>
                </a14:m>
                <a:br>
                  <a:rPr lang="en-US" sz="13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6B7280"/>
                  </a:buClr>
                  <a:buSzPts val="1200"/>
                  <a:buFont typeface="Arial"/>
                  <a:buNone/>
                </a:pPr>
                <a: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  <a:t>    (H = Jacobian of h, at x̂⁻ – no change)</a:t>
                </a:r>
                <a:b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br>
                  <a:rPr lang="en-US" sz="1200" b="0" i="0" u="none" strike="noStrike" cap="none" dirty="0">
                    <a:solidFill>
                      <a:srgbClr val="6B7280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300"/>
                  <a:buFont typeface="Arial"/>
                  <a:buNone/>
                </a:pPr>
                <a:r>
                  <a:rPr lang="en-US" sz="13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4. </a:t>
                </a:r>
                <a14:m>
                  <m:oMath xmlns:m="http://schemas.openxmlformats.org/officeDocument/2006/math"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𝒙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 = 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𝒙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+ 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𝑲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·(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𝒛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− 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𝒉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𝒙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))</m:t>
                    </m:r>
                  </m:oMath>
                </a14:m>
                <a:br>
                  <a:rPr lang="en-US" sz="13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</a:br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300"/>
                  <a:buFont typeface="Arial"/>
                  <a:buNone/>
                </a:pPr>
                <a:r>
                  <a:rPr lang="en-US" sz="13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5. </a:t>
                </a:r>
                <a14:m>
                  <m:oMath xmlns:m="http://schemas.openxmlformats.org/officeDocument/2006/math"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𝑰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− 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𝑲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𝑯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𝑷</m:t>
                    </m:r>
                    <m:r>
                      <a:rPr lang="en-US" sz="1300" b="1" i="1" u="none" strike="noStrike" cap="none" dirty="0" smtClean="0">
                        <a:solidFill>
                          <a:srgbClr val="1E3A5F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⁻</m:t>
                    </m:r>
                  </m:oMath>
                </a14:m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1" name="Google Shape;151;p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1051560"/>
                <a:ext cx="3931920" cy="1554480"/>
              </a:xfrm>
              <a:prstGeom prst="rect">
                <a:avLst/>
              </a:prstGeom>
              <a:blipFill>
                <a:blip r:embed="rId4"/>
                <a:stretch>
                  <a:fillRect l="-310" t="-3529" b="-58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2" name="Google Shape;152;p9"/>
          <p:cNvSpPr/>
          <p:nvPr/>
        </p:nvSpPr>
        <p:spPr>
          <a:xfrm>
            <a:off x="274325" y="2926071"/>
            <a:ext cx="8595300" cy="1605300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9"/>
          <p:cNvSpPr/>
          <p:nvPr/>
        </p:nvSpPr>
        <p:spPr>
          <a:xfrm>
            <a:off x="457200" y="2971800"/>
            <a:ext cx="8229600" cy="149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KF → EKF changes (only 3 things!):</a:t>
            </a:r>
            <a:br>
              <a:rPr lang="en-US" sz="1300" b="1" i="0" u="none" strike="noStrike" cap="none" dirty="0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① Replace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A·x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̂ +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B·u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with f(x̂, u)  — use the ACTUAL nonlinear model for prediction</a:t>
            </a:r>
            <a:b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② Replace A with F = ∂f/∂x  — Jacobian of the motion model, evaluated at current estimate</a:t>
            </a:r>
            <a:b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③ Replace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H·x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̂ with h(x̂) and H with H = ∂h/∂x  — Jacobian of the observation model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9"/>
          <p:cNvSpPr/>
          <p:nvPr/>
        </p:nvSpPr>
        <p:spPr>
          <a:xfrm>
            <a:off x="365640" y="4726828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Everything else (K, P update) is IDENTICAL to </a:t>
            </a:r>
            <a:br>
              <a:rPr lang="en-US" sz="1200" b="1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b="1" i="0" u="none" strike="noStrike" cap="none" dirty="0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the KF from MOD-05.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83C921-9463-4E99-BA90-C0D0CE2D51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4754260"/>
            <a:ext cx="3931920" cy="3444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10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EKF-Loc: Prediction Step (Motion)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0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MediBot moves: encoders report Δs = 0.5m, Δθ = 0.1 rad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274325" y="1051547"/>
            <a:ext cx="4114800" cy="18609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Google Shape;165;p10"/>
              <p:cNvSpPr/>
              <p:nvPr/>
            </p:nvSpPr>
            <p:spPr>
              <a:xfrm>
                <a:off x="411467" y="1348176"/>
                <a:ext cx="3840600" cy="57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Step 1: Predict state</a:t>
                </a: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𝒙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⁻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𝒇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𝒙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𝒖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𝒙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⁻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𝒙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 + </m:t>
                      </m:r>
                      <m:r>
                        <a:rPr lang="en-US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𝒔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cos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⁡(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/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𝟐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ŷ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⁻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ŷ + </m:t>
                      </m:r>
                      <m:r>
                        <a:rPr lang="en-US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𝒔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·</m:t>
                      </m:r>
                      <m:r>
                        <m:rPr>
                          <m:sty m:val="p"/>
                        </m:rP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sin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⁡(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/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𝟐</m:t>
                      </m:r>
                      <m:r>
                        <a:rPr lang="en-US" sz="1400" b="1" i="1" u="none" strike="noStrike" cap="none" dirty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⁻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a:rPr lang="en-US" sz="1400" b="1" i="0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𝚫</m:t>
                      </m:r>
                      <m:r>
                        <a:rPr lang="en-US" sz="1400" b="1" i="1" u="none" strike="noStrike" cap="none" dirty="0" err="1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𝜽</m:t>
                      </m:r>
                    </m:oMath>
                  </m:oMathPara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5" name="Google Shape;165;p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67" y="1348176"/>
                <a:ext cx="3840600" cy="576000"/>
              </a:xfrm>
              <a:prstGeom prst="rect">
                <a:avLst/>
              </a:prstGeom>
              <a:blipFill>
                <a:blip r:embed="rId3"/>
                <a:stretch>
                  <a:fillRect l="-475" t="-61053" b="-6842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Google Shape;166;p10"/>
          <p:cNvSpPr/>
          <p:nvPr/>
        </p:nvSpPr>
        <p:spPr>
          <a:xfrm>
            <a:off x="411475" y="2215198"/>
            <a:ext cx="38406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Use the ACTUAL nonlinear equations.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No linearization needed for the state prediction itself.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0"/>
          <p:cNvSpPr/>
          <p:nvPr/>
        </p:nvSpPr>
        <p:spPr>
          <a:xfrm>
            <a:off x="4663450" y="1051547"/>
            <a:ext cx="4206300" cy="18609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Google Shape;168;p10"/>
              <p:cNvSpPr/>
              <p:nvPr/>
            </p:nvSpPr>
            <p:spPr>
              <a:xfrm>
                <a:off x="4800588" y="1289593"/>
                <a:ext cx="3931800" cy="57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Step 2: Predict covariance</a:t>
                </a: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𝑷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⁻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𝑭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·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𝑷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·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𝑭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ᵀ + </m:t>
                      </m:r>
                      <m:r>
                        <a:rPr lang="en-US" sz="1400" b="1" i="1" u="none" strike="noStrike" cap="none" dirty="0" smtClean="0">
                          <a:solidFill>
                            <a:srgbClr val="1E3A5F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𝑸</m:t>
                      </m:r>
                    </m:oMath>
                  </m:oMathPara>
                </a14:m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E3A5F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F evaluated at (x̂, θ̂, </a:t>
                </a:r>
                <a:r>
                  <a:rPr lang="en-US" sz="1400" b="1" i="0" u="none" strike="noStrike" cap="none" dirty="0" err="1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Δs</a:t>
                </a: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:r>
                  <a:rPr lang="en-US" sz="1400" b="1" i="0" u="none" strike="noStrike" cap="none" dirty="0" err="1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Δθ</a:t>
                </a:r>
                <a:r>
                  <a:rPr lang="en-US" sz="1400" b="1" i="0" u="none" strike="noStrike" cap="none" dirty="0">
                    <a:solidFill>
                      <a:srgbClr val="1E3A5F"/>
                    </a:solidFill>
                    <a:latin typeface="Arial"/>
                    <a:ea typeface="Arial"/>
                    <a:cs typeface="Arial"/>
                    <a:sym typeface="Arial"/>
                  </a:rPr>
                  <a:t>)</a:t>
                </a:r>
                <a:endParaRPr sz="1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8" name="Google Shape;168;p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588" y="1289593"/>
                <a:ext cx="3931800" cy="576000"/>
              </a:xfrm>
              <a:prstGeom prst="rect">
                <a:avLst/>
              </a:prstGeom>
              <a:blipFill>
                <a:blip r:embed="rId4"/>
                <a:stretch>
                  <a:fillRect l="-465" t="-34043" b="-436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Google Shape;169;p10"/>
          <p:cNvSpPr/>
          <p:nvPr/>
        </p:nvSpPr>
        <p:spPr>
          <a:xfrm>
            <a:off x="4800650" y="2123414"/>
            <a:ext cx="3931800" cy="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 = Jacobian from MOD-04 (same matrix!).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This STRETCHES the uncertainty ellipse through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motion model. Ellipse GROWS.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0"/>
          <p:cNvGrpSpPr/>
          <p:nvPr/>
        </p:nvGrpSpPr>
        <p:grpSpPr>
          <a:xfrm>
            <a:off x="502910" y="3429025"/>
            <a:ext cx="4297680" cy="1371600"/>
            <a:chOff x="822960" y="2743200"/>
            <a:chExt cx="4297680" cy="1371600"/>
          </a:xfrm>
        </p:grpSpPr>
        <p:sp>
          <p:nvSpPr>
            <p:cNvPr id="171" name="Google Shape;171;p10"/>
            <p:cNvSpPr/>
            <p:nvPr/>
          </p:nvSpPr>
          <p:spPr>
            <a:xfrm>
              <a:off x="914400" y="2926080"/>
              <a:ext cx="914400" cy="731520"/>
            </a:xfrm>
            <a:prstGeom prst="ellipse">
              <a:avLst/>
            </a:prstGeom>
            <a:solidFill>
              <a:srgbClr val="10B981">
                <a:alpha val="30196"/>
              </a:srgbClr>
            </a:solidFill>
            <a:ln w="25400" cap="flat" cmpd="sng">
              <a:solidFill>
                <a:srgbClr val="10B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0"/>
            <p:cNvSpPr/>
            <p:nvPr/>
          </p:nvSpPr>
          <p:spPr>
            <a:xfrm>
              <a:off x="822960" y="3703320"/>
              <a:ext cx="10972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0B98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Before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10"/>
            <p:cNvSpPr/>
            <p:nvPr/>
          </p:nvSpPr>
          <p:spPr>
            <a:xfrm>
              <a:off x="2011680" y="3108960"/>
              <a:ext cx="13716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F59E0B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>
                  <a:solidFill>
                    <a:srgbClr val="F59E0B"/>
                  </a:solidFill>
                  <a:latin typeface="Arial"/>
                  <a:ea typeface="Arial"/>
                  <a:cs typeface="Arial"/>
                  <a:sym typeface="Arial"/>
                </a:rPr>
                <a:t>→ motion →</a:t>
              </a:r>
              <a:endParaRPr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10"/>
            <p:cNvSpPr/>
            <p:nvPr/>
          </p:nvSpPr>
          <p:spPr>
            <a:xfrm>
              <a:off x="3474720" y="2743200"/>
              <a:ext cx="1463040" cy="1097280"/>
            </a:xfrm>
            <a:prstGeom prst="ellipse">
              <a:avLst/>
            </a:prstGeom>
            <a:solidFill>
              <a:srgbClr val="F59E0B">
                <a:alpha val="30196"/>
              </a:srgbClr>
            </a:solidFill>
            <a:ln w="25400" cap="flat" cmpd="sng">
              <a:solidFill>
                <a:srgbClr val="F59E0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0"/>
            <p:cNvSpPr/>
            <p:nvPr/>
          </p:nvSpPr>
          <p:spPr>
            <a:xfrm>
              <a:off x="3291840" y="3886200"/>
              <a:ext cx="1828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59E0B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F59E0B"/>
                  </a:solidFill>
                  <a:latin typeface="Arial"/>
                  <a:ea typeface="Arial"/>
                  <a:cs typeface="Arial"/>
                  <a:sym typeface="Arial"/>
                </a:rPr>
                <a:t>After predict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0"/>
          <p:cNvSpPr/>
          <p:nvPr/>
        </p:nvSpPr>
        <p:spPr>
          <a:xfrm>
            <a:off x="5394950" y="3211550"/>
            <a:ext cx="34746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Q = process noise (from MOD-04)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Encodes: wheel slip, motor noise,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floor traction uncertainty.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After prediction: ellipse is LARGER.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Robot is less certain where it is.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EKF-Loc: Observation Model (Landmarks)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1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1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MediBot's LiDAR detects a known corridor corner (landmark on the map).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274320" y="1051560"/>
            <a:ext cx="8595360" cy="1273414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1"/>
          <p:cNvSpPr/>
          <p:nvPr/>
        </p:nvSpPr>
        <p:spPr>
          <a:xfrm>
            <a:off x="411480" y="109728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Observation model:  z = h(x) + v  where  z = (range, bearing) to landmark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Google Shape;188;p11"/>
              <p:cNvSpPr/>
              <p:nvPr/>
            </p:nvSpPr>
            <p:spPr>
              <a:xfrm>
                <a:off x="411480" y="1453896"/>
                <a:ext cx="8321040" cy="6949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F2937"/>
                  </a:buClr>
                  <a:buSzPts val="1200"/>
                  <a:buFont typeface="Arial"/>
                  <a:buNone/>
                </a:pPr>
                <a:r>
                  <a:rPr lang="en-US" sz="1200" b="0" i="0" u="none" strike="noStrike" cap="none" dirty="0">
                    <a:solidFill>
                      <a:srgbClr val="1F2937"/>
                    </a:solidFill>
                    <a:latin typeface="Arial"/>
                    <a:ea typeface="Arial"/>
                    <a:cs typeface="Arial"/>
                    <a:sym typeface="Arial"/>
                  </a:rPr>
                  <a:t>If robot is at </a:t>
                </a:r>
                <a14:m>
                  <m:oMath xmlns:m="http://schemas.openxmlformats.org/officeDocument/2006/math">
                    <m:r>
                      <a:rPr lang="en-US" sz="1200" b="0" i="1" u="none" strike="noStrike" cap="none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1200" b="0" i="1" u="none" strike="noStrike" cap="none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1200" b="0" i="1" u="none" strike="noStrike" cap="none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̂, ŷ, </m:t>
                    </m:r>
                    <m:r>
                      <a:rPr lang="en-US" sz="1200" b="0" i="1" u="none" strike="noStrike" cap="none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  <m:r>
                      <a:rPr lang="en-US" sz="1200" b="0" i="1" u="none" strike="noStrike" cap="none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̂</m:t>
                    </m:r>
                    <m:r>
                      <a:rPr lang="en-US" sz="1200" b="0" i="1" u="none" strike="noStrike" cap="none" dirty="0" smtClean="0">
                        <a:solidFill>
                          <a:srgbClr val="1F2937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</m:t>
                    </m:r>
                  </m:oMath>
                </a14:m>
                <a:r>
                  <a:rPr lang="en-US" sz="1200" b="0" i="0" u="none" strike="noStrike" cap="none" dirty="0">
                    <a:solidFill>
                      <a:srgbClr val="1F2937"/>
                    </a:solidFill>
                    <a:latin typeface="Arial"/>
                    <a:ea typeface="Arial"/>
                    <a:cs typeface="Arial"/>
                    <a:sym typeface="Arial"/>
                  </a:rPr>
                  <a:t>and landmark is at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200" b="0" i="1" u="none" strike="noStrike" cap="none" dirty="0" smtClean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b="0" i="1" u="none" strike="noStrike" cap="none" dirty="0" err="1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1200" b="0" i="1" u="none" strike="noStrike" cap="none" dirty="0" err="1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𝑙</m:t>
                            </m:r>
                          </m:e>
                          <m:sub>
                            <m:r>
                              <a:rPr lang="en-US" sz="1200" b="0" i="1" u="none" strike="noStrike" cap="none" dirty="0" err="1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sub>
                        </m:sSub>
                        <m:r>
                          <a:rPr lang="en-US" sz="1200" b="0" i="1" u="none" strike="noStrike" cap="none" dirty="0">
                            <a:solidFill>
                              <a:srgbClr val="1F2937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 </m:t>
                        </m:r>
                        <m:sSub>
                          <m:sSubPr>
                            <m:ctrlPr>
                              <a:rPr lang="en-US" sz="1200" b="0" i="1" u="none" strike="noStrike" cap="none" dirty="0" err="1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1200" b="0" i="1" u="none" strike="noStrike" cap="none" dirty="0" err="1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𝑙</m:t>
                            </m:r>
                          </m:e>
                          <m:sub>
                            <m:r>
                              <a:rPr lang="en-US" sz="1200" b="0" i="1" u="none" strike="noStrike" cap="none" dirty="0" err="1">
                                <a:solidFill>
                                  <a:srgbClr val="1F2937"/>
                                </a:solidFill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200" b="0" i="0" u="none" strike="noStrike" cap="none" dirty="0">
                    <a:solidFill>
                      <a:srgbClr val="1F2937"/>
                    </a:solidFill>
                    <a:latin typeface="Arial"/>
                    <a:ea typeface="Arial"/>
                    <a:cs typeface="Arial"/>
                    <a:sym typeface="Arial"/>
                  </a:rPr>
                  <a:t>on the map:</a:t>
                </a:r>
                <a:endParaRPr sz="12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1F2937"/>
                  </a:buClr>
                  <a:buSzPts val="1200"/>
                  <a:buFont typeface="Arial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 </m:t>
                      </m:r>
                      <m: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𝑟𝑎𝑛𝑔𝑒</m:t>
                      </m:r>
                      <m: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ad>
                        <m:radPr>
                          <m:degHide m:val="on"/>
                          <m:ctrlPr>
                            <a:rPr lang="en-US" sz="1200" b="0" i="1" u="none" strike="noStrike" cap="none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1200" b="0" i="1" u="none" strike="noStrike" cap="none" dirty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200" b="0" i="1" u="none" strike="noStrike" cap="none" dirty="0" smtClean="0">
                                      <a:solidFill>
                                        <a:srgbClr val="1F2937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u="none" strike="noStrike" cap="none" dirty="0" err="1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u="none" strike="noStrike" cap="none" dirty="0" err="1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1200" b="0" i="1" u="none" strike="noStrike" cap="none" dirty="0" err="1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en-US" sz="1200" b="0" i="1" u="none" strike="noStrike" cap="none" dirty="0">
                                      <a:solidFill>
                                        <a:srgbClr val="1F2937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 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sz="1200" b="0" i="1" u="none" strike="noStrike" cap="none" dirty="0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200" b="0" i="1" u="none" strike="noStrike" cap="none" dirty="0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1200" b="0" i="1" u="none" strike="noStrike" cap="none" dirty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200" b="0" i="1" u="none" strike="noStrike" cap="none" dirty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 </m:t>
                          </m:r>
                          <m:sSup>
                            <m:sSupPr>
                              <m:ctrlPr>
                                <a:rPr lang="en-US" sz="1200" b="0" i="1" u="none" strike="noStrike" cap="none" dirty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200" b="0" i="1" u="none" strike="noStrike" cap="none" dirty="0">
                                      <a:solidFill>
                                        <a:srgbClr val="1F2937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b="0" i="1" u="none" strike="noStrike" cap="none" dirty="0" err="1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b="0" i="1" u="none" strike="noStrike" cap="none" dirty="0" err="1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𝑙</m:t>
                                      </m:r>
                                    </m:e>
                                    <m:sub>
                                      <m:r>
                                        <a:rPr lang="en-US" sz="1200" b="0" i="1" u="none" strike="noStrike" cap="none" dirty="0" err="1">
                                          <a:solidFill>
                                            <a:srgbClr val="1F2937"/>
                                          </a:solidFill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𝑦</m:t>
                                      </m:r>
                                    </m:sub>
                                  </m:sSub>
                                  <m:r>
                                    <a:rPr lang="en-US" sz="1200" b="0" i="1" u="none" strike="noStrike" cap="none" dirty="0">
                                      <a:solidFill>
                                        <a:srgbClr val="1F2937"/>
                                      </a:solidFill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 ŷ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200" b="0" i="1" u="none" strike="noStrike" cap="none" dirty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   </m:t>
                      </m:r>
                      <m: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𝑏𝑒𝑎𝑟𝑖𝑛𝑔</m:t>
                      </m:r>
                      <m: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a:rPr lang="en-US" sz="1200" b="0" i="1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1200" b="0" i="1" u="none" strike="noStrike" cap="none" dirty="0" smtClean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b="0" i="1" u="none" strike="noStrike" cap="none" dirty="0" err="1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200" b="0" i="1" u="none" strike="noStrike" cap="none" dirty="0" err="1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200" b="0" i="1" u="none" strike="noStrike" cap="none" dirty="0" err="1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1200" b="0" i="1" u="none" strike="noStrike" cap="none" dirty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 ŷ, </m:t>
                          </m:r>
                          <m:sSub>
                            <m:sSubPr>
                              <m:ctrlPr>
                                <a:rPr lang="en-US" sz="1200" b="0" i="1" u="none" strike="noStrike" cap="none" dirty="0" err="1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1200" b="0" i="1" u="none" strike="noStrike" cap="none" dirty="0" err="1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𝑙</m:t>
                              </m:r>
                            </m:e>
                            <m:sub>
                              <m:r>
                                <a:rPr lang="en-US" sz="1200" b="0" i="1" u="none" strike="noStrike" cap="none" dirty="0" err="1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1200" b="0" i="1" u="none" strike="noStrike" cap="none" dirty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 </m:t>
                          </m:r>
                          <m:acc>
                            <m:accPr>
                              <m:chr m:val="̂"/>
                              <m:ctrlPr>
                                <a:rPr lang="en-US" sz="1200" b="0" i="1" u="none" strike="noStrike" cap="none" dirty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accPr>
                            <m:e>
                              <m:r>
                                <a:rPr lang="en-US" sz="1200" b="0" i="1" u="none" strike="noStrike" cap="none" dirty="0">
                                  <a:solidFill>
                                    <a:srgbClr val="1F2937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 </m:t>
                      </m:r>
                      <m:acc>
                        <m:accPr>
                          <m:chr m:val="̂"/>
                          <m:ctrlPr>
                            <a:rPr lang="en-US" sz="1200" b="0" i="1" u="none" strike="noStrike" cap="none" dirty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1200" b="0" i="1" u="none" strike="noStrike" cap="none" dirty="0">
                              <a:solidFill>
                                <a:srgbClr val="1F2937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sz="12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88" name="Google Shape;188;p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" y="1453896"/>
                <a:ext cx="8321040" cy="694944"/>
              </a:xfrm>
              <a:prstGeom prst="rect">
                <a:avLst/>
              </a:prstGeom>
              <a:blipFill>
                <a:blip r:embed="rId3"/>
                <a:stretch>
                  <a:fillRect l="-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84365E94-D369-401F-96F2-4F131029DDD5}"/>
              </a:ext>
            </a:extLst>
          </p:cNvPr>
          <p:cNvGrpSpPr/>
          <p:nvPr/>
        </p:nvGrpSpPr>
        <p:grpSpPr>
          <a:xfrm>
            <a:off x="274320" y="2631074"/>
            <a:ext cx="8595360" cy="1197564"/>
            <a:chOff x="274320" y="2631074"/>
            <a:chExt cx="8595360" cy="1197564"/>
          </a:xfrm>
        </p:grpSpPr>
        <p:sp>
          <p:nvSpPr>
            <p:cNvPr id="189" name="Google Shape;189;p11"/>
            <p:cNvSpPr/>
            <p:nvPr/>
          </p:nvSpPr>
          <p:spPr>
            <a:xfrm>
              <a:off x="274320" y="2631074"/>
              <a:ext cx="8595360" cy="1197564"/>
            </a:xfrm>
            <a:prstGeom prst="rect">
              <a:avLst/>
            </a:prstGeom>
            <a:solidFill>
              <a:srgbClr val="EBF5FF"/>
            </a:solidFill>
            <a:ln>
              <a:noFill/>
            </a:ln>
            <a:effectLst>
              <a:outerShdw blurRad="50800" dist="25400" dir="8100000" algn="bl" rotWithShape="0">
                <a:srgbClr val="000000">
                  <a:alpha val="12156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190" name="Google Shape;190;p11"/>
            <p:cNvSpPr/>
            <p:nvPr/>
          </p:nvSpPr>
          <p:spPr>
            <a:xfrm>
              <a:off x="411480" y="2773030"/>
              <a:ext cx="8321040" cy="3840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3A5F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rgbClr val="1E3A5F"/>
                  </a:solidFill>
                  <a:latin typeface="Arial"/>
                  <a:ea typeface="Arial"/>
                  <a:cs typeface="Arial"/>
                  <a:sym typeface="Arial"/>
                </a:rPr>
                <a:t>Jacobian H = ∂h/∂x = [ −Δx/r   −Δy/r    0  ]</a:t>
              </a: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E3A5F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>
                  <a:solidFill>
                    <a:srgbClr val="1E3A5F"/>
                  </a:solidFill>
                  <a:latin typeface="Arial"/>
                  <a:ea typeface="Arial"/>
                  <a:cs typeface="Arial"/>
                  <a:sym typeface="Arial"/>
                </a:rPr>
                <a:t>                                    [  Δy/r²  −Δx/r²  −1  ]</a:t>
              </a: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1" name="Google Shape;191;p11"/>
                <p:cNvSpPr/>
                <p:nvPr/>
              </p:nvSpPr>
              <p:spPr>
                <a:xfrm>
                  <a:off x="457200" y="3295063"/>
                  <a:ext cx="8321040" cy="47548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F2937"/>
                    </a:buClr>
                    <a:buSzPts val="1200"/>
                    <a:buFont typeface="Arial"/>
                    <a:buNone/>
                  </a:pP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 b="0" i="0" u="none" strike="noStrike" cap="none" dirty="0" smtClean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𝑙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_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− 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̂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1200" b="0" i="0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Δ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𝑦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𝑙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_</m:t>
                      </m:r>
                      <m:r>
                        <a:rPr lang="en-US" sz="1200" b="0" i="1" u="none" strike="noStrike" cap="none" dirty="0" err="1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𝑦</m:t>
                      </m:r>
                      <m:r>
                        <a:rPr lang="en-US" sz="1200" b="0" i="1" u="none" strike="noStrike" cap="none" dirty="0">
                          <a:solidFill>
                            <a:srgbClr val="1F2937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− ŷ</m:t>
                      </m:r>
                    </m:oMath>
                  </a14:m>
                  <a:r>
                    <a:rPr lang="en-US" sz="1200" b="0" i="0" u="none" strike="noStrike" cap="none" dirty="0">
                      <a:solidFill>
                        <a:srgbClr val="1F2937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,  r = range to landmark.</a:t>
                  </a:r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F2937"/>
                    </a:buClr>
                    <a:buSzPts val="1200"/>
                    <a:buFont typeface="Arial"/>
                    <a:buNone/>
                  </a:pPr>
                  <a:r>
                    <a:rPr lang="en-US" sz="1200" b="0" i="0" u="none" strike="noStrike" cap="none" dirty="0">
                      <a:solidFill>
                        <a:srgbClr val="1F2937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H is re-computed at each update for each landmark observation.</a:t>
                  </a:r>
                  <a:endParaRPr sz="12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mc:Choice>
          <mc:Fallback>
            <p:sp>
              <p:nvSpPr>
                <p:cNvPr id="191" name="Google Shape;191;p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" y="3295063"/>
                  <a:ext cx="8321040" cy="475488"/>
                </a:xfrm>
                <a:prstGeom prst="rect">
                  <a:avLst/>
                </a:prstGeom>
                <a:blipFill>
                  <a:blip r:embed="rId4"/>
                  <a:stretch>
                    <a:fillRect l="-73" t="-2564" b="-512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2" name="Google Shape;192;p11"/>
          <p:cNvSpPr/>
          <p:nvPr/>
        </p:nvSpPr>
        <p:spPr>
          <a:xfrm>
            <a:off x="320040" y="399592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What this means: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predicts it should see the corner at (range=3.2m, bearing=15°). LiDAR actually measures (3.0m, 12°). The DIFFERENCE is the innovation — used to correct the position estimate.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2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EKF-Loc: Update Step (Correction)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2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LiDAR sees a corner. Predicted: (3.2m, 15°). Measured: (3.0m, 12°).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2"/>
          <p:cNvSpPr/>
          <p:nvPr/>
        </p:nvSpPr>
        <p:spPr>
          <a:xfrm>
            <a:off x="274325" y="1051546"/>
            <a:ext cx="4114800" cy="11100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12"/>
          <p:cNvSpPr/>
          <p:nvPr/>
        </p:nvSpPr>
        <p:spPr>
          <a:xfrm>
            <a:off x="411480" y="1187288"/>
            <a:ext cx="3840480" cy="345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Innovation = z − h(x̂⁻)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= (3.0, 12°) − (3.2, 15°) = (−0.2, −3°)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2"/>
          <p:cNvSpPr/>
          <p:nvPr/>
        </p:nvSpPr>
        <p:spPr>
          <a:xfrm>
            <a:off x="411480" y="1624833"/>
            <a:ext cx="3840600" cy="42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"I expected to see the corner at 3.2m/15° but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saw it at 3.0m/12° — I need to correct."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2"/>
          <p:cNvSpPr/>
          <p:nvPr/>
        </p:nvSpPr>
        <p:spPr>
          <a:xfrm>
            <a:off x="4663450" y="1051546"/>
            <a:ext cx="4206300" cy="11100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2"/>
          <p:cNvSpPr/>
          <p:nvPr/>
        </p:nvSpPr>
        <p:spPr>
          <a:xfrm>
            <a:off x="4800600" y="1097280"/>
            <a:ext cx="3931920" cy="345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K = P⁻·Hᵀ·(H·P⁻·Hᵀ + R)⁻¹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4800600" y="1413662"/>
            <a:ext cx="3931920" cy="427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Kalman gain: balance trust between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prediction (P⁻) and sensor (R).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Same as MOD-05 — just with Jacobian H.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2"/>
          <p:cNvSpPr/>
          <p:nvPr/>
        </p:nvSpPr>
        <p:spPr>
          <a:xfrm>
            <a:off x="274325" y="2491754"/>
            <a:ext cx="4114800" cy="9573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2"/>
          <p:cNvSpPr/>
          <p:nvPr/>
        </p:nvSpPr>
        <p:spPr>
          <a:xfrm>
            <a:off x="411480" y="2537458"/>
            <a:ext cx="38406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x̂ = x̂⁻ + K · innovation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2"/>
          <p:cNvSpPr/>
          <p:nvPr/>
        </p:nvSpPr>
        <p:spPr>
          <a:xfrm>
            <a:off x="411480" y="2813607"/>
            <a:ext cx="3840600" cy="3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Correct the pose: shift toward where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landmark says we should be.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4663450" y="2491754"/>
            <a:ext cx="4206300" cy="9573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12"/>
          <p:cNvSpPr/>
          <p:nvPr/>
        </p:nvSpPr>
        <p:spPr>
          <a:xfrm>
            <a:off x="4800600" y="2537458"/>
            <a:ext cx="39318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P = (I − K·H) · P⁻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2"/>
          <p:cNvSpPr/>
          <p:nvPr/>
        </p:nvSpPr>
        <p:spPr>
          <a:xfrm>
            <a:off x="4800600" y="2813607"/>
            <a:ext cx="3931800" cy="3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Covariance SHRINKS after correction.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Ellipse gets smaller → more confident.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12"/>
          <p:cNvGrpSpPr/>
          <p:nvPr/>
        </p:nvGrpSpPr>
        <p:grpSpPr>
          <a:xfrm>
            <a:off x="564245" y="3553360"/>
            <a:ext cx="4937760" cy="1371600"/>
            <a:chOff x="731520" y="3108960"/>
            <a:chExt cx="4937760" cy="1371600"/>
          </a:xfrm>
        </p:grpSpPr>
        <p:sp>
          <p:nvSpPr>
            <p:cNvPr id="215" name="Google Shape;215;p12"/>
            <p:cNvSpPr/>
            <p:nvPr/>
          </p:nvSpPr>
          <p:spPr>
            <a:xfrm>
              <a:off x="914400" y="3108960"/>
              <a:ext cx="1645920" cy="1097280"/>
            </a:xfrm>
            <a:prstGeom prst="ellipse">
              <a:avLst/>
            </a:prstGeom>
            <a:solidFill>
              <a:srgbClr val="F59E0B">
                <a:alpha val="30196"/>
              </a:srgbClr>
            </a:solidFill>
            <a:ln w="25400" cap="flat" cmpd="sng">
              <a:solidFill>
                <a:srgbClr val="F59E0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2"/>
            <p:cNvSpPr/>
            <p:nvPr/>
          </p:nvSpPr>
          <p:spPr>
            <a:xfrm>
              <a:off x="731520" y="4251960"/>
              <a:ext cx="201168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59E0B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F59E0B"/>
                  </a:solidFill>
                  <a:latin typeface="Arial"/>
                  <a:ea typeface="Arial"/>
                  <a:cs typeface="Arial"/>
                  <a:sym typeface="Arial"/>
                </a:rPr>
                <a:t>Before update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2"/>
            <p:cNvSpPr/>
            <p:nvPr/>
          </p:nvSpPr>
          <p:spPr>
            <a:xfrm>
              <a:off x="2743200" y="3383280"/>
              <a:ext cx="16459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0B98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→ see landmark →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2"/>
            <p:cNvSpPr/>
            <p:nvPr/>
          </p:nvSpPr>
          <p:spPr>
            <a:xfrm>
              <a:off x="4572000" y="3291840"/>
              <a:ext cx="914400" cy="731520"/>
            </a:xfrm>
            <a:prstGeom prst="ellipse">
              <a:avLst/>
            </a:prstGeom>
            <a:solidFill>
              <a:srgbClr val="10B981">
                <a:alpha val="40000"/>
              </a:srgbClr>
            </a:solidFill>
            <a:ln w="38100" cap="flat" cmpd="sng">
              <a:solidFill>
                <a:srgbClr val="10B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2"/>
            <p:cNvSpPr/>
            <p:nvPr/>
          </p:nvSpPr>
          <p:spPr>
            <a:xfrm>
              <a:off x="4389120" y="4069080"/>
              <a:ext cx="12801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0B98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After update!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0" name="Google Shape;220;p12"/>
          <p:cNvSpPr/>
          <p:nvPr/>
        </p:nvSpPr>
        <p:spPr>
          <a:xfrm>
            <a:off x="5852150" y="3886200"/>
            <a:ext cx="30174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Each landmark observation SHRINKS the ellipse.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More landmarks = more corrections = better localization!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3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13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Worked Example: MediBot — Pharmacy to Elevator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1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Step-by-step numerical example (simplified 2D, 1 landmark)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0" name="Google Shape;230;p13"/>
          <p:cNvGraphicFramePr/>
          <p:nvPr/>
        </p:nvGraphicFramePr>
        <p:xfrm>
          <a:off x="182880" y="1051560"/>
          <a:ext cx="8778225" cy="2194640"/>
        </p:xfrm>
        <a:graphic>
          <a:graphicData uri="http://schemas.openxmlformats.org/drawingml/2006/table">
            <a:tbl>
              <a:tblPr>
                <a:noFill/>
                <a:tableStyleId>{B680D95F-EAE4-4BAD-A3B2-722E57685CAC}</a:tableStyleId>
              </a:tblPr>
              <a:tblGrid>
                <a:gridCol w="109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Step</a:t>
                      </a:r>
                      <a:endParaRPr sz="12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x̂ (m)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ŷ (m)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θ̂ (°)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σ_x (m)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Action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 pharmacy door (known)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 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0.3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Move 2m forward (σ grows)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 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1.95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See corner landmark → correct!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 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3.95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Move 2m more (σ grows again)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 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3.98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0.08</a:t>
                      </a:r>
                      <a:endParaRPr sz="12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0.09</a:t>
                      </a:r>
                      <a:endParaRPr sz="1200" u="none" strike="noStrike" cap="none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See 2nd landmark → even better!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 3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5.97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Move 2m (approaching elevator)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 3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6.01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0.03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0.07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See elevator door landmark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1" name="Google Shape;231;p13"/>
          <p:cNvSpPr/>
          <p:nvPr/>
        </p:nvSpPr>
        <p:spPr>
          <a:xfrm>
            <a:off x="365760" y="36576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Pattern: σ grows at each predict, shrinks at each update. More landmarks = tighter estimate.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3"/>
          <p:cNvSpPr/>
          <p:nvPr/>
        </p:nvSpPr>
        <p:spPr>
          <a:xfrm>
            <a:off x="365760" y="402336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After 3 predict-update cycles: error is only 1 cm (started at 10 cm). EKF works beautifully for position tracking!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4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4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EKF Localization: Summary &amp; Limitations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4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4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4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✅ EKF Strengths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4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Computationally efficient: O(n²) per landmark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Well-understood, easy to implement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Works great for position tracking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Standard in ROS (robot_localization)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Handles multiple sensor types naturally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4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14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4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❌ EKF Limitations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4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Maintains SINGLE Gaussian → can't handle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multiple hypotheses ("am I in room A or B?")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Linearization fails for LARGE nonlinearities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Can DIVERGE if initial estimate is too far off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Cannot recover from wrong initialization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4"/>
          <p:cNvSpPr/>
          <p:nvPr/>
        </p:nvSpPr>
        <p:spPr>
          <a:xfrm>
            <a:off x="274320" y="2834640"/>
            <a:ext cx="8595360" cy="100584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14"/>
          <p:cNvSpPr/>
          <p:nvPr/>
        </p:nvSpPr>
        <p:spPr>
          <a:xfrm>
            <a:off x="274320" y="2834640"/>
            <a:ext cx="54864" cy="10058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"/>
          <p:cNvSpPr/>
          <p:nvPr/>
        </p:nvSpPr>
        <p:spPr>
          <a:xfrm>
            <a:off x="457200" y="2907792"/>
            <a:ext cx="82753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crashed and rebooted. It could be in corridor A, corridor B, or near the elevator — three possible locations. The EKF maintains ONE Gaussian bell curve — it can only represent ONE hypothesis. How do we handle MULTIPLE possibilities?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4"/>
          <p:cNvSpPr/>
          <p:nvPr/>
        </p:nvSpPr>
        <p:spPr>
          <a:xfrm>
            <a:off x="365760" y="402336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→ We need algorithms that can represent MULTI-MODAL beliefs. Next: Histogram Filter and MCL.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5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C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Gaussian Localization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Worked Example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A complete visual walkthrough of EKF in 2D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6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Setup: Robot in a Corridor with 3 Landmarks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6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6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Corridor is 10m long. Robot starts at x=1m. Three landmarks at x=3, 6, 9m.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6"/>
          <p:cNvSpPr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16"/>
          <p:cNvCxnSpPr/>
          <p:nvPr/>
        </p:nvCxnSpPr>
        <p:spPr>
          <a:xfrm>
            <a:off x="45720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2" name="Google Shape;272;p16"/>
          <p:cNvSpPr/>
          <p:nvPr/>
        </p:nvSpPr>
        <p:spPr>
          <a:xfrm>
            <a:off x="32004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3" name="Google Shape;273;p16"/>
          <p:cNvCxnSpPr/>
          <p:nvPr/>
        </p:nvCxnSpPr>
        <p:spPr>
          <a:xfrm>
            <a:off x="128016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4" name="Google Shape;274;p16"/>
          <p:cNvSpPr/>
          <p:nvPr/>
        </p:nvSpPr>
        <p:spPr>
          <a:xfrm>
            <a:off x="114300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5" name="Google Shape;275;p16"/>
          <p:cNvCxnSpPr/>
          <p:nvPr/>
        </p:nvCxnSpPr>
        <p:spPr>
          <a:xfrm>
            <a:off x="210312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6" name="Google Shape;276;p16"/>
          <p:cNvSpPr/>
          <p:nvPr/>
        </p:nvSpPr>
        <p:spPr>
          <a:xfrm>
            <a:off x="196596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7" name="Google Shape;277;p16"/>
          <p:cNvCxnSpPr/>
          <p:nvPr/>
        </p:nvCxnSpPr>
        <p:spPr>
          <a:xfrm>
            <a:off x="292608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8" name="Google Shape;278;p16"/>
          <p:cNvSpPr/>
          <p:nvPr/>
        </p:nvSpPr>
        <p:spPr>
          <a:xfrm>
            <a:off x="278892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9" name="Google Shape;279;p16"/>
          <p:cNvCxnSpPr/>
          <p:nvPr/>
        </p:nvCxnSpPr>
        <p:spPr>
          <a:xfrm>
            <a:off x="374904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0" name="Google Shape;280;p16"/>
          <p:cNvSpPr/>
          <p:nvPr/>
        </p:nvSpPr>
        <p:spPr>
          <a:xfrm>
            <a:off x="361188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1" name="Google Shape;281;p16"/>
          <p:cNvCxnSpPr/>
          <p:nvPr/>
        </p:nvCxnSpPr>
        <p:spPr>
          <a:xfrm>
            <a:off x="457200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2" name="Google Shape;282;p16"/>
          <p:cNvSpPr/>
          <p:nvPr/>
        </p:nvSpPr>
        <p:spPr>
          <a:xfrm>
            <a:off x="443484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3" name="Google Shape;283;p16"/>
          <p:cNvCxnSpPr/>
          <p:nvPr/>
        </p:nvCxnSpPr>
        <p:spPr>
          <a:xfrm>
            <a:off x="539496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4" name="Google Shape;284;p16"/>
          <p:cNvSpPr/>
          <p:nvPr/>
        </p:nvSpPr>
        <p:spPr>
          <a:xfrm>
            <a:off x="525780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5" name="Google Shape;285;p16"/>
          <p:cNvCxnSpPr/>
          <p:nvPr/>
        </p:nvCxnSpPr>
        <p:spPr>
          <a:xfrm>
            <a:off x="621792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6" name="Google Shape;286;p16"/>
          <p:cNvSpPr/>
          <p:nvPr/>
        </p:nvSpPr>
        <p:spPr>
          <a:xfrm>
            <a:off x="608076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7" name="Google Shape;287;p16"/>
          <p:cNvCxnSpPr/>
          <p:nvPr/>
        </p:nvCxnSpPr>
        <p:spPr>
          <a:xfrm>
            <a:off x="704088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" name="Google Shape;288;p16"/>
          <p:cNvSpPr/>
          <p:nvPr/>
        </p:nvSpPr>
        <p:spPr>
          <a:xfrm>
            <a:off x="690372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9" name="Google Shape;289;p16"/>
          <p:cNvCxnSpPr/>
          <p:nvPr/>
        </p:nvCxnSpPr>
        <p:spPr>
          <a:xfrm>
            <a:off x="786384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0" name="Google Shape;290;p16"/>
          <p:cNvSpPr/>
          <p:nvPr/>
        </p:nvSpPr>
        <p:spPr>
          <a:xfrm>
            <a:off x="772668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1" name="Google Shape;291;p16"/>
          <p:cNvCxnSpPr/>
          <p:nvPr/>
        </p:nvCxnSpPr>
        <p:spPr>
          <a:xfrm>
            <a:off x="8686800" y="1280160"/>
            <a:ext cx="0" cy="548640"/>
          </a:xfrm>
          <a:prstGeom prst="straightConnector1">
            <a:avLst/>
          </a:prstGeom>
          <a:noFill/>
          <a:ln w="9525" cap="flat" cmpd="sng">
            <a:solidFill>
              <a:srgbClr val="6B728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2" name="Google Shape;292;p16"/>
          <p:cNvSpPr/>
          <p:nvPr/>
        </p:nvSpPr>
        <p:spPr>
          <a:xfrm>
            <a:off x="8549640" y="1828800"/>
            <a:ext cx="274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2871216" y="1097280"/>
            <a:ext cx="109728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4" name="Google Shape;294;p16"/>
          <p:cNvSpPr/>
          <p:nvPr/>
        </p:nvSpPr>
        <p:spPr>
          <a:xfrm>
            <a:off x="5340096" y="1097280"/>
            <a:ext cx="109728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6"/>
          <p:cNvSpPr/>
          <p:nvPr/>
        </p:nvSpPr>
        <p:spPr>
          <a:xfrm>
            <a:off x="7808976" y="1097280"/>
            <a:ext cx="109728" cy="457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16"/>
          <p:cNvSpPr/>
          <p:nvPr/>
        </p:nvSpPr>
        <p:spPr>
          <a:xfrm>
            <a:off x="2743200" y="914400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L₁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6"/>
          <p:cNvSpPr/>
          <p:nvPr/>
        </p:nvSpPr>
        <p:spPr>
          <a:xfrm>
            <a:off x="5212080" y="914400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L₂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7680960" y="914400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L₃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6"/>
          <p:cNvSpPr/>
          <p:nvPr/>
        </p:nvSpPr>
        <p:spPr>
          <a:xfrm>
            <a:off x="1143000" y="1417320"/>
            <a:ext cx="274320" cy="2743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6"/>
          <p:cNvSpPr/>
          <p:nvPr/>
        </p:nvSpPr>
        <p:spPr>
          <a:xfrm>
            <a:off x="365760" y="219456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Parameters: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01" name="Google Shape;301;p16"/>
          <p:cNvGraphicFramePr/>
          <p:nvPr/>
        </p:nvGraphicFramePr>
        <p:xfrm>
          <a:off x="274320" y="2560320"/>
          <a:ext cx="8595350" cy="1371650"/>
        </p:xfrm>
        <a:graphic>
          <a:graphicData uri="http://schemas.openxmlformats.org/drawingml/2006/table">
            <a:tbl>
              <a:tblPr>
                <a:noFill/>
                <a:tableStyleId>{B680D95F-EAE4-4BAD-A3B2-722E57685CAC}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Parameter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Value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Meaning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Initial state x̂₀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 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Robot starts at position 1m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Initial uncertainty σ₀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 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We know start ± 0.5m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Motion noise Q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 m²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Each move adds 0.1m² variance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Sensor noise R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0.04 m²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LiDAR range noise σ = 0.2m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 1: Predict (Move 2m) → Update (See L₁)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274320" y="731520"/>
            <a:ext cx="41148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7"/>
          <p:cNvSpPr/>
          <p:nvPr/>
        </p:nvSpPr>
        <p:spPr>
          <a:xfrm>
            <a:off x="274320" y="731520"/>
            <a:ext cx="54864" cy="1828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PREDICT: Move right 2m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7"/>
          <p:cNvSpPr/>
          <p:nvPr/>
        </p:nvSpPr>
        <p:spPr>
          <a:xfrm>
            <a:off x="438912" y="1078992"/>
            <a:ext cx="384048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x̂⁻ = x̂ + u = 1.0 + 2.0 = 3.0 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P⁻ = P + Q = 0.25 + 0.1 = 0.35 m²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σ⁻ = √0.35 = 0.59 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Uncertainty GREW: 0.5m → 0.59m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4663440" y="731520"/>
            <a:ext cx="420624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7"/>
          <p:cNvSpPr/>
          <p:nvPr/>
        </p:nvSpPr>
        <p:spPr>
          <a:xfrm>
            <a:off x="4663440" y="731520"/>
            <a:ext cx="54864" cy="1828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UPDATE: See landmark L₁ at 3m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7"/>
          <p:cNvSpPr/>
          <p:nvPr/>
        </p:nvSpPr>
        <p:spPr>
          <a:xfrm>
            <a:off x="4828032" y="1078992"/>
            <a:ext cx="393192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Expected range: h(x̂⁻) = |3 − 3.0| = 0.0 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Measured range: z = 0.15 m (noisy)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Innovation: 0.15 − 0.0 = 0.15 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K = P⁻/(P⁻+R) = 0.35/0.39 = 0.90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x̂ = 3.0 + 0.90×0.15 = 3.135 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 = (1−0.90)×0.35 = 0.035 m² → σ = 0.19 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274320" y="2834640"/>
            <a:ext cx="8595360" cy="731520"/>
          </a:xfrm>
          <a:prstGeom prst="rect">
            <a:avLst/>
          </a:prstGeom>
          <a:solidFill>
            <a:srgbClr val="ECFDF5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7"/>
          <p:cNvSpPr/>
          <p:nvPr/>
        </p:nvSpPr>
        <p:spPr>
          <a:xfrm>
            <a:off x="457200" y="288036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Result: σ dropped from 0.59m → 0.19m!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Seeing ONE landmark cut uncertainty by 3×.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K = 0.90 means: trust the sensor 90%, trust prediction 10% (because sensor R=0.04 &lt;&lt; P⁻=0.35).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457200" y="3749040"/>
            <a:ext cx="411480" cy="4114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457200" y="3767328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960120" y="3767328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OPERATE: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If no landmarks visible, σ keeps growing. EKF depends on regular landmark observations for correction.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8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Cycles 2–3: Convergence Over Time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1" name="Google Shape;331;p18"/>
          <p:cNvGraphicFramePr/>
          <p:nvPr/>
        </p:nvGraphicFramePr>
        <p:xfrm>
          <a:off x="182880" y="731520"/>
          <a:ext cx="8778250" cy="2194640"/>
        </p:xfrm>
        <a:graphic>
          <a:graphicData uri="http://schemas.openxmlformats.org/drawingml/2006/table">
            <a:tbl>
              <a:tblPr>
                <a:noFill/>
                <a:tableStyleId>{B680D95F-EAE4-4BAD-A3B2-722E57685CAC}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Step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x̂ (m)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σ (m)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What happened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Start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1.00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Initial belief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59E0B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F59E0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 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3.00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0.59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Moved 2m → σ grew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 1 (L₁)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3.14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0.19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0.90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Saw L₁ → σ collapsed!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59E0B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F59E0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 2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5.14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0.29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Moved 2m → σ grew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 2 (L₂)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5.98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0.68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Saw L₂ → σ shrank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59E0B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F59E0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Predict 3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7.98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0.25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Moved 2m → σ grew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 3 (L₃)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8.96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0.13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Saw L₃ → best yet!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32" name="Google Shape;332;p18"/>
          <p:cNvSpPr/>
          <p:nvPr/>
        </p:nvSpPr>
        <p:spPr>
          <a:xfrm>
            <a:off x="274320" y="3383280"/>
            <a:ext cx="859536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Key observations:</a:t>
            </a:r>
            <a:br>
              <a:rPr lang="en-US" sz="13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 K decreases over time (0.90 → 0.68 → 0.61) because P is getting smaller → trusting prediction more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2. σ after each update gets smaller: 0.19 → 0.15 → 0.13 → converging!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 The predict-update pattern is clear: predict GROWS uncertainty, update SHRINKS it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9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9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Markov Localization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&amp; Histogram Filter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Handling global localization with a grid-based approach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20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Rebooted — Where on Floor 3?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274320" y="685800"/>
            <a:ext cx="8595360" cy="91440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20"/>
          <p:cNvSpPr/>
          <p:nvPr/>
        </p:nvSpPr>
        <p:spPr>
          <a:xfrm>
            <a:off x="274320" y="685800"/>
            <a:ext cx="54864" cy="9144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0"/>
          <p:cNvSpPr/>
          <p:nvPr/>
        </p:nvSpPr>
        <p:spPr>
          <a:xfrm>
            <a:off x="457200" y="758952"/>
            <a:ext cx="82753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crashed and has NO idea where it is on Floor 3. It could be in ANY corridor. The EKF needs a good initial guess — but we don't have one! We need an algorithm that can represent 'I might be ANYWHERE' and narrow down as evidence comes in.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/>
          <p:nvPr/>
        </p:nvSpPr>
        <p:spPr>
          <a:xfrm>
            <a:off x="365760" y="17830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Solution: Discretize the space into a grid. Assign a probability to EACH cell.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0"/>
          <p:cNvSpPr/>
          <p:nvPr/>
        </p:nvSpPr>
        <p:spPr>
          <a:xfrm>
            <a:off x="45720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20"/>
          <p:cNvSpPr/>
          <p:nvPr/>
        </p:nvSpPr>
        <p:spPr>
          <a:xfrm>
            <a:off x="86868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20"/>
          <p:cNvSpPr/>
          <p:nvPr/>
        </p:nvSpPr>
        <p:spPr>
          <a:xfrm>
            <a:off x="128016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20"/>
          <p:cNvSpPr/>
          <p:nvPr/>
        </p:nvSpPr>
        <p:spPr>
          <a:xfrm>
            <a:off x="169164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20"/>
          <p:cNvSpPr/>
          <p:nvPr/>
        </p:nvSpPr>
        <p:spPr>
          <a:xfrm>
            <a:off x="210312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251460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20"/>
          <p:cNvSpPr/>
          <p:nvPr/>
        </p:nvSpPr>
        <p:spPr>
          <a:xfrm>
            <a:off x="292608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0" name="Google Shape;360;p20"/>
          <p:cNvSpPr/>
          <p:nvPr/>
        </p:nvSpPr>
        <p:spPr>
          <a:xfrm>
            <a:off x="333756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20"/>
          <p:cNvSpPr/>
          <p:nvPr/>
        </p:nvSpPr>
        <p:spPr>
          <a:xfrm>
            <a:off x="374904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0"/>
          <p:cNvSpPr/>
          <p:nvPr/>
        </p:nvSpPr>
        <p:spPr>
          <a:xfrm>
            <a:off x="416052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20"/>
          <p:cNvSpPr/>
          <p:nvPr/>
        </p:nvSpPr>
        <p:spPr>
          <a:xfrm>
            <a:off x="457200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498348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0"/>
          <p:cNvSpPr/>
          <p:nvPr/>
        </p:nvSpPr>
        <p:spPr>
          <a:xfrm>
            <a:off x="539496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20"/>
          <p:cNvSpPr/>
          <p:nvPr/>
        </p:nvSpPr>
        <p:spPr>
          <a:xfrm>
            <a:off x="580644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20"/>
          <p:cNvSpPr/>
          <p:nvPr/>
        </p:nvSpPr>
        <p:spPr>
          <a:xfrm>
            <a:off x="6217920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0"/>
          <p:cNvSpPr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Uniform distribution: each cell has equal probability (1/20 = 5%)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"I might be anywhere" — this is something EKF CANNOT represent!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353;p20">
            <a:extLst>
              <a:ext uri="{FF2B5EF4-FFF2-40B4-BE49-F238E27FC236}">
                <a16:creationId xmlns:a16="http://schemas.microsoft.com/office/drawing/2014/main" id="{3BF82D54-8654-4BEF-949A-F7315D3898AA}"/>
              </a:ext>
            </a:extLst>
          </p:cNvPr>
          <p:cNvSpPr/>
          <p:nvPr/>
        </p:nvSpPr>
        <p:spPr>
          <a:xfrm>
            <a:off x="6625652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354;p20">
            <a:extLst>
              <a:ext uri="{FF2B5EF4-FFF2-40B4-BE49-F238E27FC236}">
                <a16:creationId xmlns:a16="http://schemas.microsoft.com/office/drawing/2014/main" id="{777D63BA-27DF-42F6-BA27-E92CBBA916A0}"/>
              </a:ext>
            </a:extLst>
          </p:cNvPr>
          <p:cNvSpPr/>
          <p:nvPr/>
        </p:nvSpPr>
        <p:spPr>
          <a:xfrm>
            <a:off x="7037132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355;p20">
            <a:extLst>
              <a:ext uri="{FF2B5EF4-FFF2-40B4-BE49-F238E27FC236}">
                <a16:creationId xmlns:a16="http://schemas.microsoft.com/office/drawing/2014/main" id="{0387BEC5-41C6-4FED-9CB1-E7BCE1391526}"/>
              </a:ext>
            </a:extLst>
          </p:cNvPr>
          <p:cNvSpPr/>
          <p:nvPr/>
        </p:nvSpPr>
        <p:spPr>
          <a:xfrm>
            <a:off x="7448612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356;p20">
            <a:extLst>
              <a:ext uri="{FF2B5EF4-FFF2-40B4-BE49-F238E27FC236}">
                <a16:creationId xmlns:a16="http://schemas.microsoft.com/office/drawing/2014/main" id="{5F9FBD31-68C1-4C31-8FC7-BBF015F4A088}"/>
              </a:ext>
            </a:extLst>
          </p:cNvPr>
          <p:cNvSpPr/>
          <p:nvPr/>
        </p:nvSpPr>
        <p:spPr>
          <a:xfrm>
            <a:off x="7860092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57;p20">
            <a:extLst>
              <a:ext uri="{FF2B5EF4-FFF2-40B4-BE49-F238E27FC236}">
                <a16:creationId xmlns:a16="http://schemas.microsoft.com/office/drawing/2014/main" id="{6AFB1B03-0CBC-4D6C-B3C0-8E2BA81E8785}"/>
              </a:ext>
            </a:extLst>
          </p:cNvPr>
          <p:cNvSpPr/>
          <p:nvPr/>
        </p:nvSpPr>
        <p:spPr>
          <a:xfrm>
            <a:off x="8271572" y="2788920"/>
            <a:ext cx="393192" cy="685800"/>
          </a:xfrm>
          <a:prstGeom prst="rect">
            <a:avLst/>
          </a:prstGeom>
          <a:solidFill>
            <a:srgbClr val="8B5CF6">
              <a:alpha val="60000"/>
            </a:srgbClr>
          </a:solidFill>
          <a:ln w="9525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2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Histogram Filter: The Algorithm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1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/>
          <p:nvPr/>
        </p:nvSpPr>
        <p:spPr>
          <a:xfrm>
            <a:off x="182875" y="685800"/>
            <a:ext cx="4297800" cy="207420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21"/>
          <p:cNvSpPr/>
          <p:nvPr/>
        </p:nvSpPr>
        <p:spPr>
          <a:xfrm>
            <a:off x="182880" y="685800"/>
            <a:ext cx="54864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0" name="Google Shape;380;p21"/>
          <p:cNvSpPr/>
          <p:nvPr/>
        </p:nvSpPr>
        <p:spPr>
          <a:xfrm>
            <a:off x="365760" y="731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PREDICT: Shift + Blur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1"/>
          <p:cNvSpPr/>
          <p:nvPr/>
        </p:nvSpPr>
        <p:spPr>
          <a:xfrm>
            <a:off x="365760" y="1143035"/>
            <a:ext cx="3931800" cy="118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For each cell xₖ: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bel⁻(xₖ) = Σᵢ p(xₖ|xᵢ, u) × bel(xᵢ)</a:t>
            </a:r>
            <a:br>
              <a:rPr lang="en-US" sz="13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"Shift probabilities in the direction of motion.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Blur because motion is noisy."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1"/>
          <p:cNvSpPr/>
          <p:nvPr/>
        </p:nvSpPr>
        <p:spPr>
          <a:xfrm>
            <a:off x="4663450" y="685800"/>
            <a:ext cx="4297800" cy="2074200"/>
          </a:xfrm>
          <a:prstGeom prst="rect">
            <a:avLst/>
          </a:prstGeom>
          <a:solidFill>
            <a:srgbClr val="ECFDF5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21"/>
          <p:cNvSpPr/>
          <p:nvPr/>
        </p:nvSpPr>
        <p:spPr>
          <a:xfrm>
            <a:off x="4663440" y="685800"/>
            <a:ext cx="54864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21"/>
          <p:cNvSpPr/>
          <p:nvPr/>
        </p:nvSpPr>
        <p:spPr>
          <a:xfrm>
            <a:off x="4846320" y="731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UPDATE: Multiply by Likelihood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1"/>
          <p:cNvSpPr/>
          <p:nvPr/>
        </p:nvSpPr>
        <p:spPr>
          <a:xfrm>
            <a:off x="4846450" y="1107862"/>
            <a:ext cx="3931800" cy="14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For each cell xₖ: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3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bel(xₖ) = η × p(z|xₖ) × bel⁻(xₖ)</a:t>
            </a:r>
            <a:br>
              <a:rPr lang="en-US" sz="13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"Multiply each cell's probability by how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well the sensor reading matches that cell.</a:t>
            </a:r>
            <a:b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Then normalize so probabilities sum to 1."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365760" y="2760150"/>
            <a:ext cx="8412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This is the EXACT Bayes filter from MOD-05 — just computed on a discrete grid instead of continuous!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1"/>
          <p:cNvSpPr/>
          <p:nvPr/>
        </p:nvSpPr>
        <p:spPr>
          <a:xfrm>
            <a:off x="365760" y="3034355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Classic Example: The Door Sensor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365760" y="3328907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Floor 3 has doors at cells 3, 7, 14. Sensor reports: "I see a door."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89" name="Google Shape;389;p21"/>
          <p:cNvGrpSpPr/>
          <p:nvPr/>
        </p:nvGrpSpPr>
        <p:grpSpPr>
          <a:xfrm>
            <a:off x="548650" y="3577870"/>
            <a:ext cx="8229600" cy="1348740"/>
            <a:chOff x="457200" y="3360420"/>
            <a:chExt cx="8229600" cy="1348740"/>
          </a:xfrm>
        </p:grpSpPr>
        <p:sp>
          <p:nvSpPr>
            <p:cNvPr id="390" name="Google Shape;390;p21"/>
            <p:cNvSpPr/>
            <p:nvPr/>
          </p:nvSpPr>
          <p:spPr>
            <a:xfrm>
              <a:off x="6661384" y="42964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21"/>
            <p:cNvSpPr/>
            <p:nvPr/>
          </p:nvSpPr>
          <p:spPr>
            <a:xfrm>
              <a:off x="86868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21"/>
            <p:cNvSpPr/>
            <p:nvPr/>
          </p:nvSpPr>
          <p:spPr>
            <a:xfrm>
              <a:off x="128016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21"/>
            <p:cNvSpPr/>
            <p:nvPr/>
          </p:nvSpPr>
          <p:spPr>
            <a:xfrm>
              <a:off x="1691640" y="3360420"/>
              <a:ext cx="393192" cy="1028700"/>
            </a:xfrm>
            <a:prstGeom prst="rect">
              <a:avLst/>
            </a:prstGeom>
            <a:solidFill>
              <a:srgbClr val="10B981">
                <a:alpha val="70196"/>
              </a:srgbClr>
            </a:solidFill>
            <a:ln w="9525" cap="flat" cmpd="sng">
              <a:solidFill>
                <a:srgbClr val="10B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21"/>
            <p:cNvSpPr/>
            <p:nvPr/>
          </p:nvSpPr>
          <p:spPr>
            <a:xfrm>
              <a:off x="210312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1"/>
            <p:cNvSpPr/>
            <p:nvPr/>
          </p:nvSpPr>
          <p:spPr>
            <a:xfrm>
              <a:off x="251460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1"/>
            <p:cNvSpPr/>
            <p:nvPr/>
          </p:nvSpPr>
          <p:spPr>
            <a:xfrm>
              <a:off x="292608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1"/>
            <p:cNvSpPr/>
            <p:nvPr/>
          </p:nvSpPr>
          <p:spPr>
            <a:xfrm>
              <a:off x="3337560" y="3360420"/>
              <a:ext cx="393192" cy="1028700"/>
            </a:xfrm>
            <a:prstGeom prst="rect">
              <a:avLst/>
            </a:prstGeom>
            <a:solidFill>
              <a:srgbClr val="10B981">
                <a:alpha val="70196"/>
              </a:srgbClr>
            </a:solidFill>
            <a:ln w="9525" cap="flat" cmpd="sng">
              <a:solidFill>
                <a:srgbClr val="10B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1"/>
            <p:cNvSpPr/>
            <p:nvPr/>
          </p:nvSpPr>
          <p:spPr>
            <a:xfrm>
              <a:off x="374904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1"/>
            <p:cNvSpPr/>
            <p:nvPr/>
          </p:nvSpPr>
          <p:spPr>
            <a:xfrm>
              <a:off x="416052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1"/>
            <p:cNvSpPr/>
            <p:nvPr/>
          </p:nvSpPr>
          <p:spPr>
            <a:xfrm>
              <a:off x="457200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21"/>
            <p:cNvSpPr/>
            <p:nvPr/>
          </p:nvSpPr>
          <p:spPr>
            <a:xfrm>
              <a:off x="498348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21"/>
            <p:cNvSpPr/>
            <p:nvPr/>
          </p:nvSpPr>
          <p:spPr>
            <a:xfrm>
              <a:off x="539496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1"/>
            <p:cNvSpPr/>
            <p:nvPr/>
          </p:nvSpPr>
          <p:spPr>
            <a:xfrm>
              <a:off x="5806440" y="4306824"/>
              <a:ext cx="393192" cy="82296"/>
            </a:xfrm>
            <a:prstGeom prst="rect">
              <a:avLst/>
            </a:prstGeom>
            <a:solidFill>
              <a:srgbClr val="8B5CF6">
                <a:alpha val="30196"/>
              </a:srgbClr>
            </a:solidFill>
            <a:ln w="9525" cap="flat" cmpd="sng">
              <a:solidFill>
                <a:srgbClr val="8B5CF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1"/>
            <p:cNvSpPr/>
            <p:nvPr/>
          </p:nvSpPr>
          <p:spPr>
            <a:xfrm>
              <a:off x="6217920" y="3360420"/>
              <a:ext cx="393192" cy="1028700"/>
            </a:xfrm>
            <a:prstGeom prst="rect">
              <a:avLst/>
            </a:prstGeom>
            <a:solidFill>
              <a:srgbClr val="10B981">
                <a:alpha val="70196"/>
              </a:srgbClr>
            </a:solidFill>
            <a:ln w="9525" cap="flat" cmpd="sng">
              <a:solidFill>
                <a:srgbClr val="10B98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21"/>
            <p:cNvSpPr/>
            <p:nvPr/>
          </p:nvSpPr>
          <p:spPr>
            <a:xfrm>
              <a:off x="457200" y="4434840"/>
              <a:ext cx="82296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10B98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After seeing "door": cells with doors get HIGH probability, others get LOW. Three peaks = multi-modal!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2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22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Histogram: Advantages &amp; Limitations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2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2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2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✅ Advantages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2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Handles MULTI-MODAL beliefs (multiple peaks)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Can represent 'I might be anywhere' (global loc)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No linearization needed — exact Bayes filter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Works for any distribution shape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Simple to understand and implement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22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❌ Limitations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2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EXPONENTIAL in dimensions!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2D: 1000×1000 grid = 1 million cells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3D (x,y,θ): 1000×1000×360 = 360 million!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Fixed resolution: can't zoom in on good areas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Memory-intensive for large environments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Impractical for most real robots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/>
          <p:nvPr/>
        </p:nvSpPr>
        <p:spPr>
          <a:xfrm>
            <a:off x="274320" y="3017520"/>
            <a:ext cx="8595360" cy="91440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2"/>
          <p:cNvSpPr/>
          <p:nvPr/>
        </p:nvSpPr>
        <p:spPr>
          <a:xfrm>
            <a:off x="274320" y="3017520"/>
            <a:ext cx="54864" cy="9144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2"/>
          <p:cNvSpPr/>
          <p:nvPr/>
        </p:nvSpPr>
        <p:spPr>
          <a:xfrm>
            <a:off x="457200" y="3090672"/>
            <a:ext cx="82753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Floor 3 of the hospital is 50m × 30m. With 10cm resolution and 1° angle bins: 500 × 300 × 360 = 54 MILLION cells. Each needs a probability value. Too many! We need a smarter representation that puts more detail where it matters and less where it doesn't.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365760" y="4114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→ Solution: represent the belief with SAMPLES (particles) instead of a grid. Next: MCL!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3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3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Particle Filters &amp;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Monte Carlo Localization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3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Sample-based localization that handles everything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4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24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Rebooted — MCL to the Rescue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4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4"/>
          <p:cNvSpPr/>
          <p:nvPr/>
        </p:nvSpPr>
        <p:spPr>
          <a:xfrm>
            <a:off x="274320" y="685800"/>
            <a:ext cx="8595360" cy="73152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24"/>
          <p:cNvSpPr/>
          <p:nvPr/>
        </p:nvSpPr>
        <p:spPr>
          <a:xfrm>
            <a:off x="274320" y="685800"/>
            <a:ext cx="54864" cy="7315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24"/>
          <p:cNvSpPr/>
          <p:nvPr/>
        </p:nvSpPr>
        <p:spPr>
          <a:xfrm>
            <a:off x="457200" y="758952"/>
            <a:ext cx="82753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has NO idea where it is. We can't use EKF (needs good initial guess). Histogram is too expensive (54 million cells). Instead: scatter 1000 random 'guesses' (particles) across the map. As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moves and senses, the good guesses survive and bad guesses die.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4"/>
          <p:cNvSpPr/>
          <p:nvPr/>
        </p:nvSpPr>
        <p:spPr>
          <a:xfrm>
            <a:off x="365760" y="16002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Each particle = one possible robot pose (x, y, θ)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6" name="Google Shape;446;p24"/>
          <p:cNvGrpSpPr/>
          <p:nvPr/>
        </p:nvGrpSpPr>
        <p:grpSpPr>
          <a:xfrm>
            <a:off x="628947" y="2100777"/>
            <a:ext cx="7143637" cy="1565329"/>
            <a:chOff x="628947" y="2100777"/>
            <a:chExt cx="7143637" cy="1565329"/>
          </a:xfrm>
        </p:grpSpPr>
        <p:sp>
          <p:nvSpPr>
            <p:cNvPr id="447" name="Google Shape;447;p24"/>
            <p:cNvSpPr/>
            <p:nvPr/>
          </p:nvSpPr>
          <p:spPr>
            <a:xfrm>
              <a:off x="628947" y="3321992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24"/>
            <p:cNvSpPr/>
            <p:nvPr/>
          </p:nvSpPr>
          <p:spPr>
            <a:xfrm>
              <a:off x="1035301" y="2608472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24"/>
            <p:cNvSpPr/>
            <p:nvPr/>
          </p:nvSpPr>
          <p:spPr>
            <a:xfrm>
              <a:off x="5654324" y="3294721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4"/>
            <p:cNvSpPr/>
            <p:nvPr/>
          </p:nvSpPr>
          <p:spPr>
            <a:xfrm>
              <a:off x="5832495" y="2578163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4"/>
            <p:cNvSpPr/>
            <p:nvPr/>
          </p:nvSpPr>
          <p:spPr>
            <a:xfrm>
              <a:off x="7272180" y="2144665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4"/>
            <p:cNvSpPr/>
            <p:nvPr/>
          </p:nvSpPr>
          <p:spPr>
            <a:xfrm>
              <a:off x="638683" y="2496063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4"/>
            <p:cNvSpPr/>
            <p:nvPr/>
          </p:nvSpPr>
          <p:spPr>
            <a:xfrm>
              <a:off x="2971421" y="3592954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4"/>
            <p:cNvSpPr/>
            <p:nvPr/>
          </p:nvSpPr>
          <p:spPr>
            <a:xfrm>
              <a:off x="7398772" y="2242810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4"/>
            <p:cNvSpPr/>
            <p:nvPr/>
          </p:nvSpPr>
          <p:spPr>
            <a:xfrm>
              <a:off x="3242335" y="3550938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4"/>
            <p:cNvSpPr/>
            <p:nvPr/>
          </p:nvSpPr>
          <p:spPr>
            <a:xfrm>
              <a:off x="2228720" y="3553615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4"/>
            <p:cNvSpPr/>
            <p:nvPr/>
          </p:nvSpPr>
          <p:spPr>
            <a:xfrm>
              <a:off x="2726441" y="3381043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24"/>
            <p:cNvSpPr/>
            <p:nvPr/>
          </p:nvSpPr>
          <p:spPr>
            <a:xfrm>
              <a:off x="7699432" y="3230844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4"/>
            <p:cNvSpPr/>
            <p:nvPr/>
          </p:nvSpPr>
          <p:spPr>
            <a:xfrm>
              <a:off x="4731555" y="2100777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4"/>
            <p:cNvSpPr/>
            <p:nvPr/>
          </p:nvSpPr>
          <p:spPr>
            <a:xfrm>
              <a:off x="6451474" y="3510211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4878171" y="2907461"/>
              <a:ext cx="73152" cy="73152"/>
            </a:xfrm>
            <a:prstGeom prst="ellipse">
              <a:avLst/>
            </a:prstGeom>
            <a:solidFill>
              <a:srgbClr val="8B5CF6">
                <a:alpha val="70196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2" name="Google Shape;462;p24"/>
          <p:cNvSpPr/>
          <p:nvPr/>
        </p:nvSpPr>
        <p:spPr>
          <a:xfrm>
            <a:off x="480050" y="3847845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1000 particles scattered randomly → "I might be ANYWHERE"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Over time, particles will CLUSTER around the true position as evidence accumulates.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25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25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MCL Algorithm: 3 Steps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5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/>
          <p:nvPr/>
        </p:nvSpPr>
        <p:spPr>
          <a:xfrm>
            <a:off x="182875" y="731526"/>
            <a:ext cx="2834700" cy="284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25"/>
          <p:cNvSpPr/>
          <p:nvPr/>
        </p:nvSpPr>
        <p:spPr>
          <a:xfrm>
            <a:off x="182880" y="731520"/>
            <a:ext cx="54864" cy="2560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25"/>
          <p:cNvSpPr/>
          <p:nvPr/>
        </p:nvSpPr>
        <p:spPr>
          <a:xfrm>
            <a:off x="347472" y="7863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 PREDICT (Move)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5"/>
          <p:cNvSpPr/>
          <p:nvPr/>
        </p:nvSpPr>
        <p:spPr>
          <a:xfrm>
            <a:off x="347472" y="1078992"/>
            <a:ext cx="2560320" cy="2148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For each particle: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Sample new pose from p(</a:t>
            </a:r>
            <a:r>
              <a:rPr lang="en-US" sz="1200" b="0" i="0" u="none" strike="noStrike" cap="none" dirty="0" err="1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x'|x</a:t>
            </a: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, u)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In practice: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Apply the motion model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+ ADD random noise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Each particle moves slightly differently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(because noise is random per particle)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5"/>
          <p:cNvSpPr/>
          <p:nvPr/>
        </p:nvSpPr>
        <p:spPr>
          <a:xfrm>
            <a:off x="3154675" y="731526"/>
            <a:ext cx="2834700" cy="284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25"/>
          <p:cNvSpPr/>
          <p:nvPr/>
        </p:nvSpPr>
        <p:spPr>
          <a:xfrm>
            <a:off x="3154680" y="731520"/>
            <a:ext cx="54864" cy="2560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25"/>
          <p:cNvSpPr/>
          <p:nvPr/>
        </p:nvSpPr>
        <p:spPr>
          <a:xfrm>
            <a:off x="3319272" y="7863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2. WEIGHT (Sense)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5"/>
          <p:cNvSpPr/>
          <p:nvPr/>
        </p:nvSpPr>
        <p:spPr>
          <a:xfrm>
            <a:off x="3319272" y="1078992"/>
            <a:ext cx="2560320" cy="2148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For each particle: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w = p(z | x_particle)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"How well does the sensor reading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match this particle's position?"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Good match → HIGH weight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Bad match → LOW weight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Use MOD-04 sensor model as p(z|x)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5"/>
          <p:cNvSpPr/>
          <p:nvPr/>
        </p:nvSpPr>
        <p:spPr>
          <a:xfrm>
            <a:off x="6126475" y="731526"/>
            <a:ext cx="2834700" cy="28431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25"/>
          <p:cNvSpPr/>
          <p:nvPr/>
        </p:nvSpPr>
        <p:spPr>
          <a:xfrm>
            <a:off x="6126480" y="731520"/>
            <a:ext cx="54864" cy="2560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25"/>
          <p:cNvSpPr/>
          <p:nvPr/>
        </p:nvSpPr>
        <p:spPr>
          <a:xfrm>
            <a:off x="6291072" y="786384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 RESAMPLE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5"/>
          <p:cNvSpPr/>
          <p:nvPr/>
        </p:nvSpPr>
        <p:spPr>
          <a:xfrm>
            <a:off x="6291072" y="1078992"/>
            <a:ext cx="2560320" cy="2148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Draw N new particles from the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old ones, WITH REPLACEMENT,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proportional to weights.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High-weight particles get COPIED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Low-weight particles DIE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Result: particles cluster near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the true position!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5"/>
          <p:cNvSpPr/>
          <p:nvPr/>
        </p:nvSpPr>
        <p:spPr>
          <a:xfrm>
            <a:off x="301757" y="4001620"/>
            <a:ext cx="8595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Repeat: Move → Weight → Resample → Move → Weight → Resample → ... Particles converge!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0" name="Google Shape;490;p26"/>
          <p:cNvGrpSpPr/>
          <p:nvPr/>
        </p:nvGrpSpPr>
        <p:grpSpPr>
          <a:xfrm>
            <a:off x="2377428" y="754382"/>
            <a:ext cx="2011680" cy="2743200"/>
            <a:chOff x="2377440" y="731520"/>
            <a:chExt cx="2011680" cy="2743200"/>
          </a:xfrm>
        </p:grpSpPr>
        <p:sp>
          <p:nvSpPr>
            <p:cNvPr id="491" name="Google Shape;491;p26"/>
            <p:cNvSpPr/>
            <p:nvPr/>
          </p:nvSpPr>
          <p:spPr>
            <a:xfrm>
              <a:off x="2377440" y="731520"/>
              <a:ext cx="2011680" cy="2743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>
              <a:outerShdw blurRad="50800" dist="25400" dir="8100000" algn="bl" rotWithShape="0">
                <a:srgbClr val="000000">
                  <a:alpha val="12156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6"/>
            <p:cNvSpPr/>
            <p:nvPr/>
          </p:nvSpPr>
          <p:spPr>
            <a:xfrm>
              <a:off x="2377440" y="777240"/>
              <a:ext cx="2011680" cy="5029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59E0B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F59E0B"/>
                  </a:solidFill>
                  <a:latin typeface="Arial"/>
                  <a:ea typeface="Arial"/>
                  <a:cs typeface="Arial"/>
                  <a:sym typeface="Arial"/>
                </a:rPr>
                <a:t>After 1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F59E0B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F59E0B"/>
                  </a:solidFill>
                  <a:latin typeface="Arial"/>
                  <a:ea typeface="Arial"/>
                  <a:cs typeface="Arial"/>
                  <a:sym typeface="Arial"/>
                </a:rPr>
                <a:t>observation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3" name="Google Shape;493;p26"/>
            <p:cNvSpPr/>
            <p:nvPr/>
          </p:nvSpPr>
          <p:spPr>
            <a:xfrm>
              <a:off x="4011172" y="2452881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6"/>
            <p:cNvSpPr/>
            <p:nvPr/>
          </p:nvSpPr>
          <p:spPr>
            <a:xfrm>
              <a:off x="3330078" y="2549212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6"/>
            <p:cNvSpPr/>
            <p:nvPr/>
          </p:nvSpPr>
          <p:spPr>
            <a:xfrm>
              <a:off x="3542276" y="1918276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6"/>
            <p:cNvSpPr/>
            <p:nvPr/>
          </p:nvSpPr>
          <p:spPr>
            <a:xfrm>
              <a:off x="3935514" y="2303279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6"/>
            <p:cNvSpPr/>
            <p:nvPr/>
          </p:nvSpPr>
          <p:spPr>
            <a:xfrm>
              <a:off x="3051667" y="2308462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6"/>
            <p:cNvSpPr/>
            <p:nvPr/>
          </p:nvSpPr>
          <p:spPr>
            <a:xfrm>
              <a:off x="2837133" y="1495389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6"/>
            <p:cNvSpPr/>
            <p:nvPr/>
          </p:nvSpPr>
          <p:spPr>
            <a:xfrm>
              <a:off x="3013241" y="1651618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6"/>
            <p:cNvSpPr/>
            <p:nvPr/>
          </p:nvSpPr>
          <p:spPr>
            <a:xfrm>
              <a:off x="3469899" y="2091878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6"/>
            <p:cNvSpPr/>
            <p:nvPr/>
          </p:nvSpPr>
          <p:spPr>
            <a:xfrm>
              <a:off x="2965463" y="2352534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6"/>
            <p:cNvSpPr/>
            <p:nvPr/>
          </p:nvSpPr>
          <p:spPr>
            <a:xfrm>
              <a:off x="3454541" y="2268188"/>
              <a:ext cx="54864" cy="5486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26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26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MCL Visual: Particles Converging Over Time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6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6" name="Google Shape;506;p26"/>
          <p:cNvGrpSpPr/>
          <p:nvPr/>
        </p:nvGrpSpPr>
        <p:grpSpPr>
          <a:xfrm>
            <a:off x="182880" y="731520"/>
            <a:ext cx="2011800" cy="2743200"/>
            <a:chOff x="182880" y="731520"/>
            <a:chExt cx="2011800" cy="2743200"/>
          </a:xfrm>
        </p:grpSpPr>
        <p:grpSp>
          <p:nvGrpSpPr>
            <p:cNvPr id="507" name="Google Shape;507;p26"/>
            <p:cNvGrpSpPr/>
            <p:nvPr/>
          </p:nvGrpSpPr>
          <p:grpSpPr>
            <a:xfrm>
              <a:off x="182880" y="731520"/>
              <a:ext cx="2011680" cy="2743200"/>
              <a:chOff x="182880" y="731520"/>
              <a:chExt cx="2011680" cy="2743200"/>
            </a:xfrm>
          </p:grpSpPr>
          <p:sp>
            <p:nvSpPr>
              <p:cNvPr id="508" name="Google Shape;508;p26"/>
              <p:cNvSpPr/>
              <p:nvPr/>
            </p:nvSpPr>
            <p:spPr>
              <a:xfrm>
                <a:off x="182880" y="731520"/>
                <a:ext cx="2011680" cy="27432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>
                <a:outerShdw blurRad="50800" dist="25400" dir="8100000" algn="bl" rotWithShape="0">
                  <a:srgbClr val="000000">
                    <a:alpha val="12156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6"/>
              <p:cNvSpPr/>
              <p:nvPr/>
            </p:nvSpPr>
            <p:spPr>
              <a:xfrm>
                <a:off x="1684617" y="2238180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6"/>
              <p:cNvSpPr/>
              <p:nvPr/>
            </p:nvSpPr>
            <p:spPr>
              <a:xfrm>
                <a:off x="776563" y="1782103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6"/>
              <p:cNvSpPr/>
              <p:nvPr/>
            </p:nvSpPr>
            <p:spPr>
              <a:xfrm>
                <a:off x="823885" y="2166099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6"/>
              <p:cNvSpPr/>
              <p:nvPr/>
            </p:nvSpPr>
            <p:spPr>
              <a:xfrm>
                <a:off x="2091777" y="1439103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6"/>
              <p:cNvSpPr/>
              <p:nvPr/>
            </p:nvSpPr>
            <p:spPr>
              <a:xfrm>
                <a:off x="1086790" y="2806458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6"/>
              <p:cNvSpPr/>
              <p:nvPr/>
            </p:nvSpPr>
            <p:spPr>
              <a:xfrm>
                <a:off x="281755" y="2628863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6"/>
              <p:cNvSpPr/>
              <p:nvPr/>
            </p:nvSpPr>
            <p:spPr>
              <a:xfrm>
                <a:off x="2097844" y="1631414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6"/>
              <p:cNvSpPr/>
              <p:nvPr/>
            </p:nvSpPr>
            <p:spPr>
              <a:xfrm>
                <a:off x="528936" y="1457237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6"/>
              <p:cNvSpPr/>
              <p:nvPr/>
            </p:nvSpPr>
            <p:spPr>
              <a:xfrm>
                <a:off x="1644285" y="2571145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6"/>
              <p:cNvSpPr/>
              <p:nvPr/>
            </p:nvSpPr>
            <p:spPr>
              <a:xfrm>
                <a:off x="1883976" y="2503305"/>
                <a:ext cx="54864" cy="54864"/>
              </a:xfrm>
              <a:prstGeom prst="ellipse">
                <a:avLst/>
              </a:prstGeom>
              <a:solidFill>
                <a:srgbClr val="8B5C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9" name="Google Shape;519;p26"/>
            <p:cNvSpPr/>
            <p:nvPr/>
          </p:nvSpPr>
          <p:spPr>
            <a:xfrm>
              <a:off x="182880" y="777240"/>
              <a:ext cx="20118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8B5CF6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8B5CF6"/>
                  </a:solidFill>
                  <a:latin typeface="Arial"/>
                  <a:ea typeface="Arial"/>
                  <a:cs typeface="Arial"/>
                  <a:sym typeface="Arial"/>
                </a:rPr>
                <a:t>Start: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8B5CF6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8B5CF6"/>
                  </a:solidFill>
                  <a:latin typeface="Arial"/>
                  <a:ea typeface="Arial"/>
                  <a:cs typeface="Arial"/>
                  <a:sym typeface="Arial"/>
                </a:rPr>
                <a:t>Scattered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0" name="Google Shape;520;p26"/>
          <p:cNvGrpSpPr/>
          <p:nvPr/>
        </p:nvGrpSpPr>
        <p:grpSpPr>
          <a:xfrm>
            <a:off x="4572000" y="731520"/>
            <a:ext cx="2011680" cy="2743200"/>
            <a:chOff x="4572000" y="731520"/>
            <a:chExt cx="2011680" cy="2743200"/>
          </a:xfrm>
        </p:grpSpPr>
        <p:grpSp>
          <p:nvGrpSpPr>
            <p:cNvPr id="521" name="Google Shape;521;p26"/>
            <p:cNvGrpSpPr/>
            <p:nvPr/>
          </p:nvGrpSpPr>
          <p:grpSpPr>
            <a:xfrm>
              <a:off x="4572000" y="731520"/>
              <a:ext cx="2011680" cy="2743200"/>
              <a:chOff x="4572000" y="731520"/>
              <a:chExt cx="2011680" cy="2743200"/>
            </a:xfrm>
          </p:grpSpPr>
          <p:sp>
            <p:nvSpPr>
              <p:cNvPr id="522" name="Google Shape;522;p26"/>
              <p:cNvSpPr/>
              <p:nvPr/>
            </p:nvSpPr>
            <p:spPr>
              <a:xfrm>
                <a:off x="4572000" y="731520"/>
                <a:ext cx="2011680" cy="27432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>
                <a:outerShdw blurRad="50800" dist="25400" dir="8100000" algn="bl" rotWithShape="0">
                  <a:srgbClr val="000000">
                    <a:alpha val="12156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6"/>
              <p:cNvSpPr/>
              <p:nvPr/>
            </p:nvSpPr>
            <p:spPr>
              <a:xfrm>
                <a:off x="5411342" y="2252815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6"/>
              <p:cNvSpPr/>
              <p:nvPr/>
            </p:nvSpPr>
            <p:spPr>
              <a:xfrm>
                <a:off x="5640891" y="2284642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6"/>
              <p:cNvSpPr/>
              <p:nvPr/>
            </p:nvSpPr>
            <p:spPr>
              <a:xfrm>
                <a:off x="5406998" y="2179327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6"/>
              <p:cNvSpPr/>
              <p:nvPr/>
            </p:nvSpPr>
            <p:spPr>
              <a:xfrm>
                <a:off x="5305893" y="1924770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6"/>
              <p:cNvSpPr/>
              <p:nvPr/>
            </p:nvSpPr>
            <p:spPr>
              <a:xfrm>
                <a:off x="5582443" y="1874206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6"/>
              <p:cNvSpPr/>
              <p:nvPr/>
            </p:nvSpPr>
            <p:spPr>
              <a:xfrm>
                <a:off x="5456430" y="2288967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6"/>
              <p:cNvSpPr/>
              <p:nvPr/>
            </p:nvSpPr>
            <p:spPr>
              <a:xfrm>
                <a:off x="5628593" y="2078371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6"/>
              <p:cNvSpPr/>
              <p:nvPr/>
            </p:nvSpPr>
            <p:spPr>
              <a:xfrm>
                <a:off x="5308259" y="2272368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6"/>
              <p:cNvSpPr/>
              <p:nvPr/>
            </p:nvSpPr>
            <p:spPr>
              <a:xfrm>
                <a:off x="5554978" y="2187184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6"/>
              <p:cNvSpPr/>
              <p:nvPr/>
            </p:nvSpPr>
            <p:spPr>
              <a:xfrm>
                <a:off x="5775141" y="2231637"/>
                <a:ext cx="54864" cy="54864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33" name="Google Shape;533;p26"/>
            <p:cNvSpPr/>
            <p:nvPr/>
          </p:nvSpPr>
          <p:spPr>
            <a:xfrm>
              <a:off x="4572000" y="777240"/>
              <a:ext cx="2011680" cy="5029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3B82F6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3B82F6"/>
                  </a:solidFill>
                  <a:latin typeface="Arial"/>
                  <a:ea typeface="Arial"/>
                  <a:cs typeface="Arial"/>
                  <a:sym typeface="Arial"/>
                </a:rPr>
                <a:t>After 3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3B82F6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3B82F6"/>
                  </a:solidFill>
                  <a:latin typeface="Arial"/>
                  <a:ea typeface="Arial"/>
                  <a:cs typeface="Arial"/>
                  <a:sym typeface="Arial"/>
                </a:rPr>
                <a:t>observations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34" name="Google Shape;534;p26"/>
          <p:cNvGrpSpPr/>
          <p:nvPr/>
        </p:nvGrpSpPr>
        <p:grpSpPr>
          <a:xfrm>
            <a:off x="6766560" y="740670"/>
            <a:ext cx="2011680" cy="2743200"/>
            <a:chOff x="6766560" y="731520"/>
            <a:chExt cx="2011680" cy="2743200"/>
          </a:xfrm>
        </p:grpSpPr>
        <p:grpSp>
          <p:nvGrpSpPr>
            <p:cNvPr id="535" name="Google Shape;535;p26"/>
            <p:cNvGrpSpPr/>
            <p:nvPr/>
          </p:nvGrpSpPr>
          <p:grpSpPr>
            <a:xfrm>
              <a:off x="6766560" y="731520"/>
              <a:ext cx="2011680" cy="2743200"/>
              <a:chOff x="6766560" y="731520"/>
              <a:chExt cx="2011680" cy="2743200"/>
            </a:xfrm>
          </p:grpSpPr>
          <p:sp>
            <p:nvSpPr>
              <p:cNvPr id="536" name="Google Shape;536;p26"/>
              <p:cNvSpPr/>
              <p:nvPr/>
            </p:nvSpPr>
            <p:spPr>
              <a:xfrm>
                <a:off x="6766560" y="731520"/>
                <a:ext cx="2011680" cy="27432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>
                <a:outerShdw blurRad="50800" dist="25400" dir="8100000" algn="bl" rotWithShape="0">
                  <a:srgbClr val="000000">
                    <a:alpha val="12156"/>
                  </a:srgb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6"/>
              <p:cNvSpPr/>
              <p:nvPr/>
            </p:nvSpPr>
            <p:spPr>
              <a:xfrm>
                <a:off x="7778444" y="2110189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Google Shape;538;p26"/>
              <p:cNvSpPr/>
              <p:nvPr/>
            </p:nvSpPr>
            <p:spPr>
              <a:xfrm>
                <a:off x="7728610" y="2178088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26"/>
              <p:cNvSpPr/>
              <p:nvPr/>
            </p:nvSpPr>
            <p:spPr>
              <a:xfrm>
                <a:off x="7736092" y="2158284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26"/>
              <p:cNvSpPr/>
              <p:nvPr/>
            </p:nvSpPr>
            <p:spPr>
              <a:xfrm>
                <a:off x="7773363" y="2053245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Google Shape;541;p26"/>
              <p:cNvSpPr/>
              <p:nvPr/>
            </p:nvSpPr>
            <p:spPr>
              <a:xfrm>
                <a:off x="7696769" y="2054141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Google Shape;542;p26"/>
              <p:cNvSpPr/>
              <p:nvPr/>
            </p:nvSpPr>
            <p:spPr>
              <a:xfrm>
                <a:off x="7850497" y="2025577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Google Shape;543;p26"/>
              <p:cNvSpPr/>
              <p:nvPr/>
            </p:nvSpPr>
            <p:spPr>
              <a:xfrm>
                <a:off x="7776141" y="2058432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Google Shape;544;p26"/>
              <p:cNvSpPr/>
              <p:nvPr/>
            </p:nvSpPr>
            <p:spPr>
              <a:xfrm>
                <a:off x="7797646" y="2085284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Google Shape;545;p26"/>
              <p:cNvSpPr/>
              <p:nvPr/>
            </p:nvSpPr>
            <p:spPr>
              <a:xfrm>
                <a:off x="7715951" y="2163682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Google Shape;546;p26"/>
              <p:cNvSpPr/>
              <p:nvPr/>
            </p:nvSpPr>
            <p:spPr>
              <a:xfrm>
                <a:off x="7781262" y="2044425"/>
                <a:ext cx="54864" cy="54864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47" name="Google Shape;547;p26"/>
            <p:cNvSpPr/>
            <p:nvPr/>
          </p:nvSpPr>
          <p:spPr>
            <a:xfrm>
              <a:off x="6766560" y="777240"/>
              <a:ext cx="2011680" cy="5029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0B98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After 10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Clr>
                  <a:srgbClr val="10B981"/>
                </a:buClr>
                <a:buSzPts val="1200"/>
                <a:buFont typeface="Arial"/>
                <a:buNone/>
              </a:pPr>
              <a:r>
                <a:rPr lang="en-US" sz="1200" b="1" i="0" u="none" strike="noStrike" cap="none">
                  <a:solidFill>
                    <a:srgbClr val="10B981"/>
                  </a:solidFill>
                  <a:latin typeface="Arial"/>
                  <a:ea typeface="Arial"/>
                  <a:cs typeface="Arial"/>
                  <a:sym typeface="Arial"/>
                </a:rPr>
                <a:t>observations</a:t>
              </a:r>
              <a:endPara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48" name="Google Shape;548;p26"/>
          <p:cNvSpPr/>
          <p:nvPr/>
        </p:nvSpPr>
        <p:spPr>
          <a:xfrm>
            <a:off x="274320" y="365760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Scattered → Clustering → Concentrated → Converged!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6"/>
          <p:cNvSpPr/>
          <p:nvPr/>
        </p:nvSpPr>
        <p:spPr>
          <a:xfrm>
            <a:off x="274320" y="402336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Each resample step KILLS bad particles and CLONES good ones. Natural selection for robot poses!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D3D076-A141-42DD-B287-5DE12E042939}"/>
              </a:ext>
            </a:extLst>
          </p:cNvPr>
          <p:cNvSpPr txBox="1"/>
          <p:nvPr/>
        </p:nvSpPr>
        <p:spPr>
          <a:xfrm>
            <a:off x="182880" y="462082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https://robots.stanford.edu/videos.html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7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MCL: The Math Behind Each Step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7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27"/>
          <p:cNvSpPr/>
          <p:nvPr/>
        </p:nvSpPr>
        <p:spPr>
          <a:xfrm>
            <a:off x="274325" y="731526"/>
            <a:ext cx="8595300" cy="8568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7"/>
          <p:cNvSpPr/>
          <p:nvPr/>
        </p:nvSpPr>
        <p:spPr>
          <a:xfrm>
            <a:off x="411480" y="777240"/>
            <a:ext cx="8321040" cy="307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Step 1 — Predict:  x'_particle ~ p(x' | x_particle, u)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7"/>
          <p:cNvSpPr/>
          <p:nvPr/>
        </p:nvSpPr>
        <p:spPr>
          <a:xfrm>
            <a:off x="411480" y="1053389"/>
            <a:ext cx="8321040" cy="380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Sample from the motion model.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Each particle gets a different random noise realization</a:t>
            </a:r>
            <a:r>
              <a:rPr lang="en-US" sz="1200" dirty="0">
                <a:solidFill>
                  <a:srgbClr val="1F2937"/>
                </a:solidFill>
              </a:rPr>
              <a:t>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27"/>
          <p:cNvSpPr/>
          <p:nvPr/>
        </p:nvSpPr>
        <p:spPr>
          <a:xfrm>
            <a:off x="274325" y="1729549"/>
            <a:ext cx="8595300" cy="8568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7"/>
          <p:cNvSpPr/>
          <p:nvPr/>
        </p:nvSpPr>
        <p:spPr>
          <a:xfrm>
            <a:off x="411480" y="1775274"/>
            <a:ext cx="83211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Step 2 — Weight:  w_particle = p(z | x_particle)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7"/>
          <p:cNvSpPr/>
          <p:nvPr/>
        </p:nvSpPr>
        <p:spPr>
          <a:xfrm>
            <a:off x="411480" y="2051423"/>
            <a:ext cx="8321100" cy="3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Evaluate the sensor model at each particle's pose.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High weight = sensor reading matches well at this particle's position.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7"/>
          <p:cNvSpPr/>
          <p:nvPr/>
        </p:nvSpPr>
        <p:spPr>
          <a:xfrm>
            <a:off x="274325" y="2710848"/>
            <a:ext cx="8595300" cy="8568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7"/>
          <p:cNvSpPr/>
          <p:nvPr/>
        </p:nvSpPr>
        <p:spPr>
          <a:xfrm>
            <a:off x="411480" y="2756581"/>
            <a:ext cx="8321100" cy="3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Step 3 — Resample:  Draw N particles with probability ∝ w_particle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7"/>
          <p:cNvSpPr/>
          <p:nvPr/>
        </p:nvSpPr>
        <p:spPr>
          <a:xfrm>
            <a:off x="411480" y="3032730"/>
            <a:ext cx="8321100" cy="38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Multinomial resampling: each old particle is picked with probability proportional to its weight.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Particle with weight 0.1 gets picked ~10% of the time. Weight 0.001 → almost never picked → dies.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7"/>
          <p:cNvSpPr/>
          <p:nvPr/>
        </p:nvSpPr>
        <p:spPr>
          <a:xfrm>
            <a:off x="274320" y="3625261"/>
            <a:ext cx="8595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Total computational cost per step: O(N × K) where N = particles, K = sensor beams. Typically N = 500–5000.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2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28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Kidnapped Robot Recovery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8"/>
          <p:cNvSpPr/>
          <p:nvPr/>
        </p:nvSpPr>
        <p:spPr>
          <a:xfrm>
            <a:off x="274320" y="685800"/>
            <a:ext cx="8595360" cy="73152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28"/>
          <p:cNvSpPr/>
          <p:nvPr/>
        </p:nvSpPr>
        <p:spPr>
          <a:xfrm>
            <a:off x="274320" y="685800"/>
            <a:ext cx="54864" cy="7315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28"/>
          <p:cNvSpPr/>
          <p:nvPr/>
        </p:nvSpPr>
        <p:spPr>
          <a:xfrm>
            <a:off x="457200" y="758952"/>
            <a:ext cx="82753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SCENARIO: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was tracking correctly in corridor A. A patient accidentally pushes it to corridor C. </a:t>
            </a:r>
            <a:r>
              <a:rPr lang="en-US" sz="1200" b="0" i="0" u="none" strike="noStrike" cap="none" dirty="0" err="1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MediBot's</a:t>
            </a: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 particles are all in corridor A — WRONG. How does it recover?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8"/>
          <p:cNvSpPr/>
          <p:nvPr/>
        </p:nvSpPr>
        <p:spPr>
          <a:xfrm>
            <a:off x="274320" y="1554480"/>
            <a:ext cx="411480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28"/>
          <p:cNvSpPr/>
          <p:nvPr/>
        </p:nvSpPr>
        <p:spPr>
          <a:xfrm>
            <a:off x="274320" y="1554480"/>
            <a:ext cx="54864" cy="16459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28"/>
          <p:cNvSpPr/>
          <p:nvPr/>
        </p:nvSpPr>
        <p:spPr>
          <a:xfrm>
            <a:off x="438912" y="160934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Problem: Particle Deprivation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8"/>
          <p:cNvSpPr/>
          <p:nvPr/>
        </p:nvSpPr>
        <p:spPr>
          <a:xfrm>
            <a:off x="438912" y="1901952"/>
            <a:ext cx="384048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All particles are in corridor 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Sensor readings don't match corridor 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All weights become very small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After resampling: same bad particles copied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Robot is STUCK with wrong belief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8"/>
          <p:cNvSpPr/>
          <p:nvPr/>
        </p:nvSpPr>
        <p:spPr>
          <a:xfrm>
            <a:off x="4663440" y="1554480"/>
            <a:ext cx="420624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4" name="Google Shape;584;p28"/>
          <p:cNvSpPr/>
          <p:nvPr/>
        </p:nvSpPr>
        <p:spPr>
          <a:xfrm>
            <a:off x="4663440" y="1554480"/>
            <a:ext cx="54864" cy="1645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28"/>
          <p:cNvSpPr/>
          <p:nvPr/>
        </p:nvSpPr>
        <p:spPr>
          <a:xfrm>
            <a:off x="4828032" y="160934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 Fix: Random Injection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28"/>
          <p:cNvSpPr/>
          <p:nvPr/>
        </p:nvSpPr>
        <p:spPr>
          <a:xfrm>
            <a:off x="4828032" y="1901952"/>
            <a:ext cx="3931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After each resample, inject a small %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of RANDOM particles across the map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These random particles "explore" new areas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If robot IS in corridor C, random particles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there will get HIGH weights and multiply!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This is what makes MCL robust to kidnapping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28"/>
          <p:cNvSpPr/>
          <p:nvPr/>
        </p:nvSpPr>
        <p:spPr>
          <a:xfrm>
            <a:off x="274320" y="33832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AMCL (Adaptive MCL) in ROS does this automatically: it monitors the average weight and adds random particles when it detects the robot is lost.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29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29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MCL: Strengths &amp; Limitations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9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9"/>
          <p:cNvSpPr/>
          <p:nvPr/>
        </p:nvSpPr>
        <p:spPr>
          <a:xfrm>
            <a:off x="274320" y="731520"/>
            <a:ext cx="411480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29"/>
          <p:cNvSpPr/>
          <p:nvPr/>
        </p:nvSpPr>
        <p:spPr>
          <a:xfrm>
            <a:off x="274320" y="731520"/>
            <a:ext cx="54864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29"/>
          <p:cNvSpPr/>
          <p:nvPr/>
        </p:nvSpPr>
        <p:spPr>
          <a:xfrm>
            <a:off x="438912" y="78638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✅ MCL Strengths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29"/>
          <p:cNvSpPr/>
          <p:nvPr/>
        </p:nvSpPr>
        <p:spPr>
          <a:xfrm>
            <a:off x="438912" y="1078992"/>
            <a:ext cx="384048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Handles multi-modal beliefs (global loc!)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Handles kidnapped robot (with random injection)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Non-parametric: any distribution shape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Computationally scalable (adjust N particles)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Works with any sensor model from MOD-04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Standard in ROS: AMCL package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9"/>
          <p:cNvSpPr/>
          <p:nvPr/>
        </p:nvSpPr>
        <p:spPr>
          <a:xfrm>
            <a:off x="4663440" y="731520"/>
            <a:ext cx="420624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29"/>
          <p:cNvSpPr/>
          <p:nvPr/>
        </p:nvSpPr>
        <p:spPr>
          <a:xfrm>
            <a:off x="4663440" y="731520"/>
            <a:ext cx="54864" cy="20116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29"/>
          <p:cNvSpPr/>
          <p:nvPr/>
        </p:nvSpPr>
        <p:spPr>
          <a:xfrm>
            <a:off x="4828032" y="78638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❌ MCL Limitations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9"/>
          <p:cNvSpPr/>
          <p:nvPr/>
        </p:nvSpPr>
        <p:spPr>
          <a:xfrm>
            <a:off x="4828032" y="1078992"/>
            <a:ext cx="39319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More particles = better but slower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Particle deprivation in high-dimensional spaces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Resampling can lose diversity (particle starvation)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Not as smooth as EKF for position tracking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Needs a good sensor model to weight correctly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Not suitable for very high-speed applications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2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29"/>
          <p:cNvSpPr/>
          <p:nvPr/>
        </p:nvSpPr>
        <p:spPr>
          <a:xfrm>
            <a:off x="457200" y="3035808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9"/>
          <p:cNvSpPr/>
          <p:nvPr/>
        </p:nvSpPr>
        <p:spPr>
          <a:xfrm>
            <a:off x="960120" y="3035808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OPERATE: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In practice: use AMCL for global localization, switch to EKF for smooth tracking once converged. Many systems run BOTH.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30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F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30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Algorithm Comparison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0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Which algorithm for which problem?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3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31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EKF vs. Histogram vs. MCL — Head to Head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31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3" name="Google Shape;623;p31"/>
          <p:cNvGraphicFramePr/>
          <p:nvPr/>
        </p:nvGraphicFramePr>
        <p:xfrm>
          <a:off x="182880" y="731520"/>
          <a:ext cx="8778250" cy="2468970"/>
        </p:xfrm>
        <a:graphic>
          <a:graphicData uri="http://schemas.openxmlformats.org/drawingml/2006/table">
            <a:tbl>
              <a:tblPr>
                <a:noFill/>
                <a:tableStyleId>{B680D95F-EAE4-4BAD-A3B2-722E57685CAC}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Property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EKF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Histogram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MCL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Belief type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Single Gaussian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Discrete grid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Particle set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Multi-modal?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F444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EF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localization?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F444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EF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Kidnapped recovery?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F4444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EF444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59E0B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F59E0B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 (slow)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 (fast)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Computational cost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O(n²) — fast!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O(cells) — exponential in dim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O(N×K) — tunable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Smoothness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0B98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10B98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Very smooth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Quantized (grid)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Noisy (sampling)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Implementation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Medium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Easy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Medium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ROS package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robot_localization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AMCL (Nav2)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3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32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Decision Flowchart: Which Algorithm to Use?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3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2"/>
          <p:cNvSpPr/>
          <p:nvPr/>
        </p:nvSpPr>
        <p:spPr>
          <a:xfrm>
            <a:off x="3200400" y="731520"/>
            <a:ext cx="2743200" cy="6400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32"/>
          <p:cNvSpPr/>
          <p:nvPr/>
        </p:nvSpPr>
        <p:spPr>
          <a:xfrm>
            <a:off x="3200400" y="7772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Localization needed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4" name="Google Shape;634;p32"/>
          <p:cNvCxnSpPr/>
          <p:nvPr/>
        </p:nvCxnSpPr>
        <p:spPr>
          <a:xfrm>
            <a:off x="4572000" y="1371600"/>
            <a:ext cx="0" cy="274320"/>
          </a:xfrm>
          <a:prstGeom prst="straightConnector1">
            <a:avLst/>
          </a:prstGeom>
          <a:noFill/>
          <a:ln w="25400" cap="flat" cmpd="sng">
            <a:solidFill>
              <a:srgbClr val="1F293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5" name="Google Shape;635;p32"/>
          <p:cNvSpPr/>
          <p:nvPr/>
        </p:nvSpPr>
        <p:spPr>
          <a:xfrm>
            <a:off x="2743200" y="1645920"/>
            <a:ext cx="3657600" cy="54864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32"/>
          <p:cNvSpPr/>
          <p:nvPr/>
        </p:nvSpPr>
        <p:spPr>
          <a:xfrm>
            <a:off x="2743200" y="169164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Do you know the starting position?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7" name="Google Shape;637;p32"/>
          <p:cNvCxnSpPr/>
          <p:nvPr/>
        </p:nvCxnSpPr>
        <p:spPr>
          <a:xfrm rot="10800000">
            <a:off x="1371600" y="1920240"/>
            <a:ext cx="1371600" cy="0"/>
          </a:xfrm>
          <a:prstGeom prst="straightConnector1">
            <a:avLst/>
          </a:prstGeom>
          <a:noFill/>
          <a:ln w="25400" cap="flat" cmpd="sng">
            <a:solidFill>
              <a:srgbClr val="10B98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8" name="Google Shape;638;p32"/>
          <p:cNvSpPr/>
          <p:nvPr/>
        </p:nvSpPr>
        <p:spPr>
          <a:xfrm>
            <a:off x="771105" y="1783093"/>
            <a:ext cx="640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YES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2"/>
          <p:cNvSpPr/>
          <p:nvPr/>
        </p:nvSpPr>
        <p:spPr>
          <a:xfrm>
            <a:off x="274320" y="2286000"/>
            <a:ext cx="219456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0" name="Google Shape;640;p32"/>
          <p:cNvSpPr/>
          <p:nvPr/>
        </p:nvSpPr>
        <p:spPr>
          <a:xfrm>
            <a:off x="274320" y="23774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EKF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(position tracking)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1" name="Google Shape;641;p32"/>
          <p:cNvCxnSpPr/>
          <p:nvPr/>
        </p:nvCxnSpPr>
        <p:spPr>
          <a:xfrm>
            <a:off x="6400800" y="1920240"/>
            <a:ext cx="1371600" cy="0"/>
          </a:xfrm>
          <a:prstGeom prst="straightConnector1">
            <a:avLst/>
          </a:prstGeom>
          <a:noFill/>
          <a:ln w="25400" cap="flat" cmpd="sng">
            <a:solidFill>
              <a:srgbClr val="EF444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32"/>
          <p:cNvSpPr/>
          <p:nvPr/>
        </p:nvSpPr>
        <p:spPr>
          <a:xfrm>
            <a:off x="7882780" y="1760218"/>
            <a:ext cx="457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32"/>
          <p:cNvSpPr/>
          <p:nvPr/>
        </p:nvSpPr>
        <p:spPr>
          <a:xfrm>
            <a:off x="6400800" y="2286000"/>
            <a:ext cx="2560320" cy="548640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32"/>
          <p:cNvSpPr/>
          <p:nvPr/>
        </p:nvSpPr>
        <p:spPr>
          <a:xfrm>
            <a:off x="6400800" y="233172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Real-time needed?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45" name="Google Shape;645;p32"/>
          <p:cNvCxnSpPr/>
          <p:nvPr/>
        </p:nvCxnSpPr>
        <p:spPr>
          <a:xfrm>
            <a:off x="7680960" y="2834640"/>
            <a:ext cx="0" cy="274320"/>
          </a:xfrm>
          <a:prstGeom prst="straightConnector1">
            <a:avLst/>
          </a:prstGeom>
          <a:noFill/>
          <a:ln w="25400" cap="flat" cmpd="sng">
            <a:solidFill>
              <a:srgbClr val="8B5CF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6" name="Google Shape;646;p32"/>
          <p:cNvSpPr/>
          <p:nvPr/>
        </p:nvSpPr>
        <p:spPr>
          <a:xfrm>
            <a:off x="6400800" y="3108960"/>
            <a:ext cx="2560320" cy="914400"/>
          </a:xfrm>
          <a:prstGeom prst="rect">
            <a:avLst/>
          </a:prstGeom>
          <a:solidFill>
            <a:srgbClr val="8B5CF6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32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MCL / AMCL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(global + kidnapped)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32"/>
          <p:cNvSpPr/>
          <p:nvPr/>
        </p:nvSpPr>
        <p:spPr>
          <a:xfrm>
            <a:off x="274320" y="3474720"/>
            <a:ext cx="5029200" cy="914400"/>
          </a:xfrm>
          <a:prstGeom prst="rect">
            <a:avLst/>
          </a:prstGeom>
          <a:solidFill>
            <a:srgbClr val="ECFDF5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9" name="Google Shape;649;p32"/>
          <p:cNvSpPr/>
          <p:nvPr/>
        </p:nvSpPr>
        <p:spPr>
          <a:xfrm>
            <a:off x="457200" y="3520440"/>
            <a:ext cx="466344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Best practice: Use BOTH!</a:t>
            </a:r>
            <a:br>
              <a:rPr lang="en-US" sz="13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</a:b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AMCL for initial global localization.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Once converged → switch to EKF for smooth tracking.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4C81"/>
        </a:solidFill>
        <a:effectLst/>
      </p:bgPr>
    </p:bg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33"/>
          <p:cNvSpPr/>
          <p:nvPr/>
        </p:nvSpPr>
        <p:spPr>
          <a:xfrm>
            <a:off x="548640" y="914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59E0B"/>
                </a:solidFill>
                <a:latin typeface="Arial"/>
                <a:ea typeface="Arial"/>
                <a:cs typeface="Arial"/>
                <a:sym typeface="Arial"/>
              </a:rPr>
              <a:t>BLOCK 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3"/>
          <p:cNvSpPr/>
          <p:nvPr/>
        </p:nvSpPr>
        <p:spPr>
          <a:xfrm>
            <a:off x="548640" y="1371600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Arial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AMCL in ROS 2 / Nav2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33"/>
          <p:cNvSpPr/>
          <p:nvPr/>
        </p:nvSpPr>
        <p:spPr>
          <a:xfrm>
            <a:off x="54864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0C4DE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B0C4DE"/>
                </a:solidFill>
                <a:latin typeface="Arial"/>
                <a:ea typeface="Arial"/>
                <a:cs typeface="Arial"/>
                <a:sym typeface="Arial"/>
              </a:rPr>
              <a:t>From theory to practice: running localization on a real robot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34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34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Is AMCL? (Adaptive Monte Carlo Localization)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34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34"/>
          <p:cNvSpPr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AMCL = the standard localization algorithm in ROS 2 Nav2 stack.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34"/>
          <p:cNvSpPr/>
          <p:nvPr/>
        </p:nvSpPr>
        <p:spPr>
          <a:xfrm>
            <a:off x="274325" y="1051549"/>
            <a:ext cx="4114800" cy="1960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p34"/>
          <p:cNvSpPr/>
          <p:nvPr/>
        </p:nvSpPr>
        <p:spPr>
          <a:xfrm>
            <a:off x="274320" y="1051560"/>
            <a:ext cx="54864" cy="1828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34"/>
          <p:cNvSpPr/>
          <p:nvPr/>
        </p:nvSpPr>
        <p:spPr>
          <a:xfrm>
            <a:off x="438912" y="1106424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What AMCL adds to basic MCL: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4"/>
          <p:cNvSpPr/>
          <p:nvPr/>
        </p:nvSpPr>
        <p:spPr>
          <a:xfrm>
            <a:off x="438912" y="1399032"/>
            <a:ext cx="384048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1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ADAPTIVE</a:t>
            </a: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particle count: more particles when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uncertain, fewer when confident → saves CPU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1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KLD-sampling</a:t>
            </a: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: auto-tunes particle count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Random particle injection: recovers from kidnap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Laser scan matching: uses likelihood field model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Runs as a Nav2 lifecycle node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34"/>
          <p:cNvSpPr/>
          <p:nvPr/>
        </p:nvSpPr>
        <p:spPr>
          <a:xfrm>
            <a:off x="4663450" y="1051549"/>
            <a:ext cx="4206300" cy="1960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34"/>
          <p:cNvSpPr/>
          <p:nvPr/>
        </p:nvSpPr>
        <p:spPr>
          <a:xfrm>
            <a:off x="4663440" y="1051560"/>
            <a:ext cx="54864" cy="1828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34"/>
          <p:cNvSpPr/>
          <p:nvPr/>
        </p:nvSpPr>
        <p:spPr>
          <a:xfrm>
            <a:off x="4828032" y="11064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Inputs and outputs: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34"/>
          <p:cNvSpPr/>
          <p:nvPr/>
        </p:nvSpPr>
        <p:spPr>
          <a:xfrm>
            <a:off x="4828032" y="1399032"/>
            <a:ext cx="3931920" cy="14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INPUTS: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/scan (sensor_msgs/LaserScan) — LiDAR data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/map (nav_msgs/OccupancyGrid) — pre-built map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/tf (odom → base_link) — odometry transform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OUTPUTS: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/tf (map → odom) — global pose correction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  /amcl_pose — estimated pose with covariance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34"/>
          <p:cNvSpPr/>
          <p:nvPr/>
        </p:nvSpPr>
        <p:spPr>
          <a:xfrm>
            <a:off x="274320" y="3108960"/>
            <a:ext cx="85953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34"/>
          <p:cNvSpPr/>
          <p:nvPr/>
        </p:nvSpPr>
        <p:spPr>
          <a:xfrm>
            <a:off x="457200" y="31546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TF Tree (how frames connect):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34"/>
          <p:cNvSpPr/>
          <p:nvPr/>
        </p:nvSpPr>
        <p:spPr>
          <a:xfrm>
            <a:off x="914400" y="3566160"/>
            <a:ext cx="164592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34"/>
          <p:cNvSpPr/>
          <p:nvPr/>
        </p:nvSpPr>
        <p:spPr>
          <a:xfrm>
            <a:off x="914400" y="36118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map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34"/>
          <p:cNvSpPr/>
          <p:nvPr/>
        </p:nvSpPr>
        <p:spPr>
          <a:xfrm>
            <a:off x="914400" y="4069080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AMCL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4"/>
          <p:cNvSpPr/>
          <p:nvPr/>
        </p:nvSpPr>
        <p:spPr>
          <a:xfrm>
            <a:off x="2560320" y="361188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34"/>
          <p:cNvSpPr/>
          <p:nvPr/>
        </p:nvSpPr>
        <p:spPr>
          <a:xfrm>
            <a:off x="3200400" y="3566160"/>
            <a:ext cx="164592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p34"/>
          <p:cNvSpPr/>
          <p:nvPr/>
        </p:nvSpPr>
        <p:spPr>
          <a:xfrm>
            <a:off x="3200400" y="36118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odom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4"/>
          <p:cNvSpPr/>
          <p:nvPr/>
        </p:nvSpPr>
        <p:spPr>
          <a:xfrm>
            <a:off x="3200400" y="4069080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robot_localization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4"/>
          <p:cNvSpPr/>
          <p:nvPr/>
        </p:nvSpPr>
        <p:spPr>
          <a:xfrm>
            <a:off x="4846320" y="361188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34"/>
          <p:cNvSpPr/>
          <p:nvPr/>
        </p:nvSpPr>
        <p:spPr>
          <a:xfrm>
            <a:off x="5943600" y="3566160"/>
            <a:ext cx="16459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34"/>
          <p:cNvSpPr/>
          <p:nvPr/>
        </p:nvSpPr>
        <p:spPr>
          <a:xfrm>
            <a:off x="5943600" y="36118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base_link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4"/>
          <p:cNvSpPr/>
          <p:nvPr/>
        </p:nvSpPr>
        <p:spPr>
          <a:xfrm>
            <a:off x="5943600" y="4069080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robot_state_pub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727249-C54A-42E4-BF11-5C2D4D0D36D8}"/>
              </a:ext>
            </a:extLst>
          </p:cNvPr>
          <p:cNvSpPr txBox="1"/>
          <p:nvPr/>
        </p:nvSpPr>
        <p:spPr>
          <a:xfrm>
            <a:off x="0" y="4824808"/>
            <a:ext cx="84304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KLD sampling, </a:t>
            </a:r>
            <a:r>
              <a:rPr lang="en-US" sz="800" dirty="0" err="1"/>
              <a:t>Kullback-Leibler</a:t>
            </a:r>
            <a:r>
              <a:rPr lang="en-US" sz="800" dirty="0"/>
              <a:t> Divergence sampling, is a method used in particle filters to optimize the number of particles needed for effective state estimation in dynamic systems. Based on the concentration of the probability density function.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3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7" name="Google Shape;727;p37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Takeaways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7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37"/>
          <p:cNvSpPr/>
          <p:nvPr/>
        </p:nvSpPr>
        <p:spPr>
          <a:xfrm>
            <a:off x="228600" y="777240"/>
            <a:ext cx="2788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37"/>
          <p:cNvSpPr/>
          <p:nvPr/>
        </p:nvSpPr>
        <p:spPr>
          <a:xfrm>
            <a:off x="338328" y="886968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37"/>
          <p:cNvSpPr/>
          <p:nvPr/>
        </p:nvSpPr>
        <p:spPr>
          <a:xfrm>
            <a:off x="338328" y="905256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7"/>
          <p:cNvSpPr/>
          <p:nvPr/>
        </p:nvSpPr>
        <p:spPr>
          <a:xfrm>
            <a:off x="822960" y="88696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EKF = position tracking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7"/>
          <p:cNvSpPr/>
          <p:nvPr/>
        </p:nvSpPr>
        <p:spPr>
          <a:xfrm>
            <a:off x="338328" y="13716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Fast, smooth, but needs good initial guess. One Gaussian.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37"/>
          <p:cNvSpPr/>
          <p:nvPr/>
        </p:nvSpPr>
        <p:spPr>
          <a:xfrm>
            <a:off x="3154680" y="777240"/>
            <a:ext cx="2788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5" name="Google Shape;735;p37"/>
          <p:cNvSpPr/>
          <p:nvPr/>
        </p:nvSpPr>
        <p:spPr>
          <a:xfrm>
            <a:off x="3264408" y="886968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37"/>
          <p:cNvSpPr/>
          <p:nvPr/>
        </p:nvSpPr>
        <p:spPr>
          <a:xfrm>
            <a:off x="3264408" y="905256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7"/>
          <p:cNvSpPr/>
          <p:nvPr/>
        </p:nvSpPr>
        <p:spPr>
          <a:xfrm>
            <a:off x="3749040" y="88696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Histogram = exact Bayes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7"/>
          <p:cNvSpPr/>
          <p:nvPr/>
        </p:nvSpPr>
        <p:spPr>
          <a:xfrm>
            <a:off x="3264408" y="13716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Multi-modal but exponential in dimensions. Impractical for 3D.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37"/>
          <p:cNvSpPr/>
          <p:nvPr/>
        </p:nvSpPr>
        <p:spPr>
          <a:xfrm>
            <a:off x="6080760" y="777240"/>
            <a:ext cx="2788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p37"/>
          <p:cNvSpPr/>
          <p:nvPr/>
        </p:nvSpPr>
        <p:spPr>
          <a:xfrm>
            <a:off x="6190488" y="886968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1" name="Google Shape;741;p37"/>
          <p:cNvSpPr/>
          <p:nvPr/>
        </p:nvSpPr>
        <p:spPr>
          <a:xfrm>
            <a:off x="6190488" y="905256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7"/>
          <p:cNvSpPr/>
          <p:nvPr/>
        </p:nvSpPr>
        <p:spPr>
          <a:xfrm>
            <a:off x="6675120" y="88696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MCL = the workhorse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7"/>
          <p:cNvSpPr/>
          <p:nvPr/>
        </p:nvSpPr>
        <p:spPr>
          <a:xfrm>
            <a:off x="6190488" y="137160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Handles global loc + kidnap. Tunable particles. Used in ROS.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7"/>
          <p:cNvSpPr/>
          <p:nvPr/>
        </p:nvSpPr>
        <p:spPr>
          <a:xfrm>
            <a:off x="228600" y="2468880"/>
            <a:ext cx="2788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37"/>
          <p:cNvSpPr/>
          <p:nvPr/>
        </p:nvSpPr>
        <p:spPr>
          <a:xfrm>
            <a:off x="338328" y="2578608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37"/>
          <p:cNvSpPr/>
          <p:nvPr/>
        </p:nvSpPr>
        <p:spPr>
          <a:xfrm>
            <a:off x="338328" y="2596896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7"/>
          <p:cNvSpPr/>
          <p:nvPr/>
        </p:nvSpPr>
        <p:spPr>
          <a:xfrm>
            <a:off x="822960" y="257860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Linearization = key EKF trick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7"/>
          <p:cNvSpPr/>
          <p:nvPr/>
        </p:nvSpPr>
        <p:spPr>
          <a:xfrm>
            <a:off x="338328" y="30632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Replace A with Jacobian F(x). Same idea from MOD-04.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7"/>
          <p:cNvSpPr/>
          <p:nvPr/>
        </p:nvSpPr>
        <p:spPr>
          <a:xfrm>
            <a:off x="3154680" y="2468880"/>
            <a:ext cx="2788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37"/>
          <p:cNvSpPr/>
          <p:nvPr/>
        </p:nvSpPr>
        <p:spPr>
          <a:xfrm>
            <a:off x="3264408" y="2578608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37"/>
          <p:cNvSpPr/>
          <p:nvPr/>
        </p:nvSpPr>
        <p:spPr>
          <a:xfrm>
            <a:off x="3264408" y="2596896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7"/>
          <p:cNvSpPr/>
          <p:nvPr/>
        </p:nvSpPr>
        <p:spPr>
          <a:xfrm>
            <a:off x="3749040" y="257860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Use both in practice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7"/>
          <p:cNvSpPr/>
          <p:nvPr/>
        </p:nvSpPr>
        <p:spPr>
          <a:xfrm>
            <a:off x="3264408" y="30632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AMCL for initial localization, EKF for smooth tracking.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37"/>
          <p:cNvSpPr/>
          <p:nvPr/>
        </p:nvSpPr>
        <p:spPr>
          <a:xfrm>
            <a:off x="6080760" y="2468880"/>
            <a:ext cx="278892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5" name="Google Shape;755;p37"/>
          <p:cNvSpPr/>
          <p:nvPr/>
        </p:nvSpPr>
        <p:spPr>
          <a:xfrm>
            <a:off x="6190488" y="2578608"/>
            <a:ext cx="411480" cy="411480"/>
          </a:xfrm>
          <a:prstGeom prst="ellipse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6" name="Google Shape;756;p37"/>
          <p:cNvSpPr/>
          <p:nvPr/>
        </p:nvSpPr>
        <p:spPr>
          <a:xfrm>
            <a:off x="6190488" y="2596896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37"/>
          <p:cNvSpPr/>
          <p:nvPr/>
        </p:nvSpPr>
        <p:spPr>
          <a:xfrm>
            <a:off x="6675120" y="257860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Theory → ROS → Robot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7"/>
          <p:cNvSpPr/>
          <p:nvPr/>
        </p:nvSpPr>
        <p:spPr>
          <a:xfrm>
            <a:off x="6190488" y="3063240"/>
            <a:ext cx="25603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MOD-04 noise → MOD-05 Bayes → MOD-06 algorithms → AMCL.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p3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5" name="Google Shape;765;p38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Bridge to MOD-07: Perception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8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38"/>
          <p:cNvSpPr/>
          <p:nvPr/>
        </p:nvSpPr>
        <p:spPr>
          <a:xfrm>
            <a:off x="274320" y="731520"/>
            <a:ext cx="8595360" cy="16459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38"/>
          <p:cNvSpPr/>
          <p:nvPr/>
        </p:nvSpPr>
        <p:spPr>
          <a:xfrm>
            <a:off x="274320" y="731520"/>
            <a:ext cx="54864" cy="1645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p38"/>
          <p:cNvSpPr/>
          <p:nvPr/>
        </p:nvSpPr>
        <p:spPr>
          <a:xfrm>
            <a:off x="438912" y="786384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What MOD-06 assumed → What MOD-07 will provide: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8"/>
          <p:cNvSpPr/>
          <p:nvPr/>
        </p:nvSpPr>
        <p:spPr>
          <a:xfrm>
            <a:off x="438912" y="1078992"/>
            <a:ext cx="832104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MOD-06 assumed: "We can detect landmarks" — but HOW? That's perception (MOD-07).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MOD-06 assumed: "We know which landmark is which" — but HOW? That's data association (MOD-07/08).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MOD-06 assumed: "We have a map" — but HOW do we build one? That's SLAM (MOD-08).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266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Char char="•"/>
            </a:pPr>
            <a:r>
              <a:rPr lang="en-US" sz="1200" b="0" i="0" u="none" strike="noStrike" cap="none" dirty="0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MOD-07 (Perception) fills the gap: raw sensor data → detected objects → identified landmarks → fed to localization.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38"/>
          <p:cNvSpPr/>
          <p:nvPr/>
        </p:nvSpPr>
        <p:spPr>
          <a:xfrm>
            <a:off x="274320" y="2651760"/>
            <a:ext cx="8595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38"/>
          <p:cNvSpPr/>
          <p:nvPr/>
        </p:nvSpPr>
        <p:spPr>
          <a:xfrm>
            <a:off x="457200" y="269748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The autonomy pipeline so far: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8"/>
          <p:cNvSpPr/>
          <p:nvPr/>
        </p:nvSpPr>
        <p:spPr>
          <a:xfrm>
            <a:off x="320040" y="3063240"/>
            <a:ext cx="109728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38"/>
          <p:cNvSpPr/>
          <p:nvPr/>
        </p:nvSpPr>
        <p:spPr>
          <a:xfrm>
            <a:off x="320040" y="31089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(MOD-04)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8"/>
          <p:cNvSpPr/>
          <p:nvPr/>
        </p:nvSpPr>
        <p:spPr>
          <a:xfrm>
            <a:off x="1417320" y="3200400"/>
            <a:ext cx="1371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8"/>
          <p:cNvSpPr/>
          <p:nvPr/>
        </p:nvSpPr>
        <p:spPr>
          <a:xfrm>
            <a:off x="1536192" y="3063240"/>
            <a:ext cx="109728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7" name="Google Shape;777;p38"/>
          <p:cNvSpPr/>
          <p:nvPr/>
        </p:nvSpPr>
        <p:spPr>
          <a:xfrm>
            <a:off x="1536192" y="31089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Probability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(MOD-05)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8"/>
          <p:cNvSpPr/>
          <p:nvPr/>
        </p:nvSpPr>
        <p:spPr>
          <a:xfrm>
            <a:off x="2633472" y="3200400"/>
            <a:ext cx="1371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8"/>
          <p:cNvSpPr/>
          <p:nvPr/>
        </p:nvSpPr>
        <p:spPr>
          <a:xfrm>
            <a:off x="2752344" y="3063240"/>
            <a:ext cx="109728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0" name="Google Shape;780;p38"/>
          <p:cNvSpPr/>
          <p:nvPr/>
        </p:nvSpPr>
        <p:spPr>
          <a:xfrm>
            <a:off x="2752344" y="31089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Localization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(MOD-06)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38"/>
          <p:cNvSpPr/>
          <p:nvPr/>
        </p:nvSpPr>
        <p:spPr>
          <a:xfrm>
            <a:off x="3849624" y="3200400"/>
            <a:ext cx="1371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38"/>
          <p:cNvSpPr/>
          <p:nvPr/>
        </p:nvSpPr>
        <p:spPr>
          <a:xfrm>
            <a:off x="3968496" y="3063240"/>
            <a:ext cx="1097280" cy="7315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38"/>
          <p:cNvSpPr/>
          <p:nvPr/>
        </p:nvSpPr>
        <p:spPr>
          <a:xfrm>
            <a:off x="3968496" y="31089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Perception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(MOD-07)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8"/>
          <p:cNvSpPr/>
          <p:nvPr/>
        </p:nvSpPr>
        <p:spPr>
          <a:xfrm>
            <a:off x="5065776" y="3200400"/>
            <a:ext cx="1371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38"/>
          <p:cNvSpPr/>
          <p:nvPr/>
        </p:nvSpPr>
        <p:spPr>
          <a:xfrm>
            <a:off x="6501386" y="3072234"/>
            <a:ext cx="1097280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38"/>
          <p:cNvSpPr/>
          <p:nvPr/>
        </p:nvSpPr>
        <p:spPr>
          <a:xfrm>
            <a:off x="6501386" y="3117954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Planning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(MOD-09)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8"/>
          <p:cNvSpPr/>
          <p:nvPr/>
        </p:nvSpPr>
        <p:spPr>
          <a:xfrm>
            <a:off x="7598666" y="3209394"/>
            <a:ext cx="1371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38"/>
          <p:cNvSpPr/>
          <p:nvPr/>
        </p:nvSpPr>
        <p:spPr>
          <a:xfrm>
            <a:off x="5294378" y="3063240"/>
            <a:ext cx="1097280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9" name="Google Shape;789;p38"/>
          <p:cNvSpPr/>
          <p:nvPr/>
        </p:nvSpPr>
        <p:spPr>
          <a:xfrm>
            <a:off x="5294378" y="3108960"/>
            <a:ext cx="10972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SLAM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lang="en-US" sz="9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(MOD-08)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39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39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References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39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39"/>
          <p:cNvSpPr/>
          <p:nvPr/>
        </p:nvSpPr>
        <p:spPr>
          <a:xfrm>
            <a:off x="365760" y="777240"/>
            <a:ext cx="841248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1. Thrun, Burgard &amp; Fox (2005). Probabilistic Robotics. MIT Press. Ch. 7–8.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2. Dellaert, F. et al. (1999). Monte Carlo Localization for Mobile Robots. ICRA.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3. Fox, D. et al. (2001). KLD-Sampling: Adaptive Particle Filters. NIPS.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4. Thrun, S. (2002). Particle Filters in Robotics. UAI.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5. robot_localization ROS package: github.com/cra-ros-pkg/robot_localization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6. Nav2 AMCL documentation: docs.nav2.org/configuration/packages/configuring-amcl.html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7. Siegwart, Nourbakhsh &amp; Scaramuzza (2011). Intro to Autonomous Mobile Robots. Ch. 5.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Next: MOD-07 — Robot Perception (perception pipeline, visual odometry, object detection)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40"/>
          <p:cNvSpPr/>
          <p:nvPr/>
        </p:nvSpPr>
        <p:spPr>
          <a:xfrm>
            <a:off x="6400800" y="-1371600"/>
            <a:ext cx="4572000" cy="4572000"/>
          </a:xfrm>
          <a:prstGeom prst="ellipse">
            <a:avLst/>
          </a:prstGeom>
          <a:solidFill>
            <a:srgbClr val="0F3045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40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1A104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40"/>
          <p:cNvSpPr/>
          <p:nvPr/>
        </p:nvSpPr>
        <p:spPr>
          <a:xfrm>
            <a:off x="3200400" y="914400"/>
            <a:ext cx="27432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0"/>
              <a:buFont typeface="Arial"/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0F2F5"/>
        </a:solidFill>
        <a:effectLst/>
      </p:bgPr>
    </p:bg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35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35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Key AMCL Parameters You Must Configure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35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6" name="Google Shape;696;p35"/>
          <p:cNvGraphicFramePr/>
          <p:nvPr/>
        </p:nvGraphicFramePr>
        <p:xfrm>
          <a:off x="182880" y="731520"/>
          <a:ext cx="8778225" cy="2651850"/>
        </p:xfrm>
        <a:graphic>
          <a:graphicData uri="http://schemas.openxmlformats.org/drawingml/2006/table">
            <a:tbl>
              <a:tblPr>
                <a:noFill/>
                <a:tableStyleId>{B680D95F-EAE4-4BAD-A3B2-722E57685CAC}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Parameter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Default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Meaning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Tune when...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4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min_particles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Minimum number of particles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Robot is always confident → lower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max_particles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2000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Maximum when uncertain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Large map → increase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laser_model_type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likelihood_field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How scan matches map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Almost always use likelihood_field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odom_model_type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diff-corrected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Odometry noise model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Match your robot type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recovery_alpha_slow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0.001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Slow average weight filter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Higher → faster kidnap detection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recovery_alpha_fast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0.1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Fast average weight filter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Higher → more random particles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update_min_d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0.25 m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move before update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Lower → more updates, more CPU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update_min_a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0.2 rad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rotation before update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Lower → updates on small turns</a:t>
                      </a:r>
                      <a:endParaRPr sz="1200" u="none" strike="noStrike" cap="non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97" name="Google Shape;697;p35"/>
          <p:cNvSpPr/>
          <p:nvPr/>
        </p:nvSpPr>
        <p:spPr>
          <a:xfrm>
            <a:off x="274320" y="3840480"/>
            <a:ext cx="85953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4C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F4C81"/>
                </a:solidFill>
                <a:latin typeface="Arial"/>
                <a:ea typeface="Arial"/>
                <a:cs typeface="Arial"/>
                <a:sym typeface="Arial"/>
              </a:rPr>
              <a:t>These parameters directly connect to MOD-04 (sensor noise) and MOD-05 (Bayes filter). Theory → practice!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0F2F5"/>
        </a:solidFill>
        <a:effectLst/>
      </p:bgPr>
    </p:bg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36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4C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36"/>
          <p:cNvSpPr/>
          <p:nvPr/>
        </p:nvSpPr>
        <p:spPr>
          <a:xfrm>
            <a:off x="365760" y="18288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AMCL: What You Implement in the Lab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36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36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36"/>
          <p:cNvSpPr/>
          <p:nvPr/>
        </p:nvSpPr>
        <p:spPr>
          <a:xfrm>
            <a:off x="365760" y="77724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36"/>
          <p:cNvSpPr/>
          <p:nvPr/>
        </p:nvSpPr>
        <p:spPr>
          <a:xfrm>
            <a:off x="365760" y="795528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36"/>
          <p:cNvSpPr/>
          <p:nvPr/>
        </p:nvSpPr>
        <p:spPr>
          <a:xfrm>
            <a:off x="868680" y="795528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3B82F6"/>
                </a:solidFill>
                <a:latin typeface="Arial"/>
                <a:ea typeface="Arial"/>
                <a:cs typeface="Arial"/>
                <a:sym typeface="Arial"/>
              </a:rPr>
              <a:t>CONCEIVE: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Understand: AMCL = MCL + adaptive particles + random injection for kidnap recovery.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6"/>
          <p:cNvSpPr/>
          <p:nvPr/>
        </p:nvSpPr>
        <p:spPr>
          <a:xfrm>
            <a:off x="365760" y="1234440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36"/>
          <p:cNvSpPr/>
          <p:nvPr/>
        </p:nvSpPr>
        <p:spPr>
          <a:xfrm>
            <a:off x="365760" y="1252728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6"/>
          <p:cNvSpPr/>
          <p:nvPr/>
        </p:nvSpPr>
        <p:spPr>
          <a:xfrm>
            <a:off x="868680" y="1252728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B5CF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8B5CF6"/>
                </a:solidFill>
                <a:latin typeface="Arial"/>
                <a:ea typeface="Arial"/>
                <a:cs typeface="Arial"/>
                <a:sym typeface="Arial"/>
              </a:rPr>
              <a:t>DESIGN: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Choose parameters: min/max particles, laser model, odom model based on YOUR robot's sensors (MOD-04 noise values).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36"/>
          <p:cNvSpPr/>
          <p:nvPr/>
        </p:nvSpPr>
        <p:spPr>
          <a:xfrm>
            <a:off x="365760" y="169164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36"/>
          <p:cNvSpPr/>
          <p:nvPr/>
        </p:nvSpPr>
        <p:spPr>
          <a:xfrm>
            <a:off x="365760" y="1709928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36"/>
          <p:cNvSpPr/>
          <p:nvPr/>
        </p:nvSpPr>
        <p:spPr>
          <a:xfrm>
            <a:off x="868680" y="1709928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IMPLEMENT: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Configure AMCL YAML file, set up TF tree (map→odom→base_link), launch with Nav2.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36"/>
          <p:cNvSpPr/>
          <p:nvPr/>
        </p:nvSpPr>
        <p:spPr>
          <a:xfrm>
            <a:off x="365760" y="2148840"/>
            <a:ext cx="411480" cy="4114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36"/>
          <p:cNvSpPr/>
          <p:nvPr/>
        </p:nvSpPr>
        <p:spPr>
          <a:xfrm>
            <a:off x="365760" y="2167128"/>
            <a:ext cx="411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36"/>
          <p:cNvSpPr/>
          <p:nvPr/>
        </p:nvSpPr>
        <p:spPr>
          <a:xfrm>
            <a:off x="868680" y="2167128"/>
            <a:ext cx="7680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OPERATE: </a:t>
            </a:r>
            <a:r>
              <a:rPr lang="en-US" sz="1200" b="0" i="0" u="none" strike="noStrike" cap="none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Test: place robot in known position → verify AMCL converges. Then try 'kidnap' test → verify recovery.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6"/>
          <p:cNvSpPr/>
          <p:nvPr/>
        </p:nvSpPr>
        <p:spPr>
          <a:xfrm>
            <a:off x="274325" y="2615200"/>
            <a:ext cx="8595300" cy="2197200"/>
          </a:xfrm>
          <a:prstGeom prst="rect">
            <a:avLst/>
          </a:prstGeom>
          <a:solidFill>
            <a:srgbClr val="EBF5FF"/>
          </a:solidFill>
          <a:ln>
            <a:noFill/>
          </a:ln>
          <a:effectLst>
            <a:outerShdw blurRad="50800" dist="25400" dir="8100000" algn="bl" rotWithShape="0">
              <a:srgbClr val="000000">
                <a:alpha val="1215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36"/>
          <p:cNvSpPr/>
          <p:nvPr/>
        </p:nvSpPr>
        <p:spPr>
          <a:xfrm>
            <a:off x="457200" y="27889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Launch commands: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6"/>
          <p:cNvSpPr/>
          <p:nvPr/>
        </p:nvSpPr>
        <p:spPr>
          <a:xfrm>
            <a:off x="457200" y="310896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# Launch AMCL with your map:</a:t>
            </a:r>
            <a:b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ros2 launch nav2_bringup localization_launch.py map:=/path/to/</a:t>
            </a:r>
            <a:r>
              <a:rPr lang="en-US" sz="1200" b="1" i="0" u="none" strike="noStrike" cap="none" dirty="0" err="1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map.yaml</a:t>
            </a:r>
            <a:b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Arial"/>
              <a:buNone/>
            </a:pPr>
            <a: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  <a:t># Verify topics:</a:t>
            </a:r>
            <a:br>
              <a:rPr lang="en-US" sz="1200" b="0" i="0" u="none" strike="noStrike" cap="none" dirty="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ros2 topic echo /</a:t>
            </a:r>
            <a:r>
              <a:rPr lang="en-US" sz="1200" b="1" i="0" u="none" strike="noStrike" cap="none" dirty="0" err="1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amcl_pose</a:t>
            </a:r>
            <a: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    # Check pose estimate</a:t>
            </a:r>
            <a:b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</a:b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ros2 run tf2_tools </a:t>
            </a:r>
            <a:r>
              <a:rPr lang="en-US" sz="1200" b="1" i="0" u="none" strike="noStrike" cap="none" dirty="0" err="1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view_frames</a:t>
            </a:r>
            <a:r>
              <a:rPr lang="en-US" sz="1200" b="1" i="0" u="none" strike="noStrike" cap="none" dirty="0">
                <a:solidFill>
                  <a:srgbClr val="1E3A5F"/>
                </a:solidFill>
                <a:latin typeface="Arial"/>
                <a:ea typeface="Arial"/>
                <a:cs typeface="Arial"/>
                <a:sym typeface="Arial"/>
              </a:rPr>
              <a:t>  # Verify TF tree is complete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4939</Words>
  <Application>Microsoft Office PowerPoint</Application>
  <PresentationFormat>On-screen Show (16:9)</PresentationFormat>
  <Paragraphs>745</Paragraphs>
  <Slides>41</Slides>
  <Notes>41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5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Ahmad Abbadi</dc:creator>
  <cp:lastModifiedBy>Ahmad Abbadi</cp:lastModifiedBy>
  <cp:revision>30</cp:revision>
  <dcterms:created xsi:type="dcterms:W3CDTF">2026-03-12T00:02:56Z</dcterms:created>
  <dcterms:modified xsi:type="dcterms:W3CDTF">2026-04-20T12:53:14Z</dcterms:modified>
</cp:coreProperties>
</file>