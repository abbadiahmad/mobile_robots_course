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730" y="6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9872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4114800" cy="4114800"/>
          </a:xfrm>
          <a:prstGeom prst="ellipse">
            <a:avLst/>
          </a:prstGeom>
          <a:solidFill>
            <a:srgbClr val="1A4A6E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2743200"/>
            <a:ext cx="3200400" cy="3200400"/>
          </a:xfrm>
          <a:prstGeom prst="ellipse">
            <a:avLst/>
          </a:prstGeom>
          <a:solidFill>
            <a:srgbClr val="3B2766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4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ROBOTS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6400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MOD-08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&amp; SLAM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3291840"/>
            <a:ext cx="365760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5661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Dr. Ahmad Abbadi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SLAM?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chicken-and-egg problem of robotics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PBL: MediBot on a NEW Floor — No Map Exists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8595360" cy="822960"/>
          </a:xfrm>
          <a:prstGeom prst="rect">
            <a:avLst/>
          </a:prstGeom>
          <a:solidFill>
            <a:srgbClr val="FFFBE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685800"/>
            <a:ext cx="54864" cy="82296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758952"/>
            <a:ext cx="8275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PBL SCENARIO: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opens Floor 4. No map exists. Localization (MOD-06) needs a map. Planning (MOD-09) needs a map. To build a map, the robot needs to know where it IS. Neither is known! This is SLAM: solve BOTH simultaneously.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691640"/>
            <a:ext cx="41148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691640"/>
            <a:ext cx="54864" cy="13716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" y="17465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Chicken-and-Egg: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8912" y="2039112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Localization needs a MAP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needs a POSE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is known!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SLAM: solve BOTH at once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691640"/>
            <a:ext cx="4206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691640"/>
            <a:ext cx="54864" cy="13716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828032" y="1746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SLAM = Simultaneous Localization And Mapping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28032" y="2039112"/>
            <a:ext cx="39319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 robot pose AND map together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prior map — build as you go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important problem in mobile robotics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solutions since ~2005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291840"/>
            <a:ext cx="8595360" cy="1244718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15"/>
              <p:cNvSpPr/>
              <p:nvPr/>
            </p:nvSpPr>
            <p:spPr>
              <a:xfrm>
                <a:off x="411480" y="3337560"/>
                <a:ext cx="8321040" cy="30723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SLAM: estimate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𝒑</m:t>
                    </m:r>
                    <m:d>
                      <m:dPr>
                        <m:endChr m:val="|"/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sSubPr>
                          <m:e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𝒙</m:t>
                            </m:r>
                          </m:e>
                          <m:sub>
                            <m:d>
                              <m:dPr>
                                <m:begChr m:val="{"/>
                                <m:endChr m:val="}"/>
                                <m:ctrlPr>
                                  <a:rPr lang="en-US" sz="1400" b="1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</m:ctrlPr>
                              </m:dPr>
                              <m:e>
                                <m:r>
                                  <a:rPr lang="en-US" sz="1400" b="1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𝟏</m:t>
                                </m:r>
                                <m:r>
                                  <a:rPr lang="en-US" sz="1400" b="1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:</m:t>
                                </m:r>
                                <m:r>
                                  <a:rPr lang="en-US" sz="1400" b="1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𝒕</m:t>
                                </m:r>
                              </m:e>
                            </m:d>
                          </m:sub>
                        </m:s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, </m:t>
                        </m:r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𝒎</m:t>
                        </m:r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 </m:t>
                        </m:r>
                      </m:e>
                    </m:d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𝒛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dPr>
                          <m:e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𝟏</m:t>
                            </m:r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:</m:t>
                            </m:r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𝒕</m:t>
                            </m:r>
                          </m:e>
                        </m:d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, </m:t>
                    </m:r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𝒖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dPr>
                          <m:e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𝟏</m:t>
                            </m:r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:</m:t>
                            </m:r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𝒕</m:t>
                            </m:r>
                          </m:e>
                        </m:d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17" name="Text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3337560"/>
                <a:ext cx="8321040" cy="307238"/>
              </a:xfrm>
              <a:prstGeom prst="rect">
                <a:avLst/>
              </a:prstGeom>
              <a:blipFill>
                <a:blip r:embed="rId3"/>
                <a:stretch>
                  <a:fillRect l="-220" t="-6000" b="-2000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 16"/>
          <p:cNvSpPr/>
          <p:nvPr/>
        </p:nvSpPr>
        <p:spPr>
          <a:xfrm>
            <a:off x="411480" y="3613709"/>
            <a:ext cx="8321040" cy="3803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Joint posterior over trajectory x AND map m, given sensors z and controls u.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Much harder than localization alone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is ALSO unknown,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uncertainties are correlated.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SLAM Taxonomy: What We Cover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5306801"/>
              </p:ext>
            </p:extLst>
          </p:nvPr>
        </p:nvGraphicFramePr>
        <p:xfrm>
          <a:off x="1295754" y="1426180"/>
          <a:ext cx="5943600" cy="16459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Algorithm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 Type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Approach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Occupancy Grid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Grid (free/occ)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Log-odds, known pose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EKF-SLAM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 landmarks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Gaussian, O(n^2)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FastSLAM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 or grid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Rao-Blackwell particles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Graph-SLAM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Pose graph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Least-squares optimize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 SLAM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Keyframes+features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Feature/direct methods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B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Occupancy Grid Mapping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a grid map when pose IS known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Log-Odds: Efficient Belief Update for Grid Cells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665898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/>
              <p:nvPr/>
            </p:nvSpPr>
            <p:spPr>
              <a:xfrm>
                <a:off x="1254997" y="1073430"/>
                <a:ext cx="8321040" cy="38404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Log-odds: </a:t>
                </a:r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𝑙</m:t>
                    </m:r>
                    <m:d>
                      <m:dPr>
                        <m:ctrlPr>
                          <a:rPr lang="en-US" sz="1400" b="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dPr>
                      <m:e>
                        <m:r>
                          <a:rPr lang="en-US" sz="1400" b="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𝑥</m:t>
                        </m:r>
                      </m:e>
                    </m:d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=</m:t>
                    </m:r>
                    <m:func>
                      <m:funcPr>
                        <m:ctrlPr>
                          <a:rPr lang="en-US" sz="1400" b="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 b="0" i="0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log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1400" b="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1400" b="0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</m:ctrlPr>
                              </m:fPr>
                              <m:num>
                                <m:r>
                                  <a:rPr lang="en-US" sz="1400" b="0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1400" b="0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400" b="0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  <m:t>𝑥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sz="1400" b="0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1−</m:t>
                                </m:r>
                                <m:r>
                                  <a:rPr lang="en-US" sz="1400" b="0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1400" b="0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400" b="0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  <m:t>𝑥</m:t>
                                    </m:r>
                                  </m:e>
                                </m:d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sz="1400" dirty="0"/>
              </a:p>
              <a:p>
                <a:pPr marL="0" indent="0">
                  <a:buNone/>
                </a:pPr>
                <a:endParaRPr lang="en-US" sz="1400" dirty="0"/>
              </a:p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Update: </a:t>
                </a:r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𝑙</m:t>
                    </m:r>
                    <m:d>
                      <m:dPr>
                        <m:ctrlPr>
                          <a:rPr lang="en-US" sz="1400" b="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dPr>
                      <m:e>
                        <m:r>
                          <a:rPr lang="en-US" sz="1400" b="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𝑥</m:t>
                        </m:r>
                      </m:e>
                    </m:d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= </m:t>
                    </m:r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𝑙</m:t>
                    </m:r>
                    <m:d>
                      <m:dPr>
                        <m:ctrlPr>
                          <a:rPr lang="en-US" sz="1400" b="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dPr>
                      <m:e>
                        <m:r>
                          <a:rPr lang="en-US" sz="1400" b="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𝑥</m:t>
                        </m:r>
                      </m:e>
                    </m:d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+</m:t>
                    </m:r>
                    <m:func>
                      <m:funcPr>
                        <m:ctrlPr>
                          <a:rPr lang="en-US" sz="1400" b="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 b="0" i="0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log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1400" b="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1400" b="0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</m:ctrlPr>
                              </m:fPr>
                              <m:num>
                                <m:r>
                                  <a:rPr lang="en-US" sz="1400" b="0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1400" b="0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400" b="0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  <m:t>𝑜𝑐𝑐</m:t>
                                    </m:r>
                                  </m:e>
                                  <m:e>
                                    <m:r>
                                      <a:rPr lang="en-US" sz="1400" b="0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  <m:t>𝑧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sz="1400" b="0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n-US" sz="1400" b="0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400" b="0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  <m:t>𝑓𝑟𝑒𝑒</m:t>
                                    </m:r>
                                  </m:e>
                                  <m:e>
                                    <m:r>
                                      <a:rPr lang="en-US" sz="1400" b="0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  <m:t>𝑧</m:t>
                                    </m:r>
                                  </m:e>
                                </m:d>
                              </m:den>
                            </m:f>
                          </m:e>
                        </m:d>
                      </m:e>
                    </m:func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− </m:t>
                    </m:r>
                    <m:sSub>
                      <m:sSubPr>
                        <m:ctrlPr>
                          <a:rPr lang="en-US" sz="1400" b="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𝑙</m:t>
                        </m:r>
                      </m:e>
                      <m:sub>
                        <m:r>
                          <a:rPr lang="en-US" sz="1400" b="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0</m:t>
                        </m:r>
                      </m:sub>
                    </m:sSub>
                  </m:oMath>
                </a14:m>
                <a:endParaRPr lang="en-US" sz="1400" dirty="0"/>
              </a:p>
            </p:txBody>
          </p:sp>
        </mc:Choice>
        <mc:Fallback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4997" y="1073430"/>
                <a:ext cx="8321040" cy="384048"/>
              </a:xfrm>
              <a:prstGeom prst="rect">
                <a:avLst/>
              </a:prstGeom>
              <a:blipFill>
                <a:blip r:embed="rId3"/>
                <a:stretch>
                  <a:fillRect l="-220" t="-73016" b="-93651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5"/>
              <p:cNvSpPr/>
              <p:nvPr/>
            </p:nvSpPr>
            <p:spPr>
              <a:xfrm>
                <a:off x="731308" y="1820501"/>
                <a:ext cx="8321040" cy="475488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</a:pPr>
                <a:r>
                  <a:rPr lang="en-US" sz="12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Convert probability to log-odds -&gt; updates become ADDITION (efficient!).</a:t>
                </a:r>
                <a:endParaRPr lang="en-US" sz="12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𝑙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prior (usually = 50%). Each reading adds/subtracts evidence. No overflow.</a:t>
                </a:r>
                <a:endParaRPr lang="en-US" sz="1200" dirty="0"/>
              </a:p>
            </p:txBody>
          </p:sp>
        </mc:Choice>
        <mc:Fallback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308" y="1820501"/>
                <a:ext cx="8321040" cy="475488"/>
              </a:xfrm>
              <a:prstGeom prst="rect">
                <a:avLst/>
              </a:prstGeom>
              <a:blipFill>
                <a:blip r:embed="rId4"/>
                <a:stretch>
                  <a:fillRect l="-73" t="-2564" b="-5128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274320" y="2488013"/>
            <a:ext cx="41148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2488013"/>
            <a:ext cx="54864" cy="13716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" y="2542877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says OCCUPIED: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 9"/>
              <p:cNvSpPr/>
              <p:nvPr/>
            </p:nvSpPr>
            <p:spPr>
              <a:xfrm>
                <a:off x="438912" y="2835485"/>
                <a:ext cx="3840480" cy="96012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Add positive evidence: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𝑙</m:t>
                    </m:r>
                    <m:d>
                      <m:dPr>
                        <m:ctrlP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dPr>
                      <m:e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𝑥</m:t>
                        </m:r>
                      </m:e>
                    </m:d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+= 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𝑙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𝑜𝑐𝑐</m:t>
                        </m:r>
                      </m:sub>
                    </m:sSub>
                  </m:oMath>
                </a14:m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𝑙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𝑜𝑐𝑐</m:t>
                        </m:r>
                      </m:sub>
                    </m:sSub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~ +0.85 </m:t>
                    </m:r>
                  </m:oMath>
                </a14:m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(strong evidence)</a:t>
                </a:r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After many hits: l -&gt; large positive -&gt; p~1</a:t>
                </a:r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Cell converges to OCCUPIED</a:t>
                </a:r>
                <a:endParaRPr lang="en-US" sz="1200" dirty="0"/>
              </a:p>
            </p:txBody>
          </p:sp>
        </mc:Choice>
        <mc:Fallback>
          <p:sp>
            <p:nvSpPr>
              <p:cNvPr id="11" name="Text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2835485"/>
                <a:ext cx="3840480" cy="960120"/>
              </a:xfrm>
              <a:prstGeom prst="rect">
                <a:avLst/>
              </a:prstGeom>
              <a:blipFill>
                <a:blip r:embed="rId5"/>
                <a:stretch>
                  <a:fillRect t="-633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10"/>
          <p:cNvSpPr/>
          <p:nvPr/>
        </p:nvSpPr>
        <p:spPr>
          <a:xfrm>
            <a:off x="4663440" y="2488013"/>
            <a:ext cx="4206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2488013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4828032" y="2542877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says FREE (ray passes):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 13"/>
              <p:cNvSpPr/>
              <p:nvPr/>
            </p:nvSpPr>
            <p:spPr>
              <a:xfrm>
                <a:off x="4828032" y="2835485"/>
                <a:ext cx="3931920" cy="96012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Add negative evidence: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𝑙</m:t>
                    </m:r>
                    <m:d>
                      <m:dPr>
                        <m:ctrlP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dPr>
                      <m:e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𝑥</m:t>
                        </m:r>
                      </m:e>
                    </m:d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+= 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𝑙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𝑓𝑟𝑒𝑒</m:t>
                        </m:r>
                      </m:sub>
                    </m:sSub>
                  </m:oMath>
                </a14:m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𝑙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𝑓𝑟𝑒𝑒</m:t>
                        </m:r>
                      </m:sub>
                    </m:sSub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~ −0.4</m:t>
                    </m:r>
                  </m:oMath>
                </a14:m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(moderate evidence)</a:t>
                </a:r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After many passes: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𝑙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−&gt; 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𝑙𝑎𝑟𝑔𝑒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𝑛𝑒𝑔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−&gt; 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𝑝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~0</m:t>
                    </m:r>
                  </m:oMath>
                </a14:m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Cell converges to FREE</a:t>
                </a:r>
                <a:endParaRPr lang="en-US" sz="1200" dirty="0"/>
              </a:p>
            </p:txBody>
          </p:sp>
        </mc:Choice>
        <mc:Fallback>
          <p:sp>
            <p:nvSpPr>
              <p:cNvPr id="15" name="Text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8032" y="2835485"/>
                <a:ext cx="3931920" cy="960120"/>
              </a:xfrm>
              <a:prstGeom prst="rect">
                <a:avLst/>
              </a:prstGeom>
              <a:blipFill>
                <a:blip r:embed="rId6"/>
                <a:stretch>
                  <a:fillRect t="-633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 14"/>
              <p:cNvSpPr/>
              <p:nvPr/>
            </p:nvSpPr>
            <p:spPr>
              <a:xfrm>
                <a:off x="365760" y="4042493"/>
                <a:ext cx="8412480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200" b="1" dirty="0">
                    <a:solidFill>
                      <a:srgbClr val="0F4C8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Convert back: </a:t>
                </a:r>
                <a14:m>
                  <m:oMath xmlns:m="http://schemas.openxmlformats.org/officeDocument/2006/math">
                    <m:r>
                      <a:rPr lang="en-US" sz="1200" b="1" i="1" dirty="0" smtClean="0">
                        <a:solidFill>
                          <a:srgbClr val="0F4C81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𝒑</m:t>
                    </m:r>
                    <m:d>
                      <m:dPr>
                        <m:ctrlPr>
                          <a:rPr lang="en-US" sz="1200" b="1" i="1" dirty="0" smtClean="0">
                            <a:solidFill>
                              <a:srgbClr val="0F4C81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dPr>
                      <m:e>
                        <m:r>
                          <a:rPr lang="en-US" sz="1200" b="1" i="1" dirty="0" smtClean="0">
                            <a:solidFill>
                              <a:srgbClr val="0F4C81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𝒙</m:t>
                        </m:r>
                      </m:e>
                    </m:d>
                    <m:r>
                      <a:rPr lang="en-US" sz="1200" b="1" i="1" dirty="0" smtClean="0">
                        <a:solidFill>
                          <a:srgbClr val="0F4C81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=</m:t>
                    </m:r>
                    <m:f>
                      <m:fPr>
                        <m:ctrlPr>
                          <a:rPr lang="en-US" sz="1200" b="1" i="1" dirty="0" smtClean="0">
                            <a:solidFill>
                              <a:srgbClr val="0F4C81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fPr>
                      <m:num>
                        <m:r>
                          <a:rPr lang="en-US" sz="1200" b="1" i="1" dirty="0" smtClean="0">
                            <a:solidFill>
                              <a:srgbClr val="0F4C81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𝟏</m:t>
                        </m:r>
                      </m:num>
                      <m:den>
                        <m:r>
                          <a:rPr lang="en-US" sz="1200" b="1" i="1" dirty="0" smtClean="0">
                            <a:solidFill>
                              <a:srgbClr val="0F4C81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𝟏</m:t>
                        </m:r>
                        <m:r>
                          <a:rPr lang="en-US" sz="1200" b="1" i="1" dirty="0" smtClean="0">
                            <a:solidFill>
                              <a:srgbClr val="0F4C81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+</m:t>
                        </m:r>
                        <m:func>
                          <m:funcPr>
                            <m:ctrlPr>
                              <a:rPr lang="en-US" sz="1200" b="1" i="1" dirty="0" smtClean="0">
                                <a:solidFill>
                                  <a:srgbClr val="0F4C81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200" b="0" i="0" dirty="0" smtClean="0">
                                <a:solidFill>
                                  <a:srgbClr val="0F4C81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exp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1200" b="1" i="1" dirty="0" smtClean="0">
                                    <a:solidFill>
                                      <a:srgbClr val="0F4C81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</m:ctrlPr>
                              </m:dPr>
                              <m:e>
                                <m:r>
                                  <a:rPr lang="en-US" sz="1200" b="1" i="1" dirty="0" smtClean="0">
                                    <a:solidFill>
                                      <a:srgbClr val="0F4C81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−</m:t>
                                </m:r>
                                <m:r>
                                  <a:rPr lang="en-US" sz="1200" b="1" i="1" dirty="0" smtClean="0">
                                    <a:solidFill>
                                      <a:srgbClr val="0F4C81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𝒍</m:t>
                                </m:r>
                                <m:d>
                                  <m:dPr>
                                    <m:ctrlPr>
                                      <a:rPr lang="en-US" sz="1200" b="1" i="1" dirty="0" smtClean="0">
                                        <a:solidFill>
                                          <a:srgbClr val="0F4C81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b="1" i="1" dirty="0" smtClean="0">
                                        <a:solidFill>
                                          <a:srgbClr val="0F4C81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  <m:t>𝒙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</m:den>
                    </m:f>
                  </m:oMath>
                </a14:m>
                <a:r>
                  <a:rPr lang="en-US" sz="1200" b="1" dirty="0">
                    <a:solidFill>
                      <a:srgbClr val="0F4C8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This is the map Nav2 uses as static costmap layer!</a:t>
                </a:r>
                <a:endParaRPr lang="en-US" sz="1200" dirty="0"/>
              </a:p>
            </p:txBody>
          </p:sp>
        </mc:Choice>
        <mc:Fallback>
          <p:sp>
            <p:nvSpPr>
              <p:cNvPr id="16" name="Text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4042493"/>
                <a:ext cx="8412480" cy="274320"/>
              </a:xfrm>
              <a:prstGeom prst="rect">
                <a:avLst/>
              </a:prstGeom>
              <a:blipFill>
                <a:blip r:embed="rId7"/>
                <a:stretch>
                  <a:fillRect t="-8889" b="-17778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Inverse Sensor Model: Raytrace to Update Cells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8595360" cy="640080"/>
          </a:xfrm>
          <a:prstGeom prst="rect">
            <a:avLst/>
          </a:prstGeom>
          <a:solidFill>
            <a:srgbClr val="FFFBE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685800"/>
            <a:ext cx="54864" cy="6400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758952"/>
            <a:ext cx="82753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PBL SCENARIO: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LiDAR beam: mark cells along the beam as FREE, mark the endpoint as OCCUPIED. Bresenham line algorithm efficiently finds all grid cells the ray passes through.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463040"/>
            <a:ext cx="8595360" cy="64008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1508760"/>
            <a:ext cx="8321040" cy="2688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beam: raytrace robot-&gt;endpoint -&gt; mark FREE along ray -&gt; mark OCCUPIED at end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1744675"/>
            <a:ext cx="8321040" cy="3328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EXACTLY how Nav2 obstacle costmap layer works. Parameter: raytrace_range.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2286000"/>
            <a:ext cx="41148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286000"/>
            <a:ext cx="54864" cy="12801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38912" y="234086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works IF pose is known: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8912" y="2633472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beam updates correct cells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converges to accurate occupancy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technique, very reliable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by gmapping, slam_toolbox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286000"/>
            <a:ext cx="420624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2286000"/>
            <a:ext cx="54864" cy="12801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7" name="Text 15"/>
          <p:cNvSpPr/>
          <p:nvPr/>
        </p:nvSpPr>
        <p:spPr>
          <a:xfrm>
            <a:off x="4828032" y="234086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Fails IF pose is WRONG: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28032" y="2633472"/>
            <a:ext cx="3931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Beams update WRONG cells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becomes corrupted, blurred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Walls appear thick/doubled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 This is why we need SLAM!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3749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Occupancy mapping = the MAPPING half of SLAM. Next: how robots REPRESENT these maps.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C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Representations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ways to store and reason about the world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Overview: Six Map Types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choice of map affects: memory, accuracy, planning capability, and which SLAM algorithm to use.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743200" cy="1188720"/>
          </a:xfrm>
          <a:prstGeom prst="rect">
            <a:avLst/>
          </a:prstGeom>
          <a:solidFill>
            <a:srgbClr val="3B82F6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18872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Occupancy Grid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00400" y="1097280"/>
            <a:ext cx="2743200" cy="118872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0" y="118872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Feature/Landmark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126480" y="1097280"/>
            <a:ext cx="2743200" cy="1188720"/>
          </a:xfrm>
          <a:prstGeom prst="rect">
            <a:avLst/>
          </a:prstGeom>
          <a:solidFill>
            <a:srgbClr val="8B5CF6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26480" y="118872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Topological Graph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74320" y="2606040"/>
            <a:ext cx="2743200" cy="1188720"/>
          </a:xfrm>
          <a:prstGeom prst="rect">
            <a:avLst/>
          </a:prstGeom>
          <a:solidFill>
            <a:srgbClr val="F97316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" y="269748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3D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200400" y="2606040"/>
            <a:ext cx="2743200" cy="1188720"/>
          </a:xfrm>
          <a:prstGeom prst="rect">
            <a:avLst/>
          </a:prstGeom>
          <a:solidFill>
            <a:srgbClr val="0D9488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200400" y="269748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Octree (OctoMap)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126480" y="2606040"/>
            <a:ext cx="2743200" cy="1188720"/>
          </a:xfrm>
          <a:prstGeom prst="rect">
            <a:avLst/>
          </a:prstGeom>
          <a:solidFill>
            <a:srgbClr val="EF4444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26480" y="269748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Map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576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systems combine multiple types. Each makes different trade-offs.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Metric: Occupancy Grid &amp; Feature Map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21031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Occupancy Grid (most common)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 grid: free/occupied/unknown per cell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Resolution: 5-10 cm typical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50m x 30m at 5cm = 600K cells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Pro: exact geometry, Nav2 compatible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Pro: easy update from LiDAR (log-odds)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Con: fixed resolution, 2D only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Format: nav_msgs/OccupancyGrid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21031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/ Landmark Map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Sparse landmarks: (x, y, type)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Corners, lines, distinctive points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Pro: very compact (100 vs 600K cells)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Pro: naturally used by EKF-SLAM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Con: no free-space info for planning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Con: needs distinctive features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by: EKF-SLAM, visual SLAM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30175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Occupancy = 'Is this cell free?' Feature = 'Where are landmarks?' Often used together.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Topological Maps: Graphs of Places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 environment as a GRAPH: nodes = places, edges = connections between them.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1463040" cy="548640"/>
          </a:xfrm>
          <a:prstGeom prst="ellipse">
            <a:avLst/>
          </a:prstGeom>
          <a:solidFill>
            <a:srgbClr val="8B5CF6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481328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0" y="1280160"/>
            <a:ext cx="1463040" cy="548640"/>
          </a:xfrm>
          <a:prstGeom prst="ellipse">
            <a:avLst/>
          </a:prstGeom>
          <a:solidFill>
            <a:srgbClr val="8B5CF6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43200" y="1298448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Corridor 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0" y="1463040"/>
            <a:ext cx="1463040" cy="548640"/>
          </a:xfrm>
          <a:prstGeom prst="ellipse">
            <a:avLst/>
          </a:prstGeom>
          <a:solidFill>
            <a:srgbClr val="8B5CF6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0" y="1481328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Elevator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2560320"/>
            <a:ext cx="1463040" cy="548640"/>
          </a:xfrm>
          <a:prstGeom prst="ellipse">
            <a:avLst/>
          </a:prstGeom>
          <a:solidFill>
            <a:srgbClr val="8B5CF6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2578608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Corridor B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0" y="2743200"/>
            <a:ext cx="1463040" cy="548640"/>
          </a:xfrm>
          <a:prstGeom prst="ellipse">
            <a:avLst/>
          </a:prstGeom>
          <a:solidFill>
            <a:srgbClr val="8B5CF6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0" y="2761488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 B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2743200"/>
            <a:ext cx="1463040" cy="548640"/>
          </a:xfrm>
          <a:prstGeom prst="ellipse">
            <a:avLst/>
          </a:prstGeom>
          <a:solidFill>
            <a:srgbClr val="8B5CF6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2761488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3554817"/>
            <a:ext cx="41148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3554817"/>
            <a:ext cx="54864" cy="1097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438912" y="3609681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Advantages: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38912" y="3902289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compact, natural for high-level planning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'Go to pharmacy then elevator'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to entire buildings, multi-floor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3554817"/>
            <a:ext cx="42062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3554817"/>
            <a:ext cx="54864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4828032" y="3609681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Limitations: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28032" y="3902289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metric detail (exact positions)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Can't do fine obstacle avoidance</a:t>
            </a:r>
            <a:endParaRPr lang="en-US" sz="1200" dirty="0"/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FF85CF94-2DC4-4DF8-883F-6781F7A2C9DD}"/>
              </a:ext>
            </a:extLst>
          </p:cNvPr>
          <p:cNvCxnSpPr>
            <a:stCxn id="7" idx="3"/>
            <a:endCxn id="8" idx="2"/>
          </p:cNvCxnSpPr>
          <p:nvPr/>
        </p:nvCxnSpPr>
        <p:spPr>
          <a:xfrm flipV="1">
            <a:off x="2194560" y="1554480"/>
            <a:ext cx="548640" cy="182880"/>
          </a:xfrm>
          <a:prstGeom prst="curvedConnector3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C543B711-F424-47ED-9F84-A4571F286F0B}"/>
              </a:ext>
            </a:extLst>
          </p:cNvPr>
          <p:cNvCxnSpPr>
            <a:stCxn id="9" idx="3"/>
            <a:endCxn id="10" idx="2"/>
          </p:cNvCxnSpPr>
          <p:nvPr/>
        </p:nvCxnSpPr>
        <p:spPr>
          <a:xfrm>
            <a:off x="4206240" y="1554480"/>
            <a:ext cx="822960" cy="182880"/>
          </a:xfrm>
          <a:prstGeom prst="curvedConnector3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37BF6ED7-B77C-4308-912D-C7A307F106A9}"/>
              </a:ext>
            </a:extLst>
          </p:cNvPr>
          <p:cNvCxnSpPr>
            <a:stCxn id="10" idx="3"/>
            <a:endCxn id="12" idx="0"/>
          </p:cNvCxnSpPr>
          <p:nvPr/>
        </p:nvCxnSpPr>
        <p:spPr>
          <a:xfrm rot="5400000">
            <a:off x="4044596" y="1361459"/>
            <a:ext cx="628986" cy="1768737"/>
          </a:xfrm>
          <a:prstGeom prst="curvedConnector3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17AC40CD-0A85-4E07-8326-1EECA23D0B1B}"/>
              </a:ext>
            </a:extLst>
          </p:cNvPr>
          <p:cNvCxnSpPr>
            <a:stCxn id="17" idx="3"/>
            <a:endCxn id="12" idx="2"/>
          </p:cNvCxnSpPr>
          <p:nvPr/>
        </p:nvCxnSpPr>
        <p:spPr>
          <a:xfrm flipV="1">
            <a:off x="2194560" y="2834640"/>
            <a:ext cx="548640" cy="182880"/>
          </a:xfrm>
          <a:prstGeom prst="curvedConnector3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Curved 34">
            <a:extLst>
              <a:ext uri="{FF2B5EF4-FFF2-40B4-BE49-F238E27FC236}">
                <a16:creationId xmlns:a16="http://schemas.microsoft.com/office/drawing/2014/main" id="{A4F0FB54-9BF0-40CC-A920-17EB00204385}"/>
              </a:ext>
            </a:extLst>
          </p:cNvPr>
          <p:cNvCxnSpPr>
            <a:stCxn id="13" idx="3"/>
            <a:endCxn id="15" idx="1"/>
          </p:cNvCxnSpPr>
          <p:nvPr/>
        </p:nvCxnSpPr>
        <p:spPr>
          <a:xfrm>
            <a:off x="4206240" y="2834640"/>
            <a:ext cx="822960" cy="182880"/>
          </a:xfrm>
          <a:prstGeom prst="curvedConnector3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Maps: Point Clouds, Voxels &amp; Octrees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82880" y="731519"/>
            <a:ext cx="2834640" cy="2486601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731520"/>
            <a:ext cx="54864" cy="21031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" y="7863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Map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7472" y="1078992"/>
            <a:ext cx="25603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3D points from LiDAR/depth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detailed, exact geometry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Millions of points = huge memory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free/occupied distinction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sensor_msgs/PointCloud2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731520"/>
            <a:ext cx="2834640" cy="2486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731520"/>
            <a:ext cx="54864" cy="21031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3319272" y="7863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Octree (OctoMap)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19272" y="1078992"/>
            <a:ext cx="25603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occupancy grid, ADAPTIVE resolution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 near surfaces, coarse in open space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Huge memory savings vs uniform voxels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free/occupied/unknown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Standard: octomap ROS package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731520"/>
            <a:ext cx="2834640" cy="2486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731520"/>
            <a:ext cx="54864" cy="21031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7863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Elevation Map (2.5D)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91072" y="1078992"/>
            <a:ext cx="25603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height per (x,y) cell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Simpler than full 3D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for outdoor terrain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Can't represent overhangs/tunnels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elevation_mapping ROS package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40524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Indoor flat floor: 2D grid. </a:t>
            </a:r>
          </a:p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Outdoor terrain: 2.5D elevation. </a:t>
            </a:r>
          </a:p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 3D: octree. </a:t>
            </a:r>
          </a:p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reconstruction: point cloud.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Maps: Adding Meaning to Geometry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828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Occupancy Grid: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= free (0) or occupied (100)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difference: wall vs door vs person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is just 'obstacle'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Can't make intelligent decisions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Map: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= free + label (floor, corridor, room)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Objects = type + position (door, chair)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'Go to the kitchen' (not just coordinates)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'Door may open/close' (dynamic behavior)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27432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maps combine perception + mapping. Active research area.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Representation Comparison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731520"/>
          <a:ext cx="8869680" cy="22860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SLAM Algorithm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for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Occupancy Grid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Excellent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FastSLAM, Graph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Indoor 2D nav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Feature/Landmark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directly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EKF-SLAM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 environments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Topological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Low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High-level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Place recognition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Multi-floor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Point Cloud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High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Needs processing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SLAM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3D reconstruction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Octree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Adaptive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3D planning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3D SLAM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UAVs, manipulation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Semantic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Medium+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Intelligent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Research frontier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robots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6576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systems use MULTIPLE representations simultaneously.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SLAM Problem Formulation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mathematical structure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SLAM as a Joint Estimation Problem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01752" y="721950"/>
            <a:ext cx="8595360" cy="809137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/>
              <p:nvPr/>
            </p:nvSpPr>
            <p:spPr>
              <a:xfrm>
                <a:off x="502920" y="747969"/>
                <a:ext cx="8321040" cy="528175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Full SLAM: </a:t>
                </a:r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𝑝</m:t>
                    </m:r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(</m:t>
                    </m:r>
                    <m:sSub>
                      <m:sSubPr>
                        <m:ctrlPr>
                          <a:rPr lang="en-US" sz="140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𝑥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dPr>
                          <m:e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𝟏</m:t>
                            </m:r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:</m:t>
                            </m:r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𝒕</m:t>
                            </m:r>
                          </m:e>
                        </m:d>
                      </m:sub>
                    </m:sSub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, </m:t>
                    </m:r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𝑚</m:t>
                    </m:r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| </m:t>
                    </m:r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𝑧</m:t>
                    </m:r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, </m:t>
                    </m:r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𝑢</m:t>
                    </m:r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</m:t>
                    </m:r>
                  </m:oMath>
                </a14:m>
                <a:r>
                  <a:rPr lang="en-US" sz="1400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    </a:t>
                </a:r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Online SLAM: </a:t>
                </a:r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𝑝</m:t>
                    </m:r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(</m:t>
                    </m:r>
                    <m:sSub>
                      <m:sSubPr>
                        <m:ctrlPr>
                          <a:rPr lang="en-US" sz="140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𝑥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𝒕</m:t>
                        </m:r>
                      </m:sub>
                    </m:sSub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, </m:t>
                    </m:r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𝑚</m:t>
                    </m:r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| </m:t>
                    </m:r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𝑧</m:t>
                    </m:r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, </m:t>
                    </m:r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𝑢</m:t>
                    </m:r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</m:t>
                    </m:r>
                  </m:oMath>
                </a14:m>
                <a:endParaRPr lang="en-US" sz="1400" dirty="0"/>
              </a:p>
            </p:txBody>
          </p:sp>
        </mc:Choice>
        <mc:Fallback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20" y="747969"/>
                <a:ext cx="8321040" cy="528175"/>
              </a:xfrm>
              <a:prstGeom prst="rect">
                <a:avLst/>
              </a:prstGeom>
              <a:blipFill>
                <a:blip r:embed="rId3"/>
                <a:stretch>
                  <a:fillRect l="-220" t="-2326" b="-12791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/>
          <p:cNvSpPr/>
          <p:nvPr/>
        </p:nvSpPr>
        <p:spPr>
          <a:xfrm>
            <a:off x="365760" y="1201522"/>
            <a:ext cx="8321040" cy="3803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= entire trajectory + map (graph-SLAM). Online = current pose + map (EKF-SLAM, FastSLAM).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41148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64592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" y="17007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harder than localization: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8912" y="1993392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m is UNKNOWN </a:t>
            </a:r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Landmark positions are uncertain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Correlations: observing L1 informs L2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shared robot pose uncertainty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645920"/>
            <a:ext cx="4206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645920"/>
            <a:ext cx="54864" cy="13716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828032" y="17007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insight: CORRELATIONS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28032" y="1993392"/>
            <a:ext cx="39319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A and B from same pose -&gt; correlated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Correcting A also corrects B!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covariance matrix captures this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Off-diagonal elements are NOT zero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SLAM Approaches: How They Differ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82880" y="731520"/>
            <a:ext cx="283464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731520"/>
            <a:ext cx="54864" cy="20116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" y="7863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EKF-SLAM (Block F)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7472" y="1078992"/>
            <a:ext cx="25603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big Gaussian: robot + all landmarks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Maintains full correlations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O(n^2) per step — quadratic!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Best: small maps (&lt;100 landmarks)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Online: processes data as it arrives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731520"/>
            <a:ext cx="283464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731520"/>
            <a:ext cx="54864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1" name="Text 9"/>
          <p:cNvSpPr/>
          <p:nvPr/>
        </p:nvSpPr>
        <p:spPr>
          <a:xfrm>
            <a:off x="3319272" y="7863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FastSLAM (Block G)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19272" y="1078992"/>
            <a:ext cx="25603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Particles for pose + EKF per landmark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full correlation matrix needed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O(M*N*log N) — much faster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Best: medium maps, grid maps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Online: particle filter updates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731520"/>
            <a:ext cx="283464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731520"/>
            <a:ext cx="54864" cy="20116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7863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Graph-SLAM (Block H)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91072" y="1078992"/>
            <a:ext cx="25603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 graph + constraint optimization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fix OLD errors retroactively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or incremental solvers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Best: large-scale, city-scale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standard: used everywhere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4320" y="29260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exploits the SLAM structure differently. Let's dive into each algorithm.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Association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landmark am I seeing?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PBL: Two Similar Corners — Which Is Which?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8595360" cy="731520"/>
          </a:xfrm>
          <a:prstGeom prst="rect">
            <a:avLst/>
          </a:prstGeom>
          <a:solidFill>
            <a:srgbClr val="FFFBEB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685800"/>
            <a:ext cx="54864" cy="7315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758952"/>
            <a:ext cx="8275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PBL SCENARIO: 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MediBot detects a corridor corner. Map has 5 known corners. Which one? Wrong association -&gt; EKF corrects wrong landmark -&gt; map corrupts, localization diverges. Data association is CRITICAL.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2880" y="1600200"/>
            <a:ext cx="28346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82880" y="1600200"/>
            <a:ext cx="54864" cy="1828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" y="16550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Neighbor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" y="1947672"/>
            <a:ext cx="25603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to CLOSEST landmark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Euclidean distance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fast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Fails with dense landmarks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4680" y="1600200"/>
            <a:ext cx="28346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160020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3319272" y="16550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Mahalanobis Gating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 13"/>
              <p:cNvSpPr/>
              <p:nvPr/>
            </p:nvSpPr>
            <p:spPr>
              <a:xfrm>
                <a:off x="3319272" y="1947672"/>
                <a:ext cx="2560320" cy="141732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Accounts for UNCERTAINTY shape</a:t>
                </a:r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Reject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𝑑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𝑀</m:t>
                        </m:r>
                      </m:sub>
                    </m:sSub>
                    <m:r>
                      <a:rPr lang="en-US" sz="1200" i="1" dirty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&gt; 3 </m:t>
                    </m:r>
                  </m:oMath>
                </a14:m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(outlier)</a:t>
                </a:r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Then pick nearest within gate</a:t>
                </a:r>
                <a:endParaRPr lang="en-US" sz="1200" dirty="0"/>
              </a:p>
            </p:txBody>
          </p:sp>
        </mc:Choice>
        <mc:Fallback>
          <p:sp>
            <p:nvSpPr>
              <p:cNvPr id="15" name="Text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272" y="1947672"/>
                <a:ext cx="2560320" cy="1417320"/>
              </a:xfrm>
              <a:prstGeom prst="rect">
                <a:avLst/>
              </a:prstGeom>
              <a:blipFill>
                <a:blip r:embed="rId3"/>
                <a:stretch>
                  <a:fillRect t="-862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Shape 14"/>
          <p:cNvSpPr/>
          <p:nvPr/>
        </p:nvSpPr>
        <p:spPr>
          <a:xfrm>
            <a:off x="6126480" y="1600200"/>
            <a:ext cx="28346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1600200"/>
            <a:ext cx="54864" cy="18288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16550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Max. Likelihood (ML)</a:t>
            </a:r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 17"/>
              <p:cNvSpPr/>
              <p:nvPr/>
            </p:nvSpPr>
            <p:spPr>
              <a:xfrm>
                <a:off x="6291072" y="1947672"/>
                <a:ext cx="2560320" cy="141732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Compute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𝑝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(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𝑧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|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𝑙𝑎𝑛𝑑𝑚𝑎𝑟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𝑘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𝑗</m:t>
                        </m:r>
                      </m:sub>
                    </m:sSub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, 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𝑥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h𝑎𝑡</m:t>
                        </m:r>
                      </m:sub>
                    </m:sSub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</m:t>
                    </m:r>
                  </m:oMath>
                </a14:m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Pick landmark with highest p</a:t>
                </a:r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Most principled, more expensive</a:t>
                </a:r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Joint compatibility for all matches</a:t>
                </a:r>
                <a:endParaRPr lang="en-US" sz="1200" dirty="0"/>
              </a:p>
            </p:txBody>
          </p:sp>
        </mc:Choice>
        <mc:Fallback xmlns="">
          <p:sp>
            <p:nvSpPr>
              <p:cNvPr id="19" name="Text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1072" y="1947672"/>
                <a:ext cx="2560320" cy="1417320"/>
              </a:xfrm>
              <a:prstGeom prst="rect">
                <a:avLst/>
              </a:prstGeom>
              <a:blipFill>
                <a:blip r:embed="rId4"/>
                <a:stretch>
                  <a:fillRect t="-862" b="-431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 18"/>
          <p:cNvSpPr/>
          <p:nvPr/>
        </p:nvSpPr>
        <p:spPr>
          <a:xfrm>
            <a:off x="274320" y="36576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data association = #1 cause of SLAM failure. </a:t>
            </a:r>
          </a:p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use Mahalanobis gating at minimum.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Landmark vs. Known Landmark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rule: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6"/>
              <p:cNvSpPr/>
              <p:nvPr/>
            </p:nvSpPr>
            <p:spPr>
              <a:xfrm>
                <a:off x="438912" y="1078992"/>
                <a:ext cx="3840480" cy="123444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342900" indent="-342900">
                  <a:buSzPct val="10000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𝑑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𝑀</m:t>
                        </m:r>
                        <m:d>
                          <m:dPr>
                            <m:ctrlPr>
                              <a:rPr lang="en-US" sz="1200" i="1" dirty="0" smtClean="0">
                                <a:solidFill>
                                  <a:srgbClr val="6B7280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dPr>
                          <m:e>
                            <m:r>
                              <a:rPr lang="en-US" sz="1200" i="1" dirty="0" smtClean="0">
                                <a:solidFill>
                                  <a:srgbClr val="6B7280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𝑐𝑙𝑜𝑠𝑒𝑠𝑡</m:t>
                            </m:r>
                          </m:e>
                        </m:d>
                      </m:sub>
                    </m:sSub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&lt; 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𝑡h𝑟𝑒𝑠h𝑜𝑙𝑑</m:t>
                    </m:r>
                  </m:oMath>
                </a14:m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MATCH known</a:t>
                </a:r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𝑑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𝑀</m:t>
                        </m:r>
                        <m:d>
                          <m:dPr>
                            <m:ctrlPr>
                              <a:rPr lang="en-US" sz="1200" i="1" dirty="0" smtClean="0">
                                <a:solidFill>
                                  <a:srgbClr val="6B7280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dPr>
                          <m:e>
                            <m:r>
                              <a:rPr lang="en-US" sz="1200" i="1" dirty="0" smtClean="0">
                                <a:solidFill>
                                  <a:srgbClr val="6B7280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𝑎𝑙𝑙</m:t>
                            </m:r>
                            <m:r>
                              <a:rPr lang="en-US" sz="1200" i="1" dirty="0" smtClean="0">
                                <a:solidFill>
                                  <a:srgbClr val="6B7280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 </m:t>
                            </m:r>
                            <m:r>
                              <a:rPr lang="en-US" sz="1200" i="1" dirty="0" smtClean="0">
                                <a:solidFill>
                                  <a:srgbClr val="6B7280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𝑙𝑎𝑛𝑑𝑚𝑎𝑟𝑘𝑠</m:t>
                            </m:r>
                          </m:e>
                        </m:d>
                      </m:sub>
                    </m:sSub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&gt; </m:t>
                    </m:r>
                    <m:r>
                      <a:rPr lang="en-US" sz="1200" i="1" dirty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𝑡h𝑟𝑒𝑠h𝑜𝑙𝑑</m:t>
                    </m:r>
                  </m:oMath>
                </a14:m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NEW landmark</a:t>
                </a:r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-&gt; initialize new landmark in state</a:t>
                </a:r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Threshold choice is critical</a:t>
                </a:r>
                <a:endParaRPr lang="en-US" sz="1200" dirty="0"/>
              </a:p>
            </p:txBody>
          </p:sp>
        </mc:Choice>
        <mc:Fallback>
          <p:sp>
            <p:nvSpPr>
              <p:cNvPr id="8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078992"/>
                <a:ext cx="3840480" cy="1234440"/>
              </a:xfrm>
              <a:prstGeom prst="rect">
                <a:avLst/>
              </a:prstGeom>
              <a:blipFill>
                <a:blip r:embed="rId3"/>
                <a:stretch>
                  <a:fillRect t="-493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4663440" y="731520"/>
            <a:ext cx="42062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6459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association is WRONG: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wrong -&gt; EKF pulls to wrong position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false new -&gt; phantom landmarks grow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two real -&gt; lose information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'SLAM is only as good as its data association'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F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EKF-SLAM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big Gaussian over robot + all landmarks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Augmented State Vector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00584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/>
              <p:nvPr/>
            </p:nvSpPr>
            <p:spPr>
              <a:xfrm>
                <a:off x="411480" y="777240"/>
                <a:ext cx="8321040" cy="345643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State: </a:t>
                </a:r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𝑥</m:t>
                    </m:r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</m:t>
                    </m:r>
                    <m:sSup>
                      <m:sSupPr>
                        <m:ctrlPr>
                          <a:rPr lang="en-US" sz="140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140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400" b="0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𝑟</m:t>
                                </m:r>
                              </m:sub>
                            </m:sSub>
                            <m:r>
                              <a:rPr lang="en-US" sz="1400" b="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400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1400" b="0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𝑟</m:t>
                                </m:r>
                              </m:sub>
                            </m:sSub>
                            <m:r>
                              <a:rPr lang="en-US" sz="1400" b="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, </m:t>
                            </m:r>
                            <m:r>
                              <a:rPr lang="en-US" sz="1400" b="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𝑡h𝑒𝑡𝑎</m:t>
                            </m:r>
                            <m:r>
                              <a:rPr lang="en-US" sz="1400" b="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, </m:t>
                            </m:r>
                            <m:r>
                              <a:rPr lang="en-US" sz="1400" b="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𝑥</m:t>
                            </m:r>
                            <m:r>
                              <a:rPr lang="en-US" sz="1400" b="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1, </m:t>
                            </m:r>
                            <m:r>
                              <a:rPr lang="en-US" sz="1400" b="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𝑦</m:t>
                            </m:r>
                            <m:r>
                              <a:rPr lang="en-US" sz="1400" b="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1, </m:t>
                            </m:r>
                            <m:r>
                              <a:rPr lang="en-US" sz="1400" b="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𝑥</m:t>
                            </m:r>
                            <m:r>
                              <a:rPr lang="en-US" sz="1400" b="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2, </m:t>
                            </m:r>
                            <m:r>
                              <a:rPr lang="en-US" sz="1400" b="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𝑦</m:t>
                            </m:r>
                            <m:r>
                              <a:rPr lang="en-US" sz="1400" b="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2, …, </m:t>
                            </m:r>
                            <m:r>
                              <a:rPr lang="en-US" sz="1400" b="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𝑥𝑛</m:t>
                            </m:r>
                            <m:r>
                              <a:rPr lang="en-US" sz="1400" b="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, </m:t>
                            </m:r>
                            <m:r>
                              <a:rPr lang="en-US" sz="1400" b="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𝑦𝑛</m:t>
                            </m:r>
                          </m:e>
                        </m:d>
                      </m:e>
                      <m:sup>
                        <m:r>
                          <a:rPr lang="en-US" sz="1400" b="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𝑇</m:t>
                        </m:r>
                      </m:sup>
                    </m:sSup>
                  </m:oMath>
                </a14:m>
                <a:endParaRPr lang="en-US" sz="1400" dirty="0"/>
              </a:p>
              <a:p>
                <a:pPr marL="0" indent="0">
                  <a:buNone/>
                </a:pPr>
                <a:r>
                  <a:rPr lang="en-US" sz="1400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Size: (3+2n) x 1 where n = number of landmarks</a:t>
                </a:r>
                <a:endParaRPr lang="en-US" sz="1400" dirty="0"/>
              </a:p>
            </p:txBody>
          </p:sp>
        </mc:Choice>
        <mc:Fallback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77240"/>
                <a:ext cx="8321040" cy="345643"/>
              </a:xfrm>
              <a:prstGeom prst="rect">
                <a:avLst/>
              </a:prstGeom>
              <a:blipFill>
                <a:blip r:embed="rId3"/>
                <a:stretch>
                  <a:fillRect l="-220" t="-28571" b="-44643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/>
          <p:cNvSpPr/>
          <p:nvPr/>
        </p:nvSpPr>
        <p:spPr>
          <a:xfrm>
            <a:off x="411480" y="1215089"/>
            <a:ext cx="8321040" cy="427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pose (3 DOF) + all landmark positions (2 DOF each) in ONE state vector.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landmarks: state = 103 elements. Covariance: 103x103 = 10,609 elements!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184" y="1838667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Key: off-diagonal blocks encode CORRELATIONS. Observing one landmark improves the ENTIRE map.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2194560"/>
            <a:ext cx="41148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219456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" y="2249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Covariance structure: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8912" y="2542032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P_rr: robot uncertainty (3x3)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P_rl: robot-landmark cross-corr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P_ll: landmark-landmark cross-corr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are maintained and updated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194560"/>
            <a:ext cx="420624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194560"/>
            <a:ext cx="54864" cy="13716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4828032" y="22494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'magic':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28032" y="2542032"/>
            <a:ext cx="39319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landmark j -&gt; K corrects ALL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Cross-correlations propagate correction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Landmarks far from j also improve!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why EKF-SLAM works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EKF-SLAM: Predict + Update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64008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/>
              <p:cNvSpPr/>
              <p:nvPr/>
            </p:nvSpPr>
            <p:spPr>
              <a:xfrm>
                <a:off x="411480" y="777240"/>
                <a:ext cx="8321040" cy="26883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Predict: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Sup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𝒙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𝒉𝒂𝒕</m:t>
                        </m:r>
                      </m:sub>
                      <m:sup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−</m:t>
                        </m:r>
                      </m:sup>
                    </m:sSubSup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[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𝒇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(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𝒙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_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𝒓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,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𝒖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),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𝒎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𝟏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,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𝒎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𝟐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, …]</m:t>
                    </m:r>
                  </m:oMath>
                </a14:m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p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𝑷</m:t>
                        </m:r>
                      </m:e>
                      <m:sup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−</m:t>
                        </m:r>
                      </m:sup>
                    </m:sSup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𝑭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∗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𝑷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∗</m:t>
                    </m:r>
                    <m:sSup>
                      <m:sSup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p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𝑭</m:t>
                        </m:r>
                      </m:e>
                      <m:sup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𝑻</m:t>
                        </m:r>
                      </m:sup>
                    </m:sSup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+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𝑸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77240"/>
                <a:ext cx="8321040" cy="268834"/>
              </a:xfrm>
              <a:prstGeom prst="rect">
                <a:avLst/>
              </a:prstGeom>
              <a:blipFill>
                <a:blip r:embed="rId3"/>
                <a:stretch>
                  <a:fillRect l="-220" t="-13636" b="-2954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411480" y="1013155"/>
                <a:ext cx="8321040" cy="332842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</a:pPr>
                <a:r>
                  <a:rPr lang="en-US" sz="12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Only robot part changes (landmarks don't move). F = block diagonal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[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𝐹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𝑟𝑜𝑏𝑜𝑡</m:t>
                        </m:r>
                      </m:sub>
                    </m:sSub>
                    <m:r>
                      <a:rPr lang="en-US" sz="1200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, </m:t>
                    </m:r>
                    <m:r>
                      <a:rPr lang="en-US" sz="1200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𝐼</m:t>
                    </m:r>
                    <m:r>
                      <a:rPr lang="en-US" sz="1200" i="1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]</m:t>
                    </m:r>
                  </m:oMath>
                </a14:m>
                <a:r>
                  <a:rPr lang="en-US" sz="1200" dirty="0">
                    <a:solidFill>
                      <a:srgbClr val="1F2937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1200" dirty="0"/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1013155"/>
                <a:ext cx="8321040" cy="332842"/>
              </a:xfrm>
              <a:prstGeom prst="rect">
                <a:avLst/>
              </a:prstGeom>
              <a:blipFill>
                <a:blip r:embed="rId4"/>
                <a:stretch>
                  <a:fillRect l="-73" t="-1818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274320" y="1463040"/>
            <a:ext cx="8595360" cy="64008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/>
              <p:nvPr/>
            </p:nvSpPr>
            <p:spPr>
              <a:xfrm>
                <a:off x="411480" y="1508760"/>
                <a:ext cx="8321040" cy="26883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Update: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𝑲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</m:t>
                    </m:r>
                    <m:sSup>
                      <m:sSup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p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𝑷</m:t>
                        </m:r>
                      </m:e>
                      <m:sup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−</m:t>
                        </m:r>
                      </m:sup>
                    </m:sSup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∗</m:t>
                    </m:r>
                    <m:sSup>
                      <m:sSup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p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𝑯</m:t>
                        </m:r>
                      </m:e>
                      <m:sup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𝑻</m:t>
                        </m:r>
                      </m:sup>
                    </m:sSup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∗</m:t>
                    </m:r>
                    <m:sSup>
                      <m:sSup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dPr>
                          <m:e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𝑯</m:t>
                            </m:r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∗</m:t>
                            </m:r>
                            <m:sSup>
                              <m:sSupPr>
                                <m:ctrlPr>
                                  <a:rPr lang="en-US" sz="1400" b="1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</m:ctrlPr>
                              </m:sSupPr>
                              <m:e>
                                <m:r>
                                  <a:rPr lang="en-US" sz="1400" b="1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𝑷</m:t>
                                </m:r>
                              </m:e>
                              <m:sup>
                                <m:r>
                                  <a:rPr lang="en-US" sz="1400" b="1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−</m:t>
                                </m:r>
                              </m:sup>
                            </m:sSup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∗</m:t>
                            </m:r>
                            <m:sSup>
                              <m:sSupPr>
                                <m:ctrlPr>
                                  <a:rPr lang="en-US" sz="1400" b="1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</m:ctrlPr>
                              </m:sSupPr>
                              <m:e>
                                <m:r>
                                  <a:rPr lang="en-US" sz="1400" b="1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𝑯</m:t>
                                </m:r>
                              </m:e>
                              <m:sup>
                                <m:r>
                                  <a:rPr lang="en-US" sz="1400" b="1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𝑻</m:t>
                                </m:r>
                              </m:sup>
                            </m:sSup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 + </m:t>
                            </m:r>
                            <m:r>
                              <a:rPr lang="en-US" sz="1400" b="1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𝑹</m:t>
                            </m:r>
                          </m:e>
                        </m:d>
                      </m:e>
                      <m:sup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−</m:t>
                        </m:r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𝒙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𝒉𝒂𝒕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</m:t>
                    </m:r>
                    <m:sSubSup>
                      <m:sSubSup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Sup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𝒙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𝒉𝒂𝒕</m:t>
                        </m:r>
                      </m:sub>
                      <m:sup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−</m:t>
                        </m:r>
                      </m:sup>
                    </m:sSubSup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+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𝑲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∗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𝒊𝒏𝒏𝒐𝒗𝒂𝒕𝒊𝒐𝒏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1508760"/>
                <a:ext cx="8321040" cy="268834"/>
              </a:xfrm>
              <a:prstGeom prst="rect">
                <a:avLst/>
              </a:prstGeom>
              <a:blipFill>
                <a:blip r:embed="rId5"/>
                <a:stretch>
                  <a:fillRect l="-220" t="-2273" b="-3863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8"/>
          <p:cNvSpPr/>
          <p:nvPr/>
        </p:nvSpPr>
        <p:spPr>
          <a:xfrm>
            <a:off x="411480" y="1744675"/>
            <a:ext cx="8321040" cy="3328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 = Jacobian of observation (sparse: only robot + matched landmark columns non-zero).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2194560"/>
            <a:ext cx="8595360" cy="64008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/>
              <p:nvPr/>
            </p:nvSpPr>
            <p:spPr>
              <a:xfrm>
                <a:off x="411480" y="2240280"/>
                <a:ext cx="8321040" cy="268834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Innovation: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𝒗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</m:t>
                    </m:r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𝒛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𝒐𝒃𝒔𝒆𝒓𝒗𝒆𝒅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−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𝒉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(</m:t>
                    </m:r>
                    <m:sSubSup>
                      <m:sSubSup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Sup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𝒙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𝒉𝒂𝒕</m:t>
                        </m:r>
                      </m:sub>
                      <m:sup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−</m:t>
                        </m:r>
                      </m:sup>
                    </m:sSubSup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, </m:t>
                    </m:r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𝒍𝒂𝒏𝒅𝒎𝒂𝒓</m:t>
                    </m:r>
                    <m:sSub>
                      <m:sSubPr>
                        <m:ctrlP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𝒌</m:t>
                        </m:r>
                      </m:e>
                      <m:sub>
                        <m:r>
                          <a:rPr lang="en-US" sz="1400" b="1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𝒋</m:t>
                        </m:r>
                      </m:sub>
                    </m:sSub>
                    <m:r>
                      <a:rPr lang="en-US" sz="1400" b="1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12" name="Text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2240280"/>
                <a:ext cx="8321040" cy="268834"/>
              </a:xfrm>
              <a:prstGeom prst="rect">
                <a:avLst/>
              </a:prstGeom>
              <a:blipFill>
                <a:blip r:embed="rId6"/>
                <a:stretch>
                  <a:fillRect l="-220" t="-15909" b="-2500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 11"/>
          <p:cNvSpPr/>
          <p:nvPr/>
        </p:nvSpPr>
        <p:spPr>
          <a:xfrm>
            <a:off x="411480" y="2476195"/>
            <a:ext cx="8321040" cy="3328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range/bearing to landmark j vs actual measurement. K has (3+2n) rows -&gt; corrects EVERYTHING.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30175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Key: K has (3+2n) rows. Observing landmark j corrects robot AND all landmarks through correlations.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EKF-SLAM: Worked Example (2 Landmarks)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731520"/>
          <a:ext cx="886968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[x,y,L1x,L1y,L2x,L2y]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sigma_robot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[0, 0, -, -, -, -]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Known start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L1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[0, 0, 3.0, 0.5, -, -]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Initialize L1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Move 1m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[1.0, 0, 3.0, 0.5, -, -]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Uncertainty grew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L1 again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[0.95, 0.02, 2.98, 0.49, -, -]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 corrects robot!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L2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[0.95, 0.02, 2.98, 0.49, 5.1, -0.3]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Initialize L2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L1+L2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[0.97, 0.01, 2.99, 0.50, 5.08, -0.28]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correct map!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34747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Seeing L1 also improved L2 through cross-correlations. This is the EKF-SLAM magic.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EKF-SLAM: Cost &amp; Limitations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Maintains full correlations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Converges over time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Well-understood math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implementation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for small-medium maps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8288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O(n^2) per update — quadratic!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landmarks -&gt; 10K ops/step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landmarks -&gt; 1M ops -&gt; too slow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Linearization errors accumulate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Gaussian -&gt; no ambiguity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&gt;100 landmarks: too expensive. FastSLAM solves this with particles.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FastSLAM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Particles for pose + mini-EKFs for landmarks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Rao-Blackwellization: The Key Idea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7315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/>
              <p:cNvSpPr/>
              <p:nvPr/>
            </p:nvSpPr>
            <p:spPr>
              <a:xfrm>
                <a:off x="411480" y="777240"/>
                <a:ext cx="8321040" cy="30723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𝒑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(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𝒙</m:t>
                          </m:r>
                        </m:e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𝟏</m:t>
                              </m:r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:</m:t>
                              </m:r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𝒕</m:t>
                              </m:r>
                            </m:e>
                          </m:d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,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𝒎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|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𝒛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,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𝒖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 =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𝒑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(</m:t>
                      </m:r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𝒙</m:t>
                          </m:r>
                        </m:e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𝟏</m:t>
                              </m:r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:</m:t>
                              </m:r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𝒕</m:t>
                              </m:r>
                            </m:e>
                          </m:d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|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𝒛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,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𝒖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 ∗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𝒑</m:t>
                      </m:r>
                      <m:d>
                        <m:dPr>
                          <m:endChr m:val="|"/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d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𝒎</m:t>
                          </m:r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 </m:t>
                          </m:r>
                        </m:e>
                      </m:d>
                      <m:sSub>
                        <m:sSubPr>
                          <m:ctrlP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1400" b="1" i="1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𝒙</m:t>
                          </m:r>
                        </m:e>
                        <m:sub>
                          <m:d>
                            <m:dPr>
                              <m:begChr m:val="{"/>
                              <m:endChr m:val="}"/>
                              <m:ctrlP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</m:ctrlPr>
                            </m:dPr>
                            <m:e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𝟏</m:t>
                              </m:r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:</m:t>
                              </m:r>
                              <m:r>
                                <a:rPr lang="en-US" sz="1400" b="1" i="1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 pitchFamily="34" charset="-122"/>
                                  <a:cs typeface="Arial" pitchFamily="34" charset="-120"/>
                                </a:rPr>
                                <m:t>𝒕</m:t>
                              </m:r>
                            </m:e>
                          </m:d>
                        </m:sub>
                      </m:sSub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, 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𝒛</m:t>
                      </m:r>
                      <m:r>
                        <a:rPr lang="en-US" sz="1400" b="1" i="1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77240"/>
                <a:ext cx="8321040" cy="307238"/>
              </a:xfrm>
              <a:prstGeom prst="rect">
                <a:avLst/>
              </a:prstGeom>
              <a:blipFill>
                <a:blip r:embed="rId3"/>
                <a:stretch>
                  <a:fillRect b="-600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/>
          <p:cNvSpPr/>
          <p:nvPr/>
        </p:nvSpPr>
        <p:spPr>
          <a:xfrm>
            <a:off x="411480" y="1053389"/>
            <a:ext cx="8321040" cy="3803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 know the path, landmarks become INDEPENDENT. No cross-correlations needed!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645920"/>
            <a:ext cx="54864" cy="1645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" y="17007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Rao-Blackwellization: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8912" y="1993392"/>
            <a:ext cx="38404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PARTICLES for robot path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mini-EKFs per landmark PER PARTICLE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particle: 1 pose + N small 2x2 EKFs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huge covariance matrix!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645920"/>
            <a:ext cx="42062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64592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828032" y="17007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faster: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28032" y="1993392"/>
            <a:ext cx="39319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EKF-SLAM: (3+2n)x(3+2n) matrix -&gt; O(n^2)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FastSLAM: M particles x N independent 2x2 EKFs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O(M*N) ~ O(M*N*log N) with trees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landmarks: 50K vs 1M operations!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FastSLAM: 4 Steps per Particle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82880" y="731520"/>
            <a:ext cx="210312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731520"/>
            <a:ext cx="54864" cy="2286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" y="7863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SAMPLE Pose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7472" y="1078992"/>
            <a:ext cx="18288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particle: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x' ~ p(x'|x, u)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motion model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(like MCL, MOD-06)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77440" y="731520"/>
            <a:ext cx="210312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377440" y="731520"/>
            <a:ext cx="54864" cy="2286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2542032" y="7863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WEIGHT</a:t>
            </a:r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/>
              <p:nvPr/>
            </p:nvSpPr>
            <p:spPr>
              <a:xfrm>
                <a:off x="2542032" y="1078992"/>
                <a:ext cx="1828800" cy="187452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342900" indent="-342900">
                  <a:buSzPct val="100000"/>
                  <a:buChar char="•"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𝑤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𝑝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(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𝑧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| 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𝑥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′, 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𝑙𝑎𝑛𝑑𝑚𝑎𝑟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𝑘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𝑗</m:t>
                        </m:r>
                      </m:sub>
                    </m:sSub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)</m:t>
                    </m:r>
                  </m:oMath>
                </a14:m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How well does observation</a:t>
                </a:r>
                <a:r>
                  <a:rPr lang="en-US" sz="1200" dirty="0"/>
                  <a:t> </a:t>
                </a: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match THIS particle’s</a:t>
                </a:r>
                <a:r>
                  <a:rPr lang="en-US" sz="1200" dirty="0"/>
                  <a:t> </a:t>
                </a: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pose and landmark?</a:t>
                </a:r>
                <a:endParaRPr lang="en-US" sz="1200" dirty="0"/>
              </a:p>
            </p:txBody>
          </p:sp>
        </mc:Choice>
        <mc:Fallback xmlns="">
          <p:sp>
            <p:nvSpPr>
              <p:cNvPr id="12" name="Text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2032" y="1078992"/>
                <a:ext cx="1828800" cy="1874520"/>
              </a:xfrm>
              <a:prstGeom prst="rect">
                <a:avLst/>
              </a:prstGeom>
              <a:blipFill>
                <a:blip r:embed="rId3"/>
                <a:stretch>
                  <a:fillRect r="-1333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hape 11"/>
          <p:cNvSpPr/>
          <p:nvPr/>
        </p:nvSpPr>
        <p:spPr>
          <a:xfrm>
            <a:off x="4572000" y="731520"/>
            <a:ext cx="210312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54864" cy="2286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4736592" y="7863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UPDATE Map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36592" y="1078992"/>
            <a:ext cx="18288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buSzPct val="100000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matched landmark: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mini-EKF update (2x2)</a:t>
            </a:r>
            <a:endParaRPr lang="en-US" sz="1200" dirty="0"/>
          </a:p>
          <a:p>
            <a:pPr>
              <a:buSzPct val="100000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new landmark: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initialize new 2x2 EKF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766560" y="731520"/>
            <a:ext cx="219456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0" y="731520"/>
            <a:ext cx="54864" cy="2286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6931152" y="78638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RESAMPLE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31152" y="1078992"/>
            <a:ext cx="192024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N new particles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weight (like MCL)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High-weight: COPIED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their entire map!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Low-weight: DIE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4320" y="32004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particle carries its OWN map. After resampling, best maps survive. Natural selection!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FastSLAM: Worked Example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13716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Particle 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Particle 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Particle 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Pose after move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(1.02, 0.01)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(0.98, -0.03)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(1.05, 0.04)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L1: weight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w=0.65 (good)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w=0.25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w=0.10 (bad)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 EKF update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L1=(3.01, 0.48)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L1=(2.95, 0.52)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L1=(3.08, 0.55)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 resample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Survived (x2)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Survived (x1)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7432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 1 had best pose -&gt; highest weight -&gt; cloned. Its (good) map survives. Particle 3 dies with its bad map.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FastSLAM: Strengths &amp; Limitations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O(M*N*log N) — much faster than EKF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Handles nonlinear motion naturally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Multi-modal data association possible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occupancy grids (FastSLAM 2.0)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particle can have different associations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6459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 deprivation (same as MCL MOD-06)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Resampling destroys map diversity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Doesn't capture full landmark correlations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many particles for good results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copying during resample is expensive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Graph-Based SLAM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 graphs + optimization — the modern standard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Filtering to Optimization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6459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Filtering (EKF/FastSLAM):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one measurement at a time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fix old estimates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Linearization errors accumulate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for: small maps, real-time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(Graph-SLAM):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constraints, optimize all at once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fix old errors retroactively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or incremental solvers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for: large maps, highest accuracy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25603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Graph-SLAM dominates modern SLAM. Used by: slam_toolbox, Cartographer, ORB-SLAM, LIO-SAM.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 Graph: Nodes, Edges &amp; Loop Closures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Nodes = robot poses. Edges = constraints (odometry, loop closure, landmark observations).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51559"/>
            <a:ext cx="4114800" cy="1337221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51560"/>
            <a:ext cx="54864" cy="10972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06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Edges (constraints):</a:t>
            </a:r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/>
              <p:nvPr/>
            </p:nvSpPr>
            <p:spPr>
              <a:xfrm>
                <a:off x="438912" y="1399032"/>
                <a:ext cx="3840480" cy="68580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Odometry: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𝑥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US" sz="1200" i="1" dirty="0" smtClean="0">
                                <a:solidFill>
                                  <a:srgbClr val="6B7280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dPr>
                          <m:e>
                            <m:r>
                              <a:rPr lang="en-US" sz="1200" i="1" dirty="0" smtClean="0">
                                <a:solidFill>
                                  <a:srgbClr val="6B7280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𝑘</m:t>
                            </m:r>
                            <m:r>
                              <a:rPr lang="en-US" sz="1200" i="1" dirty="0" smtClean="0">
                                <a:solidFill>
                                  <a:srgbClr val="6B7280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+1</m:t>
                            </m:r>
                          </m:e>
                        </m:d>
                      </m:sub>
                    </m:sSub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= 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𝑓</m:t>
                    </m:r>
                    <m:d>
                      <m:dPr>
                        <m:ctrlP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 dirty="0" smtClean="0">
                                <a:solidFill>
                                  <a:srgbClr val="6B7280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sSubPr>
                          <m:e>
                            <m:r>
                              <a:rPr lang="en-US" sz="1200" i="1" dirty="0" smtClean="0">
                                <a:solidFill>
                                  <a:srgbClr val="6B7280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 dirty="0" smtClean="0">
                                <a:solidFill>
                                  <a:srgbClr val="6B7280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, </m:t>
                        </m:r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𝑢</m:t>
                        </m:r>
                      </m:e>
                    </m:d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+ 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𝑛𝑜𝑖𝑠𝑒</m:t>
                    </m:r>
                  </m:oMath>
                </a14:m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Loop closure: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𝑥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𝑖</m:t>
                        </m:r>
                      </m:sub>
                    </m:sSub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~ 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𝑥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(same place!)</a:t>
                </a:r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Landmark: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𝑥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saw landmark at position p</a:t>
                </a:r>
                <a:endParaRPr lang="en-US" sz="1200" dirty="0"/>
              </a:p>
            </p:txBody>
          </p:sp>
        </mc:Choice>
        <mc:Fallback xmlns=""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12" y="1399032"/>
                <a:ext cx="3840480" cy="685800"/>
              </a:xfrm>
              <a:prstGeom prst="rect">
                <a:avLst/>
              </a:prstGeom>
              <a:blipFill>
                <a:blip r:embed="rId3"/>
                <a:stretch>
                  <a:fillRect t="-1786" b="-2679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4663440" y="1051560"/>
            <a:ext cx="4206240" cy="13372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051560"/>
            <a:ext cx="54864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1064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closure is KEY:</a:t>
            </a:r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/>
              <p:nvPr/>
            </p:nvSpPr>
            <p:spPr>
              <a:xfrm>
                <a:off x="4828032" y="1399032"/>
                <a:ext cx="3931920" cy="68580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Detect: 'I've been HERE before!'</a:t>
                </a:r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Add constraint: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𝑝𝑜𝑠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𝑒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𝑛𝑜𝑤</m:t>
                        </m:r>
                      </m:sub>
                    </m:sSub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~ </m:t>
                    </m:r>
                    <m:r>
                      <a:rPr lang="en-US" sz="1200" i="1" dirty="0" smtClean="0">
                        <a:solidFill>
                          <a:srgbClr val="6B7280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𝑝𝑜𝑠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𝑒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6B7280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𝑠𝑡𝑎𝑟𝑡</m:t>
                        </m:r>
                      </m:sub>
                    </m:sSub>
                  </m:oMath>
                </a14:m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Optimize -&gt; distributes error across loop</a:t>
                </a:r>
                <a:endParaRPr lang="en-US" sz="1200" dirty="0"/>
              </a:p>
              <a:p>
                <a:pPr marL="342900" indent="-342900">
                  <a:buSzPct val="100000"/>
                  <a:buChar char="•"/>
                </a:pPr>
                <a:r>
                  <a:rPr lang="en-US" sz="1200" dirty="0">
                    <a:solidFill>
                      <a:srgbClr val="6B728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Entire map corrects retroactively!</a:t>
                </a:r>
                <a:endParaRPr lang="en-US" sz="1200" dirty="0"/>
              </a:p>
            </p:txBody>
          </p:sp>
        </mc:Choice>
        <mc:Fallback xmlns="">
          <p:sp>
            <p:nvSpPr>
              <p:cNvPr id="13" name="Text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8032" y="1399032"/>
                <a:ext cx="3931920" cy="685800"/>
              </a:xfrm>
              <a:prstGeom prst="rect">
                <a:avLst/>
              </a:prstGeom>
              <a:blipFill>
                <a:blip r:embed="rId4"/>
                <a:stretch>
                  <a:fillRect t="-1786" b="-25893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 12"/>
          <p:cNvSpPr/>
          <p:nvPr/>
        </p:nvSpPr>
        <p:spPr>
          <a:xfrm>
            <a:off x="320040" y="2606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loop closure: maps drift. </a:t>
            </a:r>
          </a:p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loop closure: maps become globally consistent.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Graph-SLAM: The Math — Least Squares Optimization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82296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 4"/>
              <p:cNvSpPr/>
              <p:nvPr/>
            </p:nvSpPr>
            <p:spPr>
              <a:xfrm>
                <a:off x="411480" y="777240"/>
                <a:ext cx="8321040" cy="345643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r>
                  <a:rPr lang="en-US" sz="1400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Minimize: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40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pPr>
                      <m:e>
                        <m:r>
                          <a:rPr lang="en-US" sz="1400" b="0" i="1" dirty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𝑥</m:t>
                        </m:r>
                      </m:e>
                      <m:sup>
                        <m:r>
                          <a:rPr lang="en-US" sz="1400" b="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∗</m:t>
                        </m:r>
                      </m:sup>
                    </m:sSup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=</m:t>
                    </m:r>
                    <m:func>
                      <m:funcPr>
                        <m:ctrlPr>
                          <a:rPr lang="en-US" sz="140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 b="0" i="0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arg</m:t>
                        </m:r>
                      </m:fName>
                      <m:e>
                        <m:func>
                          <m:funcPr>
                            <m:ctrlPr>
                              <a:rPr lang="en-US" sz="140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400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 b="0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min</m:t>
                                </m:r>
                              </m:e>
                              <m:lim>
                                <m:r>
                                  <a:rPr lang="en-US" sz="1400" b="0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𝑥</m:t>
                                </m:r>
                              </m:lim>
                            </m:limLow>
                          </m:fName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en-US" sz="1400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</m:ctrlPr>
                              </m:naryPr>
                              <m:sub>
                                <m:r>
                                  <a:rPr lang="en-US" sz="1400" b="0" i="1" dirty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𝑖𝑗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en-US" sz="1400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1400" b="0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  <m:t>𝑖𝑗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sz="1400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1400" i="1" dirty="0" smtClean="0">
                                            <a:solidFill>
                                              <a:srgbClr val="1E3A5F"/>
                                            </a:solidFill>
                                            <a:latin typeface="Cambria Math" panose="02040503050406030204" pitchFamily="18" charset="0"/>
                                            <a:ea typeface="Arial" pitchFamily="34" charset="-122"/>
                                            <a:cs typeface="Arial" pitchFamily="34" charset="-12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400" i="1" dirty="0" smtClean="0">
                                                <a:solidFill>
                                                  <a:srgbClr val="1E3A5F"/>
                                                </a:solidFill>
                                                <a:latin typeface="Cambria Math" panose="02040503050406030204" pitchFamily="18" charset="0"/>
                                                <a:ea typeface="Arial" pitchFamily="34" charset="-122"/>
                                                <a:cs typeface="Arial" pitchFamily="34" charset="-12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400" b="0" i="1" dirty="0" smtClean="0">
                                                <a:solidFill>
                                                  <a:srgbClr val="1E3A5F"/>
                                                </a:solidFill>
                                                <a:latin typeface="Cambria Math" panose="02040503050406030204" pitchFamily="18" charset="0"/>
                                                <a:ea typeface="Arial" pitchFamily="34" charset="-122"/>
                                                <a:cs typeface="Arial" pitchFamily="34" charset="-12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1400" b="0" i="1" dirty="0" smtClean="0">
                                                <a:solidFill>
                                                  <a:srgbClr val="1E3A5F"/>
                                                </a:solidFill>
                                                <a:latin typeface="Cambria Math" panose="02040503050406030204" pitchFamily="18" charset="0"/>
                                                <a:ea typeface="Arial" pitchFamily="34" charset="-122"/>
                                                <a:cs typeface="Arial" pitchFamily="34" charset="-12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US" sz="1400" b="0" i="1" dirty="0" smtClean="0">
                                            <a:solidFill>
                                              <a:srgbClr val="1E3A5F"/>
                                            </a:solidFill>
                                            <a:latin typeface="Cambria Math" panose="02040503050406030204" pitchFamily="18" charset="0"/>
                                            <a:ea typeface="Arial" pitchFamily="34" charset="-122"/>
                                            <a:cs typeface="Arial" pitchFamily="34" charset="-120"/>
                                          </a:rPr>
                                          <m:t>, 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1400" i="1" dirty="0" smtClean="0">
                                                <a:solidFill>
                                                  <a:srgbClr val="1E3A5F"/>
                                                </a:solidFill>
                                                <a:latin typeface="Cambria Math" panose="02040503050406030204" pitchFamily="18" charset="0"/>
                                                <a:ea typeface="Arial" pitchFamily="34" charset="-122"/>
                                                <a:cs typeface="Arial" pitchFamily="34" charset="-12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400" b="0" i="1" dirty="0" smtClean="0">
                                                <a:solidFill>
                                                  <a:srgbClr val="1E3A5F"/>
                                                </a:solidFill>
                                                <a:latin typeface="Cambria Math" panose="02040503050406030204" pitchFamily="18" charset="0"/>
                                                <a:ea typeface="Arial" pitchFamily="34" charset="-122"/>
                                                <a:cs typeface="Arial" pitchFamily="34" charset="-12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1400" b="0" i="1" dirty="0" smtClean="0">
                                                <a:solidFill>
                                                  <a:srgbClr val="1E3A5F"/>
                                                </a:solidFill>
                                                <a:latin typeface="Cambria Math" panose="02040503050406030204" pitchFamily="18" charset="0"/>
                                                <a:ea typeface="Arial" pitchFamily="34" charset="-122"/>
                                                <a:cs typeface="Arial" pitchFamily="34" charset="-120"/>
                                              </a:rPr>
                                              <m:t>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1400" b="0" i="1" dirty="0" smtClean="0">
                                        <a:solidFill>
                                          <a:srgbClr val="1E3A5F"/>
                                        </a:solidFill>
                                        <a:latin typeface="Cambria Math" panose="02040503050406030204" pitchFamily="18" charset="0"/>
                                        <a:ea typeface="Arial" pitchFamily="34" charset="-122"/>
                                        <a:cs typeface="Arial" pitchFamily="34" charset="-120"/>
                                      </a:rPr>
                                      <m:t>𝑇</m:t>
                                    </m:r>
                                  </m:sup>
                                </m:sSup>
                              </m:e>
                            </m:nary>
                          </m:e>
                        </m:func>
                      </m:e>
                    </m:func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∗</m:t>
                    </m:r>
                    <m:sSub>
                      <m:sSubPr>
                        <m:ctrlPr>
                          <a:rPr lang="en-US" sz="140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l-GR" sz="1400" b="0" i="1" dirty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𝛺</m:t>
                        </m:r>
                      </m:e>
                      <m:sub>
                        <m:r>
                          <a:rPr lang="en-US" sz="1400" b="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𝑖𝑗</m:t>
                        </m:r>
                      </m:sub>
                    </m:sSub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∗ </m:t>
                    </m:r>
                    <m:sSub>
                      <m:sSubPr>
                        <m:ctrlPr>
                          <a:rPr lang="en-US" sz="140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400" b="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𝑒</m:t>
                        </m:r>
                      </m:e>
                      <m:sub>
                        <m:r>
                          <a:rPr lang="en-US" sz="1400" b="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140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𝑖</m:t>
                            </m:r>
                          </m:sub>
                        </m:sSub>
                        <m:r>
                          <a:rPr lang="en-US" sz="1400" b="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, </m:t>
                        </m:r>
                        <m:sSub>
                          <m:sSubPr>
                            <m:ctrlPr>
                              <a:rPr lang="en-US" sz="140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US" sz="1400" dirty="0"/>
              </a:p>
            </p:txBody>
          </p:sp>
        </mc:Choice>
        <mc:Fallback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777240"/>
                <a:ext cx="8321040" cy="345643"/>
              </a:xfrm>
              <a:prstGeom prst="rect">
                <a:avLst/>
              </a:prstGeom>
              <a:blipFill>
                <a:blip r:embed="rId3"/>
                <a:stretch>
                  <a:fillRect l="-220" t="-87500" b="-13928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5"/>
          <p:cNvSpPr/>
          <p:nvPr/>
        </p:nvSpPr>
        <p:spPr>
          <a:xfrm>
            <a:off x="411480" y="1093622"/>
            <a:ext cx="8321040" cy="427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edge (i,j): error = predicted - actual. 𝜴 = information matrix (inverse covariance).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poses x that minimize TOTAL weighted error across ALL edges.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737360"/>
            <a:ext cx="8595360" cy="731520"/>
          </a:xfrm>
          <a:prstGeom prst="rect">
            <a:avLst/>
          </a:prstGeom>
          <a:solidFill>
            <a:srgbClr val="EBF5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7"/>
              <p:cNvSpPr/>
              <p:nvPr/>
            </p:nvSpPr>
            <p:spPr>
              <a:xfrm>
                <a:off x="411480" y="1783080"/>
                <a:ext cx="8321040" cy="30723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r>
                  <a:rPr lang="en-US" sz="1400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Gauss-Newton: </a:t>
                </a:r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𝑑𝑥</m:t>
                    </m:r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= −</m:t>
                    </m:r>
                    <m:sSup>
                      <m:sSupPr>
                        <m:ctrlPr>
                          <a:rPr lang="en-US" sz="140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1400" i="1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1400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</m:ctrlPr>
                              </m:sSupPr>
                              <m:e>
                                <m:r>
                                  <a:rPr lang="en-US" sz="1400" b="0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en-US" sz="1400" b="0" i="1" dirty="0" smtClean="0">
                                    <a:solidFill>
                                      <a:srgbClr val="1E3A5F"/>
                                    </a:solidFill>
                                    <a:latin typeface="Cambria Math" panose="02040503050406030204" pitchFamily="18" charset="0"/>
                                    <a:ea typeface="Arial" pitchFamily="34" charset="-122"/>
                                    <a:cs typeface="Arial" pitchFamily="34" charset="-12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sz="1400" b="0" i="1" dirty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∗</m:t>
                            </m:r>
                            <m:r>
                              <a:rPr lang="en-US" sz="1400" b="0" i="1" dirty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𝛺</m:t>
                            </m:r>
                            <m:r>
                              <a:rPr lang="en-US" sz="1400" b="0" i="1" dirty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∗</m:t>
                            </m:r>
                            <m:r>
                              <a:rPr lang="en-US" sz="1400" b="0" i="1" dirty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ea typeface="Arial" pitchFamily="34" charset="-122"/>
                                <a:cs typeface="Arial" pitchFamily="34" charset="-120"/>
                              </a:rPr>
                              <m:t>𝐻</m:t>
                            </m:r>
                          </m:e>
                        </m:d>
                      </m:e>
                      <m:sup>
                        <m:r>
                          <a:rPr lang="en-US" sz="1400" b="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−1</m:t>
                        </m:r>
                      </m:sup>
                    </m:sSup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∗ </m:t>
                    </m:r>
                    <m:sSup>
                      <m:sSupPr>
                        <m:ctrlPr>
                          <a:rPr lang="en-US" sz="140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pPr>
                      <m:e>
                        <m:r>
                          <a:rPr lang="en-US" sz="1400" b="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𝐻</m:t>
                        </m:r>
                      </m:e>
                      <m:sup>
                        <m:r>
                          <a:rPr lang="en-US" sz="1400" b="0" i="1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𝑇</m:t>
                        </m:r>
                      </m:sup>
                    </m:sSup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∗</m:t>
                    </m:r>
                    <m:r>
                      <a:rPr lang="el-GR" sz="1400" b="0" i="1" dirty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𝛺</m:t>
                    </m:r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∗</m:t>
                    </m:r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𝑒</m:t>
                    </m:r>
                    <m:r>
                      <a:rPr lang="en-US" sz="1400" b="0" i="1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  </m:t>
                    </m:r>
                  </m:oMath>
                </a14:m>
                <a:r>
                  <a:rPr lang="en-US" sz="1400" dirty="0">
                    <a:solidFill>
                      <a:srgbClr val="1E3A5F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then x &lt;- x + dx</a:t>
                </a:r>
                <a:endParaRPr lang="en-US" sz="1400" dirty="0"/>
              </a:p>
            </p:txBody>
          </p:sp>
        </mc:Choice>
        <mc:Fallback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1783080"/>
                <a:ext cx="8321040" cy="307238"/>
              </a:xfrm>
              <a:prstGeom prst="rect">
                <a:avLst/>
              </a:prstGeom>
              <a:blipFill>
                <a:blip r:embed="rId4"/>
                <a:stretch>
                  <a:fillRect l="-220" t="-4000" b="-20000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8"/>
          <p:cNvSpPr/>
          <p:nvPr/>
        </p:nvSpPr>
        <p:spPr>
          <a:xfrm>
            <a:off x="411480" y="2059229"/>
            <a:ext cx="8321040" cy="3803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 = Jacobian of all errors. Sparse system -&gt; efficient solvers (g2o, GTSAM, Ceres).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2651760"/>
            <a:ext cx="8595360" cy="11155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651760"/>
            <a:ext cx="54864" cy="9144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38912" y="270662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don't implement from scratch! Libraries: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8912" y="2999232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g2o: general graph optimization (ORB-SLAM, many ROS tools)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GTSAM: factor graph library by Georgia Tech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Ceres: Google's nonlinear solver (Cartographer)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Graph-SLAM: Architecture Overview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graph-SLAM systems have a front-end and a back-end: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4114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51560"/>
            <a:ext cx="54864" cy="1828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106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Front-End (sensor processing):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8912" y="1399032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matching (ICP, NDT) for LiDAR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matching (ORB) for camera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Produces: relative pose constraints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Detects loop closures (BoW, scan match)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 real-time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051560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05156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1064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Back-End (optimization):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28032" y="1399032"/>
            <a:ext cx="39319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Receives constraints from front-end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pose graph incrementally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optimization (Gauss-Newton/LM)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Outputs: optimized trajectory + map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run in background thread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31089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Front-end: WHAT constraints exist. </a:t>
            </a:r>
          </a:p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Back-end: BEST poses given constraints. </a:t>
            </a:r>
          </a:p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separation!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Closure Detection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Recognizing places you've visited before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Approaches to Loop Closure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82880" y="731520"/>
            <a:ext cx="283464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731520"/>
            <a:ext cx="54864" cy="21031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" y="7863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Matching (LiDAR)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7472" y="1078992"/>
            <a:ext cx="25603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current scan to history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ICP: align two point clouds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 structured environments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Fails in featureless areas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731520"/>
            <a:ext cx="283464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731520"/>
            <a:ext cx="54864" cy="21031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1" name="Text 9"/>
          <p:cNvSpPr/>
          <p:nvPr/>
        </p:nvSpPr>
        <p:spPr>
          <a:xfrm>
            <a:off x="3319272" y="7863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 of Words (Camera)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19272" y="1078992"/>
            <a:ext cx="25603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 features -&gt; visual words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bags: similar = same place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DBoW2 library (ORB-SLAM)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Fast: O(1) lookup with inverted index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731520"/>
            <a:ext cx="283464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731520"/>
            <a:ext cx="54864" cy="21031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7863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 Place Recog.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91072" y="1078992"/>
            <a:ext cx="25603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-&gt; descriptor vector (NetVLAD)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Cosine similarity for matching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robust to viewpoint change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GPU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4320" y="30175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loop closures are CATASTROPHIC — they warp the entire map. Always verify geometrically!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J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SLAM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SLAM using cameras — the most active research area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Feature-Based vs. Direct Visual SLAM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20116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Feature-Based (Indirect)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ORB/SIFT features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across frames, triangulate 3D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pose graph + 3D points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Examples: ORB-SLAM3, VINS-Mono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Pro: robust, well-understood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Con: discards most image info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20116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(Dense/Semi-Dense)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pixel intensities directly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Minimize photometric error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3D reconstruction possible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Examples: LSD-SLAM, DSO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Pro: uses all image information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Con: sensitive to lighting changes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2926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mobile robots: feature-based (ORB-SLAM3) is most practical. </a:t>
            </a:r>
          </a:p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shines in AR/VR.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ORB-SLAM3: Architecture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Feature-based visual SLAM (2021). Three parallel threads: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1920240" cy="640080"/>
          </a:xfrm>
          <a:prstGeom prst="rect">
            <a:avLst/>
          </a:prstGeom>
          <a:solidFill>
            <a:srgbClr val="3B82F6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20700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(front-end)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 extraction, matching,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 estimation per frame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94560" y="132588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468880" y="1188720"/>
            <a:ext cx="1920240" cy="640080"/>
          </a:xfrm>
          <a:prstGeom prst="rect">
            <a:avLst/>
          </a:prstGeom>
          <a:solidFill>
            <a:srgbClr val="8B5CF6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68880" y="120700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Mapping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(mid-end)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888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Triangulate new points,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bundle adjustment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89120" y="132588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63440" y="1188720"/>
            <a:ext cx="1920240" cy="64008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63440" y="120700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Closing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(back-end)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6344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DBoW2 place recognition,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 graph optimization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583680" y="132588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0" y="1188720"/>
            <a:ext cx="1920240" cy="640080"/>
          </a:xfrm>
          <a:prstGeom prst="rect">
            <a:avLst/>
          </a:prstGeom>
          <a:solidFill>
            <a:srgbClr val="F97316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58000" y="1207008"/>
            <a:ext cx="19202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Atlas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Multi-map management,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merging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25603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Supports: mono, stereo, RGB-D + optional IMU.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ROS 2: ros2-ORB_SLAM3 wrapper or RTAB-Map.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Visual-Inertial Odometry (VIO)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645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alone (VO):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Fails on pure rotation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Fails textureless surfaces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Monocular: no scale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(30 Hz max)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+ IMU (VIO):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fills gaps during fast motion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provides scale + gravity direction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Hz IMU + 30 Hz camera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Standard: ARKit, ARCore, drone autopilots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25603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Examples: VINS-Mono, MSCKF, ORB-SLAM3 (IMU mode). The practical choice for visual navigation.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K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SLAM in ROS 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tools for building maps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slam_toolbox + Other ROS 2 SLAM Packages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8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16459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Sensor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for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slam_toolbox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 2D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2D LiDAR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Nav2 standard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Cartographer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 2D/3D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LiDAR+IMU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Large-scale, multi-floor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8B5C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RTAB-Map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Visual+LiDAR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Camera+LiDAR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 SLAM in ROS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ORB-SLAM3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 Visual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Mono/Stereo/RGBD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Research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LIO-SAM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LiDAR-Inertial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3D LiDAR+IMU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Outdoor, fast motion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1089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MediBot indoor: slam_toolbox. </a:t>
            </a:r>
          </a:p>
          <a:p>
            <a:pPr marL="0" indent="0">
              <a:buNone/>
            </a:pPr>
            <a:r>
              <a:rPr lang="en-US" sz="1200" b="1" dirty="0" err="1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StreetBot</a:t>
            </a: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outdoor: Cartographer or LIO-SAM. </a:t>
            </a:r>
          </a:p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Visual: RTAB-Map.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4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slam_toolbox: Parameters &amp; Workflow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parameters: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resolution: 0.05m (cell size)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max_laser_range: max LiDAR range to use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minimum_travel_distance: min move between scans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loop_search_maximum_distance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solver_plugin: Ceres (default)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1828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Launch slam_toolbox (online_async)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Drive robot around (telop or autonomous)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Map builds incrementally in RViz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Save: ros2 run nav2_map_server map_saver_cli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Use saved map with AMCL + Nav2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Lab: slam_toolbox -&gt; build map -&gt; save -&gt; AMCL (MOD-06) + Nav2 (MOD-09). Full pipeline!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SLAM: New Frontiers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field is heading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 SLAM &amp; LiDAR-Inertial SLAM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DL-SLAM: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Learned features (SuperPoint, SuperGlue)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robust than ORB in challenging conditions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End-to-end: image -&gt; pose (DROID-SLAM)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 from single image (MonoDepth)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research, needs GPU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LiDAR-Inertial SLAM: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Tightly couple 3D LiDAR + IMU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LIO-SAM, FAST-LIO2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3D maps at high speed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outdoors, tunnels, underground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practical 3D SLAM for industry today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SLAM &amp; Multi-Robot SLAM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SLAM: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Object-level landmarks (not just points)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'Chair at (3,5)' not 'point at (3,5)'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Enables: 'go to the kitchen' navigation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Kimera, SuMa++, Panoptic SLAM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Combines perception (MOD-07) + SLAM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Multi-Robot SLAM: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robots map simultaneously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builds local sub-map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-&gt; merge sub-maps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Challenges: comms, relative pose, merging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Apps: warehouses, search &amp; rescue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NeRF &amp; Gaussian Splatting for 3D Reconstruction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54864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NeRF (Neural Radiance Fields):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8912" y="1078992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 represents a scene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Input: camera pos -&gt; Output: RGB+density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Photorealistic novel viewpoints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3D from images only!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training (min to hours)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20624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54864" cy="20116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Gaussian Splatting (2023):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28032" y="1078992"/>
            <a:ext cx="39319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 as millions of 3D Gaussians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MUCH faster: real-time rendering!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matches NeRF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SLAM integration: SplaTAM (2024)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 replace point clouds in future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2926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frontier. Not yet practical for navigation, but likely within 5 years.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38328" y="88696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" y="90525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88696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SLAM = pose + map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 localization and mapping simultaneously.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77724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64408" y="88696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12" name="Text 10"/>
          <p:cNvSpPr/>
          <p:nvPr/>
        </p:nvSpPr>
        <p:spPr>
          <a:xfrm>
            <a:off x="3264408" y="90525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749040" y="88696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EKF-SLAM: correlations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64408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Gaussian, O(n^2). Observe one -&gt; improve all.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80760" y="77724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90488" y="88696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17" name="Text 15"/>
          <p:cNvSpPr/>
          <p:nvPr/>
        </p:nvSpPr>
        <p:spPr>
          <a:xfrm>
            <a:off x="6190488" y="90525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675120" y="88696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FastSLAM: scalable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90488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Particles + mini-EKFs. O(n log n). Larger maps.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28600" y="246888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38328" y="257860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" y="259689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2960" y="257860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Graph-SLAM: modern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8328" y="30632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 graph + optimization. Fixes old errors.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154680" y="246888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64408" y="257860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27" name="Text 25"/>
          <p:cNvSpPr/>
          <p:nvPr/>
        </p:nvSpPr>
        <p:spPr>
          <a:xfrm>
            <a:off x="3264408" y="259689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749040" y="257860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closure is key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64408" y="30632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Recognizing visited places corrects entire map.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080760" y="2468880"/>
            <a:ext cx="27889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90488" y="2578608"/>
            <a:ext cx="411480" cy="411480"/>
          </a:xfrm>
          <a:prstGeom prst="ellipse">
            <a:avLst/>
          </a:prstGeom>
          <a:solidFill>
            <a:srgbClr val="0F4C81"/>
          </a:solidFill>
          <a:ln/>
        </p:spPr>
      </p:sp>
      <p:sp>
        <p:nvSpPr>
          <p:cNvPr id="32" name="Text 30"/>
          <p:cNvSpPr/>
          <p:nvPr/>
        </p:nvSpPr>
        <p:spPr>
          <a:xfrm>
            <a:off x="6190488" y="259689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675120" y="257860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slam_toolbox in ROS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190488" y="30632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2D SLAM. Build map -&gt; Nav2. Standard.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0"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Thrun, Burgard &amp; Fox (2005). Probabilistic Robotics. Ch. 9-13.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Montemerlo et al. (2002). FastSLAM. AAAI.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Grisetti et al. (2010). g2o: Graph Optimization. ICRA.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Campos et al. (2021). ORB-SLAM3. IEEE Trans. Robotics.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Macenski (2021). slam_toolbox. github.com/SteveMacenski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Shan &amp; Englot (2020). LIO-SAM. IROS.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Mildenhall et al. (2020). NeRF. ECCV.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Kerbl et al. (2023). 3D Gaussian Splatting. SIGGRAPH.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Hess et al. (2016). Cartographer. ICRA.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MOD-10 — System Integration, Multi-Robot &amp; What's Next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371600"/>
            <a:ext cx="4572000" cy="4572000"/>
          </a:xfrm>
          <a:prstGeom prst="ellipse">
            <a:avLst/>
          </a:prstGeom>
          <a:solidFill>
            <a:srgbClr val="0F3045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1A1040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200400" y="91440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4094</Words>
  <Application>Microsoft Office PowerPoint</Application>
  <PresentationFormat>On-screen Show (16:9)</PresentationFormat>
  <Paragraphs>742</Paragraphs>
  <Slides>51</Slides>
  <Notes>51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5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MOD-09: Mapping &amp; SLAM</dc:title>
  <dc:subject>PptxGenJS Presentation</dc:subject>
  <dc:creator>Dr. Ahmad Abbadi</dc:creator>
  <cp:lastModifiedBy>Ahmad Abbadi</cp:lastModifiedBy>
  <cp:revision>29</cp:revision>
  <dcterms:created xsi:type="dcterms:W3CDTF">2026-03-17T14:54:40Z</dcterms:created>
  <dcterms:modified xsi:type="dcterms:W3CDTF">2026-04-20T13:14:43Z</dcterms:modified>
</cp:coreProperties>
</file>